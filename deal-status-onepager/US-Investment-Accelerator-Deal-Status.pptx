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FILL-IN GUIDE
1. Type over every gray/placeholder value: Company 1-19, the $X.X B deal sizes (all in billions), First Last (owner's rep), the summary tiles, and the two '$XX.X B total' figures next to JAPAN and KOREA.
2. Stage tags are already set to the plan: Japan = 6 Announced, 3 Consultation, 4 Active. Korea = 3 Consultation, 3 Active (none announced). To change one anyway, delete it and Ctrl/Cmd-drag a spare tag from the right of the page into place. The spares sit off the page and never print.
3. Add/remove rows: click in a table, use Table Layout &gt; Insert/Delete Rows. If you change row counts, drag the tags to keep them aligned with their rows, and update the counts in the summary strip.
4. Rows are grouped by stage: Announced first, then Consultation, then Active.
5. Export for the meeting: File &gt; Export/Save As &gt; PDF. The page is exactly US Letter landscape, so it also prints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058400" cy="960120"/>
          </a:xfrm>
          <a:prstGeom prst="rect">
            <a:avLst/>
          </a:prstGeom>
          <a:solidFill>
            <a:srgbClr val="0D366B"/>
          </a:solidFill>
          <a:ln/>
        </p:spPr>
      </p:sp>
      <p:sp>
        <p:nvSpPr>
          <p:cNvPr id="3" name="Shape 1"/>
          <p:cNvSpPr/>
          <p:nvPr/>
        </p:nvSpPr>
        <p:spPr>
          <a:xfrm>
            <a:off x="0" y="960120"/>
            <a:ext cx="10058400" cy="32004"/>
          </a:xfrm>
          <a:prstGeom prst="rect">
            <a:avLst/>
          </a:prstGeom>
          <a:solidFill>
            <a:srgbClr val="B8933F"/>
          </a:solidFill>
          <a:ln/>
        </p:spPr>
      </p:sp>
      <p:sp>
        <p:nvSpPr>
          <p:cNvPr id="4" name="Text 2"/>
          <p:cNvSpPr/>
          <p:nvPr/>
        </p:nvSpPr>
        <p:spPr>
          <a:xfrm>
            <a:off x="384048" y="155448"/>
            <a:ext cx="6949440" cy="219456"/>
          </a:xfrm>
          <a:prstGeom prst="rect">
            <a:avLst/>
          </a:prstGeom>
          <a:noFill/>
          <a:ln/>
        </p:spPr>
        <p:txBody>
          <a:bodyPr wrap="square" lIns="0" tIns="0" rIns="0" bIns="0" rtlCol="0" anchor="ctr"/>
          <a:lstStyle/>
          <a:p>
            <a:pPr indent="0" marL="0">
              <a:buNone/>
            </a:pPr>
            <a:r>
              <a:rPr lang="en-US" sz="950" b="1" spc="300" kern="0" dirty="0">
                <a:solidFill>
                  <a:srgbClr val="C9D7EC"/>
                </a:solidFill>
                <a:latin typeface="Arial" pitchFamily="34" charset="0"/>
                <a:ea typeface="Arial" pitchFamily="34" charset="-122"/>
                <a:cs typeface="Arial" pitchFamily="34" charset="-120"/>
              </a:rPr>
              <a:t>U.S. INVESTMENT ACCELERATOR  ·  U.S. DEPARTMENT OF COMMERCE</a:t>
            </a:r>
            <a:endParaRPr lang="en-US" sz="950" dirty="0"/>
          </a:p>
        </p:txBody>
      </p:sp>
      <p:sp>
        <p:nvSpPr>
          <p:cNvPr id="5" name="Text 3"/>
          <p:cNvSpPr/>
          <p:nvPr/>
        </p:nvSpPr>
        <p:spPr>
          <a:xfrm>
            <a:off x="365760" y="411480"/>
            <a:ext cx="7132320" cy="420624"/>
          </a:xfrm>
          <a:prstGeom prst="rect">
            <a:avLst/>
          </a:prstGeom>
          <a:noFill/>
          <a:ln/>
        </p:spPr>
        <p:txBody>
          <a:bodyPr wrap="square" lIns="0" tIns="0" rIns="0" bIns="0" rtlCol="0" anchor="ctr"/>
          <a:lstStyle/>
          <a:p>
            <a:pPr indent="0" marL="0">
              <a:buNone/>
            </a:pPr>
            <a:r>
              <a:rPr lang="en-US" sz="2500" b="1" dirty="0">
                <a:solidFill>
                  <a:srgbClr val="FFFFFF"/>
                </a:solidFill>
                <a:latin typeface="Arial" pitchFamily="34" charset="0"/>
                <a:ea typeface="Arial" pitchFamily="34" charset="-122"/>
                <a:cs typeface="Arial" pitchFamily="34" charset="-120"/>
              </a:rPr>
              <a:t>Investment Deal Portfolio — Status Overview</a:t>
            </a:r>
            <a:endParaRPr lang="en-US" sz="2500" dirty="0"/>
          </a:p>
        </p:txBody>
      </p:sp>
      <p:sp>
        <p:nvSpPr>
          <p:cNvPr id="6" name="Shape 4"/>
          <p:cNvSpPr/>
          <p:nvPr/>
        </p:nvSpPr>
        <p:spPr>
          <a:xfrm>
            <a:off x="7424928" y="324612"/>
            <a:ext cx="2267712" cy="310896"/>
          </a:xfrm>
          <a:prstGeom prst="roundRect">
            <a:avLst>
              <a:gd name="adj" fmla="val 14706"/>
            </a:avLst>
          </a:prstGeom>
          <a:ln w="12700">
            <a:solidFill>
              <a:srgbClr val="FFD9A8"/>
            </a:solidFill>
            <a:prstDash val="solid"/>
          </a:ln>
        </p:spPr>
      </p:sp>
      <p:sp>
        <p:nvSpPr>
          <p:cNvPr id="7" name="Text 5"/>
          <p:cNvSpPr/>
          <p:nvPr/>
        </p:nvSpPr>
        <p:spPr>
          <a:xfrm>
            <a:off x="7424928" y="324612"/>
            <a:ext cx="2267712" cy="310896"/>
          </a:xfrm>
          <a:prstGeom prst="rect">
            <a:avLst/>
          </a:prstGeom>
          <a:noFill/>
          <a:ln/>
        </p:spPr>
        <p:txBody>
          <a:bodyPr wrap="square" lIns="0" tIns="0" rIns="0" bIns="0" rtlCol="0" anchor="ctr"/>
          <a:lstStyle/>
          <a:p>
            <a:pPr algn="ctr" indent="0" marL="0">
              <a:buNone/>
            </a:pPr>
            <a:r>
              <a:rPr lang="en-US" sz="750" b="1" spc="120" kern="0" dirty="0">
                <a:solidFill>
                  <a:srgbClr val="FFD9A8"/>
                </a:solidFill>
                <a:latin typeface="Arial" pitchFamily="34" charset="0"/>
                <a:ea typeface="Arial" pitchFamily="34" charset="-122"/>
                <a:cs typeface="Arial" pitchFamily="34" charset="-120"/>
              </a:rPr>
              <a:t>PRE-DECISIONAL · INTERNAL USE</a:t>
            </a:r>
            <a:endParaRPr lang="en-US" sz="750" dirty="0"/>
          </a:p>
        </p:txBody>
      </p:sp>
      <p:sp>
        <p:nvSpPr>
          <p:cNvPr id="8" name="Shape 6"/>
          <p:cNvSpPr/>
          <p:nvPr/>
        </p:nvSpPr>
        <p:spPr>
          <a:xfrm>
            <a:off x="0" y="992124"/>
            <a:ext cx="10058400" cy="969264"/>
          </a:xfrm>
          <a:prstGeom prst="rect">
            <a:avLst/>
          </a:prstGeom>
          <a:solidFill>
            <a:srgbClr val="F6F5F2"/>
          </a:solidFill>
          <a:ln/>
        </p:spPr>
      </p:sp>
      <p:sp>
        <p:nvSpPr>
          <p:cNvPr id="9" name="Shape 7"/>
          <p:cNvSpPr/>
          <p:nvPr/>
        </p:nvSpPr>
        <p:spPr>
          <a:xfrm>
            <a:off x="0" y="1961388"/>
            <a:ext cx="10058400" cy="9144"/>
          </a:xfrm>
          <a:prstGeom prst="rect">
            <a:avLst/>
          </a:prstGeom>
          <a:solidFill>
            <a:srgbClr val="E1E0D9"/>
          </a:solidFill>
          <a:ln/>
        </p:spPr>
      </p:sp>
      <p:sp>
        <p:nvSpPr>
          <p:cNvPr id="10" name="Shape 8"/>
          <p:cNvSpPr/>
          <p:nvPr/>
        </p:nvSpPr>
        <p:spPr>
          <a:xfrm>
            <a:off x="1600200" y="1161288"/>
            <a:ext cx="7315" cy="658368"/>
          </a:xfrm>
          <a:prstGeom prst="rect">
            <a:avLst/>
          </a:prstGeom>
          <a:solidFill>
            <a:srgbClr val="E1E0D9"/>
          </a:solidFill>
          <a:ln/>
        </p:spPr>
      </p:sp>
      <p:sp>
        <p:nvSpPr>
          <p:cNvPr id="11" name="Shape 9"/>
          <p:cNvSpPr/>
          <p:nvPr/>
        </p:nvSpPr>
        <p:spPr>
          <a:xfrm>
            <a:off x="3611880" y="1161288"/>
            <a:ext cx="7315" cy="658368"/>
          </a:xfrm>
          <a:prstGeom prst="rect">
            <a:avLst/>
          </a:prstGeom>
          <a:solidFill>
            <a:srgbClr val="E1E0D9"/>
          </a:solidFill>
          <a:ln/>
        </p:spPr>
      </p:sp>
      <p:sp>
        <p:nvSpPr>
          <p:cNvPr id="12" name="Shape 10"/>
          <p:cNvSpPr/>
          <p:nvPr/>
        </p:nvSpPr>
        <p:spPr>
          <a:xfrm>
            <a:off x="5669280" y="1161288"/>
            <a:ext cx="7315" cy="658368"/>
          </a:xfrm>
          <a:prstGeom prst="rect">
            <a:avLst/>
          </a:prstGeom>
          <a:solidFill>
            <a:srgbClr val="E1E0D9"/>
          </a:solidFill>
          <a:ln/>
        </p:spPr>
      </p:sp>
      <p:sp>
        <p:nvSpPr>
          <p:cNvPr id="13" name="Shape 11"/>
          <p:cNvSpPr/>
          <p:nvPr/>
        </p:nvSpPr>
        <p:spPr>
          <a:xfrm>
            <a:off x="7543800" y="1161288"/>
            <a:ext cx="7315" cy="658368"/>
          </a:xfrm>
          <a:prstGeom prst="rect">
            <a:avLst/>
          </a:prstGeom>
          <a:solidFill>
            <a:srgbClr val="E1E0D9"/>
          </a:solidFill>
          <a:ln/>
        </p:spPr>
      </p:sp>
      <p:sp>
        <p:nvSpPr>
          <p:cNvPr id="14" name="Text 12"/>
          <p:cNvSpPr/>
          <p:nvPr/>
        </p:nvSpPr>
        <p:spPr>
          <a:xfrm>
            <a:off x="384048" y="1143000"/>
            <a:ext cx="118872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DEALS</a:t>
            </a:r>
            <a:endParaRPr lang="en-US" sz="800" dirty="0"/>
          </a:p>
        </p:txBody>
      </p:sp>
      <p:sp>
        <p:nvSpPr>
          <p:cNvPr id="15" name="Text 13"/>
          <p:cNvSpPr/>
          <p:nvPr/>
        </p:nvSpPr>
        <p:spPr>
          <a:xfrm>
            <a:off x="384048" y="1344168"/>
            <a:ext cx="11887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19</a:t>
            </a:r>
            <a:endParaRPr lang="en-US" sz="1900" dirty="0"/>
          </a:p>
        </p:txBody>
      </p:sp>
      <p:sp>
        <p:nvSpPr>
          <p:cNvPr id="16" name="Text 14"/>
          <p:cNvSpPr/>
          <p:nvPr/>
        </p:nvSpPr>
        <p:spPr>
          <a:xfrm>
            <a:off x="1810512" y="1143000"/>
            <a:ext cx="173736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PORTFOLIO VALUE</a:t>
            </a:r>
            <a:endParaRPr lang="en-US" sz="800" dirty="0"/>
          </a:p>
        </p:txBody>
      </p:sp>
      <p:sp>
        <p:nvSpPr>
          <p:cNvPr id="17" name="Text 15"/>
          <p:cNvSpPr/>
          <p:nvPr/>
        </p:nvSpPr>
        <p:spPr>
          <a:xfrm>
            <a:off x="1810512" y="1344168"/>
            <a:ext cx="173736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$XXX.X B</a:t>
            </a:r>
            <a:endParaRPr lang="en-US" sz="1900" dirty="0"/>
          </a:p>
        </p:txBody>
      </p:sp>
      <p:sp>
        <p:nvSpPr>
          <p:cNvPr id="18" name="Shape 16"/>
          <p:cNvSpPr/>
          <p:nvPr/>
        </p:nvSpPr>
        <p:spPr>
          <a:xfrm>
            <a:off x="3822192" y="1143000"/>
            <a:ext cx="201168" cy="141732"/>
          </a:xfrm>
          <a:prstGeom prst="roundRect">
            <a:avLst>
              <a:gd name="adj" fmla="val 12903"/>
            </a:avLst>
          </a:prstGeom>
          <a:solidFill>
            <a:srgbClr val="FFFFFF"/>
          </a:solidFill>
          <a:ln w="9525">
            <a:solidFill>
              <a:srgbClr val="D5D3CC"/>
            </a:solidFill>
            <a:prstDash val="solid"/>
          </a:ln>
        </p:spPr>
      </p:sp>
      <p:sp>
        <p:nvSpPr>
          <p:cNvPr id="19" name="Shape 17"/>
          <p:cNvSpPr/>
          <p:nvPr/>
        </p:nvSpPr>
        <p:spPr>
          <a:xfrm>
            <a:off x="3883091" y="1174181"/>
            <a:ext cx="79370" cy="79370"/>
          </a:xfrm>
          <a:prstGeom prst="ellipse">
            <a:avLst/>
          </a:prstGeom>
          <a:solidFill>
            <a:srgbClr val="BC002D"/>
          </a:solidFill>
          <a:ln/>
        </p:spPr>
      </p:sp>
      <p:sp>
        <p:nvSpPr>
          <p:cNvPr id="20" name="Text 18"/>
          <p:cNvSpPr/>
          <p:nvPr/>
        </p:nvSpPr>
        <p:spPr>
          <a:xfrm>
            <a:off x="4087368" y="1143000"/>
            <a:ext cx="14630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JAPAN-FUNDED</a:t>
            </a:r>
            <a:endParaRPr lang="en-US" sz="800" dirty="0"/>
          </a:p>
        </p:txBody>
      </p:sp>
      <p:sp>
        <p:nvSpPr>
          <p:cNvPr id="21" name="Text 19"/>
          <p:cNvSpPr/>
          <p:nvPr/>
        </p:nvSpPr>
        <p:spPr>
          <a:xfrm>
            <a:off x="3822192" y="1344168"/>
            <a:ext cx="178308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13</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2" name="Shape 20"/>
          <p:cNvSpPr/>
          <p:nvPr/>
        </p:nvSpPr>
        <p:spPr>
          <a:xfrm>
            <a:off x="5879592" y="1143000"/>
            <a:ext cx="201168" cy="141732"/>
          </a:xfrm>
          <a:prstGeom prst="roundRect">
            <a:avLst>
              <a:gd name="adj" fmla="val 12903"/>
            </a:avLst>
          </a:prstGeom>
          <a:solidFill>
            <a:srgbClr val="FFFFFF"/>
          </a:solidFill>
          <a:ln w="9525">
            <a:solidFill>
              <a:srgbClr val="D5D3CC"/>
            </a:solidFill>
            <a:prstDash val="solid"/>
          </a:ln>
        </p:spPr>
      </p:sp>
      <p:sp>
        <p:nvSpPr>
          <p:cNvPr id="23" name="Shape 21"/>
          <p:cNvSpPr/>
          <p:nvPr/>
        </p:nvSpPr>
        <p:spPr>
          <a:xfrm>
            <a:off x="5940491" y="1174181"/>
            <a:ext cx="79370" cy="79370"/>
          </a:xfrm>
          <a:prstGeom prst="ellipse">
            <a:avLst/>
          </a:prstGeom>
          <a:solidFill>
            <a:srgbClr val="003478"/>
          </a:solidFill>
          <a:ln/>
        </p:spPr>
      </p:sp>
      <p:sp>
        <p:nvSpPr>
          <p:cNvPr id="24" name="Shape 22"/>
          <p:cNvSpPr/>
          <p:nvPr/>
        </p:nvSpPr>
        <p:spPr>
          <a:xfrm>
            <a:off x="5940491" y="1174181"/>
            <a:ext cx="79370" cy="79370"/>
          </a:xfrm>
          <a:prstGeom prst="pie">
            <a:avLst>
              <a:gd name="adj1" fmla="val 10800000"/>
              <a:gd name="adj2" fmla="val 21600000"/>
            </a:avLst>
          </a:prstGeom>
          <a:solidFill>
            <a:srgbClr val="C60C30"/>
          </a:solidFill>
          <a:ln/>
        </p:spPr>
      </p:sp>
      <p:sp>
        <p:nvSpPr>
          <p:cNvPr id="25" name="Text 23"/>
          <p:cNvSpPr/>
          <p:nvPr/>
        </p:nvSpPr>
        <p:spPr>
          <a:xfrm>
            <a:off x="6144768" y="1143000"/>
            <a:ext cx="137160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KOREA-FUNDED</a:t>
            </a:r>
            <a:endParaRPr lang="en-US" sz="800" dirty="0"/>
          </a:p>
        </p:txBody>
      </p:sp>
      <p:sp>
        <p:nvSpPr>
          <p:cNvPr id="26" name="Text 24"/>
          <p:cNvSpPr/>
          <p:nvPr/>
        </p:nvSpPr>
        <p:spPr>
          <a:xfrm>
            <a:off x="5879592" y="1344168"/>
            <a:ext cx="16459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6</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7" name="Text 25"/>
          <p:cNvSpPr/>
          <p:nvPr/>
        </p:nvSpPr>
        <p:spPr>
          <a:xfrm>
            <a:off x="7754112" y="1143000"/>
            <a:ext cx="19202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PIPELINE BY STAGE</a:t>
            </a:r>
            <a:endParaRPr lang="en-US" sz="800" dirty="0"/>
          </a:p>
        </p:txBody>
      </p:sp>
      <p:sp>
        <p:nvSpPr>
          <p:cNvPr id="28" name="Text 26"/>
          <p:cNvSpPr/>
          <p:nvPr/>
        </p:nvSpPr>
        <p:spPr>
          <a:xfrm>
            <a:off x="7754112" y="1357884"/>
            <a:ext cx="1920240" cy="192024"/>
          </a:xfrm>
          <a:prstGeom prst="rect">
            <a:avLst/>
          </a:prstGeom>
          <a:noFill/>
          <a:ln/>
        </p:spPr>
        <p:txBody>
          <a:bodyPr wrap="square" lIns="0" tIns="0" rIns="0" bIns="0" rtlCol="0" anchor="ctr"/>
          <a:lstStyle/>
          <a:p>
            <a:pPr indent="0" marL="0">
              <a:buNone/>
            </a:pPr>
            <a:r>
              <a:rPr lang="en-US" sz="800" dirty="0">
                <a:solidFill>
                  <a:srgbClr val="0CA30C"/>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Announced</a:t>
            </a:r>
            <a:endParaRPr lang="en-US" sz="800" dirty="0"/>
          </a:p>
        </p:txBody>
      </p:sp>
      <p:sp>
        <p:nvSpPr>
          <p:cNvPr id="29" name="Text 27"/>
          <p:cNvSpPr/>
          <p:nvPr/>
        </p:nvSpPr>
        <p:spPr>
          <a:xfrm>
            <a:off x="7754112" y="1554480"/>
            <a:ext cx="1920240" cy="192024"/>
          </a:xfrm>
          <a:prstGeom prst="rect">
            <a:avLst/>
          </a:prstGeom>
          <a:noFill/>
          <a:ln/>
        </p:spPr>
        <p:txBody>
          <a:bodyPr wrap="square" lIns="0" tIns="0" rIns="0" bIns="0" rtlCol="0" anchor="ctr"/>
          <a:lstStyle/>
          <a:p>
            <a:pPr indent="0" marL="0">
              <a:buNone/>
            </a:pPr>
            <a:r>
              <a:rPr lang="en-US" sz="800" dirty="0">
                <a:solidFill>
                  <a:srgbClr val="898781"/>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Consultation</a:t>
            </a:r>
            <a:endParaRPr lang="en-US" sz="800" dirty="0"/>
          </a:p>
        </p:txBody>
      </p:sp>
      <p:sp>
        <p:nvSpPr>
          <p:cNvPr id="30" name="Text 28"/>
          <p:cNvSpPr/>
          <p:nvPr/>
        </p:nvSpPr>
        <p:spPr>
          <a:xfrm>
            <a:off x="7754112" y="1751076"/>
            <a:ext cx="1920240" cy="192024"/>
          </a:xfrm>
          <a:prstGeom prst="rect">
            <a:avLst/>
          </a:prstGeom>
          <a:noFill/>
          <a:ln/>
        </p:spPr>
        <p:txBody>
          <a:bodyPr wrap="square" lIns="0" tIns="0" rIns="0" bIns="0" rtlCol="0" anchor="ctr"/>
          <a:lstStyle/>
          <a:p>
            <a:pPr indent="0" marL="0">
              <a:buNone/>
            </a:pPr>
            <a:r>
              <a:rPr lang="en-US" sz="800" dirty="0">
                <a:solidFill>
                  <a:srgbClr val="2A78D6"/>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7  </a:t>
            </a:r>
            <a:pPr indent="0" marL="0">
              <a:buNone/>
            </a:pPr>
            <a:r>
              <a:rPr lang="en-US" sz="950" dirty="0">
                <a:solidFill>
                  <a:srgbClr val="52514E"/>
                </a:solidFill>
                <a:latin typeface="Arial" pitchFamily="34" charset="0"/>
                <a:ea typeface="Arial" pitchFamily="34" charset="-122"/>
                <a:cs typeface="Arial" pitchFamily="34" charset="-120"/>
              </a:rPr>
              <a:t>Active</a:t>
            </a:r>
            <a:endParaRPr lang="en-US" sz="800" dirty="0"/>
          </a:p>
        </p:txBody>
      </p:sp>
      <p:sp>
        <p:nvSpPr>
          <p:cNvPr id="31" name="Shape 29"/>
          <p:cNvSpPr/>
          <p:nvPr/>
        </p:nvSpPr>
        <p:spPr>
          <a:xfrm>
            <a:off x="384048" y="2162556"/>
            <a:ext cx="274320" cy="187452"/>
          </a:xfrm>
          <a:prstGeom prst="roundRect">
            <a:avLst>
              <a:gd name="adj" fmla="val 9756"/>
            </a:avLst>
          </a:prstGeom>
          <a:solidFill>
            <a:srgbClr val="FFFFFF"/>
          </a:solidFill>
          <a:ln w="9525">
            <a:solidFill>
              <a:srgbClr val="D5D3CC"/>
            </a:solidFill>
            <a:prstDash val="solid"/>
          </a:ln>
        </p:spPr>
      </p:sp>
      <p:sp>
        <p:nvSpPr>
          <p:cNvPr id="32" name="Shape 30"/>
          <p:cNvSpPr/>
          <p:nvPr/>
        </p:nvSpPr>
        <p:spPr>
          <a:xfrm>
            <a:off x="468721" y="2203795"/>
            <a:ext cx="104973" cy="104973"/>
          </a:xfrm>
          <a:prstGeom prst="ellipse">
            <a:avLst/>
          </a:prstGeom>
          <a:solidFill>
            <a:srgbClr val="BC002D"/>
          </a:solidFill>
          <a:ln/>
        </p:spPr>
      </p:sp>
      <p:sp>
        <p:nvSpPr>
          <p:cNvPr id="33" name="Text 31"/>
          <p:cNvSpPr/>
          <p:nvPr/>
        </p:nvSpPr>
        <p:spPr>
          <a:xfrm>
            <a:off x="731520" y="2121408"/>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JAPAN</a:t>
            </a:r>
            <a:endParaRPr lang="en-US" sz="1400" dirty="0"/>
          </a:p>
        </p:txBody>
      </p:sp>
      <p:sp>
        <p:nvSpPr>
          <p:cNvPr id="34" name="Text 32"/>
          <p:cNvSpPr/>
          <p:nvPr/>
        </p:nvSpPr>
        <p:spPr>
          <a:xfrm>
            <a:off x="3054096" y="2171700"/>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13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35" name="Shape 33"/>
          <p:cNvSpPr/>
          <p:nvPr/>
        </p:nvSpPr>
        <p:spPr>
          <a:xfrm>
            <a:off x="384048" y="2459736"/>
            <a:ext cx="5413248" cy="25603"/>
          </a:xfrm>
          <a:prstGeom prst="rect">
            <a:avLst/>
          </a:prstGeom>
          <a:solidFill>
            <a:srgbClr val="BC002D"/>
          </a:solidFill>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84048" y="2569464"/>
          <a:ext cx="5413248" cy="914400"/>
        </p:xfrm>
        <a:graphic>
          <a:graphicData uri="http://schemas.openxmlformats.org/drawingml/2006/table">
            <a:tbl>
              <a:tblPr/>
              <a:tblGrid>
                <a:gridCol w="1847088"/>
                <a:gridCol w="1170432"/>
                <a:gridCol w="841248"/>
                <a:gridCol w="1554480"/>
              </a:tblGrid>
              <a:tr h="256032">
                <a:tc>
                  <a:txBody>
                    <a:bodyPr/>
                    <a:lstStyle/>
                    <a:p>
                      <a:pPr indent="0" marL="0">
                        <a:buNone/>
                      </a:pPr>
                      <a:r>
                        <a:rPr lang="en-US" sz="800" b="1" spc="100" kern="0" dirty="0">
                          <a:solidFill>
                            <a:srgbClr val="898781"/>
                          </a:solidFill>
                          <a:latin typeface="Arial" pitchFamily="34" charset="0"/>
                          <a:ea typeface="Arial" pitchFamily="34" charset="-122"/>
                          <a:cs typeface="Arial" pitchFamily="34" charset="-120"/>
                        </a:rPr>
                        <a:t>COMPANY</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100" kern="0" dirty="0">
                          <a:solidFill>
                            <a:srgbClr val="898781"/>
                          </a:solidFill>
                          <a:latin typeface="Arial" pitchFamily="34" charset="0"/>
                          <a:ea typeface="Arial" pitchFamily="34" charset="-122"/>
                          <a:cs typeface="Arial" pitchFamily="34" charset="-120"/>
                        </a:rPr>
                        <a:t>STAGE</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800" b="1" spc="100" kern="0" dirty="0">
                          <a:solidFill>
                            <a:srgbClr val="898781"/>
                          </a:solidFill>
                          <a:latin typeface="Arial" pitchFamily="34" charset="0"/>
                          <a:ea typeface="Arial" pitchFamily="34" charset="-122"/>
                          <a:cs typeface="Arial" pitchFamily="34" charset="-120"/>
                        </a:rPr>
                        <a:t>DEAL SIZE</a:t>
                      </a:r>
                      <a:endParaRPr lang="en-US" sz="80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100" kern="0" dirty="0">
                          <a:solidFill>
                            <a:srgbClr val="898781"/>
                          </a:solidFill>
                          <a:latin typeface="Arial" pitchFamily="34" charset="0"/>
                          <a:ea typeface="Arial" pitchFamily="34" charset="-122"/>
                          <a:cs typeface="Arial" pitchFamily="34" charset="-120"/>
                        </a:rPr>
                        <a:t>OWNER’S REP</a:t>
                      </a:r>
                      <a:endParaRPr lang="en-US" sz="800" dirty="0">
                        <a:latin typeface="Arial" charset="0"/>
                        <a:ea typeface="Arial" charset="0"/>
                        <a:cs typeface="Arial" charset="0"/>
                      </a:endParaRPr>
                    </a:p>
                  </a:txBody>
                  <a:tcPr marL="91440"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10</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37" name="Shape 34"/>
          <p:cNvSpPr/>
          <p:nvPr/>
        </p:nvSpPr>
        <p:spPr>
          <a:xfrm>
            <a:off x="2286000" y="2887218"/>
            <a:ext cx="932688" cy="219456"/>
          </a:xfrm>
          <a:prstGeom prst="roundRect">
            <a:avLst>
              <a:gd name="adj" fmla="val 50000"/>
            </a:avLst>
          </a:prstGeom>
          <a:solidFill>
            <a:srgbClr val="E7F3E7"/>
          </a:solidFill>
          <a:ln/>
        </p:spPr>
      </p:sp>
      <p:sp>
        <p:nvSpPr>
          <p:cNvPr id="38" name="Text 35"/>
          <p:cNvSpPr/>
          <p:nvPr/>
        </p:nvSpPr>
        <p:spPr>
          <a:xfrm>
            <a:off x="2286000" y="288721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39" name="Shape 36"/>
          <p:cNvSpPr/>
          <p:nvPr/>
        </p:nvSpPr>
        <p:spPr>
          <a:xfrm>
            <a:off x="2286000" y="3230118"/>
            <a:ext cx="932688" cy="219456"/>
          </a:xfrm>
          <a:prstGeom prst="roundRect">
            <a:avLst>
              <a:gd name="adj" fmla="val 50000"/>
            </a:avLst>
          </a:prstGeom>
          <a:solidFill>
            <a:srgbClr val="E7F3E7"/>
          </a:solidFill>
          <a:ln/>
        </p:spPr>
      </p:sp>
      <p:sp>
        <p:nvSpPr>
          <p:cNvPr id="40" name="Text 37"/>
          <p:cNvSpPr/>
          <p:nvPr/>
        </p:nvSpPr>
        <p:spPr>
          <a:xfrm>
            <a:off x="2286000" y="323011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1" name="Shape 38"/>
          <p:cNvSpPr/>
          <p:nvPr/>
        </p:nvSpPr>
        <p:spPr>
          <a:xfrm>
            <a:off x="2286000" y="3573018"/>
            <a:ext cx="932688" cy="219456"/>
          </a:xfrm>
          <a:prstGeom prst="roundRect">
            <a:avLst>
              <a:gd name="adj" fmla="val 50000"/>
            </a:avLst>
          </a:prstGeom>
          <a:solidFill>
            <a:srgbClr val="E7F3E7"/>
          </a:solidFill>
          <a:ln/>
        </p:spPr>
      </p:sp>
      <p:sp>
        <p:nvSpPr>
          <p:cNvPr id="42" name="Text 39"/>
          <p:cNvSpPr/>
          <p:nvPr/>
        </p:nvSpPr>
        <p:spPr>
          <a:xfrm>
            <a:off x="2286000" y="357301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3" name="Shape 40"/>
          <p:cNvSpPr/>
          <p:nvPr/>
        </p:nvSpPr>
        <p:spPr>
          <a:xfrm>
            <a:off x="2286000" y="3915918"/>
            <a:ext cx="932688" cy="219456"/>
          </a:xfrm>
          <a:prstGeom prst="roundRect">
            <a:avLst>
              <a:gd name="adj" fmla="val 50000"/>
            </a:avLst>
          </a:prstGeom>
          <a:solidFill>
            <a:srgbClr val="E7F3E7"/>
          </a:solidFill>
          <a:ln/>
        </p:spPr>
      </p:sp>
      <p:sp>
        <p:nvSpPr>
          <p:cNvPr id="44" name="Text 41"/>
          <p:cNvSpPr/>
          <p:nvPr/>
        </p:nvSpPr>
        <p:spPr>
          <a:xfrm>
            <a:off x="2286000" y="391591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5" name="Shape 42"/>
          <p:cNvSpPr/>
          <p:nvPr/>
        </p:nvSpPr>
        <p:spPr>
          <a:xfrm>
            <a:off x="2286000" y="4258818"/>
            <a:ext cx="932688" cy="219456"/>
          </a:xfrm>
          <a:prstGeom prst="roundRect">
            <a:avLst>
              <a:gd name="adj" fmla="val 50000"/>
            </a:avLst>
          </a:prstGeom>
          <a:solidFill>
            <a:srgbClr val="E7F3E7"/>
          </a:solidFill>
          <a:ln/>
        </p:spPr>
      </p:sp>
      <p:sp>
        <p:nvSpPr>
          <p:cNvPr id="46" name="Text 43"/>
          <p:cNvSpPr/>
          <p:nvPr/>
        </p:nvSpPr>
        <p:spPr>
          <a:xfrm>
            <a:off x="2286000" y="425881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7" name="Shape 44"/>
          <p:cNvSpPr/>
          <p:nvPr/>
        </p:nvSpPr>
        <p:spPr>
          <a:xfrm>
            <a:off x="2286000" y="4601718"/>
            <a:ext cx="932688" cy="219456"/>
          </a:xfrm>
          <a:prstGeom prst="roundRect">
            <a:avLst>
              <a:gd name="adj" fmla="val 50000"/>
            </a:avLst>
          </a:prstGeom>
          <a:solidFill>
            <a:srgbClr val="E7F3E7"/>
          </a:solidFill>
          <a:ln/>
        </p:spPr>
      </p:sp>
      <p:sp>
        <p:nvSpPr>
          <p:cNvPr id="48" name="Text 45"/>
          <p:cNvSpPr/>
          <p:nvPr/>
        </p:nvSpPr>
        <p:spPr>
          <a:xfrm>
            <a:off x="2286000" y="460171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9" name="Shape 46"/>
          <p:cNvSpPr/>
          <p:nvPr/>
        </p:nvSpPr>
        <p:spPr>
          <a:xfrm>
            <a:off x="2286000" y="4944618"/>
            <a:ext cx="1060704" cy="219456"/>
          </a:xfrm>
          <a:prstGeom prst="roundRect">
            <a:avLst>
              <a:gd name="adj" fmla="val 50000"/>
            </a:avLst>
          </a:prstGeom>
          <a:solidFill>
            <a:srgbClr val="F0EFEC"/>
          </a:solidFill>
          <a:ln/>
        </p:spPr>
      </p:sp>
      <p:sp>
        <p:nvSpPr>
          <p:cNvPr id="50" name="Text 47"/>
          <p:cNvSpPr/>
          <p:nvPr/>
        </p:nvSpPr>
        <p:spPr>
          <a:xfrm>
            <a:off x="2286000" y="494461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1" name="Shape 48"/>
          <p:cNvSpPr/>
          <p:nvPr/>
        </p:nvSpPr>
        <p:spPr>
          <a:xfrm>
            <a:off x="2286000" y="5287518"/>
            <a:ext cx="1060704" cy="219456"/>
          </a:xfrm>
          <a:prstGeom prst="roundRect">
            <a:avLst>
              <a:gd name="adj" fmla="val 50000"/>
            </a:avLst>
          </a:prstGeom>
          <a:solidFill>
            <a:srgbClr val="F0EFEC"/>
          </a:solidFill>
          <a:ln/>
        </p:spPr>
      </p:sp>
      <p:sp>
        <p:nvSpPr>
          <p:cNvPr id="52" name="Text 49"/>
          <p:cNvSpPr/>
          <p:nvPr/>
        </p:nvSpPr>
        <p:spPr>
          <a:xfrm>
            <a:off x="2286000" y="528751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3" name="Shape 50"/>
          <p:cNvSpPr/>
          <p:nvPr/>
        </p:nvSpPr>
        <p:spPr>
          <a:xfrm>
            <a:off x="2286000" y="5630418"/>
            <a:ext cx="1060704" cy="219456"/>
          </a:xfrm>
          <a:prstGeom prst="roundRect">
            <a:avLst>
              <a:gd name="adj" fmla="val 50000"/>
            </a:avLst>
          </a:prstGeom>
          <a:solidFill>
            <a:srgbClr val="F0EFEC"/>
          </a:solidFill>
          <a:ln/>
        </p:spPr>
      </p:sp>
      <p:sp>
        <p:nvSpPr>
          <p:cNvPr id="54" name="Text 51"/>
          <p:cNvSpPr/>
          <p:nvPr/>
        </p:nvSpPr>
        <p:spPr>
          <a:xfrm>
            <a:off x="2286000" y="563041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5" name="Shape 52"/>
          <p:cNvSpPr/>
          <p:nvPr/>
        </p:nvSpPr>
        <p:spPr>
          <a:xfrm>
            <a:off x="2286000" y="5973318"/>
            <a:ext cx="731520" cy="219456"/>
          </a:xfrm>
          <a:prstGeom prst="roundRect">
            <a:avLst>
              <a:gd name="adj" fmla="val 50000"/>
            </a:avLst>
          </a:prstGeom>
          <a:solidFill>
            <a:srgbClr val="E5EEFB"/>
          </a:solidFill>
          <a:ln/>
        </p:spPr>
      </p:sp>
      <p:sp>
        <p:nvSpPr>
          <p:cNvPr id="56" name="Text 53"/>
          <p:cNvSpPr/>
          <p:nvPr/>
        </p:nvSpPr>
        <p:spPr>
          <a:xfrm>
            <a:off x="2286000" y="59733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7" name="Shape 54"/>
          <p:cNvSpPr/>
          <p:nvPr/>
        </p:nvSpPr>
        <p:spPr>
          <a:xfrm>
            <a:off x="2286000" y="6316218"/>
            <a:ext cx="731520" cy="219456"/>
          </a:xfrm>
          <a:prstGeom prst="roundRect">
            <a:avLst>
              <a:gd name="adj" fmla="val 50000"/>
            </a:avLst>
          </a:prstGeom>
          <a:solidFill>
            <a:srgbClr val="E5EEFB"/>
          </a:solidFill>
          <a:ln/>
        </p:spPr>
      </p:sp>
      <p:sp>
        <p:nvSpPr>
          <p:cNvPr id="58" name="Text 55"/>
          <p:cNvSpPr/>
          <p:nvPr/>
        </p:nvSpPr>
        <p:spPr>
          <a:xfrm>
            <a:off x="2286000" y="63162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9" name="Shape 56"/>
          <p:cNvSpPr/>
          <p:nvPr/>
        </p:nvSpPr>
        <p:spPr>
          <a:xfrm>
            <a:off x="2286000" y="6659118"/>
            <a:ext cx="731520" cy="219456"/>
          </a:xfrm>
          <a:prstGeom prst="roundRect">
            <a:avLst>
              <a:gd name="adj" fmla="val 50000"/>
            </a:avLst>
          </a:prstGeom>
          <a:solidFill>
            <a:srgbClr val="E5EEFB"/>
          </a:solidFill>
          <a:ln/>
        </p:spPr>
      </p:sp>
      <p:sp>
        <p:nvSpPr>
          <p:cNvPr id="60" name="Text 57"/>
          <p:cNvSpPr/>
          <p:nvPr/>
        </p:nvSpPr>
        <p:spPr>
          <a:xfrm>
            <a:off x="2286000" y="66591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61" name="Shape 58"/>
          <p:cNvSpPr/>
          <p:nvPr/>
        </p:nvSpPr>
        <p:spPr>
          <a:xfrm>
            <a:off x="2286000" y="7002018"/>
            <a:ext cx="731520" cy="219456"/>
          </a:xfrm>
          <a:prstGeom prst="roundRect">
            <a:avLst>
              <a:gd name="adj" fmla="val 50000"/>
            </a:avLst>
          </a:prstGeom>
          <a:solidFill>
            <a:srgbClr val="E5EEFB"/>
          </a:solidFill>
          <a:ln/>
        </p:spPr>
      </p:sp>
      <p:sp>
        <p:nvSpPr>
          <p:cNvPr id="62" name="Text 59"/>
          <p:cNvSpPr/>
          <p:nvPr/>
        </p:nvSpPr>
        <p:spPr>
          <a:xfrm>
            <a:off x="2286000" y="70020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63" name="Shape 60"/>
          <p:cNvSpPr/>
          <p:nvPr/>
        </p:nvSpPr>
        <p:spPr>
          <a:xfrm>
            <a:off x="6126480" y="2162556"/>
            <a:ext cx="274320" cy="187452"/>
          </a:xfrm>
          <a:prstGeom prst="roundRect">
            <a:avLst>
              <a:gd name="adj" fmla="val 9756"/>
            </a:avLst>
          </a:prstGeom>
          <a:solidFill>
            <a:srgbClr val="FFFFFF"/>
          </a:solidFill>
          <a:ln w="9525">
            <a:solidFill>
              <a:srgbClr val="D5D3CC"/>
            </a:solidFill>
            <a:prstDash val="solid"/>
          </a:ln>
        </p:spPr>
      </p:sp>
      <p:sp>
        <p:nvSpPr>
          <p:cNvPr id="64" name="Shape 61"/>
          <p:cNvSpPr/>
          <p:nvPr/>
        </p:nvSpPr>
        <p:spPr>
          <a:xfrm>
            <a:off x="6211153" y="2203795"/>
            <a:ext cx="104973" cy="104973"/>
          </a:xfrm>
          <a:prstGeom prst="ellipse">
            <a:avLst/>
          </a:prstGeom>
          <a:solidFill>
            <a:srgbClr val="003478"/>
          </a:solidFill>
          <a:ln/>
        </p:spPr>
      </p:sp>
      <p:sp>
        <p:nvSpPr>
          <p:cNvPr id="65" name="Shape 62"/>
          <p:cNvSpPr/>
          <p:nvPr/>
        </p:nvSpPr>
        <p:spPr>
          <a:xfrm>
            <a:off x="6211153" y="2203795"/>
            <a:ext cx="104973" cy="104973"/>
          </a:xfrm>
          <a:prstGeom prst="pie">
            <a:avLst>
              <a:gd name="adj1" fmla="val 10800000"/>
              <a:gd name="adj2" fmla="val 21600000"/>
            </a:avLst>
          </a:prstGeom>
          <a:solidFill>
            <a:srgbClr val="C60C30"/>
          </a:solidFill>
          <a:ln/>
        </p:spPr>
      </p:sp>
      <p:sp>
        <p:nvSpPr>
          <p:cNvPr id="66" name="Text 63"/>
          <p:cNvSpPr/>
          <p:nvPr/>
        </p:nvSpPr>
        <p:spPr>
          <a:xfrm>
            <a:off x="6473952" y="2121408"/>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KOREA</a:t>
            </a:r>
            <a:endParaRPr lang="en-US" sz="1400" dirty="0"/>
          </a:p>
        </p:txBody>
      </p:sp>
      <p:sp>
        <p:nvSpPr>
          <p:cNvPr id="67" name="Text 64"/>
          <p:cNvSpPr/>
          <p:nvPr/>
        </p:nvSpPr>
        <p:spPr>
          <a:xfrm>
            <a:off x="6931152" y="2171700"/>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6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68" name="Shape 65"/>
          <p:cNvSpPr/>
          <p:nvPr/>
        </p:nvSpPr>
        <p:spPr>
          <a:xfrm>
            <a:off x="6126480" y="2459736"/>
            <a:ext cx="3547872" cy="25603"/>
          </a:xfrm>
          <a:prstGeom prst="rect">
            <a:avLst/>
          </a:prstGeom>
          <a:solidFill>
            <a:srgbClr val="003478"/>
          </a:solidFill>
          <a:ln/>
        </p:spPr>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6126480" y="2569464"/>
          <a:ext cx="3547872" cy="914400"/>
        </p:xfrm>
        <a:graphic>
          <a:graphicData uri="http://schemas.openxmlformats.org/drawingml/2006/table">
            <a:tbl>
              <a:tblPr/>
              <a:tblGrid>
                <a:gridCol w="932688"/>
                <a:gridCol w="1133856"/>
                <a:gridCol w="640080"/>
                <a:gridCol w="841248"/>
              </a:tblGrid>
              <a:tr h="256032">
                <a:tc>
                  <a:txBody>
                    <a:bodyPr/>
                    <a:lstStyle/>
                    <a:p>
                      <a:pPr indent="0" marL="0">
                        <a:buNone/>
                      </a:pPr>
                      <a:r>
                        <a:rPr lang="en-US" sz="750" b="1" dirty="0">
                          <a:solidFill>
                            <a:srgbClr val="898781"/>
                          </a:solidFill>
                          <a:latin typeface="Arial" pitchFamily="34" charset="0"/>
                          <a:ea typeface="Arial" pitchFamily="34" charset="-122"/>
                          <a:cs typeface="Arial" pitchFamily="34" charset="-120"/>
                        </a:rPr>
                        <a:t>COMPANY</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STAGE</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50" b="1" dirty="0">
                          <a:solidFill>
                            <a:srgbClr val="898781"/>
                          </a:solidFill>
                          <a:latin typeface="Arial" pitchFamily="34" charset="0"/>
                          <a:ea typeface="Arial" pitchFamily="34" charset="-122"/>
                          <a:cs typeface="Arial" pitchFamily="34" charset="-120"/>
                        </a:rPr>
                        <a:t>DEAL SIZE</a:t>
                      </a:r>
                      <a:endParaRPr lang="en-US" sz="7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OWNER’S REP</a:t>
                      </a:r>
                      <a:endParaRPr lang="en-US" sz="750" dirty="0">
                        <a:latin typeface="Arial" charset="0"/>
                        <a:ea typeface="Arial" charset="0"/>
                        <a:cs typeface="Arial" charset="0"/>
                      </a:endParaRPr>
                    </a:p>
                  </a:txBody>
                  <a:tcPr marL="91440"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70" name="Shape 66"/>
          <p:cNvSpPr/>
          <p:nvPr/>
        </p:nvSpPr>
        <p:spPr>
          <a:xfrm>
            <a:off x="7114032" y="2887218"/>
            <a:ext cx="1060704" cy="219456"/>
          </a:xfrm>
          <a:prstGeom prst="roundRect">
            <a:avLst>
              <a:gd name="adj" fmla="val 50000"/>
            </a:avLst>
          </a:prstGeom>
          <a:solidFill>
            <a:srgbClr val="F0EFEC"/>
          </a:solidFill>
          <a:ln/>
        </p:spPr>
      </p:sp>
      <p:sp>
        <p:nvSpPr>
          <p:cNvPr id="71" name="Text 67"/>
          <p:cNvSpPr/>
          <p:nvPr/>
        </p:nvSpPr>
        <p:spPr>
          <a:xfrm>
            <a:off x="7114032" y="288721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2" name="Shape 68"/>
          <p:cNvSpPr/>
          <p:nvPr/>
        </p:nvSpPr>
        <p:spPr>
          <a:xfrm>
            <a:off x="7114032" y="3230118"/>
            <a:ext cx="1060704" cy="219456"/>
          </a:xfrm>
          <a:prstGeom prst="roundRect">
            <a:avLst>
              <a:gd name="adj" fmla="val 50000"/>
            </a:avLst>
          </a:prstGeom>
          <a:solidFill>
            <a:srgbClr val="F0EFEC"/>
          </a:solidFill>
          <a:ln/>
        </p:spPr>
      </p:sp>
      <p:sp>
        <p:nvSpPr>
          <p:cNvPr id="73" name="Text 69"/>
          <p:cNvSpPr/>
          <p:nvPr/>
        </p:nvSpPr>
        <p:spPr>
          <a:xfrm>
            <a:off x="7114032" y="323011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4" name="Shape 70"/>
          <p:cNvSpPr/>
          <p:nvPr/>
        </p:nvSpPr>
        <p:spPr>
          <a:xfrm>
            <a:off x="7114032" y="3573018"/>
            <a:ext cx="1060704" cy="219456"/>
          </a:xfrm>
          <a:prstGeom prst="roundRect">
            <a:avLst>
              <a:gd name="adj" fmla="val 50000"/>
            </a:avLst>
          </a:prstGeom>
          <a:solidFill>
            <a:srgbClr val="F0EFEC"/>
          </a:solidFill>
          <a:ln/>
        </p:spPr>
      </p:sp>
      <p:sp>
        <p:nvSpPr>
          <p:cNvPr id="75" name="Text 71"/>
          <p:cNvSpPr/>
          <p:nvPr/>
        </p:nvSpPr>
        <p:spPr>
          <a:xfrm>
            <a:off x="7114032" y="357301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6" name="Shape 72"/>
          <p:cNvSpPr/>
          <p:nvPr/>
        </p:nvSpPr>
        <p:spPr>
          <a:xfrm>
            <a:off x="7114032" y="3915918"/>
            <a:ext cx="731520" cy="219456"/>
          </a:xfrm>
          <a:prstGeom prst="roundRect">
            <a:avLst>
              <a:gd name="adj" fmla="val 50000"/>
            </a:avLst>
          </a:prstGeom>
          <a:solidFill>
            <a:srgbClr val="E5EEFB"/>
          </a:solidFill>
          <a:ln/>
        </p:spPr>
      </p:sp>
      <p:sp>
        <p:nvSpPr>
          <p:cNvPr id="77" name="Text 73"/>
          <p:cNvSpPr/>
          <p:nvPr/>
        </p:nvSpPr>
        <p:spPr>
          <a:xfrm>
            <a:off x="7114032" y="39159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78" name="Shape 74"/>
          <p:cNvSpPr/>
          <p:nvPr/>
        </p:nvSpPr>
        <p:spPr>
          <a:xfrm>
            <a:off x="7114032" y="4258818"/>
            <a:ext cx="731520" cy="219456"/>
          </a:xfrm>
          <a:prstGeom prst="roundRect">
            <a:avLst>
              <a:gd name="adj" fmla="val 50000"/>
            </a:avLst>
          </a:prstGeom>
          <a:solidFill>
            <a:srgbClr val="E5EEFB"/>
          </a:solidFill>
          <a:ln/>
        </p:spPr>
      </p:sp>
      <p:sp>
        <p:nvSpPr>
          <p:cNvPr id="79" name="Text 75"/>
          <p:cNvSpPr/>
          <p:nvPr/>
        </p:nvSpPr>
        <p:spPr>
          <a:xfrm>
            <a:off x="7114032" y="42588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0" name="Shape 76"/>
          <p:cNvSpPr/>
          <p:nvPr/>
        </p:nvSpPr>
        <p:spPr>
          <a:xfrm>
            <a:off x="7114032" y="4601718"/>
            <a:ext cx="731520" cy="219456"/>
          </a:xfrm>
          <a:prstGeom prst="roundRect">
            <a:avLst>
              <a:gd name="adj" fmla="val 50000"/>
            </a:avLst>
          </a:prstGeom>
          <a:solidFill>
            <a:srgbClr val="E5EEFB"/>
          </a:solidFill>
          <a:ln/>
        </p:spPr>
      </p:sp>
      <p:sp>
        <p:nvSpPr>
          <p:cNvPr id="81" name="Text 77"/>
          <p:cNvSpPr/>
          <p:nvPr/>
        </p:nvSpPr>
        <p:spPr>
          <a:xfrm>
            <a:off x="7114032" y="460171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2" name="Shape 78"/>
          <p:cNvSpPr/>
          <p:nvPr/>
        </p:nvSpPr>
        <p:spPr>
          <a:xfrm>
            <a:off x="384048" y="7406640"/>
            <a:ext cx="9290304" cy="9144"/>
          </a:xfrm>
          <a:prstGeom prst="rect">
            <a:avLst/>
          </a:prstGeom>
          <a:solidFill>
            <a:srgbClr val="E1E0D9"/>
          </a:solidFill>
          <a:ln/>
        </p:spPr>
      </p:sp>
      <p:sp>
        <p:nvSpPr>
          <p:cNvPr id="83" name="Text 79"/>
          <p:cNvSpPr/>
          <p:nvPr/>
        </p:nvSpPr>
        <p:spPr>
          <a:xfrm>
            <a:off x="6400800" y="7461504"/>
            <a:ext cx="3273552" cy="182880"/>
          </a:xfrm>
          <a:prstGeom prst="rect">
            <a:avLst/>
          </a:prstGeom>
          <a:noFill/>
          <a:ln/>
        </p:spPr>
        <p:txBody>
          <a:bodyPr wrap="square" lIns="0" tIns="0" rIns="0" bIns="0" rtlCol="0" anchor="ctr"/>
          <a:lstStyle/>
          <a:p>
            <a:pPr algn="r" indent="0" marL="0">
              <a:buNone/>
            </a:pPr>
            <a:r>
              <a:rPr lang="en-US" sz="750" dirty="0">
                <a:solidFill>
                  <a:srgbClr val="898781"/>
                </a:solidFill>
                <a:latin typeface="Arial" pitchFamily="34" charset="0"/>
                <a:ea typeface="Arial" pitchFamily="34" charset="-122"/>
                <a:cs typeface="Arial" pitchFamily="34" charset="-120"/>
              </a:rPr>
              <a:t>Data as of July 29, 2026</a:t>
            </a:r>
            <a:endParaRPr lang="en-US" sz="750" dirty="0"/>
          </a:p>
        </p:txBody>
      </p:sp>
      <p:sp>
        <p:nvSpPr>
          <p:cNvPr id="84" name="Text 80"/>
          <p:cNvSpPr/>
          <p:nvPr/>
        </p:nvSpPr>
        <p:spPr>
          <a:xfrm>
            <a:off x="10287000" y="2286000"/>
            <a:ext cx="2011680" cy="502920"/>
          </a:xfrm>
          <a:prstGeom prst="rect">
            <a:avLst/>
          </a:prstGeom>
          <a:noFill/>
          <a:ln/>
        </p:spPr>
        <p:txBody>
          <a:bodyPr wrap="square" lIns="0" tIns="0" rIns="0" bIns="0" rtlCol="0" anchor="ctr"/>
          <a:lstStyle/>
          <a:p>
            <a:pPr indent="0" marL="0">
              <a:buNone/>
            </a:pPr>
            <a:r>
              <a:rPr lang="en-US" sz="800" b="1" dirty="0">
                <a:solidFill>
                  <a:srgbClr val="898781"/>
                </a:solidFill>
                <a:latin typeface="Arial" pitchFamily="34" charset="0"/>
                <a:ea typeface="Arial" pitchFamily="34" charset="-122"/>
                <a:cs typeface="Arial" pitchFamily="34" charset="-120"/>
              </a:rPr>
              <a:t>SPARE STAGE TAGS — copy (Ctrl/Cmd-drag) onto any row.</a:t>
            </a:r>
            <a:endParaRPr lang="en-US" sz="800" dirty="0"/>
          </a:p>
          <a:p>
            <a:pPr indent="0" marL="0">
              <a:buNone/>
            </a:pPr>
            <a:r>
              <a:rPr lang="en-US" sz="800" b="1" dirty="0">
                <a:solidFill>
                  <a:srgbClr val="898781"/>
                </a:solidFill>
                <a:latin typeface="Arial" pitchFamily="34" charset="0"/>
                <a:ea typeface="Arial" pitchFamily="34" charset="-122"/>
                <a:cs typeface="Arial" pitchFamily="34" charset="-120"/>
              </a:rPr>
              <a:t>This area is off the page and never prints.</a:t>
            </a:r>
            <a:endParaRPr lang="en-US" sz="800" dirty="0"/>
          </a:p>
        </p:txBody>
      </p:sp>
      <p:sp>
        <p:nvSpPr>
          <p:cNvPr id="85" name="Shape 81"/>
          <p:cNvSpPr/>
          <p:nvPr/>
        </p:nvSpPr>
        <p:spPr>
          <a:xfrm>
            <a:off x="10287000" y="2880360"/>
            <a:ext cx="932688" cy="219456"/>
          </a:xfrm>
          <a:prstGeom prst="roundRect">
            <a:avLst>
              <a:gd name="adj" fmla="val 50000"/>
            </a:avLst>
          </a:prstGeom>
          <a:solidFill>
            <a:srgbClr val="E7F3E7"/>
          </a:solidFill>
          <a:ln/>
        </p:spPr>
      </p:sp>
      <p:sp>
        <p:nvSpPr>
          <p:cNvPr id="86" name="Text 82"/>
          <p:cNvSpPr/>
          <p:nvPr/>
        </p:nvSpPr>
        <p:spPr>
          <a:xfrm>
            <a:off x="10287000" y="2880360"/>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87" name="Shape 83"/>
          <p:cNvSpPr/>
          <p:nvPr/>
        </p:nvSpPr>
        <p:spPr>
          <a:xfrm>
            <a:off x="10287000" y="3200400"/>
            <a:ext cx="1060704" cy="219456"/>
          </a:xfrm>
          <a:prstGeom prst="roundRect">
            <a:avLst>
              <a:gd name="adj" fmla="val 50000"/>
            </a:avLst>
          </a:prstGeom>
          <a:solidFill>
            <a:srgbClr val="F0EFEC"/>
          </a:solidFill>
          <a:ln/>
        </p:spPr>
      </p:sp>
      <p:sp>
        <p:nvSpPr>
          <p:cNvPr id="88" name="Text 84"/>
          <p:cNvSpPr/>
          <p:nvPr/>
        </p:nvSpPr>
        <p:spPr>
          <a:xfrm>
            <a:off x="10287000" y="3200400"/>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89" name="Shape 85"/>
          <p:cNvSpPr/>
          <p:nvPr/>
        </p:nvSpPr>
        <p:spPr>
          <a:xfrm>
            <a:off x="10287000" y="3520440"/>
            <a:ext cx="731520" cy="219456"/>
          </a:xfrm>
          <a:prstGeom prst="roundRect">
            <a:avLst>
              <a:gd name="adj" fmla="val 50000"/>
            </a:avLst>
          </a:prstGeom>
          <a:solidFill>
            <a:srgbClr val="E5EEFB"/>
          </a:solidFill>
          <a:ln/>
        </p:spPr>
      </p:sp>
      <p:sp>
        <p:nvSpPr>
          <p:cNvPr id="90" name="Text 86"/>
          <p:cNvSpPr/>
          <p:nvPr/>
        </p:nvSpPr>
        <p:spPr>
          <a:xfrm>
            <a:off x="10287000" y="3520440"/>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2026-07-29T15:48:06Z</dcterms:created>
  <dcterms:modified xsi:type="dcterms:W3CDTF">2026-07-29T15:48:06Z</dcterms:modified>
</cp:coreProperties>
</file>