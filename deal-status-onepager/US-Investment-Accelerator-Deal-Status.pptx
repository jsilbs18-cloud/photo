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FILL-IN GUIDE
1. Type over every gray/placeholder value: Company 1-18, $X.X B deal sizes, First Last (owner's rep), the summary tiles, and the two '$XX.X B total' figures next to JAPAN and KOREA.
2. Stage tags: each row has a colored tag (green Announced, blue Active, gray Consultation). To change a row's stage, delete its tag and Ctrl/Cmd-drag a spare tag from the right of the page into place. The spares sit off the page and never print.
3. Add/remove rows: click in a table, use Table Layout &gt; Insert/Delete Rows. If you change row counts, drag the pills to keep them aligned with their rows, and update the counts in the summary strip.
4. Rows are grouped by stage (Announced first, then Active, then Consultation) so wins read first.
5. Export for the meeting: File &gt; Export/Save As &gt; PDF. The page is exactly US Letter landscape, so it also prints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058400" cy="1115568"/>
          </a:xfrm>
          <a:prstGeom prst="rect">
            <a:avLst/>
          </a:prstGeom>
          <a:solidFill>
            <a:srgbClr val="0D366B"/>
          </a:solidFill>
          <a:ln/>
        </p:spPr>
      </p:sp>
      <p:sp>
        <p:nvSpPr>
          <p:cNvPr id="3" name="Shape 1"/>
          <p:cNvSpPr/>
          <p:nvPr/>
        </p:nvSpPr>
        <p:spPr>
          <a:xfrm>
            <a:off x="0" y="1115568"/>
            <a:ext cx="10058400" cy="32004"/>
          </a:xfrm>
          <a:prstGeom prst="rect">
            <a:avLst/>
          </a:prstGeom>
          <a:solidFill>
            <a:srgbClr val="B8933F"/>
          </a:solidFill>
          <a:ln/>
        </p:spPr>
      </p:sp>
      <p:sp>
        <p:nvSpPr>
          <p:cNvPr id="4" name="Text 2"/>
          <p:cNvSpPr/>
          <p:nvPr/>
        </p:nvSpPr>
        <p:spPr>
          <a:xfrm>
            <a:off x="384048" y="118872"/>
            <a:ext cx="6949440" cy="219456"/>
          </a:xfrm>
          <a:prstGeom prst="rect">
            <a:avLst/>
          </a:prstGeom>
          <a:noFill/>
          <a:ln/>
        </p:spPr>
        <p:txBody>
          <a:bodyPr wrap="square" lIns="0" tIns="0" rIns="0" bIns="0" rtlCol="0" anchor="ctr"/>
          <a:lstStyle/>
          <a:p>
            <a:pPr indent="0" marL="0">
              <a:buNone/>
            </a:pPr>
            <a:r>
              <a:rPr lang="en-US" sz="950" b="1" spc="300" kern="0" dirty="0">
                <a:solidFill>
                  <a:srgbClr val="C9D7EC"/>
                </a:solidFill>
                <a:latin typeface="Arial" pitchFamily="34" charset="0"/>
                <a:ea typeface="Arial" pitchFamily="34" charset="-122"/>
                <a:cs typeface="Arial" pitchFamily="34" charset="-120"/>
              </a:rPr>
              <a:t>U.S. INVESTMENT ACCELERATOR  ·  U.S. DEPARTMENT OF COMMERCE</a:t>
            </a:r>
            <a:endParaRPr lang="en-US" sz="950" dirty="0"/>
          </a:p>
        </p:txBody>
      </p:sp>
      <p:sp>
        <p:nvSpPr>
          <p:cNvPr id="5" name="Text 3"/>
          <p:cNvSpPr/>
          <p:nvPr/>
        </p:nvSpPr>
        <p:spPr>
          <a:xfrm>
            <a:off x="365760" y="338328"/>
            <a:ext cx="7132320" cy="420624"/>
          </a:xfrm>
          <a:prstGeom prst="rect">
            <a:avLst/>
          </a:prstGeom>
          <a:noFill/>
          <a:ln/>
        </p:spPr>
        <p:txBody>
          <a:bodyPr wrap="square" lIns="0" tIns="0" rIns="0" bIns="0" rtlCol="0" anchor="ctr"/>
          <a:lstStyle/>
          <a:p>
            <a:pPr indent="0" marL="0">
              <a:buNone/>
            </a:pPr>
            <a:r>
              <a:rPr lang="en-US" sz="2500" b="1" dirty="0">
                <a:solidFill>
                  <a:srgbClr val="FFFFFF"/>
                </a:solidFill>
                <a:latin typeface="Arial" pitchFamily="34" charset="0"/>
                <a:ea typeface="Arial" pitchFamily="34" charset="-122"/>
                <a:cs typeface="Arial" pitchFamily="34" charset="-120"/>
              </a:rPr>
              <a:t>Investment Deal Portfolio — Status Overview</a:t>
            </a:r>
            <a:endParaRPr lang="en-US" sz="2500" dirty="0"/>
          </a:p>
        </p:txBody>
      </p:sp>
      <p:sp>
        <p:nvSpPr>
          <p:cNvPr id="6" name="Text 4"/>
          <p:cNvSpPr/>
          <p:nvPr/>
        </p:nvSpPr>
        <p:spPr>
          <a:xfrm>
            <a:off x="384048" y="777240"/>
            <a:ext cx="7132320" cy="237744"/>
          </a:xfrm>
          <a:prstGeom prst="rect">
            <a:avLst/>
          </a:prstGeom>
          <a:noFill/>
          <a:ln/>
        </p:spPr>
        <p:txBody>
          <a:bodyPr wrap="square" lIns="0" tIns="0" rIns="0" bIns="0" rtlCol="0" anchor="ctr"/>
          <a:lstStyle/>
          <a:p>
            <a:pPr indent="0" marL="0">
              <a:buNone/>
            </a:pPr>
            <a:r>
              <a:rPr lang="en-US" sz="1100" dirty="0">
                <a:solidFill>
                  <a:srgbClr val="C9D7EC"/>
                </a:solidFill>
                <a:latin typeface="Arial" pitchFamily="34" charset="0"/>
                <a:ea typeface="Arial" pitchFamily="34" charset="-122"/>
                <a:cs typeface="Arial" pitchFamily="34" charset="-120"/>
              </a:rPr>
              <a:t>Prepared for the Secretary of Commerce   ·   July 29, 2026   ·   Organized by funding source</a:t>
            </a:r>
            <a:endParaRPr lang="en-US" sz="1100" dirty="0"/>
          </a:p>
        </p:txBody>
      </p:sp>
      <p:sp>
        <p:nvSpPr>
          <p:cNvPr id="7" name="Shape 5"/>
          <p:cNvSpPr/>
          <p:nvPr/>
        </p:nvSpPr>
        <p:spPr>
          <a:xfrm>
            <a:off x="7424928" y="402336"/>
            <a:ext cx="2267712" cy="310896"/>
          </a:xfrm>
          <a:prstGeom prst="roundRect">
            <a:avLst>
              <a:gd name="adj" fmla="val 14706"/>
            </a:avLst>
          </a:prstGeom>
          <a:ln w="12700">
            <a:solidFill>
              <a:srgbClr val="FFD9A8"/>
            </a:solidFill>
            <a:prstDash val="solid"/>
          </a:ln>
        </p:spPr>
      </p:sp>
      <p:sp>
        <p:nvSpPr>
          <p:cNvPr id="8" name="Text 6"/>
          <p:cNvSpPr/>
          <p:nvPr/>
        </p:nvSpPr>
        <p:spPr>
          <a:xfrm>
            <a:off x="7424928" y="402336"/>
            <a:ext cx="2267712" cy="310896"/>
          </a:xfrm>
          <a:prstGeom prst="rect">
            <a:avLst/>
          </a:prstGeom>
          <a:noFill/>
          <a:ln/>
        </p:spPr>
        <p:txBody>
          <a:bodyPr wrap="square" lIns="0" tIns="0" rIns="0" bIns="0" rtlCol="0" anchor="ctr"/>
          <a:lstStyle/>
          <a:p>
            <a:pPr algn="ctr" indent="0" marL="0">
              <a:buNone/>
            </a:pPr>
            <a:r>
              <a:rPr lang="en-US" sz="750" b="1" spc="120" kern="0" dirty="0">
                <a:solidFill>
                  <a:srgbClr val="FFD9A8"/>
                </a:solidFill>
                <a:latin typeface="Arial" pitchFamily="34" charset="0"/>
                <a:ea typeface="Arial" pitchFamily="34" charset="-122"/>
                <a:cs typeface="Arial" pitchFamily="34" charset="-120"/>
              </a:rPr>
              <a:t>PRE-DECISIONAL · INTERNAL USE</a:t>
            </a:r>
            <a:endParaRPr lang="en-US" sz="750" dirty="0"/>
          </a:p>
        </p:txBody>
      </p:sp>
      <p:sp>
        <p:nvSpPr>
          <p:cNvPr id="9" name="Shape 7"/>
          <p:cNvSpPr/>
          <p:nvPr/>
        </p:nvSpPr>
        <p:spPr>
          <a:xfrm>
            <a:off x="0" y="1147572"/>
            <a:ext cx="10058400" cy="969264"/>
          </a:xfrm>
          <a:prstGeom prst="rect">
            <a:avLst/>
          </a:prstGeom>
          <a:solidFill>
            <a:srgbClr val="F6F5F2"/>
          </a:solidFill>
          <a:ln/>
        </p:spPr>
      </p:sp>
      <p:sp>
        <p:nvSpPr>
          <p:cNvPr id="10" name="Shape 8"/>
          <p:cNvSpPr/>
          <p:nvPr/>
        </p:nvSpPr>
        <p:spPr>
          <a:xfrm>
            <a:off x="0" y="2116836"/>
            <a:ext cx="10058400" cy="9144"/>
          </a:xfrm>
          <a:prstGeom prst="rect">
            <a:avLst/>
          </a:prstGeom>
          <a:solidFill>
            <a:srgbClr val="E1E0D9"/>
          </a:solidFill>
          <a:ln/>
        </p:spPr>
      </p:sp>
      <p:sp>
        <p:nvSpPr>
          <p:cNvPr id="11" name="Shape 9"/>
          <p:cNvSpPr/>
          <p:nvPr/>
        </p:nvSpPr>
        <p:spPr>
          <a:xfrm>
            <a:off x="1600200" y="1316736"/>
            <a:ext cx="7315" cy="658368"/>
          </a:xfrm>
          <a:prstGeom prst="rect">
            <a:avLst/>
          </a:prstGeom>
          <a:solidFill>
            <a:srgbClr val="E1E0D9"/>
          </a:solidFill>
          <a:ln/>
        </p:spPr>
      </p:sp>
      <p:sp>
        <p:nvSpPr>
          <p:cNvPr id="12" name="Shape 10"/>
          <p:cNvSpPr/>
          <p:nvPr/>
        </p:nvSpPr>
        <p:spPr>
          <a:xfrm>
            <a:off x="3611880" y="1316736"/>
            <a:ext cx="7315" cy="658368"/>
          </a:xfrm>
          <a:prstGeom prst="rect">
            <a:avLst/>
          </a:prstGeom>
          <a:solidFill>
            <a:srgbClr val="E1E0D9"/>
          </a:solidFill>
          <a:ln/>
        </p:spPr>
      </p:sp>
      <p:sp>
        <p:nvSpPr>
          <p:cNvPr id="13" name="Shape 11"/>
          <p:cNvSpPr/>
          <p:nvPr/>
        </p:nvSpPr>
        <p:spPr>
          <a:xfrm>
            <a:off x="5669280" y="1316736"/>
            <a:ext cx="7315" cy="658368"/>
          </a:xfrm>
          <a:prstGeom prst="rect">
            <a:avLst/>
          </a:prstGeom>
          <a:solidFill>
            <a:srgbClr val="E1E0D9"/>
          </a:solidFill>
          <a:ln/>
        </p:spPr>
      </p:sp>
      <p:sp>
        <p:nvSpPr>
          <p:cNvPr id="14" name="Shape 12"/>
          <p:cNvSpPr/>
          <p:nvPr/>
        </p:nvSpPr>
        <p:spPr>
          <a:xfrm>
            <a:off x="7543800" y="1316736"/>
            <a:ext cx="7315" cy="658368"/>
          </a:xfrm>
          <a:prstGeom prst="rect">
            <a:avLst/>
          </a:prstGeom>
          <a:solidFill>
            <a:srgbClr val="E1E0D9"/>
          </a:solidFill>
          <a:ln/>
        </p:spPr>
      </p:sp>
      <p:sp>
        <p:nvSpPr>
          <p:cNvPr id="15" name="Text 13"/>
          <p:cNvSpPr/>
          <p:nvPr/>
        </p:nvSpPr>
        <p:spPr>
          <a:xfrm>
            <a:off x="384048" y="1298448"/>
            <a:ext cx="118872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DEALS</a:t>
            </a:r>
            <a:endParaRPr lang="en-US" sz="800" dirty="0"/>
          </a:p>
        </p:txBody>
      </p:sp>
      <p:sp>
        <p:nvSpPr>
          <p:cNvPr id="16" name="Text 14"/>
          <p:cNvSpPr/>
          <p:nvPr/>
        </p:nvSpPr>
        <p:spPr>
          <a:xfrm>
            <a:off x="384048" y="1499616"/>
            <a:ext cx="11887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18</a:t>
            </a:r>
            <a:endParaRPr lang="en-US" sz="1900" dirty="0"/>
          </a:p>
        </p:txBody>
      </p:sp>
      <p:sp>
        <p:nvSpPr>
          <p:cNvPr id="17" name="Text 15"/>
          <p:cNvSpPr/>
          <p:nvPr/>
        </p:nvSpPr>
        <p:spPr>
          <a:xfrm>
            <a:off x="1810512" y="1298448"/>
            <a:ext cx="173736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PORTFOLIO VALUE</a:t>
            </a:r>
            <a:endParaRPr lang="en-US" sz="800" dirty="0"/>
          </a:p>
        </p:txBody>
      </p:sp>
      <p:sp>
        <p:nvSpPr>
          <p:cNvPr id="18" name="Text 16"/>
          <p:cNvSpPr/>
          <p:nvPr/>
        </p:nvSpPr>
        <p:spPr>
          <a:xfrm>
            <a:off x="1810512" y="1499616"/>
            <a:ext cx="173736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$XXX.X B</a:t>
            </a:r>
            <a:endParaRPr lang="en-US" sz="1900" dirty="0"/>
          </a:p>
        </p:txBody>
      </p:sp>
      <p:sp>
        <p:nvSpPr>
          <p:cNvPr id="19" name="Shape 17"/>
          <p:cNvSpPr/>
          <p:nvPr/>
        </p:nvSpPr>
        <p:spPr>
          <a:xfrm>
            <a:off x="3822192" y="1298448"/>
            <a:ext cx="201168" cy="141732"/>
          </a:xfrm>
          <a:prstGeom prst="roundRect">
            <a:avLst>
              <a:gd name="adj" fmla="val 12903"/>
            </a:avLst>
          </a:prstGeom>
          <a:solidFill>
            <a:srgbClr val="FFFFFF"/>
          </a:solidFill>
          <a:ln w="9525">
            <a:solidFill>
              <a:srgbClr val="D5D3CC"/>
            </a:solidFill>
            <a:prstDash val="solid"/>
          </a:ln>
        </p:spPr>
      </p:sp>
      <p:sp>
        <p:nvSpPr>
          <p:cNvPr id="20" name="Shape 18"/>
          <p:cNvSpPr/>
          <p:nvPr/>
        </p:nvSpPr>
        <p:spPr>
          <a:xfrm>
            <a:off x="3883091" y="1329629"/>
            <a:ext cx="79370" cy="79370"/>
          </a:xfrm>
          <a:prstGeom prst="ellipse">
            <a:avLst/>
          </a:prstGeom>
          <a:solidFill>
            <a:srgbClr val="BC002D"/>
          </a:solidFill>
          <a:ln/>
        </p:spPr>
      </p:sp>
      <p:sp>
        <p:nvSpPr>
          <p:cNvPr id="21" name="Text 19"/>
          <p:cNvSpPr/>
          <p:nvPr/>
        </p:nvSpPr>
        <p:spPr>
          <a:xfrm>
            <a:off x="4087368" y="1298448"/>
            <a:ext cx="14630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JAPAN-FUNDED</a:t>
            </a:r>
            <a:endParaRPr lang="en-US" sz="800" dirty="0"/>
          </a:p>
        </p:txBody>
      </p:sp>
      <p:sp>
        <p:nvSpPr>
          <p:cNvPr id="22" name="Text 20"/>
          <p:cNvSpPr/>
          <p:nvPr/>
        </p:nvSpPr>
        <p:spPr>
          <a:xfrm>
            <a:off x="3822192" y="1499616"/>
            <a:ext cx="178308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13</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3" name="Shape 21"/>
          <p:cNvSpPr/>
          <p:nvPr/>
        </p:nvSpPr>
        <p:spPr>
          <a:xfrm>
            <a:off x="5879592" y="1298448"/>
            <a:ext cx="201168" cy="141732"/>
          </a:xfrm>
          <a:prstGeom prst="roundRect">
            <a:avLst>
              <a:gd name="adj" fmla="val 12903"/>
            </a:avLst>
          </a:prstGeom>
          <a:solidFill>
            <a:srgbClr val="FFFFFF"/>
          </a:solidFill>
          <a:ln w="9525">
            <a:solidFill>
              <a:srgbClr val="D5D3CC"/>
            </a:solidFill>
            <a:prstDash val="solid"/>
          </a:ln>
        </p:spPr>
      </p:sp>
      <p:sp>
        <p:nvSpPr>
          <p:cNvPr id="24" name="Shape 22"/>
          <p:cNvSpPr/>
          <p:nvPr/>
        </p:nvSpPr>
        <p:spPr>
          <a:xfrm>
            <a:off x="5940491" y="1329629"/>
            <a:ext cx="79370" cy="79370"/>
          </a:xfrm>
          <a:prstGeom prst="ellipse">
            <a:avLst/>
          </a:prstGeom>
          <a:solidFill>
            <a:srgbClr val="003478"/>
          </a:solidFill>
          <a:ln/>
        </p:spPr>
      </p:sp>
      <p:sp>
        <p:nvSpPr>
          <p:cNvPr id="25" name="Shape 23"/>
          <p:cNvSpPr/>
          <p:nvPr/>
        </p:nvSpPr>
        <p:spPr>
          <a:xfrm>
            <a:off x="5940491" y="1329629"/>
            <a:ext cx="79370" cy="79370"/>
          </a:xfrm>
          <a:prstGeom prst="pie">
            <a:avLst>
              <a:gd name="adj1" fmla="val 10800000"/>
              <a:gd name="adj2" fmla="val 21600000"/>
            </a:avLst>
          </a:prstGeom>
          <a:solidFill>
            <a:srgbClr val="C60C30"/>
          </a:solidFill>
          <a:ln/>
        </p:spPr>
      </p:sp>
      <p:sp>
        <p:nvSpPr>
          <p:cNvPr id="26" name="Text 24"/>
          <p:cNvSpPr/>
          <p:nvPr/>
        </p:nvSpPr>
        <p:spPr>
          <a:xfrm>
            <a:off x="6144768" y="1298448"/>
            <a:ext cx="137160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KOREA-FUNDED</a:t>
            </a:r>
            <a:endParaRPr lang="en-US" sz="800" dirty="0"/>
          </a:p>
        </p:txBody>
      </p:sp>
      <p:sp>
        <p:nvSpPr>
          <p:cNvPr id="27" name="Text 25"/>
          <p:cNvSpPr/>
          <p:nvPr/>
        </p:nvSpPr>
        <p:spPr>
          <a:xfrm>
            <a:off x="5879592" y="1499616"/>
            <a:ext cx="16459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5</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8" name="Text 26"/>
          <p:cNvSpPr/>
          <p:nvPr/>
        </p:nvSpPr>
        <p:spPr>
          <a:xfrm>
            <a:off x="7754112" y="1298448"/>
            <a:ext cx="19202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PIPELINE BY STAGE</a:t>
            </a:r>
            <a:endParaRPr lang="en-US" sz="800" dirty="0"/>
          </a:p>
        </p:txBody>
      </p:sp>
      <p:sp>
        <p:nvSpPr>
          <p:cNvPr id="29" name="Text 27"/>
          <p:cNvSpPr/>
          <p:nvPr/>
        </p:nvSpPr>
        <p:spPr>
          <a:xfrm>
            <a:off x="7754112" y="1513332"/>
            <a:ext cx="1920240" cy="192024"/>
          </a:xfrm>
          <a:prstGeom prst="rect">
            <a:avLst/>
          </a:prstGeom>
          <a:noFill/>
          <a:ln/>
        </p:spPr>
        <p:txBody>
          <a:bodyPr wrap="square" lIns="0" tIns="0" rIns="0" bIns="0" rtlCol="0" anchor="ctr"/>
          <a:lstStyle/>
          <a:p>
            <a:pPr indent="0" marL="0">
              <a:buNone/>
            </a:pPr>
            <a:r>
              <a:rPr lang="en-US" sz="800" dirty="0">
                <a:solidFill>
                  <a:srgbClr val="0CA30C"/>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Announced</a:t>
            </a:r>
            <a:endParaRPr lang="en-US" sz="800" dirty="0"/>
          </a:p>
        </p:txBody>
      </p:sp>
      <p:sp>
        <p:nvSpPr>
          <p:cNvPr id="30" name="Text 28"/>
          <p:cNvSpPr/>
          <p:nvPr/>
        </p:nvSpPr>
        <p:spPr>
          <a:xfrm>
            <a:off x="7754112" y="1709928"/>
            <a:ext cx="1920240" cy="192024"/>
          </a:xfrm>
          <a:prstGeom prst="rect">
            <a:avLst/>
          </a:prstGeom>
          <a:noFill/>
          <a:ln/>
        </p:spPr>
        <p:txBody>
          <a:bodyPr wrap="square" lIns="0" tIns="0" rIns="0" bIns="0" rtlCol="0" anchor="ctr"/>
          <a:lstStyle/>
          <a:p>
            <a:pPr indent="0" marL="0">
              <a:buNone/>
            </a:pPr>
            <a:r>
              <a:rPr lang="en-US" sz="800" dirty="0">
                <a:solidFill>
                  <a:srgbClr val="2A78D6"/>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7  </a:t>
            </a:r>
            <a:pPr indent="0" marL="0">
              <a:buNone/>
            </a:pPr>
            <a:r>
              <a:rPr lang="en-US" sz="950" dirty="0">
                <a:solidFill>
                  <a:srgbClr val="52514E"/>
                </a:solidFill>
                <a:latin typeface="Arial" pitchFamily="34" charset="0"/>
                <a:ea typeface="Arial" pitchFamily="34" charset="-122"/>
                <a:cs typeface="Arial" pitchFamily="34" charset="-120"/>
              </a:rPr>
              <a:t>Active</a:t>
            </a:r>
            <a:endParaRPr lang="en-US" sz="800" dirty="0"/>
          </a:p>
        </p:txBody>
      </p:sp>
      <p:sp>
        <p:nvSpPr>
          <p:cNvPr id="31" name="Text 29"/>
          <p:cNvSpPr/>
          <p:nvPr/>
        </p:nvSpPr>
        <p:spPr>
          <a:xfrm>
            <a:off x="7754112" y="1906524"/>
            <a:ext cx="1920240" cy="192024"/>
          </a:xfrm>
          <a:prstGeom prst="rect">
            <a:avLst/>
          </a:prstGeom>
          <a:noFill/>
          <a:ln/>
        </p:spPr>
        <p:txBody>
          <a:bodyPr wrap="square" lIns="0" tIns="0" rIns="0" bIns="0" rtlCol="0" anchor="ctr"/>
          <a:lstStyle/>
          <a:p>
            <a:pPr indent="0" marL="0">
              <a:buNone/>
            </a:pPr>
            <a:r>
              <a:rPr lang="en-US" sz="800" dirty="0">
                <a:solidFill>
                  <a:srgbClr val="898781"/>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5  </a:t>
            </a:r>
            <a:pPr indent="0" marL="0">
              <a:buNone/>
            </a:pPr>
            <a:r>
              <a:rPr lang="en-US" sz="950" dirty="0">
                <a:solidFill>
                  <a:srgbClr val="52514E"/>
                </a:solidFill>
                <a:latin typeface="Arial" pitchFamily="34" charset="0"/>
                <a:ea typeface="Arial" pitchFamily="34" charset="-122"/>
                <a:cs typeface="Arial" pitchFamily="34" charset="-120"/>
              </a:rPr>
              <a:t>Consultation</a:t>
            </a:r>
            <a:endParaRPr lang="en-US" sz="800" dirty="0"/>
          </a:p>
        </p:txBody>
      </p:sp>
      <p:sp>
        <p:nvSpPr>
          <p:cNvPr id="32" name="Shape 30"/>
          <p:cNvSpPr/>
          <p:nvPr/>
        </p:nvSpPr>
        <p:spPr>
          <a:xfrm>
            <a:off x="384048" y="2318004"/>
            <a:ext cx="274320" cy="187452"/>
          </a:xfrm>
          <a:prstGeom prst="roundRect">
            <a:avLst>
              <a:gd name="adj" fmla="val 9756"/>
            </a:avLst>
          </a:prstGeom>
          <a:solidFill>
            <a:srgbClr val="FFFFFF"/>
          </a:solidFill>
          <a:ln w="9525">
            <a:solidFill>
              <a:srgbClr val="D5D3CC"/>
            </a:solidFill>
            <a:prstDash val="solid"/>
          </a:ln>
        </p:spPr>
      </p:sp>
      <p:sp>
        <p:nvSpPr>
          <p:cNvPr id="33" name="Shape 31"/>
          <p:cNvSpPr/>
          <p:nvPr/>
        </p:nvSpPr>
        <p:spPr>
          <a:xfrm>
            <a:off x="468721" y="2359243"/>
            <a:ext cx="104973" cy="104973"/>
          </a:xfrm>
          <a:prstGeom prst="ellipse">
            <a:avLst/>
          </a:prstGeom>
          <a:solidFill>
            <a:srgbClr val="BC002D"/>
          </a:solidFill>
          <a:ln/>
        </p:spPr>
      </p:sp>
      <p:sp>
        <p:nvSpPr>
          <p:cNvPr id="34" name="Text 32"/>
          <p:cNvSpPr/>
          <p:nvPr/>
        </p:nvSpPr>
        <p:spPr>
          <a:xfrm>
            <a:off x="731520" y="2276856"/>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JAPAN</a:t>
            </a:r>
            <a:endParaRPr lang="en-US" sz="1400" dirty="0"/>
          </a:p>
        </p:txBody>
      </p:sp>
      <p:sp>
        <p:nvSpPr>
          <p:cNvPr id="35" name="Text 33"/>
          <p:cNvSpPr/>
          <p:nvPr/>
        </p:nvSpPr>
        <p:spPr>
          <a:xfrm>
            <a:off x="3054096" y="2327148"/>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13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36" name="Shape 34"/>
          <p:cNvSpPr/>
          <p:nvPr/>
        </p:nvSpPr>
        <p:spPr>
          <a:xfrm>
            <a:off x="384048" y="2615184"/>
            <a:ext cx="5413248" cy="25603"/>
          </a:xfrm>
          <a:prstGeom prst="rect">
            <a:avLst/>
          </a:prstGeom>
          <a:solidFill>
            <a:srgbClr val="BC002D"/>
          </a:solidFill>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84048" y="2724912"/>
          <a:ext cx="5413248" cy="914400"/>
        </p:xfrm>
        <a:graphic>
          <a:graphicData uri="http://schemas.openxmlformats.org/drawingml/2006/table">
            <a:tbl>
              <a:tblPr/>
              <a:tblGrid>
                <a:gridCol w="1847088"/>
                <a:gridCol w="1170432"/>
                <a:gridCol w="841248"/>
                <a:gridCol w="1554480"/>
              </a:tblGrid>
              <a:tr h="256032">
                <a:tc>
                  <a:txBody>
                    <a:bodyPr/>
                    <a:lstStyle/>
                    <a:p>
                      <a:pPr indent="0" marL="0">
                        <a:buNone/>
                      </a:pPr>
                      <a:r>
                        <a:rPr lang="en-US" sz="800" b="1" spc="100" kern="0" dirty="0">
                          <a:solidFill>
                            <a:srgbClr val="898781"/>
                          </a:solidFill>
                          <a:latin typeface="Arial" pitchFamily="34" charset="0"/>
                          <a:ea typeface="Arial" pitchFamily="34" charset="-122"/>
                          <a:cs typeface="Arial" pitchFamily="34" charset="-120"/>
                        </a:rPr>
                        <a:t>COMPANY</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100" kern="0" dirty="0">
                          <a:solidFill>
                            <a:srgbClr val="898781"/>
                          </a:solidFill>
                          <a:latin typeface="Arial" pitchFamily="34" charset="0"/>
                          <a:ea typeface="Arial" pitchFamily="34" charset="-122"/>
                          <a:cs typeface="Arial" pitchFamily="34" charset="-120"/>
                        </a:rPr>
                        <a:t>STAGE</a:t>
                      </a:r>
                      <a:endParaRPr lang="en-US" sz="8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800" b="1" spc="100" kern="0" dirty="0">
                          <a:solidFill>
                            <a:srgbClr val="898781"/>
                          </a:solidFill>
                          <a:latin typeface="Arial" pitchFamily="34" charset="0"/>
                          <a:ea typeface="Arial" pitchFamily="34" charset="-122"/>
                          <a:cs typeface="Arial" pitchFamily="34" charset="-120"/>
                        </a:rPr>
                        <a:t>DEAL SIZE</a:t>
                      </a:r>
                      <a:endParaRPr lang="en-US" sz="80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800" b="1" spc="100" kern="0" dirty="0">
                          <a:solidFill>
                            <a:srgbClr val="898781"/>
                          </a:solidFill>
                          <a:latin typeface="Arial" pitchFamily="34" charset="0"/>
                          <a:ea typeface="Arial" pitchFamily="34" charset="-122"/>
                          <a:cs typeface="Arial" pitchFamily="34" charset="-120"/>
                        </a:rPr>
                        <a:t>OWNER’S REP</a:t>
                      </a:r>
                      <a:endParaRPr lang="en-US" sz="800" dirty="0">
                        <a:latin typeface="Arial" charset="0"/>
                        <a:ea typeface="Arial" charset="0"/>
                        <a:cs typeface="Arial" charset="0"/>
                      </a:endParaRPr>
                    </a:p>
                  </a:txBody>
                  <a:tcPr marL="91440"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$XXX M</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$XXX M</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10</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$XXX M</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$XXX M</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38" name="Shape 35"/>
          <p:cNvSpPr/>
          <p:nvPr/>
        </p:nvSpPr>
        <p:spPr>
          <a:xfrm>
            <a:off x="2286000" y="3035808"/>
            <a:ext cx="932688" cy="219456"/>
          </a:xfrm>
          <a:prstGeom prst="roundRect">
            <a:avLst>
              <a:gd name="adj" fmla="val 50000"/>
            </a:avLst>
          </a:prstGeom>
          <a:solidFill>
            <a:srgbClr val="E7F3E7"/>
          </a:solidFill>
          <a:ln/>
        </p:spPr>
      </p:sp>
      <p:sp>
        <p:nvSpPr>
          <p:cNvPr id="39" name="Text 36"/>
          <p:cNvSpPr/>
          <p:nvPr/>
        </p:nvSpPr>
        <p:spPr>
          <a:xfrm>
            <a:off x="2286000" y="303580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0" name="Shape 37"/>
          <p:cNvSpPr/>
          <p:nvPr/>
        </p:nvSpPr>
        <p:spPr>
          <a:xfrm>
            <a:off x="2286000" y="3364992"/>
            <a:ext cx="932688" cy="219456"/>
          </a:xfrm>
          <a:prstGeom prst="roundRect">
            <a:avLst>
              <a:gd name="adj" fmla="val 50000"/>
            </a:avLst>
          </a:prstGeom>
          <a:solidFill>
            <a:srgbClr val="E7F3E7"/>
          </a:solidFill>
          <a:ln/>
        </p:spPr>
      </p:sp>
      <p:sp>
        <p:nvSpPr>
          <p:cNvPr id="41" name="Text 38"/>
          <p:cNvSpPr/>
          <p:nvPr/>
        </p:nvSpPr>
        <p:spPr>
          <a:xfrm>
            <a:off x="2286000" y="3364992"/>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2" name="Shape 39"/>
          <p:cNvSpPr/>
          <p:nvPr/>
        </p:nvSpPr>
        <p:spPr>
          <a:xfrm>
            <a:off x="2286000" y="3694176"/>
            <a:ext cx="932688" cy="219456"/>
          </a:xfrm>
          <a:prstGeom prst="roundRect">
            <a:avLst>
              <a:gd name="adj" fmla="val 50000"/>
            </a:avLst>
          </a:prstGeom>
          <a:solidFill>
            <a:srgbClr val="E7F3E7"/>
          </a:solidFill>
          <a:ln/>
        </p:spPr>
      </p:sp>
      <p:sp>
        <p:nvSpPr>
          <p:cNvPr id="43" name="Text 40"/>
          <p:cNvSpPr/>
          <p:nvPr/>
        </p:nvSpPr>
        <p:spPr>
          <a:xfrm>
            <a:off x="2286000" y="3694176"/>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4" name="Shape 41"/>
          <p:cNvSpPr/>
          <p:nvPr/>
        </p:nvSpPr>
        <p:spPr>
          <a:xfrm>
            <a:off x="2286000" y="4023360"/>
            <a:ext cx="932688" cy="219456"/>
          </a:xfrm>
          <a:prstGeom prst="roundRect">
            <a:avLst>
              <a:gd name="adj" fmla="val 50000"/>
            </a:avLst>
          </a:prstGeom>
          <a:solidFill>
            <a:srgbClr val="E7F3E7"/>
          </a:solidFill>
          <a:ln/>
        </p:spPr>
      </p:sp>
      <p:sp>
        <p:nvSpPr>
          <p:cNvPr id="45" name="Text 42"/>
          <p:cNvSpPr/>
          <p:nvPr/>
        </p:nvSpPr>
        <p:spPr>
          <a:xfrm>
            <a:off x="2286000" y="4023360"/>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6" name="Shape 43"/>
          <p:cNvSpPr/>
          <p:nvPr/>
        </p:nvSpPr>
        <p:spPr>
          <a:xfrm>
            <a:off x="2286000" y="4352544"/>
            <a:ext cx="932688" cy="219456"/>
          </a:xfrm>
          <a:prstGeom prst="roundRect">
            <a:avLst>
              <a:gd name="adj" fmla="val 50000"/>
            </a:avLst>
          </a:prstGeom>
          <a:solidFill>
            <a:srgbClr val="E7F3E7"/>
          </a:solidFill>
          <a:ln/>
        </p:spPr>
      </p:sp>
      <p:sp>
        <p:nvSpPr>
          <p:cNvPr id="47" name="Text 44"/>
          <p:cNvSpPr/>
          <p:nvPr/>
        </p:nvSpPr>
        <p:spPr>
          <a:xfrm>
            <a:off x="2286000" y="4352544"/>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8" name="Shape 45"/>
          <p:cNvSpPr/>
          <p:nvPr/>
        </p:nvSpPr>
        <p:spPr>
          <a:xfrm>
            <a:off x="2286000" y="4681728"/>
            <a:ext cx="731520" cy="219456"/>
          </a:xfrm>
          <a:prstGeom prst="roundRect">
            <a:avLst>
              <a:gd name="adj" fmla="val 50000"/>
            </a:avLst>
          </a:prstGeom>
          <a:solidFill>
            <a:srgbClr val="E5EEFB"/>
          </a:solidFill>
          <a:ln/>
        </p:spPr>
      </p:sp>
      <p:sp>
        <p:nvSpPr>
          <p:cNvPr id="49" name="Text 46"/>
          <p:cNvSpPr/>
          <p:nvPr/>
        </p:nvSpPr>
        <p:spPr>
          <a:xfrm>
            <a:off x="2286000" y="4681728"/>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0" name="Shape 47"/>
          <p:cNvSpPr/>
          <p:nvPr/>
        </p:nvSpPr>
        <p:spPr>
          <a:xfrm>
            <a:off x="2286000" y="5010912"/>
            <a:ext cx="731520" cy="219456"/>
          </a:xfrm>
          <a:prstGeom prst="roundRect">
            <a:avLst>
              <a:gd name="adj" fmla="val 50000"/>
            </a:avLst>
          </a:prstGeom>
          <a:solidFill>
            <a:srgbClr val="E5EEFB"/>
          </a:solidFill>
          <a:ln/>
        </p:spPr>
      </p:sp>
      <p:sp>
        <p:nvSpPr>
          <p:cNvPr id="51" name="Text 48"/>
          <p:cNvSpPr/>
          <p:nvPr/>
        </p:nvSpPr>
        <p:spPr>
          <a:xfrm>
            <a:off x="2286000" y="5010912"/>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2" name="Shape 49"/>
          <p:cNvSpPr/>
          <p:nvPr/>
        </p:nvSpPr>
        <p:spPr>
          <a:xfrm>
            <a:off x="2286000" y="5340096"/>
            <a:ext cx="731520" cy="219456"/>
          </a:xfrm>
          <a:prstGeom prst="roundRect">
            <a:avLst>
              <a:gd name="adj" fmla="val 50000"/>
            </a:avLst>
          </a:prstGeom>
          <a:solidFill>
            <a:srgbClr val="E5EEFB"/>
          </a:solidFill>
          <a:ln/>
        </p:spPr>
      </p:sp>
      <p:sp>
        <p:nvSpPr>
          <p:cNvPr id="53" name="Text 50"/>
          <p:cNvSpPr/>
          <p:nvPr/>
        </p:nvSpPr>
        <p:spPr>
          <a:xfrm>
            <a:off x="2286000" y="5340096"/>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4" name="Shape 51"/>
          <p:cNvSpPr/>
          <p:nvPr/>
        </p:nvSpPr>
        <p:spPr>
          <a:xfrm>
            <a:off x="2286000" y="5669280"/>
            <a:ext cx="731520" cy="219456"/>
          </a:xfrm>
          <a:prstGeom prst="roundRect">
            <a:avLst>
              <a:gd name="adj" fmla="val 50000"/>
            </a:avLst>
          </a:prstGeom>
          <a:solidFill>
            <a:srgbClr val="E5EEFB"/>
          </a:solidFill>
          <a:ln/>
        </p:spPr>
      </p:sp>
      <p:sp>
        <p:nvSpPr>
          <p:cNvPr id="55" name="Text 52"/>
          <p:cNvSpPr/>
          <p:nvPr/>
        </p:nvSpPr>
        <p:spPr>
          <a:xfrm>
            <a:off x="2286000" y="5669280"/>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6" name="Shape 53"/>
          <p:cNvSpPr/>
          <p:nvPr/>
        </p:nvSpPr>
        <p:spPr>
          <a:xfrm>
            <a:off x="2286000" y="5998464"/>
            <a:ext cx="731520" cy="219456"/>
          </a:xfrm>
          <a:prstGeom prst="roundRect">
            <a:avLst>
              <a:gd name="adj" fmla="val 50000"/>
            </a:avLst>
          </a:prstGeom>
          <a:solidFill>
            <a:srgbClr val="E5EEFB"/>
          </a:solidFill>
          <a:ln/>
        </p:spPr>
      </p:sp>
      <p:sp>
        <p:nvSpPr>
          <p:cNvPr id="57" name="Text 54"/>
          <p:cNvSpPr/>
          <p:nvPr/>
        </p:nvSpPr>
        <p:spPr>
          <a:xfrm>
            <a:off x="2286000" y="5998464"/>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8" name="Shape 55"/>
          <p:cNvSpPr/>
          <p:nvPr/>
        </p:nvSpPr>
        <p:spPr>
          <a:xfrm>
            <a:off x="2286000" y="6327648"/>
            <a:ext cx="1060704" cy="219456"/>
          </a:xfrm>
          <a:prstGeom prst="roundRect">
            <a:avLst>
              <a:gd name="adj" fmla="val 50000"/>
            </a:avLst>
          </a:prstGeom>
          <a:solidFill>
            <a:srgbClr val="F0EFEC"/>
          </a:solidFill>
          <a:ln/>
        </p:spPr>
      </p:sp>
      <p:sp>
        <p:nvSpPr>
          <p:cNvPr id="59" name="Text 56"/>
          <p:cNvSpPr/>
          <p:nvPr/>
        </p:nvSpPr>
        <p:spPr>
          <a:xfrm>
            <a:off x="2286000" y="6327648"/>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60" name="Shape 57"/>
          <p:cNvSpPr/>
          <p:nvPr/>
        </p:nvSpPr>
        <p:spPr>
          <a:xfrm>
            <a:off x="2286000" y="6656832"/>
            <a:ext cx="1060704" cy="219456"/>
          </a:xfrm>
          <a:prstGeom prst="roundRect">
            <a:avLst>
              <a:gd name="adj" fmla="val 50000"/>
            </a:avLst>
          </a:prstGeom>
          <a:solidFill>
            <a:srgbClr val="F0EFEC"/>
          </a:solidFill>
          <a:ln/>
        </p:spPr>
      </p:sp>
      <p:sp>
        <p:nvSpPr>
          <p:cNvPr id="61" name="Text 58"/>
          <p:cNvSpPr/>
          <p:nvPr/>
        </p:nvSpPr>
        <p:spPr>
          <a:xfrm>
            <a:off x="2286000" y="6656832"/>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62" name="Shape 59"/>
          <p:cNvSpPr/>
          <p:nvPr/>
        </p:nvSpPr>
        <p:spPr>
          <a:xfrm>
            <a:off x="2286000" y="6986016"/>
            <a:ext cx="1060704" cy="219456"/>
          </a:xfrm>
          <a:prstGeom prst="roundRect">
            <a:avLst>
              <a:gd name="adj" fmla="val 50000"/>
            </a:avLst>
          </a:prstGeom>
          <a:solidFill>
            <a:srgbClr val="F0EFEC"/>
          </a:solidFill>
          <a:ln/>
        </p:spPr>
      </p:sp>
      <p:sp>
        <p:nvSpPr>
          <p:cNvPr id="63" name="Text 60"/>
          <p:cNvSpPr/>
          <p:nvPr/>
        </p:nvSpPr>
        <p:spPr>
          <a:xfrm>
            <a:off x="2286000" y="6986016"/>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64" name="Shape 61"/>
          <p:cNvSpPr/>
          <p:nvPr/>
        </p:nvSpPr>
        <p:spPr>
          <a:xfrm>
            <a:off x="6126480" y="2318004"/>
            <a:ext cx="274320" cy="187452"/>
          </a:xfrm>
          <a:prstGeom prst="roundRect">
            <a:avLst>
              <a:gd name="adj" fmla="val 9756"/>
            </a:avLst>
          </a:prstGeom>
          <a:solidFill>
            <a:srgbClr val="FFFFFF"/>
          </a:solidFill>
          <a:ln w="9525">
            <a:solidFill>
              <a:srgbClr val="D5D3CC"/>
            </a:solidFill>
            <a:prstDash val="solid"/>
          </a:ln>
        </p:spPr>
      </p:sp>
      <p:sp>
        <p:nvSpPr>
          <p:cNvPr id="65" name="Shape 62"/>
          <p:cNvSpPr/>
          <p:nvPr/>
        </p:nvSpPr>
        <p:spPr>
          <a:xfrm>
            <a:off x="6211153" y="2359243"/>
            <a:ext cx="104973" cy="104973"/>
          </a:xfrm>
          <a:prstGeom prst="ellipse">
            <a:avLst/>
          </a:prstGeom>
          <a:solidFill>
            <a:srgbClr val="003478"/>
          </a:solidFill>
          <a:ln/>
        </p:spPr>
      </p:sp>
      <p:sp>
        <p:nvSpPr>
          <p:cNvPr id="66" name="Shape 63"/>
          <p:cNvSpPr/>
          <p:nvPr/>
        </p:nvSpPr>
        <p:spPr>
          <a:xfrm>
            <a:off x="6211153" y="2359243"/>
            <a:ext cx="104973" cy="104973"/>
          </a:xfrm>
          <a:prstGeom prst="pie">
            <a:avLst>
              <a:gd name="adj1" fmla="val 10800000"/>
              <a:gd name="adj2" fmla="val 21600000"/>
            </a:avLst>
          </a:prstGeom>
          <a:solidFill>
            <a:srgbClr val="C60C30"/>
          </a:solidFill>
          <a:ln/>
        </p:spPr>
      </p:sp>
      <p:sp>
        <p:nvSpPr>
          <p:cNvPr id="67" name="Text 64"/>
          <p:cNvSpPr/>
          <p:nvPr/>
        </p:nvSpPr>
        <p:spPr>
          <a:xfrm>
            <a:off x="6473952" y="2276856"/>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KOREA</a:t>
            </a:r>
            <a:endParaRPr lang="en-US" sz="1400" dirty="0"/>
          </a:p>
        </p:txBody>
      </p:sp>
      <p:sp>
        <p:nvSpPr>
          <p:cNvPr id="68" name="Text 65"/>
          <p:cNvSpPr/>
          <p:nvPr/>
        </p:nvSpPr>
        <p:spPr>
          <a:xfrm>
            <a:off x="6931152" y="2327148"/>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5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69" name="Shape 66"/>
          <p:cNvSpPr/>
          <p:nvPr/>
        </p:nvSpPr>
        <p:spPr>
          <a:xfrm>
            <a:off x="6126480" y="2615184"/>
            <a:ext cx="3547872" cy="25603"/>
          </a:xfrm>
          <a:prstGeom prst="rect">
            <a:avLst/>
          </a:prstGeom>
          <a:solidFill>
            <a:srgbClr val="003478"/>
          </a:solidFill>
          <a:ln/>
        </p:spPr>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6126480" y="2724912"/>
          <a:ext cx="3547872" cy="914400"/>
        </p:xfrm>
        <a:graphic>
          <a:graphicData uri="http://schemas.openxmlformats.org/drawingml/2006/table">
            <a:tbl>
              <a:tblPr/>
              <a:tblGrid>
                <a:gridCol w="932688"/>
                <a:gridCol w="1133856"/>
                <a:gridCol w="640080"/>
                <a:gridCol w="841248"/>
              </a:tblGrid>
              <a:tr h="256032">
                <a:tc>
                  <a:txBody>
                    <a:bodyPr/>
                    <a:lstStyle/>
                    <a:p>
                      <a:pPr indent="0" marL="0">
                        <a:buNone/>
                      </a:pPr>
                      <a:r>
                        <a:rPr lang="en-US" sz="750" b="1" dirty="0">
                          <a:solidFill>
                            <a:srgbClr val="898781"/>
                          </a:solidFill>
                          <a:latin typeface="Arial" pitchFamily="34" charset="0"/>
                          <a:ea typeface="Arial" pitchFamily="34" charset="-122"/>
                          <a:cs typeface="Arial" pitchFamily="34" charset="-120"/>
                        </a:rPr>
                        <a:t>COMPANY</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STAGE</a:t>
                      </a:r>
                      <a:endParaRPr lang="en-US" sz="7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50" b="1" dirty="0">
                          <a:solidFill>
                            <a:srgbClr val="898781"/>
                          </a:solidFill>
                          <a:latin typeface="Arial" pitchFamily="34" charset="0"/>
                          <a:ea typeface="Arial" pitchFamily="34" charset="-122"/>
                          <a:cs typeface="Arial" pitchFamily="34" charset="-120"/>
                        </a:rPr>
                        <a:t>DEAL SIZE</a:t>
                      </a:r>
                      <a:endParaRPr lang="en-US" sz="7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50" b="1" dirty="0">
                          <a:solidFill>
                            <a:srgbClr val="898781"/>
                          </a:solidFill>
                          <a:latin typeface="Arial" pitchFamily="34" charset="0"/>
                          <a:ea typeface="Arial" pitchFamily="34" charset="-122"/>
                          <a:cs typeface="Arial" pitchFamily="34" charset="-120"/>
                        </a:rPr>
                        <a:t>OWNER’S REP</a:t>
                      </a:r>
                      <a:endParaRPr lang="en-US" sz="750" dirty="0">
                        <a:latin typeface="Arial" charset="0"/>
                        <a:ea typeface="Arial" charset="0"/>
                        <a:cs typeface="Arial" charset="0"/>
                      </a:endParaRPr>
                    </a:p>
                  </a:txBody>
                  <a:tcPr marL="91440"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$XXX M</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29184">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$XXX M</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109728"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71" name="Shape 67"/>
          <p:cNvSpPr/>
          <p:nvPr/>
        </p:nvSpPr>
        <p:spPr>
          <a:xfrm>
            <a:off x="7114032" y="3035808"/>
            <a:ext cx="932688" cy="219456"/>
          </a:xfrm>
          <a:prstGeom prst="roundRect">
            <a:avLst>
              <a:gd name="adj" fmla="val 50000"/>
            </a:avLst>
          </a:prstGeom>
          <a:solidFill>
            <a:srgbClr val="E7F3E7"/>
          </a:solidFill>
          <a:ln/>
        </p:spPr>
      </p:sp>
      <p:sp>
        <p:nvSpPr>
          <p:cNvPr id="72" name="Text 68"/>
          <p:cNvSpPr/>
          <p:nvPr/>
        </p:nvSpPr>
        <p:spPr>
          <a:xfrm>
            <a:off x="7114032" y="3035808"/>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73" name="Shape 69"/>
          <p:cNvSpPr/>
          <p:nvPr/>
        </p:nvSpPr>
        <p:spPr>
          <a:xfrm>
            <a:off x="7114032" y="3364992"/>
            <a:ext cx="731520" cy="219456"/>
          </a:xfrm>
          <a:prstGeom prst="roundRect">
            <a:avLst>
              <a:gd name="adj" fmla="val 50000"/>
            </a:avLst>
          </a:prstGeom>
          <a:solidFill>
            <a:srgbClr val="E5EEFB"/>
          </a:solidFill>
          <a:ln/>
        </p:spPr>
      </p:sp>
      <p:sp>
        <p:nvSpPr>
          <p:cNvPr id="74" name="Text 70"/>
          <p:cNvSpPr/>
          <p:nvPr/>
        </p:nvSpPr>
        <p:spPr>
          <a:xfrm>
            <a:off x="7114032" y="3364992"/>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75" name="Shape 71"/>
          <p:cNvSpPr/>
          <p:nvPr/>
        </p:nvSpPr>
        <p:spPr>
          <a:xfrm>
            <a:off x="7114032" y="3694176"/>
            <a:ext cx="731520" cy="219456"/>
          </a:xfrm>
          <a:prstGeom prst="roundRect">
            <a:avLst>
              <a:gd name="adj" fmla="val 50000"/>
            </a:avLst>
          </a:prstGeom>
          <a:solidFill>
            <a:srgbClr val="E5EEFB"/>
          </a:solidFill>
          <a:ln/>
        </p:spPr>
      </p:sp>
      <p:sp>
        <p:nvSpPr>
          <p:cNvPr id="76" name="Text 72"/>
          <p:cNvSpPr/>
          <p:nvPr/>
        </p:nvSpPr>
        <p:spPr>
          <a:xfrm>
            <a:off x="7114032" y="3694176"/>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77" name="Shape 73"/>
          <p:cNvSpPr/>
          <p:nvPr/>
        </p:nvSpPr>
        <p:spPr>
          <a:xfrm>
            <a:off x="7114032" y="4023360"/>
            <a:ext cx="1060704" cy="219456"/>
          </a:xfrm>
          <a:prstGeom prst="roundRect">
            <a:avLst>
              <a:gd name="adj" fmla="val 50000"/>
            </a:avLst>
          </a:prstGeom>
          <a:solidFill>
            <a:srgbClr val="F0EFEC"/>
          </a:solidFill>
          <a:ln/>
        </p:spPr>
      </p:sp>
      <p:sp>
        <p:nvSpPr>
          <p:cNvPr id="78" name="Text 74"/>
          <p:cNvSpPr/>
          <p:nvPr/>
        </p:nvSpPr>
        <p:spPr>
          <a:xfrm>
            <a:off x="7114032" y="4023360"/>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9" name="Shape 75"/>
          <p:cNvSpPr/>
          <p:nvPr/>
        </p:nvSpPr>
        <p:spPr>
          <a:xfrm>
            <a:off x="7114032" y="4352544"/>
            <a:ext cx="1060704" cy="219456"/>
          </a:xfrm>
          <a:prstGeom prst="roundRect">
            <a:avLst>
              <a:gd name="adj" fmla="val 50000"/>
            </a:avLst>
          </a:prstGeom>
          <a:solidFill>
            <a:srgbClr val="F0EFEC"/>
          </a:solidFill>
          <a:ln/>
        </p:spPr>
      </p:sp>
      <p:sp>
        <p:nvSpPr>
          <p:cNvPr id="80" name="Text 76"/>
          <p:cNvSpPr/>
          <p:nvPr/>
        </p:nvSpPr>
        <p:spPr>
          <a:xfrm>
            <a:off x="7114032" y="4352544"/>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81" name="Shape 77"/>
          <p:cNvSpPr/>
          <p:nvPr/>
        </p:nvSpPr>
        <p:spPr>
          <a:xfrm>
            <a:off x="384048" y="7388352"/>
            <a:ext cx="9290304" cy="9144"/>
          </a:xfrm>
          <a:prstGeom prst="rect">
            <a:avLst/>
          </a:prstGeom>
          <a:solidFill>
            <a:srgbClr val="E1E0D9"/>
          </a:solidFill>
          <a:ln/>
        </p:spPr>
      </p:sp>
      <p:sp>
        <p:nvSpPr>
          <p:cNvPr id="82" name="Text 78"/>
          <p:cNvSpPr/>
          <p:nvPr/>
        </p:nvSpPr>
        <p:spPr>
          <a:xfrm>
            <a:off x="384048" y="7443216"/>
            <a:ext cx="5943600" cy="182880"/>
          </a:xfrm>
          <a:prstGeom prst="rect">
            <a:avLst/>
          </a:prstGeom>
          <a:noFill/>
          <a:ln/>
        </p:spPr>
        <p:txBody>
          <a:bodyPr wrap="square" lIns="0" tIns="0" rIns="0" bIns="0" rtlCol="0" anchor="ctr"/>
          <a:lstStyle/>
          <a:p>
            <a:pPr indent="0" marL="0">
              <a:buNone/>
            </a:pPr>
            <a:r>
              <a:rPr lang="en-US" sz="750" dirty="0">
                <a:solidFill>
                  <a:srgbClr val="898781"/>
                </a:solidFill>
                <a:latin typeface="Arial" pitchFamily="34" charset="0"/>
                <a:ea typeface="Arial" pitchFamily="34" charset="-122"/>
                <a:cs typeface="Arial" pitchFamily="34" charset="-120"/>
              </a:rPr>
              <a:t>U.S. Investment Accelerator   ·   Deal figures as reported by owner’s representatives</a:t>
            </a:r>
            <a:endParaRPr lang="en-US" sz="750" dirty="0"/>
          </a:p>
        </p:txBody>
      </p:sp>
      <p:sp>
        <p:nvSpPr>
          <p:cNvPr id="83" name="Text 79"/>
          <p:cNvSpPr/>
          <p:nvPr/>
        </p:nvSpPr>
        <p:spPr>
          <a:xfrm>
            <a:off x="6400800" y="7443216"/>
            <a:ext cx="3273552" cy="182880"/>
          </a:xfrm>
          <a:prstGeom prst="rect">
            <a:avLst/>
          </a:prstGeom>
          <a:noFill/>
          <a:ln/>
        </p:spPr>
        <p:txBody>
          <a:bodyPr wrap="square" lIns="0" tIns="0" rIns="0" bIns="0" rtlCol="0" anchor="ctr"/>
          <a:lstStyle/>
          <a:p>
            <a:pPr algn="r" indent="0" marL="0">
              <a:buNone/>
            </a:pPr>
            <a:r>
              <a:rPr lang="en-US" sz="750" dirty="0">
                <a:solidFill>
                  <a:srgbClr val="898781"/>
                </a:solidFill>
                <a:latin typeface="Arial" pitchFamily="34" charset="0"/>
                <a:ea typeface="Arial" pitchFamily="34" charset="-122"/>
                <a:cs typeface="Arial" pitchFamily="34" charset="-120"/>
              </a:rPr>
              <a:t>Data as of July 29, 2026   ·   Page 1 of 1</a:t>
            </a:r>
            <a:endParaRPr lang="en-US" sz="750" dirty="0"/>
          </a:p>
        </p:txBody>
      </p:sp>
      <p:sp>
        <p:nvSpPr>
          <p:cNvPr id="84" name="Text 80"/>
          <p:cNvSpPr/>
          <p:nvPr/>
        </p:nvSpPr>
        <p:spPr>
          <a:xfrm>
            <a:off x="10287000" y="2286000"/>
            <a:ext cx="2011680" cy="502920"/>
          </a:xfrm>
          <a:prstGeom prst="rect">
            <a:avLst/>
          </a:prstGeom>
          <a:noFill/>
          <a:ln/>
        </p:spPr>
        <p:txBody>
          <a:bodyPr wrap="square" lIns="0" tIns="0" rIns="0" bIns="0" rtlCol="0" anchor="ctr"/>
          <a:lstStyle/>
          <a:p>
            <a:pPr indent="0" marL="0">
              <a:buNone/>
            </a:pPr>
            <a:r>
              <a:rPr lang="en-US" sz="800" b="1" dirty="0">
                <a:solidFill>
                  <a:srgbClr val="898781"/>
                </a:solidFill>
                <a:latin typeface="Arial" pitchFamily="34" charset="0"/>
                <a:ea typeface="Arial" pitchFamily="34" charset="-122"/>
                <a:cs typeface="Arial" pitchFamily="34" charset="-120"/>
              </a:rPr>
              <a:t>SPARE STAGE TAGS — copy (Ctrl/Cmd-drag) onto any row.</a:t>
            </a:r>
            <a:endParaRPr lang="en-US" sz="800" dirty="0"/>
          </a:p>
          <a:p>
            <a:pPr indent="0" marL="0">
              <a:buNone/>
            </a:pPr>
            <a:r>
              <a:rPr lang="en-US" sz="800" b="1" dirty="0">
                <a:solidFill>
                  <a:srgbClr val="898781"/>
                </a:solidFill>
                <a:latin typeface="Arial" pitchFamily="34" charset="0"/>
                <a:ea typeface="Arial" pitchFamily="34" charset="-122"/>
                <a:cs typeface="Arial" pitchFamily="34" charset="-120"/>
              </a:rPr>
              <a:t>This area is off the page and never prints.</a:t>
            </a:r>
            <a:endParaRPr lang="en-US" sz="800" dirty="0"/>
          </a:p>
        </p:txBody>
      </p:sp>
      <p:sp>
        <p:nvSpPr>
          <p:cNvPr id="85" name="Shape 81"/>
          <p:cNvSpPr/>
          <p:nvPr/>
        </p:nvSpPr>
        <p:spPr>
          <a:xfrm>
            <a:off x="10287000" y="2880360"/>
            <a:ext cx="932688" cy="219456"/>
          </a:xfrm>
          <a:prstGeom prst="roundRect">
            <a:avLst>
              <a:gd name="adj" fmla="val 50000"/>
            </a:avLst>
          </a:prstGeom>
          <a:solidFill>
            <a:srgbClr val="E7F3E7"/>
          </a:solidFill>
          <a:ln/>
        </p:spPr>
      </p:sp>
      <p:sp>
        <p:nvSpPr>
          <p:cNvPr id="86" name="Text 82"/>
          <p:cNvSpPr/>
          <p:nvPr/>
        </p:nvSpPr>
        <p:spPr>
          <a:xfrm>
            <a:off x="10287000" y="2880360"/>
            <a:ext cx="932688"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87" name="Shape 83"/>
          <p:cNvSpPr/>
          <p:nvPr/>
        </p:nvSpPr>
        <p:spPr>
          <a:xfrm>
            <a:off x="10287000" y="3200400"/>
            <a:ext cx="731520" cy="219456"/>
          </a:xfrm>
          <a:prstGeom prst="roundRect">
            <a:avLst>
              <a:gd name="adj" fmla="val 50000"/>
            </a:avLst>
          </a:prstGeom>
          <a:solidFill>
            <a:srgbClr val="E5EEFB"/>
          </a:solidFill>
          <a:ln/>
        </p:spPr>
      </p:sp>
      <p:sp>
        <p:nvSpPr>
          <p:cNvPr id="88" name="Text 84"/>
          <p:cNvSpPr/>
          <p:nvPr/>
        </p:nvSpPr>
        <p:spPr>
          <a:xfrm>
            <a:off x="10287000" y="3200400"/>
            <a:ext cx="731520"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9" name="Shape 85"/>
          <p:cNvSpPr/>
          <p:nvPr/>
        </p:nvSpPr>
        <p:spPr>
          <a:xfrm>
            <a:off x="10287000" y="3520440"/>
            <a:ext cx="1060704" cy="219456"/>
          </a:xfrm>
          <a:prstGeom prst="roundRect">
            <a:avLst>
              <a:gd name="adj" fmla="val 50000"/>
            </a:avLst>
          </a:prstGeom>
          <a:solidFill>
            <a:srgbClr val="F0EFEC"/>
          </a:solidFill>
          <a:ln/>
        </p:spPr>
      </p:sp>
      <p:sp>
        <p:nvSpPr>
          <p:cNvPr id="90" name="Text 86"/>
          <p:cNvSpPr/>
          <p:nvPr/>
        </p:nvSpPr>
        <p:spPr>
          <a:xfrm>
            <a:off x="10287000" y="3520440"/>
            <a:ext cx="1060704"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2026-07-29T15:29:05Z</dcterms:created>
  <dcterms:modified xsi:type="dcterms:W3CDTF">2026-07-29T15:29:05Z</dcterms:modified>
</cp:coreProperties>
</file>