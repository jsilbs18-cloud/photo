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0058400" cy="77724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FILL-IN GUIDE
1. Type over every gray/placeholder value: Company 1-19, Sector, the $X.X B deal sizes (all in billions), First Last (owner's rep), X.X% (warrants), the summary tiles, and the two '$XX.X B total' figures next to JAPAN and KOREA.
2. Stage labels are now part of each table row (colored cell), so long company or sector names can wrap onto extra lines without knocking anything out of alignment. Korea's rows are extra tall to fit longer names.
3. Stages are pre-set to the plan: Japan = 6 Announced, 3 Consultation, 4 Active. Korea = 3 Consultation, 3 Active. To change one: retype the label, then copy the look from any row that already has that stage (select that cell's text, Home &gt; Format Painter, click the cell to change) or set the cell shading + font color manually.
4. Add/remove rows: click in a table, use Table Layout &gt; Insert/Delete Rows — everything stays aligned automatically. Update the counts in the summary strip if totals change.
5. Export for the meeting: File &gt; Export/Save As &gt; PDF. The page is exactly US Letter landscape, so it also prints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0058400" cy="960120"/>
          </a:xfrm>
          <a:prstGeom prst="rect">
            <a:avLst/>
          </a:prstGeom>
          <a:solidFill>
            <a:srgbClr val="0D366B"/>
          </a:solidFill>
          <a:ln/>
        </p:spPr>
      </p:sp>
      <p:sp>
        <p:nvSpPr>
          <p:cNvPr id="3" name="Shape 1"/>
          <p:cNvSpPr/>
          <p:nvPr/>
        </p:nvSpPr>
        <p:spPr>
          <a:xfrm>
            <a:off x="0" y="960120"/>
            <a:ext cx="10058400" cy="32004"/>
          </a:xfrm>
          <a:prstGeom prst="rect">
            <a:avLst/>
          </a:prstGeom>
          <a:solidFill>
            <a:srgbClr val="B8933F"/>
          </a:solidFill>
          <a:ln/>
        </p:spPr>
      </p:sp>
      <p:sp>
        <p:nvSpPr>
          <p:cNvPr id="4" name="Text 2"/>
          <p:cNvSpPr/>
          <p:nvPr/>
        </p:nvSpPr>
        <p:spPr>
          <a:xfrm>
            <a:off x="384048" y="155448"/>
            <a:ext cx="6949440" cy="219456"/>
          </a:xfrm>
          <a:prstGeom prst="rect">
            <a:avLst/>
          </a:prstGeom>
          <a:noFill/>
          <a:ln/>
        </p:spPr>
        <p:txBody>
          <a:bodyPr wrap="square" lIns="0" tIns="0" rIns="0" bIns="0" rtlCol="0" anchor="ctr"/>
          <a:lstStyle/>
          <a:p>
            <a:pPr indent="0" marL="0">
              <a:buNone/>
            </a:pPr>
            <a:r>
              <a:rPr lang="en-US" sz="950" b="1" spc="300" kern="0" dirty="0">
                <a:solidFill>
                  <a:srgbClr val="C9D7EC"/>
                </a:solidFill>
                <a:latin typeface="Arial" pitchFamily="34" charset="0"/>
                <a:ea typeface="Arial" pitchFamily="34" charset="-122"/>
                <a:cs typeface="Arial" pitchFamily="34" charset="-120"/>
              </a:rPr>
              <a:t>U.S. INVESTMENT ACCELERATOR  ·  U.S. DEPARTMENT OF COMMERCE</a:t>
            </a:r>
            <a:endParaRPr lang="en-US" sz="950" dirty="0"/>
          </a:p>
        </p:txBody>
      </p:sp>
      <p:sp>
        <p:nvSpPr>
          <p:cNvPr id="5" name="Text 3"/>
          <p:cNvSpPr/>
          <p:nvPr/>
        </p:nvSpPr>
        <p:spPr>
          <a:xfrm>
            <a:off x="365760" y="411480"/>
            <a:ext cx="7132320" cy="420624"/>
          </a:xfrm>
          <a:prstGeom prst="rect">
            <a:avLst/>
          </a:prstGeom>
          <a:noFill/>
          <a:ln/>
        </p:spPr>
        <p:txBody>
          <a:bodyPr wrap="square" lIns="0" tIns="0" rIns="0" bIns="0" rtlCol="0" anchor="ctr"/>
          <a:lstStyle/>
          <a:p>
            <a:pPr indent="0" marL="0">
              <a:buNone/>
            </a:pPr>
            <a:r>
              <a:rPr lang="en-US" sz="2500" b="1" dirty="0">
                <a:solidFill>
                  <a:srgbClr val="FFFFFF"/>
                </a:solidFill>
                <a:latin typeface="Arial" pitchFamily="34" charset="0"/>
                <a:ea typeface="Arial" pitchFamily="34" charset="-122"/>
                <a:cs typeface="Arial" pitchFamily="34" charset="-120"/>
              </a:rPr>
              <a:t>Investment Deal Portfolio — Status Overview</a:t>
            </a:r>
            <a:endParaRPr lang="en-US" sz="2500" dirty="0"/>
          </a:p>
        </p:txBody>
      </p:sp>
      <p:sp>
        <p:nvSpPr>
          <p:cNvPr id="6" name="Shape 4"/>
          <p:cNvSpPr/>
          <p:nvPr/>
        </p:nvSpPr>
        <p:spPr>
          <a:xfrm>
            <a:off x="7424928" y="324612"/>
            <a:ext cx="2267712" cy="310896"/>
          </a:xfrm>
          <a:prstGeom prst="roundRect">
            <a:avLst>
              <a:gd name="adj" fmla="val 14706"/>
            </a:avLst>
          </a:prstGeom>
          <a:ln w="12700">
            <a:solidFill>
              <a:srgbClr val="FFD9A8"/>
            </a:solidFill>
            <a:prstDash val="solid"/>
          </a:ln>
        </p:spPr>
      </p:sp>
      <p:sp>
        <p:nvSpPr>
          <p:cNvPr id="7" name="Text 5"/>
          <p:cNvSpPr/>
          <p:nvPr/>
        </p:nvSpPr>
        <p:spPr>
          <a:xfrm>
            <a:off x="7424928" y="324612"/>
            <a:ext cx="2267712" cy="310896"/>
          </a:xfrm>
          <a:prstGeom prst="rect">
            <a:avLst/>
          </a:prstGeom>
          <a:noFill/>
          <a:ln/>
        </p:spPr>
        <p:txBody>
          <a:bodyPr wrap="square" lIns="0" tIns="0" rIns="0" bIns="0" rtlCol="0" anchor="ctr"/>
          <a:lstStyle/>
          <a:p>
            <a:pPr algn="ctr" indent="0" marL="0">
              <a:buNone/>
            </a:pPr>
            <a:r>
              <a:rPr lang="en-US" sz="750" b="1" spc="120" kern="0" dirty="0">
                <a:solidFill>
                  <a:srgbClr val="FFD9A8"/>
                </a:solidFill>
                <a:latin typeface="Arial" pitchFamily="34" charset="0"/>
                <a:ea typeface="Arial" pitchFamily="34" charset="-122"/>
                <a:cs typeface="Arial" pitchFamily="34" charset="-120"/>
              </a:rPr>
              <a:t>PRE-DECISIONAL · INTERNAL USE</a:t>
            </a:r>
            <a:endParaRPr lang="en-US" sz="750" dirty="0"/>
          </a:p>
        </p:txBody>
      </p:sp>
      <p:sp>
        <p:nvSpPr>
          <p:cNvPr id="8" name="Shape 6"/>
          <p:cNvSpPr/>
          <p:nvPr/>
        </p:nvSpPr>
        <p:spPr>
          <a:xfrm>
            <a:off x="0" y="992124"/>
            <a:ext cx="10058400" cy="969264"/>
          </a:xfrm>
          <a:prstGeom prst="rect">
            <a:avLst/>
          </a:prstGeom>
          <a:solidFill>
            <a:srgbClr val="F6F5F2"/>
          </a:solidFill>
          <a:ln/>
        </p:spPr>
      </p:sp>
      <p:sp>
        <p:nvSpPr>
          <p:cNvPr id="9" name="Shape 7"/>
          <p:cNvSpPr/>
          <p:nvPr/>
        </p:nvSpPr>
        <p:spPr>
          <a:xfrm>
            <a:off x="0" y="1961388"/>
            <a:ext cx="10058400" cy="9144"/>
          </a:xfrm>
          <a:prstGeom prst="rect">
            <a:avLst/>
          </a:prstGeom>
          <a:solidFill>
            <a:srgbClr val="E1E0D9"/>
          </a:solidFill>
          <a:ln/>
        </p:spPr>
      </p:sp>
      <p:sp>
        <p:nvSpPr>
          <p:cNvPr id="10" name="Shape 8"/>
          <p:cNvSpPr/>
          <p:nvPr/>
        </p:nvSpPr>
        <p:spPr>
          <a:xfrm>
            <a:off x="1600200" y="1161288"/>
            <a:ext cx="7315" cy="658368"/>
          </a:xfrm>
          <a:prstGeom prst="rect">
            <a:avLst/>
          </a:prstGeom>
          <a:solidFill>
            <a:srgbClr val="E1E0D9"/>
          </a:solidFill>
          <a:ln/>
        </p:spPr>
      </p:sp>
      <p:sp>
        <p:nvSpPr>
          <p:cNvPr id="11" name="Shape 9"/>
          <p:cNvSpPr/>
          <p:nvPr/>
        </p:nvSpPr>
        <p:spPr>
          <a:xfrm>
            <a:off x="3611880" y="1161288"/>
            <a:ext cx="7315" cy="658368"/>
          </a:xfrm>
          <a:prstGeom prst="rect">
            <a:avLst/>
          </a:prstGeom>
          <a:solidFill>
            <a:srgbClr val="E1E0D9"/>
          </a:solidFill>
          <a:ln/>
        </p:spPr>
      </p:sp>
      <p:sp>
        <p:nvSpPr>
          <p:cNvPr id="12" name="Shape 10"/>
          <p:cNvSpPr/>
          <p:nvPr/>
        </p:nvSpPr>
        <p:spPr>
          <a:xfrm>
            <a:off x="5669280" y="1161288"/>
            <a:ext cx="7315" cy="658368"/>
          </a:xfrm>
          <a:prstGeom prst="rect">
            <a:avLst/>
          </a:prstGeom>
          <a:solidFill>
            <a:srgbClr val="E1E0D9"/>
          </a:solidFill>
          <a:ln/>
        </p:spPr>
      </p:sp>
      <p:sp>
        <p:nvSpPr>
          <p:cNvPr id="13" name="Shape 11"/>
          <p:cNvSpPr/>
          <p:nvPr/>
        </p:nvSpPr>
        <p:spPr>
          <a:xfrm>
            <a:off x="7543800" y="1161288"/>
            <a:ext cx="7315" cy="658368"/>
          </a:xfrm>
          <a:prstGeom prst="rect">
            <a:avLst/>
          </a:prstGeom>
          <a:solidFill>
            <a:srgbClr val="E1E0D9"/>
          </a:solidFill>
          <a:ln/>
        </p:spPr>
      </p:sp>
      <p:sp>
        <p:nvSpPr>
          <p:cNvPr id="14" name="Text 12"/>
          <p:cNvSpPr/>
          <p:nvPr/>
        </p:nvSpPr>
        <p:spPr>
          <a:xfrm>
            <a:off x="384048" y="1143000"/>
            <a:ext cx="1188720" cy="182880"/>
          </a:xfrm>
          <a:prstGeom prst="rect">
            <a:avLst/>
          </a:prstGeom>
          <a:noFill/>
          <a:ln/>
        </p:spPr>
        <p:txBody>
          <a:bodyPr wrap="square" lIns="0" tIns="0" rIns="0" bIns="0" rtlCol="0" anchor="ctr"/>
          <a:lstStyle/>
          <a:p>
            <a:pPr indent="0" marL="0">
              <a:buNone/>
            </a:pPr>
            <a:r>
              <a:rPr lang="en-US" sz="800" b="1" spc="150" kern="0" dirty="0">
                <a:solidFill>
                  <a:srgbClr val="898781"/>
                </a:solidFill>
                <a:latin typeface="Arial" pitchFamily="34" charset="0"/>
                <a:ea typeface="Arial" pitchFamily="34" charset="-122"/>
                <a:cs typeface="Arial" pitchFamily="34" charset="-120"/>
              </a:rPr>
              <a:t>TOTAL DEALS</a:t>
            </a:r>
            <a:endParaRPr lang="en-US" sz="800" dirty="0"/>
          </a:p>
        </p:txBody>
      </p:sp>
      <p:sp>
        <p:nvSpPr>
          <p:cNvPr id="15" name="Text 13"/>
          <p:cNvSpPr/>
          <p:nvPr/>
        </p:nvSpPr>
        <p:spPr>
          <a:xfrm>
            <a:off x="384048" y="1344168"/>
            <a:ext cx="1188720" cy="36576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19</a:t>
            </a:r>
            <a:endParaRPr lang="en-US" sz="1900" dirty="0"/>
          </a:p>
        </p:txBody>
      </p:sp>
      <p:sp>
        <p:nvSpPr>
          <p:cNvPr id="16" name="Text 14"/>
          <p:cNvSpPr/>
          <p:nvPr/>
        </p:nvSpPr>
        <p:spPr>
          <a:xfrm>
            <a:off x="1810512" y="1143000"/>
            <a:ext cx="1737360" cy="182880"/>
          </a:xfrm>
          <a:prstGeom prst="rect">
            <a:avLst/>
          </a:prstGeom>
          <a:noFill/>
          <a:ln/>
        </p:spPr>
        <p:txBody>
          <a:bodyPr wrap="square" lIns="0" tIns="0" rIns="0" bIns="0" rtlCol="0" anchor="ctr"/>
          <a:lstStyle/>
          <a:p>
            <a:pPr indent="0" marL="0">
              <a:buNone/>
            </a:pPr>
            <a:r>
              <a:rPr lang="en-US" sz="800" b="1" spc="150" kern="0" dirty="0">
                <a:solidFill>
                  <a:srgbClr val="898781"/>
                </a:solidFill>
                <a:latin typeface="Arial" pitchFamily="34" charset="0"/>
                <a:ea typeface="Arial" pitchFamily="34" charset="-122"/>
                <a:cs typeface="Arial" pitchFamily="34" charset="-120"/>
              </a:rPr>
              <a:t>TOTAL PORTFOLIO VALUE</a:t>
            </a:r>
            <a:endParaRPr lang="en-US" sz="800" dirty="0"/>
          </a:p>
        </p:txBody>
      </p:sp>
      <p:sp>
        <p:nvSpPr>
          <p:cNvPr id="17" name="Text 15"/>
          <p:cNvSpPr/>
          <p:nvPr/>
        </p:nvSpPr>
        <p:spPr>
          <a:xfrm>
            <a:off x="1810512" y="1344168"/>
            <a:ext cx="1737360" cy="36576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$XXX.X B</a:t>
            </a:r>
            <a:endParaRPr lang="en-US" sz="1900" dirty="0"/>
          </a:p>
        </p:txBody>
      </p:sp>
      <p:sp>
        <p:nvSpPr>
          <p:cNvPr id="18" name="Shape 16"/>
          <p:cNvSpPr/>
          <p:nvPr/>
        </p:nvSpPr>
        <p:spPr>
          <a:xfrm>
            <a:off x="3822192" y="1143000"/>
            <a:ext cx="201168" cy="141732"/>
          </a:xfrm>
          <a:prstGeom prst="roundRect">
            <a:avLst>
              <a:gd name="adj" fmla="val 12903"/>
            </a:avLst>
          </a:prstGeom>
          <a:solidFill>
            <a:srgbClr val="FFFFFF"/>
          </a:solidFill>
          <a:ln w="9525">
            <a:solidFill>
              <a:srgbClr val="D5D3CC"/>
            </a:solidFill>
            <a:prstDash val="solid"/>
          </a:ln>
        </p:spPr>
      </p:sp>
      <p:sp>
        <p:nvSpPr>
          <p:cNvPr id="19" name="Shape 17"/>
          <p:cNvSpPr/>
          <p:nvPr/>
        </p:nvSpPr>
        <p:spPr>
          <a:xfrm>
            <a:off x="3883091" y="1174181"/>
            <a:ext cx="79370" cy="79370"/>
          </a:xfrm>
          <a:prstGeom prst="ellipse">
            <a:avLst/>
          </a:prstGeom>
          <a:solidFill>
            <a:srgbClr val="BC002D"/>
          </a:solidFill>
          <a:ln/>
        </p:spPr>
      </p:sp>
      <p:sp>
        <p:nvSpPr>
          <p:cNvPr id="20" name="Text 18"/>
          <p:cNvSpPr/>
          <p:nvPr/>
        </p:nvSpPr>
        <p:spPr>
          <a:xfrm>
            <a:off x="4087368" y="1143000"/>
            <a:ext cx="1463040" cy="182880"/>
          </a:xfrm>
          <a:prstGeom prst="rect">
            <a:avLst/>
          </a:prstGeom>
          <a:noFill/>
          <a:ln/>
        </p:spPr>
        <p:txBody>
          <a:bodyPr wrap="square" lIns="0" tIns="0" rIns="0" bIns="0" rtlCol="0" anchor="ctr"/>
          <a:lstStyle/>
          <a:p>
            <a:pPr indent="0" marL="0">
              <a:buNone/>
            </a:pPr>
            <a:r>
              <a:rPr lang="en-US" sz="800" b="1" spc="150" kern="0" dirty="0">
                <a:solidFill>
                  <a:srgbClr val="898781"/>
                </a:solidFill>
                <a:latin typeface="Arial" pitchFamily="34" charset="0"/>
                <a:ea typeface="Arial" pitchFamily="34" charset="-122"/>
                <a:cs typeface="Arial" pitchFamily="34" charset="-120"/>
              </a:rPr>
              <a:t>JAPAN-FUNDED</a:t>
            </a:r>
            <a:endParaRPr lang="en-US" sz="800" dirty="0"/>
          </a:p>
        </p:txBody>
      </p:sp>
      <p:sp>
        <p:nvSpPr>
          <p:cNvPr id="21" name="Text 19"/>
          <p:cNvSpPr/>
          <p:nvPr/>
        </p:nvSpPr>
        <p:spPr>
          <a:xfrm>
            <a:off x="3822192" y="1344168"/>
            <a:ext cx="1783080" cy="36576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13</a:t>
            </a:r>
            <a:pPr indent="0" marL="0">
              <a:buNone/>
            </a:pPr>
            <a:r>
              <a:rPr lang="en-US" sz="1050" dirty="0">
                <a:solidFill>
                  <a:srgbClr val="52514E"/>
                </a:solidFill>
                <a:latin typeface="Arial" pitchFamily="34" charset="0"/>
                <a:ea typeface="Arial" pitchFamily="34" charset="-122"/>
                <a:cs typeface="Arial" pitchFamily="34" charset="-120"/>
              </a:rPr>
              <a:t>  deals  ·  $XX B</a:t>
            </a:r>
            <a:endParaRPr lang="en-US" sz="1900" dirty="0"/>
          </a:p>
        </p:txBody>
      </p:sp>
      <p:sp>
        <p:nvSpPr>
          <p:cNvPr id="22" name="Shape 20"/>
          <p:cNvSpPr/>
          <p:nvPr/>
        </p:nvSpPr>
        <p:spPr>
          <a:xfrm>
            <a:off x="5879592" y="1143000"/>
            <a:ext cx="201168" cy="141732"/>
          </a:xfrm>
          <a:prstGeom prst="roundRect">
            <a:avLst>
              <a:gd name="adj" fmla="val 12903"/>
            </a:avLst>
          </a:prstGeom>
          <a:solidFill>
            <a:srgbClr val="FFFFFF"/>
          </a:solidFill>
          <a:ln w="9525">
            <a:solidFill>
              <a:srgbClr val="D5D3CC"/>
            </a:solidFill>
            <a:prstDash val="solid"/>
          </a:ln>
        </p:spPr>
      </p:sp>
      <p:sp>
        <p:nvSpPr>
          <p:cNvPr id="23" name="Shape 21"/>
          <p:cNvSpPr/>
          <p:nvPr/>
        </p:nvSpPr>
        <p:spPr>
          <a:xfrm>
            <a:off x="5940491" y="1174181"/>
            <a:ext cx="79370" cy="79370"/>
          </a:xfrm>
          <a:prstGeom prst="ellipse">
            <a:avLst/>
          </a:prstGeom>
          <a:solidFill>
            <a:srgbClr val="003478"/>
          </a:solidFill>
          <a:ln/>
        </p:spPr>
      </p:sp>
      <p:sp>
        <p:nvSpPr>
          <p:cNvPr id="24" name="Shape 22"/>
          <p:cNvSpPr/>
          <p:nvPr/>
        </p:nvSpPr>
        <p:spPr>
          <a:xfrm>
            <a:off x="5940491" y="1174181"/>
            <a:ext cx="79370" cy="79370"/>
          </a:xfrm>
          <a:prstGeom prst="pie">
            <a:avLst>
              <a:gd name="adj1" fmla="val 10800000"/>
              <a:gd name="adj2" fmla="val 21600000"/>
            </a:avLst>
          </a:prstGeom>
          <a:solidFill>
            <a:srgbClr val="C60C30"/>
          </a:solidFill>
          <a:ln/>
        </p:spPr>
      </p:sp>
      <p:sp>
        <p:nvSpPr>
          <p:cNvPr id="25" name="Text 23"/>
          <p:cNvSpPr/>
          <p:nvPr/>
        </p:nvSpPr>
        <p:spPr>
          <a:xfrm>
            <a:off x="6144768" y="1143000"/>
            <a:ext cx="1371600" cy="182880"/>
          </a:xfrm>
          <a:prstGeom prst="rect">
            <a:avLst/>
          </a:prstGeom>
          <a:noFill/>
          <a:ln/>
        </p:spPr>
        <p:txBody>
          <a:bodyPr wrap="square" lIns="0" tIns="0" rIns="0" bIns="0" rtlCol="0" anchor="ctr"/>
          <a:lstStyle/>
          <a:p>
            <a:pPr indent="0" marL="0">
              <a:buNone/>
            </a:pPr>
            <a:r>
              <a:rPr lang="en-US" sz="800" b="1" spc="150" kern="0" dirty="0">
                <a:solidFill>
                  <a:srgbClr val="898781"/>
                </a:solidFill>
                <a:latin typeface="Arial" pitchFamily="34" charset="0"/>
                <a:ea typeface="Arial" pitchFamily="34" charset="-122"/>
                <a:cs typeface="Arial" pitchFamily="34" charset="-120"/>
              </a:rPr>
              <a:t>KOREA-FUNDED</a:t>
            </a:r>
            <a:endParaRPr lang="en-US" sz="800" dirty="0"/>
          </a:p>
        </p:txBody>
      </p:sp>
      <p:sp>
        <p:nvSpPr>
          <p:cNvPr id="26" name="Text 24"/>
          <p:cNvSpPr/>
          <p:nvPr/>
        </p:nvSpPr>
        <p:spPr>
          <a:xfrm>
            <a:off x="5879592" y="1344168"/>
            <a:ext cx="1645920" cy="365760"/>
          </a:xfrm>
          <a:prstGeom prst="rect">
            <a:avLst/>
          </a:prstGeom>
          <a:noFill/>
          <a:ln/>
        </p:spPr>
        <p:txBody>
          <a:bodyPr wrap="square" lIns="0" tIns="0" rIns="0" bIns="0" rtlCol="0" anchor="ctr"/>
          <a:lstStyle/>
          <a:p>
            <a:pPr indent="0" marL="0">
              <a:buNone/>
            </a:pPr>
            <a:r>
              <a:rPr lang="en-US" sz="1900" b="1" dirty="0">
                <a:solidFill>
                  <a:srgbClr val="0B0B0B"/>
                </a:solidFill>
                <a:latin typeface="Arial" pitchFamily="34" charset="0"/>
                <a:ea typeface="Arial" pitchFamily="34" charset="-122"/>
                <a:cs typeface="Arial" pitchFamily="34" charset="-120"/>
              </a:rPr>
              <a:t>6</a:t>
            </a:r>
            <a:pPr indent="0" marL="0">
              <a:buNone/>
            </a:pPr>
            <a:r>
              <a:rPr lang="en-US" sz="1050" dirty="0">
                <a:solidFill>
                  <a:srgbClr val="52514E"/>
                </a:solidFill>
                <a:latin typeface="Arial" pitchFamily="34" charset="0"/>
                <a:ea typeface="Arial" pitchFamily="34" charset="-122"/>
                <a:cs typeface="Arial" pitchFamily="34" charset="-120"/>
              </a:rPr>
              <a:t>  deals  ·  $XX B</a:t>
            </a:r>
            <a:endParaRPr lang="en-US" sz="1900" dirty="0"/>
          </a:p>
        </p:txBody>
      </p:sp>
      <p:sp>
        <p:nvSpPr>
          <p:cNvPr id="27" name="Text 25"/>
          <p:cNvSpPr/>
          <p:nvPr/>
        </p:nvSpPr>
        <p:spPr>
          <a:xfrm>
            <a:off x="7754112" y="1143000"/>
            <a:ext cx="1920240" cy="182880"/>
          </a:xfrm>
          <a:prstGeom prst="rect">
            <a:avLst/>
          </a:prstGeom>
          <a:noFill/>
          <a:ln/>
        </p:spPr>
        <p:txBody>
          <a:bodyPr wrap="square" lIns="0" tIns="0" rIns="0" bIns="0" rtlCol="0" anchor="ctr"/>
          <a:lstStyle/>
          <a:p>
            <a:pPr indent="0" marL="0">
              <a:buNone/>
            </a:pPr>
            <a:r>
              <a:rPr lang="en-US" sz="800" b="1" spc="150" kern="0" dirty="0">
                <a:solidFill>
                  <a:srgbClr val="898781"/>
                </a:solidFill>
                <a:latin typeface="Arial" pitchFamily="34" charset="0"/>
                <a:ea typeface="Arial" pitchFamily="34" charset="-122"/>
                <a:cs typeface="Arial" pitchFamily="34" charset="-120"/>
              </a:rPr>
              <a:t>PIPELINE BY STAGE</a:t>
            </a:r>
            <a:endParaRPr lang="en-US" sz="800" dirty="0"/>
          </a:p>
        </p:txBody>
      </p:sp>
      <p:sp>
        <p:nvSpPr>
          <p:cNvPr id="28" name="Text 26"/>
          <p:cNvSpPr/>
          <p:nvPr/>
        </p:nvSpPr>
        <p:spPr>
          <a:xfrm>
            <a:off x="7754112" y="1357884"/>
            <a:ext cx="1920240" cy="192024"/>
          </a:xfrm>
          <a:prstGeom prst="rect">
            <a:avLst/>
          </a:prstGeom>
          <a:noFill/>
          <a:ln/>
        </p:spPr>
        <p:txBody>
          <a:bodyPr wrap="square" lIns="0" tIns="0" rIns="0" bIns="0" rtlCol="0" anchor="ctr"/>
          <a:lstStyle/>
          <a:p>
            <a:pPr indent="0" marL="0">
              <a:buNone/>
            </a:pPr>
            <a:r>
              <a:rPr lang="en-US" sz="800" dirty="0">
                <a:solidFill>
                  <a:srgbClr val="0CA30C"/>
                </a:solidFill>
                <a:latin typeface="Arial" pitchFamily="34" charset="0"/>
                <a:ea typeface="Arial" pitchFamily="34" charset="-122"/>
                <a:cs typeface="Arial" pitchFamily="34" charset="-120"/>
              </a:rPr>
              <a:t>● </a:t>
            </a:r>
            <a:pPr indent="0" marL="0">
              <a:buNone/>
            </a:pPr>
            <a:r>
              <a:rPr lang="en-US" sz="1000" b="1" dirty="0">
                <a:solidFill>
                  <a:srgbClr val="0B0B0B"/>
                </a:solidFill>
                <a:latin typeface="Arial" pitchFamily="34" charset="0"/>
                <a:ea typeface="Arial" pitchFamily="34" charset="-122"/>
                <a:cs typeface="Arial" pitchFamily="34" charset="-120"/>
              </a:rPr>
              <a:t>6  </a:t>
            </a:r>
            <a:pPr indent="0" marL="0">
              <a:buNone/>
            </a:pPr>
            <a:r>
              <a:rPr lang="en-US" sz="950" dirty="0">
                <a:solidFill>
                  <a:srgbClr val="52514E"/>
                </a:solidFill>
                <a:latin typeface="Arial" pitchFamily="34" charset="0"/>
                <a:ea typeface="Arial" pitchFamily="34" charset="-122"/>
                <a:cs typeface="Arial" pitchFamily="34" charset="-120"/>
              </a:rPr>
              <a:t>Announced</a:t>
            </a:r>
            <a:endParaRPr lang="en-US" sz="800" dirty="0"/>
          </a:p>
        </p:txBody>
      </p:sp>
      <p:sp>
        <p:nvSpPr>
          <p:cNvPr id="29" name="Text 27"/>
          <p:cNvSpPr/>
          <p:nvPr/>
        </p:nvSpPr>
        <p:spPr>
          <a:xfrm>
            <a:off x="7754112" y="1554480"/>
            <a:ext cx="1920240" cy="192024"/>
          </a:xfrm>
          <a:prstGeom prst="rect">
            <a:avLst/>
          </a:prstGeom>
          <a:noFill/>
          <a:ln/>
        </p:spPr>
        <p:txBody>
          <a:bodyPr wrap="square" lIns="0" tIns="0" rIns="0" bIns="0" rtlCol="0" anchor="ctr"/>
          <a:lstStyle/>
          <a:p>
            <a:pPr indent="0" marL="0">
              <a:buNone/>
            </a:pPr>
            <a:r>
              <a:rPr lang="en-US" sz="800" dirty="0">
                <a:solidFill>
                  <a:srgbClr val="898781"/>
                </a:solidFill>
                <a:latin typeface="Arial" pitchFamily="34" charset="0"/>
                <a:ea typeface="Arial" pitchFamily="34" charset="-122"/>
                <a:cs typeface="Arial" pitchFamily="34" charset="-120"/>
              </a:rPr>
              <a:t>● </a:t>
            </a:r>
            <a:pPr indent="0" marL="0">
              <a:buNone/>
            </a:pPr>
            <a:r>
              <a:rPr lang="en-US" sz="1000" b="1" dirty="0">
                <a:solidFill>
                  <a:srgbClr val="0B0B0B"/>
                </a:solidFill>
                <a:latin typeface="Arial" pitchFamily="34" charset="0"/>
                <a:ea typeface="Arial" pitchFamily="34" charset="-122"/>
                <a:cs typeface="Arial" pitchFamily="34" charset="-120"/>
              </a:rPr>
              <a:t>6  </a:t>
            </a:r>
            <a:pPr indent="0" marL="0">
              <a:buNone/>
            </a:pPr>
            <a:r>
              <a:rPr lang="en-US" sz="950" dirty="0">
                <a:solidFill>
                  <a:srgbClr val="52514E"/>
                </a:solidFill>
                <a:latin typeface="Arial" pitchFamily="34" charset="0"/>
                <a:ea typeface="Arial" pitchFamily="34" charset="-122"/>
                <a:cs typeface="Arial" pitchFamily="34" charset="-120"/>
              </a:rPr>
              <a:t>Consultation</a:t>
            </a:r>
            <a:endParaRPr lang="en-US" sz="800" dirty="0"/>
          </a:p>
        </p:txBody>
      </p:sp>
      <p:sp>
        <p:nvSpPr>
          <p:cNvPr id="30" name="Text 28"/>
          <p:cNvSpPr/>
          <p:nvPr/>
        </p:nvSpPr>
        <p:spPr>
          <a:xfrm>
            <a:off x="7754112" y="1751076"/>
            <a:ext cx="1920240" cy="192024"/>
          </a:xfrm>
          <a:prstGeom prst="rect">
            <a:avLst/>
          </a:prstGeom>
          <a:noFill/>
          <a:ln/>
        </p:spPr>
        <p:txBody>
          <a:bodyPr wrap="square" lIns="0" tIns="0" rIns="0" bIns="0" rtlCol="0" anchor="ctr"/>
          <a:lstStyle/>
          <a:p>
            <a:pPr indent="0" marL="0">
              <a:buNone/>
            </a:pPr>
            <a:r>
              <a:rPr lang="en-US" sz="800" dirty="0">
                <a:solidFill>
                  <a:srgbClr val="2A78D6"/>
                </a:solidFill>
                <a:latin typeface="Arial" pitchFamily="34" charset="0"/>
                <a:ea typeface="Arial" pitchFamily="34" charset="-122"/>
                <a:cs typeface="Arial" pitchFamily="34" charset="-120"/>
              </a:rPr>
              <a:t>● </a:t>
            </a:r>
            <a:pPr indent="0" marL="0">
              <a:buNone/>
            </a:pPr>
            <a:r>
              <a:rPr lang="en-US" sz="1000" b="1" dirty="0">
                <a:solidFill>
                  <a:srgbClr val="0B0B0B"/>
                </a:solidFill>
                <a:latin typeface="Arial" pitchFamily="34" charset="0"/>
                <a:ea typeface="Arial" pitchFamily="34" charset="-122"/>
                <a:cs typeface="Arial" pitchFamily="34" charset="-120"/>
              </a:rPr>
              <a:t>7  </a:t>
            </a:r>
            <a:pPr indent="0" marL="0">
              <a:buNone/>
            </a:pPr>
            <a:r>
              <a:rPr lang="en-US" sz="950" dirty="0">
                <a:solidFill>
                  <a:srgbClr val="52514E"/>
                </a:solidFill>
                <a:latin typeface="Arial" pitchFamily="34" charset="0"/>
                <a:ea typeface="Arial" pitchFamily="34" charset="-122"/>
                <a:cs typeface="Arial" pitchFamily="34" charset="-120"/>
              </a:rPr>
              <a:t>Active</a:t>
            </a:r>
            <a:endParaRPr lang="en-US" sz="800" dirty="0"/>
          </a:p>
        </p:txBody>
      </p:sp>
      <p:sp>
        <p:nvSpPr>
          <p:cNvPr id="31" name="Shape 29"/>
          <p:cNvSpPr/>
          <p:nvPr/>
        </p:nvSpPr>
        <p:spPr>
          <a:xfrm>
            <a:off x="384048" y="2162556"/>
            <a:ext cx="274320" cy="187452"/>
          </a:xfrm>
          <a:prstGeom prst="roundRect">
            <a:avLst>
              <a:gd name="adj" fmla="val 9756"/>
            </a:avLst>
          </a:prstGeom>
          <a:solidFill>
            <a:srgbClr val="FFFFFF"/>
          </a:solidFill>
          <a:ln w="9525">
            <a:solidFill>
              <a:srgbClr val="D5D3CC"/>
            </a:solidFill>
            <a:prstDash val="solid"/>
          </a:ln>
        </p:spPr>
      </p:sp>
      <p:sp>
        <p:nvSpPr>
          <p:cNvPr id="32" name="Shape 30"/>
          <p:cNvSpPr/>
          <p:nvPr/>
        </p:nvSpPr>
        <p:spPr>
          <a:xfrm>
            <a:off x="468721" y="2203795"/>
            <a:ext cx="104973" cy="104973"/>
          </a:xfrm>
          <a:prstGeom prst="ellipse">
            <a:avLst/>
          </a:prstGeom>
          <a:solidFill>
            <a:srgbClr val="BC002D"/>
          </a:solidFill>
          <a:ln/>
        </p:spPr>
      </p:sp>
      <p:sp>
        <p:nvSpPr>
          <p:cNvPr id="33" name="Text 31"/>
          <p:cNvSpPr/>
          <p:nvPr/>
        </p:nvSpPr>
        <p:spPr>
          <a:xfrm>
            <a:off x="731520" y="2121408"/>
            <a:ext cx="1463040" cy="274320"/>
          </a:xfrm>
          <a:prstGeom prst="rect">
            <a:avLst/>
          </a:prstGeom>
          <a:noFill/>
          <a:ln/>
        </p:spPr>
        <p:txBody>
          <a:bodyPr wrap="square" lIns="0" tIns="0" rIns="0" bIns="0" rtlCol="0" anchor="ctr"/>
          <a:lstStyle/>
          <a:p>
            <a:pPr indent="0" marL="0">
              <a:buNone/>
            </a:pPr>
            <a:r>
              <a:rPr lang="en-US" sz="1400" b="1" spc="100" kern="0" dirty="0">
                <a:solidFill>
                  <a:srgbClr val="0B0B0B"/>
                </a:solidFill>
                <a:latin typeface="Arial" pitchFamily="34" charset="0"/>
                <a:ea typeface="Arial" pitchFamily="34" charset="-122"/>
                <a:cs typeface="Arial" pitchFamily="34" charset="-120"/>
              </a:rPr>
              <a:t>JAPAN</a:t>
            </a:r>
            <a:endParaRPr lang="en-US" sz="1400" dirty="0"/>
          </a:p>
        </p:txBody>
      </p:sp>
      <p:sp>
        <p:nvSpPr>
          <p:cNvPr id="34" name="Text 32"/>
          <p:cNvSpPr/>
          <p:nvPr/>
        </p:nvSpPr>
        <p:spPr>
          <a:xfrm>
            <a:off x="2167128" y="2171700"/>
            <a:ext cx="2743200" cy="201168"/>
          </a:xfrm>
          <a:prstGeom prst="rect">
            <a:avLst/>
          </a:prstGeom>
          <a:noFill/>
          <a:ln/>
        </p:spPr>
        <p:txBody>
          <a:bodyPr wrap="square" lIns="0" tIns="0" rIns="0" bIns="0" rtlCol="0" anchor="ctr"/>
          <a:lstStyle/>
          <a:p>
            <a:pPr algn="r" indent="0" marL="0">
              <a:buNone/>
            </a:pPr>
            <a:r>
              <a:rPr lang="en-US" sz="1000" b="1" dirty="0">
                <a:solidFill>
                  <a:srgbClr val="0B0B0B"/>
                </a:solidFill>
                <a:latin typeface="Arial" pitchFamily="34" charset="0"/>
                <a:ea typeface="Arial" pitchFamily="34" charset="-122"/>
                <a:cs typeface="Arial" pitchFamily="34" charset="-120"/>
              </a:rPr>
              <a:t>13 deals</a:t>
            </a:r>
            <a:pPr algn="r" indent="0" marL="0">
              <a:buNone/>
            </a:pPr>
            <a:r>
              <a:rPr lang="en-US" sz="1000" dirty="0">
                <a:solidFill>
                  <a:srgbClr val="52514E"/>
                </a:solidFill>
                <a:latin typeface="Arial" pitchFamily="34" charset="0"/>
                <a:ea typeface="Arial" pitchFamily="34" charset="-122"/>
                <a:cs typeface="Arial" pitchFamily="34" charset="-120"/>
              </a:rPr>
              <a:t>  ·  $XX.X B total</a:t>
            </a:r>
            <a:endParaRPr lang="en-US" sz="1000" dirty="0"/>
          </a:p>
        </p:txBody>
      </p:sp>
      <p:sp>
        <p:nvSpPr>
          <p:cNvPr id="35" name="Shape 33"/>
          <p:cNvSpPr/>
          <p:nvPr/>
        </p:nvSpPr>
        <p:spPr>
          <a:xfrm>
            <a:off x="384048" y="2459736"/>
            <a:ext cx="4526280" cy="25603"/>
          </a:xfrm>
          <a:prstGeom prst="rect">
            <a:avLst/>
          </a:prstGeom>
          <a:solidFill>
            <a:srgbClr val="BC002D"/>
          </a:solidFill>
          <a:ln/>
        </p:spPr>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384048" y="2569464"/>
          <a:ext cx="4526280" cy="914400"/>
        </p:xfrm>
        <a:graphic>
          <a:graphicData uri="http://schemas.openxmlformats.org/drawingml/2006/table">
            <a:tbl>
              <a:tblPr/>
              <a:tblGrid>
                <a:gridCol w="1042416"/>
                <a:gridCol w="859536"/>
                <a:gridCol w="841248"/>
                <a:gridCol w="502920"/>
                <a:gridCol w="676656"/>
                <a:gridCol w="603504"/>
              </a:tblGrid>
              <a:tr h="256032">
                <a:tc>
                  <a:txBody>
                    <a:bodyPr/>
                    <a:lstStyle/>
                    <a:p>
                      <a:pPr indent="0" marL="0">
                        <a:buNone/>
                      </a:pPr>
                      <a:r>
                        <a:rPr lang="en-US" sz="650" b="1" dirty="0">
                          <a:solidFill>
                            <a:srgbClr val="898781"/>
                          </a:solidFill>
                          <a:latin typeface="Arial" pitchFamily="34" charset="0"/>
                          <a:ea typeface="Arial" pitchFamily="34" charset="-122"/>
                          <a:cs typeface="Arial" pitchFamily="34" charset="-120"/>
                        </a:rPr>
                        <a:t>COMPANY</a:t>
                      </a:r>
                      <a:endParaRPr lang="en-US" sz="6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indent="0" marL="0">
                        <a:buNone/>
                      </a:pPr>
                      <a:r>
                        <a:rPr lang="en-US" sz="650" b="1" dirty="0">
                          <a:solidFill>
                            <a:srgbClr val="898781"/>
                          </a:solidFill>
                          <a:latin typeface="Arial" pitchFamily="34" charset="0"/>
                          <a:ea typeface="Arial" pitchFamily="34" charset="-122"/>
                          <a:cs typeface="Arial" pitchFamily="34" charset="-120"/>
                        </a:rPr>
                        <a:t>SECTOR</a:t>
                      </a:r>
                      <a:endParaRPr lang="en-US" sz="6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indent="0" marL="0">
                        <a:buNone/>
                      </a:pPr>
                      <a:r>
                        <a:rPr lang="en-US" sz="650" b="1" dirty="0">
                          <a:solidFill>
                            <a:srgbClr val="898781"/>
                          </a:solidFill>
                          <a:latin typeface="Arial" pitchFamily="34" charset="0"/>
                          <a:ea typeface="Arial" pitchFamily="34" charset="-122"/>
                          <a:cs typeface="Arial" pitchFamily="34" charset="-120"/>
                        </a:rPr>
                        <a:t>STAGE</a:t>
                      </a:r>
                      <a:endParaRPr lang="en-US" sz="6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algn="r" indent="0" marL="0">
                        <a:buNone/>
                      </a:pPr>
                      <a:r>
                        <a:rPr lang="en-US" sz="650" b="1" dirty="0">
                          <a:solidFill>
                            <a:srgbClr val="898781"/>
                          </a:solidFill>
                          <a:latin typeface="Arial" pitchFamily="34" charset="0"/>
                          <a:ea typeface="Arial" pitchFamily="34" charset="-122"/>
                          <a:cs typeface="Arial" pitchFamily="34" charset="-120"/>
                        </a:rPr>
                        <a:t>SIZE ($B)</a:t>
                      </a:r>
                      <a:endParaRPr lang="en-US" sz="65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indent="0" marL="0">
                        <a:buNone/>
                      </a:pPr>
                      <a:r>
                        <a:rPr lang="en-US" sz="650" b="1" dirty="0">
                          <a:solidFill>
                            <a:srgbClr val="898781"/>
                          </a:solidFill>
                          <a:latin typeface="Arial" pitchFamily="34" charset="0"/>
                          <a:ea typeface="Arial" pitchFamily="34" charset="-122"/>
                          <a:cs typeface="Arial" pitchFamily="34" charset="-120"/>
                        </a:rPr>
                        <a:t>OWNER’S REP</a:t>
                      </a:r>
                      <a:endParaRPr lang="en-US" sz="65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algn="r" indent="0" marL="0">
                        <a:buNone/>
                      </a:pPr>
                      <a:r>
                        <a:rPr lang="en-US" sz="650" b="1" dirty="0">
                          <a:solidFill>
                            <a:srgbClr val="898781"/>
                          </a:solidFill>
                          <a:latin typeface="Arial" pitchFamily="34" charset="0"/>
                          <a:ea typeface="Arial" pitchFamily="34" charset="-122"/>
                          <a:cs typeface="Arial" pitchFamily="34" charset="-120"/>
                        </a:rPr>
                        <a:t>WARRANTS</a:t>
                      </a:r>
                      <a:endParaRPr lang="en-US" sz="65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0CA30C"/>
                          </a:solidFill>
                          <a:latin typeface="Arial" pitchFamily="34" charset="0"/>
                          <a:ea typeface="Arial" pitchFamily="34" charset="-122"/>
                          <a:cs typeface="Arial" pitchFamily="34" charset="-120"/>
                        </a:rPr>
                        <a:t>● </a:t>
                      </a:r>
                      <a:pPr indent="0" marL="0">
                        <a:buNone/>
                      </a:pPr>
                      <a:r>
                        <a:rPr lang="en-US" sz="800" b="1" dirty="0">
                          <a:solidFill>
                            <a:srgbClr val="006300"/>
                          </a:solidFill>
                          <a:latin typeface="Arial" pitchFamily="34" charset="0"/>
                          <a:ea typeface="Arial" pitchFamily="34" charset="-122"/>
                          <a:cs typeface="Arial" pitchFamily="34" charset="-120"/>
                        </a:rPr>
                        <a:t>Announced</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7F3E7"/>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2</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0CA30C"/>
                          </a:solidFill>
                          <a:latin typeface="Arial" pitchFamily="34" charset="0"/>
                          <a:ea typeface="Arial" pitchFamily="34" charset="-122"/>
                          <a:cs typeface="Arial" pitchFamily="34" charset="-120"/>
                        </a:rPr>
                        <a:t>● </a:t>
                      </a:r>
                      <a:pPr indent="0" marL="0">
                        <a:buNone/>
                      </a:pPr>
                      <a:r>
                        <a:rPr lang="en-US" sz="800" b="1" dirty="0">
                          <a:solidFill>
                            <a:srgbClr val="006300"/>
                          </a:solidFill>
                          <a:latin typeface="Arial" pitchFamily="34" charset="0"/>
                          <a:ea typeface="Arial" pitchFamily="34" charset="-122"/>
                          <a:cs typeface="Arial" pitchFamily="34" charset="-120"/>
                        </a:rPr>
                        <a:t>Announced</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7F3E7"/>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3</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0CA30C"/>
                          </a:solidFill>
                          <a:latin typeface="Arial" pitchFamily="34" charset="0"/>
                          <a:ea typeface="Arial" pitchFamily="34" charset="-122"/>
                          <a:cs typeface="Arial" pitchFamily="34" charset="-120"/>
                        </a:rPr>
                        <a:t>● </a:t>
                      </a:r>
                      <a:pPr indent="0" marL="0">
                        <a:buNone/>
                      </a:pPr>
                      <a:r>
                        <a:rPr lang="en-US" sz="800" b="1" dirty="0">
                          <a:solidFill>
                            <a:srgbClr val="006300"/>
                          </a:solidFill>
                          <a:latin typeface="Arial" pitchFamily="34" charset="0"/>
                          <a:ea typeface="Arial" pitchFamily="34" charset="-122"/>
                          <a:cs typeface="Arial" pitchFamily="34" charset="-120"/>
                        </a:rPr>
                        <a:t>Announced</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7F3E7"/>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4</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0CA30C"/>
                          </a:solidFill>
                          <a:latin typeface="Arial" pitchFamily="34" charset="0"/>
                          <a:ea typeface="Arial" pitchFamily="34" charset="-122"/>
                          <a:cs typeface="Arial" pitchFamily="34" charset="-120"/>
                        </a:rPr>
                        <a:t>● </a:t>
                      </a:r>
                      <a:pPr indent="0" marL="0">
                        <a:buNone/>
                      </a:pPr>
                      <a:r>
                        <a:rPr lang="en-US" sz="800" b="1" dirty="0">
                          <a:solidFill>
                            <a:srgbClr val="006300"/>
                          </a:solidFill>
                          <a:latin typeface="Arial" pitchFamily="34" charset="0"/>
                          <a:ea typeface="Arial" pitchFamily="34" charset="-122"/>
                          <a:cs typeface="Arial" pitchFamily="34" charset="-120"/>
                        </a:rPr>
                        <a:t>Announced</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7F3E7"/>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5</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0CA30C"/>
                          </a:solidFill>
                          <a:latin typeface="Arial" pitchFamily="34" charset="0"/>
                          <a:ea typeface="Arial" pitchFamily="34" charset="-122"/>
                          <a:cs typeface="Arial" pitchFamily="34" charset="-120"/>
                        </a:rPr>
                        <a:t>● </a:t>
                      </a:r>
                      <a:pPr indent="0" marL="0">
                        <a:buNone/>
                      </a:pPr>
                      <a:r>
                        <a:rPr lang="en-US" sz="800" b="1" dirty="0">
                          <a:solidFill>
                            <a:srgbClr val="006300"/>
                          </a:solidFill>
                          <a:latin typeface="Arial" pitchFamily="34" charset="0"/>
                          <a:ea typeface="Arial" pitchFamily="34" charset="-122"/>
                          <a:cs typeface="Arial" pitchFamily="34" charset="-120"/>
                        </a:rPr>
                        <a:t>Announced</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7F3E7"/>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6</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0CA30C"/>
                          </a:solidFill>
                          <a:latin typeface="Arial" pitchFamily="34" charset="0"/>
                          <a:ea typeface="Arial" pitchFamily="34" charset="-122"/>
                          <a:cs typeface="Arial" pitchFamily="34" charset="-120"/>
                        </a:rPr>
                        <a:t>● </a:t>
                      </a:r>
                      <a:pPr indent="0" marL="0">
                        <a:buNone/>
                      </a:pPr>
                      <a:r>
                        <a:rPr lang="en-US" sz="800" b="1" dirty="0">
                          <a:solidFill>
                            <a:srgbClr val="006300"/>
                          </a:solidFill>
                          <a:latin typeface="Arial" pitchFamily="34" charset="0"/>
                          <a:ea typeface="Arial" pitchFamily="34" charset="-122"/>
                          <a:cs typeface="Arial" pitchFamily="34" charset="-120"/>
                        </a:rPr>
                        <a:t>Announced</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7F3E7"/>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7</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898781"/>
                          </a:solidFill>
                          <a:latin typeface="Arial" pitchFamily="34" charset="0"/>
                          <a:ea typeface="Arial" pitchFamily="34" charset="-122"/>
                          <a:cs typeface="Arial" pitchFamily="34" charset="-120"/>
                        </a:rPr>
                        <a:t>● </a:t>
                      </a:r>
                      <a:pPr indent="0" marL="0">
                        <a:buNone/>
                      </a:pPr>
                      <a:r>
                        <a:rPr lang="en-US" sz="800" b="1" dirty="0">
                          <a:solidFill>
                            <a:srgbClr val="52514E"/>
                          </a:solidFill>
                          <a:latin typeface="Arial" pitchFamily="34" charset="0"/>
                          <a:ea typeface="Arial" pitchFamily="34" charset="-122"/>
                          <a:cs typeface="Arial" pitchFamily="34" charset="-120"/>
                        </a:rPr>
                        <a:t>Consultation</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F0EFEC"/>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8</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898781"/>
                          </a:solidFill>
                          <a:latin typeface="Arial" pitchFamily="34" charset="0"/>
                          <a:ea typeface="Arial" pitchFamily="34" charset="-122"/>
                          <a:cs typeface="Arial" pitchFamily="34" charset="-120"/>
                        </a:rPr>
                        <a:t>● </a:t>
                      </a:r>
                      <a:pPr indent="0" marL="0">
                        <a:buNone/>
                      </a:pPr>
                      <a:r>
                        <a:rPr lang="en-US" sz="800" b="1" dirty="0">
                          <a:solidFill>
                            <a:srgbClr val="52514E"/>
                          </a:solidFill>
                          <a:latin typeface="Arial" pitchFamily="34" charset="0"/>
                          <a:ea typeface="Arial" pitchFamily="34" charset="-122"/>
                          <a:cs typeface="Arial" pitchFamily="34" charset="-120"/>
                        </a:rPr>
                        <a:t>Consultation</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F0EFEC"/>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9</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898781"/>
                          </a:solidFill>
                          <a:latin typeface="Arial" pitchFamily="34" charset="0"/>
                          <a:ea typeface="Arial" pitchFamily="34" charset="-122"/>
                          <a:cs typeface="Arial" pitchFamily="34" charset="-120"/>
                        </a:rPr>
                        <a:t>● </a:t>
                      </a:r>
                      <a:pPr indent="0" marL="0">
                        <a:buNone/>
                      </a:pPr>
                      <a:r>
                        <a:rPr lang="en-US" sz="800" b="1" dirty="0">
                          <a:solidFill>
                            <a:srgbClr val="52514E"/>
                          </a:solidFill>
                          <a:latin typeface="Arial" pitchFamily="34" charset="0"/>
                          <a:ea typeface="Arial" pitchFamily="34" charset="-122"/>
                          <a:cs typeface="Arial" pitchFamily="34" charset="-120"/>
                        </a:rPr>
                        <a:t>Consultation</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F0EFEC"/>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10</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11</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12</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34290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13</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bl>
          </a:graphicData>
        </a:graphic>
      </p:graphicFrame>
      <p:sp>
        <p:nvSpPr>
          <p:cNvPr id="37" name="Shape 34"/>
          <p:cNvSpPr/>
          <p:nvPr/>
        </p:nvSpPr>
        <p:spPr>
          <a:xfrm>
            <a:off x="5148072" y="2162556"/>
            <a:ext cx="274320" cy="187452"/>
          </a:xfrm>
          <a:prstGeom prst="roundRect">
            <a:avLst>
              <a:gd name="adj" fmla="val 9756"/>
            </a:avLst>
          </a:prstGeom>
          <a:solidFill>
            <a:srgbClr val="FFFFFF"/>
          </a:solidFill>
          <a:ln w="9525">
            <a:solidFill>
              <a:srgbClr val="D5D3CC"/>
            </a:solidFill>
            <a:prstDash val="solid"/>
          </a:ln>
        </p:spPr>
      </p:sp>
      <p:sp>
        <p:nvSpPr>
          <p:cNvPr id="38" name="Shape 35"/>
          <p:cNvSpPr/>
          <p:nvPr/>
        </p:nvSpPr>
        <p:spPr>
          <a:xfrm>
            <a:off x="5232745" y="2203795"/>
            <a:ext cx="104973" cy="104973"/>
          </a:xfrm>
          <a:prstGeom prst="ellipse">
            <a:avLst/>
          </a:prstGeom>
          <a:solidFill>
            <a:srgbClr val="003478"/>
          </a:solidFill>
          <a:ln/>
        </p:spPr>
      </p:sp>
      <p:sp>
        <p:nvSpPr>
          <p:cNvPr id="39" name="Shape 36"/>
          <p:cNvSpPr/>
          <p:nvPr/>
        </p:nvSpPr>
        <p:spPr>
          <a:xfrm>
            <a:off x="5232745" y="2203795"/>
            <a:ext cx="104973" cy="104973"/>
          </a:xfrm>
          <a:prstGeom prst="pie">
            <a:avLst>
              <a:gd name="adj1" fmla="val 10800000"/>
              <a:gd name="adj2" fmla="val 21600000"/>
            </a:avLst>
          </a:prstGeom>
          <a:solidFill>
            <a:srgbClr val="C60C30"/>
          </a:solidFill>
          <a:ln/>
        </p:spPr>
      </p:sp>
      <p:sp>
        <p:nvSpPr>
          <p:cNvPr id="40" name="Text 37"/>
          <p:cNvSpPr/>
          <p:nvPr/>
        </p:nvSpPr>
        <p:spPr>
          <a:xfrm>
            <a:off x="5495544" y="2121408"/>
            <a:ext cx="1463040" cy="274320"/>
          </a:xfrm>
          <a:prstGeom prst="rect">
            <a:avLst/>
          </a:prstGeom>
          <a:noFill/>
          <a:ln/>
        </p:spPr>
        <p:txBody>
          <a:bodyPr wrap="square" lIns="0" tIns="0" rIns="0" bIns="0" rtlCol="0" anchor="ctr"/>
          <a:lstStyle/>
          <a:p>
            <a:pPr indent="0" marL="0">
              <a:buNone/>
            </a:pPr>
            <a:r>
              <a:rPr lang="en-US" sz="1400" b="1" spc="100" kern="0" dirty="0">
                <a:solidFill>
                  <a:srgbClr val="0B0B0B"/>
                </a:solidFill>
                <a:latin typeface="Arial" pitchFamily="34" charset="0"/>
                <a:ea typeface="Arial" pitchFamily="34" charset="-122"/>
                <a:cs typeface="Arial" pitchFamily="34" charset="-120"/>
              </a:rPr>
              <a:t>KOREA</a:t>
            </a:r>
            <a:endParaRPr lang="en-US" sz="1400" dirty="0"/>
          </a:p>
        </p:txBody>
      </p:sp>
      <p:sp>
        <p:nvSpPr>
          <p:cNvPr id="41" name="Text 38"/>
          <p:cNvSpPr/>
          <p:nvPr/>
        </p:nvSpPr>
        <p:spPr>
          <a:xfrm>
            <a:off x="6931152" y="2171700"/>
            <a:ext cx="2743200" cy="201168"/>
          </a:xfrm>
          <a:prstGeom prst="rect">
            <a:avLst/>
          </a:prstGeom>
          <a:noFill/>
          <a:ln/>
        </p:spPr>
        <p:txBody>
          <a:bodyPr wrap="square" lIns="0" tIns="0" rIns="0" bIns="0" rtlCol="0" anchor="ctr"/>
          <a:lstStyle/>
          <a:p>
            <a:pPr algn="r" indent="0" marL="0">
              <a:buNone/>
            </a:pPr>
            <a:r>
              <a:rPr lang="en-US" sz="1000" b="1" dirty="0">
                <a:solidFill>
                  <a:srgbClr val="0B0B0B"/>
                </a:solidFill>
                <a:latin typeface="Arial" pitchFamily="34" charset="0"/>
                <a:ea typeface="Arial" pitchFamily="34" charset="-122"/>
                <a:cs typeface="Arial" pitchFamily="34" charset="-120"/>
              </a:rPr>
              <a:t>6 deals</a:t>
            </a:r>
            <a:pPr algn="r" indent="0" marL="0">
              <a:buNone/>
            </a:pPr>
            <a:r>
              <a:rPr lang="en-US" sz="1000" dirty="0">
                <a:solidFill>
                  <a:srgbClr val="52514E"/>
                </a:solidFill>
                <a:latin typeface="Arial" pitchFamily="34" charset="0"/>
                <a:ea typeface="Arial" pitchFamily="34" charset="-122"/>
                <a:cs typeface="Arial" pitchFamily="34" charset="-120"/>
              </a:rPr>
              <a:t>  ·  $XX.X B total</a:t>
            </a:r>
            <a:endParaRPr lang="en-US" sz="1000" dirty="0"/>
          </a:p>
        </p:txBody>
      </p:sp>
      <p:sp>
        <p:nvSpPr>
          <p:cNvPr id="42" name="Shape 39"/>
          <p:cNvSpPr/>
          <p:nvPr/>
        </p:nvSpPr>
        <p:spPr>
          <a:xfrm>
            <a:off x="5148072" y="2459736"/>
            <a:ext cx="4526280" cy="25603"/>
          </a:xfrm>
          <a:prstGeom prst="rect">
            <a:avLst/>
          </a:prstGeom>
          <a:solidFill>
            <a:srgbClr val="003478"/>
          </a:solidFill>
          <a:ln/>
        </p:spPr>
      </p:sp>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5148072" y="2569464"/>
          <a:ext cx="4526280" cy="914400"/>
        </p:xfrm>
        <a:graphic>
          <a:graphicData uri="http://schemas.openxmlformats.org/drawingml/2006/table">
            <a:tbl>
              <a:tblPr/>
              <a:tblGrid>
                <a:gridCol w="1042416"/>
                <a:gridCol w="859536"/>
                <a:gridCol w="841248"/>
                <a:gridCol w="502920"/>
                <a:gridCol w="676656"/>
                <a:gridCol w="603504"/>
              </a:tblGrid>
              <a:tr h="256032">
                <a:tc>
                  <a:txBody>
                    <a:bodyPr/>
                    <a:lstStyle/>
                    <a:p>
                      <a:pPr indent="0" marL="0">
                        <a:buNone/>
                      </a:pPr>
                      <a:r>
                        <a:rPr lang="en-US" sz="650" b="1" dirty="0">
                          <a:solidFill>
                            <a:srgbClr val="898781"/>
                          </a:solidFill>
                          <a:latin typeface="Arial" pitchFamily="34" charset="0"/>
                          <a:ea typeface="Arial" pitchFamily="34" charset="-122"/>
                          <a:cs typeface="Arial" pitchFamily="34" charset="-120"/>
                        </a:rPr>
                        <a:t>COMPANY</a:t>
                      </a:r>
                      <a:endParaRPr lang="en-US" sz="6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indent="0" marL="0">
                        <a:buNone/>
                      </a:pPr>
                      <a:r>
                        <a:rPr lang="en-US" sz="650" b="1" dirty="0">
                          <a:solidFill>
                            <a:srgbClr val="898781"/>
                          </a:solidFill>
                          <a:latin typeface="Arial" pitchFamily="34" charset="0"/>
                          <a:ea typeface="Arial" pitchFamily="34" charset="-122"/>
                          <a:cs typeface="Arial" pitchFamily="34" charset="-120"/>
                        </a:rPr>
                        <a:t>SECTOR</a:t>
                      </a:r>
                      <a:endParaRPr lang="en-US" sz="6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indent="0" marL="0">
                        <a:buNone/>
                      </a:pPr>
                      <a:r>
                        <a:rPr lang="en-US" sz="650" b="1" dirty="0">
                          <a:solidFill>
                            <a:srgbClr val="898781"/>
                          </a:solidFill>
                          <a:latin typeface="Arial" pitchFamily="34" charset="0"/>
                          <a:ea typeface="Arial" pitchFamily="34" charset="-122"/>
                          <a:cs typeface="Arial" pitchFamily="34" charset="-120"/>
                        </a:rPr>
                        <a:t>STAGE</a:t>
                      </a:r>
                      <a:endParaRPr lang="en-US" sz="6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algn="r" indent="0" marL="0">
                        <a:buNone/>
                      </a:pPr>
                      <a:r>
                        <a:rPr lang="en-US" sz="650" b="1" dirty="0">
                          <a:solidFill>
                            <a:srgbClr val="898781"/>
                          </a:solidFill>
                          <a:latin typeface="Arial" pitchFamily="34" charset="0"/>
                          <a:ea typeface="Arial" pitchFamily="34" charset="-122"/>
                          <a:cs typeface="Arial" pitchFamily="34" charset="-120"/>
                        </a:rPr>
                        <a:t>SIZE ($B)</a:t>
                      </a:r>
                      <a:endParaRPr lang="en-US" sz="65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indent="0" marL="0">
                        <a:buNone/>
                      </a:pPr>
                      <a:r>
                        <a:rPr lang="en-US" sz="650" b="1" dirty="0">
                          <a:solidFill>
                            <a:srgbClr val="898781"/>
                          </a:solidFill>
                          <a:latin typeface="Arial" pitchFamily="34" charset="0"/>
                          <a:ea typeface="Arial" pitchFamily="34" charset="-122"/>
                          <a:cs typeface="Arial" pitchFamily="34" charset="-120"/>
                        </a:rPr>
                        <a:t>OWNER’S REP</a:t>
                      </a:r>
                      <a:endParaRPr lang="en-US" sz="65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c>
                  <a:txBody>
                    <a:bodyPr/>
                    <a:lstStyle/>
                    <a:p>
                      <a:pPr algn="r" indent="0" marL="0">
                        <a:buNone/>
                      </a:pPr>
                      <a:r>
                        <a:rPr lang="en-US" sz="650" b="1" dirty="0">
                          <a:solidFill>
                            <a:srgbClr val="898781"/>
                          </a:solidFill>
                          <a:latin typeface="Arial" pitchFamily="34" charset="0"/>
                          <a:ea typeface="Arial" pitchFamily="34" charset="-122"/>
                          <a:cs typeface="Arial" pitchFamily="34" charset="-120"/>
                        </a:rPr>
                        <a:t>WARRANTS</a:t>
                      </a:r>
                      <a:endParaRPr lang="en-US" sz="65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15875" cap="flat" cmpd="sng" algn="ctr">
                      <a:solidFill>
                        <a:srgbClr val="E1E0D9"/>
                      </a:solidFill>
                      <a:prstDash val="solid"/>
                      <a:round/>
                      <a:headEnd type="none" w="med" len="med"/>
                      <a:tailEnd type="none" w="med" len="med"/>
                    </a:lnB>
                  </a:tcPr>
                </a:tc>
              </a:tr>
              <a:tr h="54864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14</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898781"/>
                          </a:solidFill>
                          <a:latin typeface="Arial" pitchFamily="34" charset="0"/>
                          <a:ea typeface="Arial" pitchFamily="34" charset="-122"/>
                          <a:cs typeface="Arial" pitchFamily="34" charset="-120"/>
                        </a:rPr>
                        <a:t>● </a:t>
                      </a:r>
                      <a:pPr indent="0" marL="0">
                        <a:buNone/>
                      </a:pPr>
                      <a:r>
                        <a:rPr lang="en-US" sz="800" b="1" dirty="0">
                          <a:solidFill>
                            <a:srgbClr val="52514E"/>
                          </a:solidFill>
                          <a:latin typeface="Arial" pitchFamily="34" charset="0"/>
                          <a:ea typeface="Arial" pitchFamily="34" charset="-122"/>
                          <a:cs typeface="Arial" pitchFamily="34" charset="-120"/>
                        </a:rPr>
                        <a:t>Consultation</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F0EFEC"/>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54864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15</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898781"/>
                          </a:solidFill>
                          <a:latin typeface="Arial" pitchFamily="34" charset="0"/>
                          <a:ea typeface="Arial" pitchFamily="34" charset="-122"/>
                          <a:cs typeface="Arial" pitchFamily="34" charset="-120"/>
                        </a:rPr>
                        <a:t>● </a:t>
                      </a:r>
                      <a:pPr indent="0" marL="0">
                        <a:buNone/>
                      </a:pPr>
                      <a:r>
                        <a:rPr lang="en-US" sz="800" b="1" dirty="0">
                          <a:solidFill>
                            <a:srgbClr val="52514E"/>
                          </a:solidFill>
                          <a:latin typeface="Arial" pitchFamily="34" charset="0"/>
                          <a:ea typeface="Arial" pitchFamily="34" charset="-122"/>
                          <a:cs typeface="Arial" pitchFamily="34" charset="-120"/>
                        </a:rPr>
                        <a:t>Consultation</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F0EFEC"/>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54864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16</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898781"/>
                          </a:solidFill>
                          <a:latin typeface="Arial" pitchFamily="34" charset="0"/>
                          <a:ea typeface="Arial" pitchFamily="34" charset="-122"/>
                          <a:cs typeface="Arial" pitchFamily="34" charset="-120"/>
                        </a:rPr>
                        <a:t>● </a:t>
                      </a:r>
                      <a:pPr indent="0" marL="0">
                        <a:buNone/>
                      </a:pPr>
                      <a:r>
                        <a:rPr lang="en-US" sz="800" b="1" dirty="0">
                          <a:solidFill>
                            <a:srgbClr val="52514E"/>
                          </a:solidFill>
                          <a:latin typeface="Arial" pitchFamily="34" charset="0"/>
                          <a:ea typeface="Arial" pitchFamily="34" charset="-122"/>
                          <a:cs typeface="Arial" pitchFamily="34" charset="-120"/>
                        </a:rPr>
                        <a:t>Consultation</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F0EFEC"/>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54864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17</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54864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18</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r h="548640">
                <a:tc>
                  <a:txBody>
                    <a:bodyPr/>
                    <a:lstStyle/>
                    <a:p>
                      <a:pPr indent="0" marL="0">
                        <a:buNone/>
                      </a:pPr>
                      <a:r>
                        <a:rPr lang="en-US" sz="900" b="1" dirty="0">
                          <a:solidFill>
                            <a:srgbClr val="0B0B0B"/>
                          </a:solidFill>
                          <a:latin typeface="Arial" pitchFamily="34" charset="0"/>
                          <a:ea typeface="Arial" pitchFamily="34" charset="-122"/>
                          <a:cs typeface="Arial" pitchFamily="34" charset="-120"/>
                        </a:rPr>
                        <a:t>Company 19</a:t>
                      </a:r>
                      <a:endParaRPr lang="en-US" sz="90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850" dirty="0">
                          <a:solidFill>
                            <a:srgbClr val="52514E"/>
                          </a:solidFill>
                          <a:latin typeface="Arial" pitchFamily="34" charset="0"/>
                          <a:ea typeface="Arial" pitchFamily="34" charset="-122"/>
                          <a:cs typeface="Arial" pitchFamily="34" charset="-120"/>
                        </a:rPr>
                        <a:t>Sector</a:t>
                      </a:r>
                      <a:endParaRPr lang="en-US" sz="850" dirty="0">
                        <a:latin typeface="Arial" charset="0"/>
                        <a:ea typeface="Arial" charset="0"/>
                        <a:cs typeface="Arial" charset="0"/>
                      </a:endParaRPr>
                    </a:p>
                  </a:txBody>
                  <a:tcPr marL="27432"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650" dirty="0">
                          <a:solidFill>
                            <a:srgbClr val="2A78D6"/>
                          </a:solidFill>
                          <a:latin typeface="Arial" pitchFamily="34" charset="0"/>
                          <a:ea typeface="Arial" pitchFamily="34" charset="-122"/>
                          <a:cs typeface="Arial" pitchFamily="34" charset="-120"/>
                        </a:rPr>
                        <a:t>● </a:t>
                      </a:r>
                      <a:pPr indent="0" marL="0">
                        <a:buNone/>
                      </a:pPr>
                      <a:r>
                        <a:rPr lang="en-US" sz="800" b="1" dirty="0">
                          <a:solidFill>
                            <a:srgbClr val="1C5CAB"/>
                          </a:solidFill>
                          <a:latin typeface="Arial" pitchFamily="34" charset="0"/>
                          <a:ea typeface="Arial" pitchFamily="34" charset="-122"/>
                          <a:cs typeface="Arial" pitchFamily="34" charset="-120"/>
                        </a:rPr>
                        <a:t>Active</a:t>
                      </a:r>
                      <a:endParaRPr lang="en-US" sz="12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solidFill>
                      <a:srgbClr val="E5EEFB"/>
                    </a:solidFill>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 B</a:t>
                      </a:r>
                      <a:endParaRPr lang="en-US" sz="900" dirty="0">
                        <a:latin typeface="Arial" charset="0"/>
                        <a:ea typeface="Arial" charset="0"/>
                        <a:cs typeface="Arial" charset="0"/>
                      </a:endParaRPr>
                    </a:p>
                  </a:txBody>
                  <a:tcPr marL="27432" marR="7315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indent="0" marL="0">
                        <a:buNone/>
                      </a:pPr>
                      <a:r>
                        <a:rPr lang="en-US" sz="900" dirty="0">
                          <a:solidFill>
                            <a:srgbClr val="52514E"/>
                          </a:solidFill>
                          <a:latin typeface="Arial" pitchFamily="34" charset="0"/>
                          <a:ea typeface="Arial" pitchFamily="34" charset="-122"/>
                          <a:cs typeface="Arial" pitchFamily="34" charset="-120"/>
                        </a:rPr>
                        <a:t>First Last</a:t>
                      </a:r>
                      <a:endParaRPr lang="en-US" sz="900" dirty="0">
                        <a:latin typeface="Arial" charset="0"/>
                        <a:ea typeface="Arial" charset="0"/>
                        <a:cs typeface="Arial" charset="0"/>
                      </a:endParaRPr>
                    </a:p>
                  </a:txBody>
                  <a:tcPr marL="54864" marR="27432"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c>
                  <a:txBody>
                    <a:bodyPr/>
                    <a:lstStyle/>
                    <a:p>
                      <a:pPr algn="r" indent="0" marL="0">
                        <a:buNone/>
                      </a:pPr>
                      <a:r>
                        <a:rPr lang="en-US" sz="900" dirty="0">
                          <a:solidFill>
                            <a:srgbClr val="0B0B0B"/>
                          </a:solidFill>
                          <a:latin typeface="Arial" pitchFamily="34" charset="0"/>
                          <a:ea typeface="Arial" pitchFamily="34" charset="-122"/>
                          <a:cs typeface="Arial" pitchFamily="34" charset="-120"/>
                        </a:rPr>
                        <a:t>X.X%</a:t>
                      </a:r>
                      <a:endParaRPr lang="en-US" sz="900" dirty="0">
                        <a:latin typeface="Arial" charset="0"/>
                        <a:ea typeface="Arial" charset="0"/>
                        <a:cs typeface="Arial" charset="0"/>
                      </a:endParaRPr>
                    </a:p>
                  </a:txBody>
                  <a:tcPr marL="27432" marR="54864" marT="18288" marB="18288" anchor="ctr">
                    <a:lnL w="0" cap="flat" cmpd="sng" algn="ctr">
                      <a:noFill/>
                    </a:lnL>
                    <a:lnR w="0" cap="flat" cmpd="sng" algn="ctr">
                      <a:noFill/>
                    </a:lnR>
                    <a:lnT w="0" cap="flat" cmpd="sng" algn="ctr">
                      <a:noFill/>
                    </a:lnT>
                    <a:lnB w="9525" cap="flat" cmpd="sng" algn="ctr">
                      <a:solidFill>
                        <a:srgbClr val="E1E0D9"/>
                      </a:solidFill>
                      <a:prstDash val="solid"/>
                      <a:round/>
                      <a:headEnd type="none" w="med" len="med"/>
                      <a:tailEnd type="none" w="med" len="med"/>
                    </a:lnB>
                  </a:tcPr>
                </a:tc>
              </a:tr>
            </a:tbl>
          </a:graphicData>
        </a:graphic>
      </p:graphicFrame>
      <p:sp>
        <p:nvSpPr>
          <p:cNvPr id="44" name="Shape 40"/>
          <p:cNvSpPr/>
          <p:nvPr/>
        </p:nvSpPr>
        <p:spPr>
          <a:xfrm>
            <a:off x="384048" y="7406640"/>
            <a:ext cx="9290304" cy="9144"/>
          </a:xfrm>
          <a:prstGeom prst="rect">
            <a:avLst/>
          </a:prstGeom>
          <a:solidFill>
            <a:srgbClr val="E1E0D9"/>
          </a:solidFill>
          <a:ln/>
        </p:spPr>
      </p:sp>
      <p:sp>
        <p:nvSpPr>
          <p:cNvPr id="45" name="Text 41"/>
          <p:cNvSpPr/>
          <p:nvPr/>
        </p:nvSpPr>
        <p:spPr>
          <a:xfrm>
            <a:off x="6400800" y="7461504"/>
            <a:ext cx="3273552" cy="182880"/>
          </a:xfrm>
          <a:prstGeom prst="rect">
            <a:avLst/>
          </a:prstGeom>
          <a:noFill/>
          <a:ln/>
        </p:spPr>
        <p:txBody>
          <a:bodyPr wrap="square" lIns="0" tIns="0" rIns="0" bIns="0" rtlCol="0" anchor="ctr"/>
          <a:lstStyle/>
          <a:p>
            <a:pPr algn="r" indent="0" marL="0">
              <a:buNone/>
            </a:pPr>
            <a:r>
              <a:rPr lang="en-US" sz="750" dirty="0">
                <a:solidFill>
                  <a:srgbClr val="898781"/>
                </a:solidFill>
                <a:latin typeface="Arial" pitchFamily="34" charset="0"/>
                <a:ea typeface="Arial" pitchFamily="34" charset="-122"/>
                <a:cs typeface="Arial" pitchFamily="34" charset="-120"/>
              </a:rPr>
              <a:t>Data as of July 29, 2026</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2026-07-29T17:23:50Z</dcterms:created>
  <dcterms:modified xsi:type="dcterms:W3CDTF">2026-07-29T17:23:50Z</dcterms:modified>
</cp:coreProperties>
</file>