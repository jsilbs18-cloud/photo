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FILL-IN GUIDE
1. Type over every gray/placeholder value: Company 1-19, Sector, the $X.X B deal sizes (all in billions), First Last (owner's rep), the summary tiles, and the two '$XX.X B total' figures next to JAPAN and KOREA.
2. Stage tags are already set to the plan: Japan = 6 Announced, 3 Consultation, 4 Active. Korea = 3 Consultation, 3 Active (none announced). To change one anyway, delete it and Ctrl/Cmd-drag a spare tag from the right of the page into place. The spares sit off the page and never print.
3. Add/remove rows: click in a table, use Table Layout &gt; Insert/Delete Rows. If you change row counts, drag the tags to keep them aligned with their rows, and update the counts in the summary strip.
4. Rows are grouped by stage: Announced first, then Consultation, then Active.
5. Export for the meeting: File &gt; Export/Save As &gt; PDF. The page is exactly US Letter landscape, so it also prints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058400" cy="960120"/>
          </a:xfrm>
          <a:prstGeom prst="rect">
            <a:avLst/>
          </a:prstGeom>
          <a:solidFill>
            <a:srgbClr val="0D366B"/>
          </a:solidFill>
          <a:ln/>
        </p:spPr>
      </p:sp>
      <p:sp>
        <p:nvSpPr>
          <p:cNvPr id="3" name="Shape 1"/>
          <p:cNvSpPr/>
          <p:nvPr/>
        </p:nvSpPr>
        <p:spPr>
          <a:xfrm>
            <a:off x="0" y="960120"/>
            <a:ext cx="10058400" cy="32004"/>
          </a:xfrm>
          <a:prstGeom prst="rect">
            <a:avLst/>
          </a:prstGeom>
          <a:solidFill>
            <a:srgbClr val="B8933F"/>
          </a:solidFill>
          <a:ln/>
        </p:spPr>
      </p:sp>
      <p:sp>
        <p:nvSpPr>
          <p:cNvPr id="4" name="Text 2"/>
          <p:cNvSpPr/>
          <p:nvPr/>
        </p:nvSpPr>
        <p:spPr>
          <a:xfrm>
            <a:off x="384048" y="155448"/>
            <a:ext cx="6949440" cy="219456"/>
          </a:xfrm>
          <a:prstGeom prst="rect">
            <a:avLst/>
          </a:prstGeom>
          <a:noFill/>
          <a:ln/>
        </p:spPr>
        <p:txBody>
          <a:bodyPr wrap="square" lIns="0" tIns="0" rIns="0" bIns="0" rtlCol="0" anchor="ctr"/>
          <a:lstStyle/>
          <a:p>
            <a:pPr indent="0" marL="0">
              <a:buNone/>
            </a:pPr>
            <a:r>
              <a:rPr lang="en-US" sz="950" b="1" spc="300" kern="0" dirty="0">
                <a:solidFill>
                  <a:srgbClr val="C9D7EC"/>
                </a:solidFill>
                <a:latin typeface="Arial" pitchFamily="34" charset="0"/>
                <a:ea typeface="Arial" pitchFamily="34" charset="-122"/>
                <a:cs typeface="Arial" pitchFamily="34" charset="-120"/>
              </a:rPr>
              <a:t>U.S. INVESTMENT ACCELERATOR  ·  U.S. DEPARTMENT OF COMMERCE</a:t>
            </a:r>
            <a:endParaRPr lang="en-US" sz="950" dirty="0"/>
          </a:p>
        </p:txBody>
      </p:sp>
      <p:sp>
        <p:nvSpPr>
          <p:cNvPr id="5" name="Text 3"/>
          <p:cNvSpPr/>
          <p:nvPr/>
        </p:nvSpPr>
        <p:spPr>
          <a:xfrm>
            <a:off x="365760" y="411480"/>
            <a:ext cx="7132320" cy="420624"/>
          </a:xfrm>
          <a:prstGeom prst="rect">
            <a:avLst/>
          </a:prstGeom>
          <a:noFill/>
          <a:ln/>
        </p:spPr>
        <p:txBody>
          <a:bodyPr wrap="square" lIns="0" tIns="0" rIns="0" bIns="0" rtlCol="0" anchor="ctr"/>
          <a:lstStyle/>
          <a:p>
            <a:pPr indent="0" marL="0">
              <a:buNone/>
            </a:pPr>
            <a:r>
              <a:rPr lang="en-US" sz="2500" b="1" dirty="0">
                <a:solidFill>
                  <a:srgbClr val="FFFFFF"/>
                </a:solidFill>
                <a:latin typeface="Arial" pitchFamily="34" charset="0"/>
                <a:ea typeface="Arial" pitchFamily="34" charset="-122"/>
                <a:cs typeface="Arial" pitchFamily="34" charset="-120"/>
              </a:rPr>
              <a:t>Investment Deal Portfolio — Status Overview</a:t>
            </a:r>
            <a:endParaRPr lang="en-US" sz="2500" dirty="0"/>
          </a:p>
        </p:txBody>
      </p:sp>
      <p:sp>
        <p:nvSpPr>
          <p:cNvPr id="6" name="Shape 4"/>
          <p:cNvSpPr/>
          <p:nvPr/>
        </p:nvSpPr>
        <p:spPr>
          <a:xfrm>
            <a:off x="7424928" y="324612"/>
            <a:ext cx="2267712" cy="310896"/>
          </a:xfrm>
          <a:prstGeom prst="roundRect">
            <a:avLst>
              <a:gd name="adj" fmla="val 14706"/>
            </a:avLst>
          </a:prstGeom>
          <a:ln w="12700">
            <a:solidFill>
              <a:srgbClr val="FFD9A8"/>
            </a:solidFill>
            <a:prstDash val="solid"/>
          </a:ln>
        </p:spPr>
      </p:sp>
      <p:sp>
        <p:nvSpPr>
          <p:cNvPr id="7" name="Text 5"/>
          <p:cNvSpPr/>
          <p:nvPr/>
        </p:nvSpPr>
        <p:spPr>
          <a:xfrm>
            <a:off x="7424928" y="324612"/>
            <a:ext cx="2267712" cy="310896"/>
          </a:xfrm>
          <a:prstGeom prst="rect">
            <a:avLst/>
          </a:prstGeom>
          <a:noFill/>
          <a:ln/>
        </p:spPr>
        <p:txBody>
          <a:bodyPr wrap="square" lIns="0" tIns="0" rIns="0" bIns="0" rtlCol="0" anchor="ctr"/>
          <a:lstStyle/>
          <a:p>
            <a:pPr algn="ctr" indent="0" marL="0">
              <a:buNone/>
            </a:pPr>
            <a:r>
              <a:rPr lang="en-US" sz="750" b="1" spc="120" kern="0" dirty="0">
                <a:solidFill>
                  <a:srgbClr val="FFD9A8"/>
                </a:solidFill>
                <a:latin typeface="Arial" pitchFamily="34" charset="0"/>
                <a:ea typeface="Arial" pitchFamily="34" charset="-122"/>
                <a:cs typeface="Arial" pitchFamily="34" charset="-120"/>
              </a:rPr>
              <a:t>PRE-DECISIONAL · INTERNAL USE</a:t>
            </a:r>
            <a:endParaRPr lang="en-US" sz="750" dirty="0"/>
          </a:p>
        </p:txBody>
      </p:sp>
      <p:sp>
        <p:nvSpPr>
          <p:cNvPr id="8" name="Shape 6"/>
          <p:cNvSpPr/>
          <p:nvPr/>
        </p:nvSpPr>
        <p:spPr>
          <a:xfrm>
            <a:off x="0" y="992124"/>
            <a:ext cx="10058400" cy="969264"/>
          </a:xfrm>
          <a:prstGeom prst="rect">
            <a:avLst/>
          </a:prstGeom>
          <a:solidFill>
            <a:srgbClr val="F6F5F2"/>
          </a:solidFill>
          <a:ln/>
        </p:spPr>
      </p:sp>
      <p:sp>
        <p:nvSpPr>
          <p:cNvPr id="9" name="Shape 7"/>
          <p:cNvSpPr/>
          <p:nvPr/>
        </p:nvSpPr>
        <p:spPr>
          <a:xfrm>
            <a:off x="0" y="1961388"/>
            <a:ext cx="10058400" cy="9144"/>
          </a:xfrm>
          <a:prstGeom prst="rect">
            <a:avLst/>
          </a:prstGeom>
          <a:solidFill>
            <a:srgbClr val="E1E0D9"/>
          </a:solidFill>
          <a:ln/>
        </p:spPr>
      </p:sp>
      <p:sp>
        <p:nvSpPr>
          <p:cNvPr id="10" name="Shape 8"/>
          <p:cNvSpPr/>
          <p:nvPr/>
        </p:nvSpPr>
        <p:spPr>
          <a:xfrm>
            <a:off x="1600200" y="1161288"/>
            <a:ext cx="7315" cy="658368"/>
          </a:xfrm>
          <a:prstGeom prst="rect">
            <a:avLst/>
          </a:prstGeom>
          <a:solidFill>
            <a:srgbClr val="E1E0D9"/>
          </a:solidFill>
          <a:ln/>
        </p:spPr>
      </p:sp>
      <p:sp>
        <p:nvSpPr>
          <p:cNvPr id="11" name="Shape 9"/>
          <p:cNvSpPr/>
          <p:nvPr/>
        </p:nvSpPr>
        <p:spPr>
          <a:xfrm>
            <a:off x="3611880" y="1161288"/>
            <a:ext cx="7315" cy="658368"/>
          </a:xfrm>
          <a:prstGeom prst="rect">
            <a:avLst/>
          </a:prstGeom>
          <a:solidFill>
            <a:srgbClr val="E1E0D9"/>
          </a:solidFill>
          <a:ln/>
        </p:spPr>
      </p:sp>
      <p:sp>
        <p:nvSpPr>
          <p:cNvPr id="12" name="Shape 10"/>
          <p:cNvSpPr/>
          <p:nvPr/>
        </p:nvSpPr>
        <p:spPr>
          <a:xfrm>
            <a:off x="5669280" y="1161288"/>
            <a:ext cx="7315" cy="658368"/>
          </a:xfrm>
          <a:prstGeom prst="rect">
            <a:avLst/>
          </a:prstGeom>
          <a:solidFill>
            <a:srgbClr val="E1E0D9"/>
          </a:solidFill>
          <a:ln/>
        </p:spPr>
      </p:sp>
      <p:sp>
        <p:nvSpPr>
          <p:cNvPr id="13" name="Shape 11"/>
          <p:cNvSpPr/>
          <p:nvPr/>
        </p:nvSpPr>
        <p:spPr>
          <a:xfrm>
            <a:off x="7543800" y="1161288"/>
            <a:ext cx="7315" cy="658368"/>
          </a:xfrm>
          <a:prstGeom prst="rect">
            <a:avLst/>
          </a:prstGeom>
          <a:solidFill>
            <a:srgbClr val="E1E0D9"/>
          </a:solidFill>
          <a:ln/>
        </p:spPr>
      </p:sp>
      <p:sp>
        <p:nvSpPr>
          <p:cNvPr id="14" name="Text 12"/>
          <p:cNvSpPr/>
          <p:nvPr/>
        </p:nvSpPr>
        <p:spPr>
          <a:xfrm>
            <a:off x="384048" y="1143000"/>
            <a:ext cx="118872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DEALS</a:t>
            </a:r>
            <a:endParaRPr lang="en-US" sz="800" dirty="0"/>
          </a:p>
        </p:txBody>
      </p:sp>
      <p:sp>
        <p:nvSpPr>
          <p:cNvPr id="15" name="Text 13"/>
          <p:cNvSpPr/>
          <p:nvPr/>
        </p:nvSpPr>
        <p:spPr>
          <a:xfrm>
            <a:off x="384048" y="1344168"/>
            <a:ext cx="11887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19</a:t>
            </a:r>
            <a:endParaRPr lang="en-US" sz="1900" dirty="0"/>
          </a:p>
        </p:txBody>
      </p:sp>
      <p:sp>
        <p:nvSpPr>
          <p:cNvPr id="16" name="Text 14"/>
          <p:cNvSpPr/>
          <p:nvPr/>
        </p:nvSpPr>
        <p:spPr>
          <a:xfrm>
            <a:off x="1810512" y="1143000"/>
            <a:ext cx="173736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PORTFOLIO VALUE</a:t>
            </a:r>
            <a:endParaRPr lang="en-US" sz="800" dirty="0"/>
          </a:p>
        </p:txBody>
      </p:sp>
      <p:sp>
        <p:nvSpPr>
          <p:cNvPr id="17" name="Text 15"/>
          <p:cNvSpPr/>
          <p:nvPr/>
        </p:nvSpPr>
        <p:spPr>
          <a:xfrm>
            <a:off x="1810512" y="1344168"/>
            <a:ext cx="173736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$XXX.X B</a:t>
            </a:r>
            <a:endParaRPr lang="en-US" sz="1900" dirty="0"/>
          </a:p>
        </p:txBody>
      </p:sp>
      <p:sp>
        <p:nvSpPr>
          <p:cNvPr id="18" name="Shape 16"/>
          <p:cNvSpPr/>
          <p:nvPr/>
        </p:nvSpPr>
        <p:spPr>
          <a:xfrm>
            <a:off x="3822192" y="1143000"/>
            <a:ext cx="201168" cy="141732"/>
          </a:xfrm>
          <a:prstGeom prst="roundRect">
            <a:avLst>
              <a:gd name="adj" fmla="val 12903"/>
            </a:avLst>
          </a:prstGeom>
          <a:solidFill>
            <a:srgbClr val="FFFFFF"/>
          </a:solidFill>
          <a:ln w="9525">
            <a:solidFill>
              <a:srgbClr val="D5D3CC"/>
            </a:solidFill>
            <a:prstDash val="solid"/>
          </a:ln>
        </p:spPr>
      </p:sp>
      <p:sp>
        <p:nvSpPr>
          <p:cNvPr id="19" name="Shape 17"/>
          <p:cNvSpPr/>
          <p:nvPr/>
        </p:nvSpPr>
        <p:spPr>
          <a:xfrm>
            <a:off x="3883091" y="1174181"/>
            <a:ext cx="79370" cy="79370"/>
          </a:xfrm>
          <a:prstGeom prst="ellipse">
            <a:avLst/>
          </a:prstGeom>
          <a:solidFill>
            <a:srgbClr val="BC002D"/>
          </a:solidFill>
          <a:ln/>
        </p:spPr>
      </p:sp>
      <p:sp>
        <p:nvSpPr>
          <p:cNvPr id="20" name="Text 18"/>
          <p:cNvSpPr/>
          <p:nvPr/>
        </p:nvSpPr>
        <p:spPr>
          <a:xfrm>
            <a:off x="4087368" y="1143000"/>
            <a:ext cx="14630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JAPAN-FUNDED</a:t>
            </a:r>
            <a:endParaRPr lang="en-US" sz="800" dirty="0"/>
          </a:p>
        </p:txBody>
      </p:sp>
      <p:sp>
        <p:nvSpPr>
          <p:cNvPr id="21" name="Text 19"/>
          <p:cNvSpPr/>
          <p:nvPr/>
        </p:nvSpPr>
        <p:spPr>
          <a:xfrm>
            <a:off x="3822192" y="1344168"/>
            <a:ext cx="178308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13</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2" name="Shape 20"/>
          <p:cNvSpPr/>
          <p:nvPr/>
        </p:nvSpPr>
        <p:spPr>
          <a:xfrm>
            <a:off x="5879592" y="1143000"/>
            <a:ext cx="201168" cy="141732"/>
          </a:xfrm>
          <a:prstGeom prst="roundRect">
            <a:avLst>
              <a:gd name="adj" fmla="val 12903"/>
            </a:avLst>
          </a:prstGeom>
          <a:solidFill>
            <a:srgbClr val="FFFFFF"/>
          </a:solidFill>
          <a:ln w="9525">
            <a:solidFill>
              <a:srgbClr val="D5D3CC"/>
            </a:solidFill>
            <a:prstDash val="solid"/>
          </a:ln>
        </p:spPr>
      </p:sp>
      <p:sp>
        <p:nvSpPr>
          <p:cNvPr id="23" name="Shape 21"/>
          <p:cNvSpPr/>
          <p:nvPr/>
        </p:nvSpPr>
        <p:spPr>
          <a:xfrm>
            <a:off x="5940491" y="1174181"/>
            <a:ext cx="79370" cy="79370"/>
          </a:xfrm>
          <a:prstGeom prst="ellipse">
            <a:avLst/>
          </a:prstGeom>
          <a:solidFill>
            <a:srgbClr val="003478"/>
          </a:solidFill>
          <a:ln/>
        </p:spPr>
      </p:sp>
      <p:sp>
        <p:nvSpPr>
          <p:cNvPr id="24" name="Shape 22"/>
          <p:cNvSpPr/>
          <p:nvPr/>
        </p:nvSpPr>
        <p:spPr>
          <a:xfrm>
            <a:off x="5940491" y="1174181"/>
            <a:ext cx="79370" cy="79370"/>
          </a:xfrm>
          <a:prstGeom prst="pie">
            <a:avLst>
              <a:gd name="adj1" fmla="val 10800000"/>
              <a:gd name="adj2" fmla="val 21600000"/>
            </a:avLst>
          </a:prstGeom>
          <a:solidFill>
            <a:srgbClr val="C60C30"/>
          </a:solidFill>
          <a:ln/>
        </p:spPr>
      </p:sp>
      <p:sp>
        <p:nvSpPr>
          <p:cNvPr id="25" name="Text 23"/>
          <p:cNvSpPr/>
          <p:nvPr/>
        </p:nvSpPr>
        <p:spPr>
          <a:xfrm>
            <a:off x="6144768" y="1143000"/>
            <a:ext cx="137160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KOREA-FUNDED</a:t>
            </a:r>
            <a:endParaRPr lang="en-US" sz="800" dirty="0"/>
          </a:p>
        </p:txBody>
      </p:sp>
      <p:sp>
        <p:nvSpPr>
          <p:cNvPr id="26" name="Text 24"/>
          <p:cNvSpPr/>
          <p:nvPr/>
        </p:nvSpPr>
        <p:spPr>
          <a:xfrm>
            <a:off x="5879592" y="1344168"/>
            <a:ext cx="16459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6</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7" name="Text 25"/>
          <p:cNvSpPr/>
          <p:nvPr/>
        </p:nvSpPr>
        <p:spPr>
          <a:xfrm>
            <a:off x="7754112" y="1143000"/>
            <a:ext cx="19202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PIPELINE BY STAGE</a:t>
            </a:r>
            <a:endParaRPr lang="en-US" sz="800" dirty="0"/>
          </a:p>
        </p:txBody>
      </p:sp>
      <p:sp>
        <p:nvSpPr>
          <p:cNvPr id="28" name="Text 26"/>
          <p:cNvSpPr/>
          <p:nvPr/>
        </p:nvSpPr>
        <p:spPr>
          <a:xfrm>
            <a:off x="7754112" y="1357884"/>
            <a:ext cx="1920240" cy="192024"/>
          </a:xfrm>
          <a:prstGeom prst="rect">
            <a:avLst/>
          </a:prstGeom>
          <a:noFill/>
          <a:ln/>
        </p:spPr>
        <p:txBody>
          <a:bodyPr wrap="square" lIns="0" tIns="0" rIns="0" bIns="0" rtlCol="0" anchor="ctr"/>
          <a:lstStyle/>
          <a:p>
            <a:pPr indent="0" marL="0">
              <a:buNone/>
            </a:pPr>
            <a:r>
              <a:rPr lang="en-US" sz="800" dirty="0">
                <a:solidFill>
                  <a:srgbClr val="0CA30C"/>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6  </a:t>
            </a:r>
            <a:pPr indent="0" marL="0">
              <a:buNone/>
            </a:pPr>
            <a:r>
              <a:rPr lang="en-US" sz="950" dirty="0">
                <a:solidFill>
                  <a:srgbClr val="52514E"/>
                </a:solidFill>
                <a:latin typeface="Arial" pitchFamily="34" charset="0"/>
                <a:ea typeface="Arial" pitchFamily="34" charset="-122"/>
                <a:cs typeface="Arial" pitchFamily="34" charset="-120"/>
              </a:rPr>
              <a:t>Announced</a:t>
            </a:r>
            <a:endParaRPr lang="en-US" sz="800" dirty="0"/>
          </a:p>
        </p:txBody>
      </p:sp>
      <p:sp>
        <p:nvSpPr>
          <p:cNvPr id="29" name="Text 27"/>
          <p:cNvSpPr/>
          <p:nvPr/>
        </p:nvSpPr>
        <p:spPr>
          <a:xfrm>
            <a:off x="7754112" y="1554480"/>
            <a:ext cx="1920240" cy="192024"/>
          </a:xfrm>
          <a:prstGeom prst="rect">
            <a:avLst/>
          </a:prstGeom>
          <a:noFill/>
          <a:ln/>
        </p:spPr>
        <p:txBody>
          <a:bodyPr wrap="square" lIns="0" tIns="0" rIns="0" bIns="0" rtlCol="0" anchor="ctr"/>
          <a:lstStyle/>
          <a:p>
            <a:pPr indent="0" marL="0">
              <a:buNone/>
            </a:pPr>
            <a:r>
              <a:rPr lang="en-US" sz="800" dirty="0">
                <a:solidFill>
                  <a:srgbClr val="898781"/>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6  </a:t>
            </a:r>
            <a:pPr indent="0" marL="0">
              <a:buNone/>
            </a:pPr>
            <a:r>
              <a:rPr lang="en-US" sz="950" dirty="0">
                <a:solidFill>
                  <a:srgbClr val="52514E"/>
                </a:solidFill>
                <a:latin typeface="Arial" pitchFamily="34" charset="0"/>
                <a:ea typeface="Arial" pitchFamily="34" charset="-122"/>
                <a:cs typeface="Arial" pitchFamily="34" charset="-120"/>
              </a:rPr>
              <a:t>Consultation</a:t>
            </a:r>
            <a:endParaRPr lang="en-US" sz="800" dirty="0"/>
          </a:p>
        </p:txBody>
      </p:sp>
      <p:sp>
        <p:nvSpPr>
          <p:cNvPr id="30" name="Text 28"/>
          <p:cNvSpPr/>
          <p:nvPr/>
        </p:nvSpPr>
        <p:spPr>
          <a:xfrm>
            <a:off x="7754112" y="1751076"/>
            <a:ext cx="1920240" cy="192024"/>
          </a:xfrm>
          <a:prstGeom prst="rect">
            <a:avLst/>
          </a:prstGeom>
          <a:noFill/>
          <a:ln/>
        </p:spPr>
        <p:txBody>
          <a:bodyPr wrap="square" lIns="0" tIns="0" rIns="0" bIns="0" rtlCol="0" anchor="ctr"/>
          <a:lstStyle/>
          <a:p>
            <a:pPr indent="0" marL="0">
              <a:buNone/>
            </a:pPr>
            <a:r>
              <a:rPr lang="en-US" sz="800" dirty="0">
                <a:solidFill>
                  <a:srgbClr val="2A78D6"/>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7  </a:t>
            </a:r>
            <a:pPr indent="0" marL="0">
              <a:buNone/>
            </a:pPr>
            <a:r>
              <a:rPr lang="en-US" sz="950" dirty="0">
                <a:solidFill>
                  <a:srgbClr val="52514E"/>
                </a:solidFill>
                <a:latin typeface="Arial" pitchFamily="34" charset="0"/>
                <a:ea typeface="Arial" pitchFamily="34" charset="-122"/>
                <a:cs typeface="Arial" pitchFamily="34" charset="-120"/>
              </a:rPr>
              <a:t>Active</a:t>
            </a:r>
            <a:endParaRPr lang="en-US" sz="800" dirty="0"/>
          </a:p>
        </p:txBody>
      </p:sp>
      <p:sp>
        <p:nvSpPr>
          <p:cNvPr id="31" name="Shape 29"/>
          <p:cNvSpPr/>
          <p:nvPr/>
        </p:nvSpPr>
        <p:spPr>
          <a:xfrm>
            <a:off x="384048" y="2162556"/>
            <a:ext cx="274320" cy="187452"/>
          </a:xfrm>
          <a:prstGeom prst="roundRect">
            <a:avLst>
              <a:gd name="adj" fmla="val 9756"/>
            </a:avLst>
          </a:prstGeom>
          <a:solidFill>
            <a:srgbClr val="FFFFFF"/>
          </a:solidFill>
          <a:ln w="9525">
            <a:solidFill>
              <a:srgbClr val="D5D3CC"/>
            </a:solidFill>
            <a:prstDash val="solid"/>
          </a:ln>
        </p:spPr>
      </p:sp>
      <p:sp>
        <p:nvSpPr>
          <p:cNvPr id="32" name="Shape 30"/>
          <p:cNvSpPr/>
          <p:nvPr/>
        </p:nvSpPr>
        <p:spPr>
          <a:xfrm>
            <a:off x="468721" y="2203795"/>
            <a:ext cx="104973" cy="104973"/>
          </a:xfrm>
          <a:prstGeom prst="ellipse">
            <a:avLst/>
          </a:prstGeom>
          <a:solidFill>
            <a:srgbClr val="BC002D"/>
          </a:solidFill>
          <a:ln/>
        </p:spPr>
      </p:sp>
      <p:sp>
        <p:nvSpPr>
          <p:cNvPr id="33" name="Text 31"/>
          <p:cNvSpPr/>
          <p:nvPr/>
        </p:nvSpPr>
        <p:spPr>
          <a:xfrm>
            <a:off x="731520" y="2121408"/>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JAPAN</a:t>
            </a:r>
            <a:endParaRPr lang="en-US" sz="1400" dirty="0"/>
          </a:p>
        </p:txBody>
      </p:sp>
      <p:sp>
        <p:nvSpPr>
          <p:cNvPr id="34" name="Text 32"/>
          <p:cNvSpPr/>
          <p:nvPr/>
        </p:nvSpPr>
        <p:spPr>
          <a:xfrm>
            <a:off x="2761488" y="2171700"/>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13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35" name="Shape 33"/>
          <p:cNvSpPr/>
          <p:nvPr/>
        </p:nvSpPr>
        <p:spPr>
          <a:xfrm>
            <a:off x="384048" y="2459736"/>
            <a:ext cx="5120640" cy="25603"/>
          </a:xfrm>
          <a:prstGeom prst="rect">
            <a:avLst/>
          </a:prstGeom>
          <a:solidFill>
            <a:srgbClr val="BC002D"/>
          </a:solidFill>
          <a:ln/>
        </p:spPr>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84048" y="2569464"/>
          <a:ext cx="5120640" cy="914400"/>
        </p:xfrm>
        <a:graphic>
          <a:graphicData uri="http://schemas.openxmlformats.org/drawingml/2006/table">
            <a:tbl>
              <a:tblPr/>
              <a:tblGrid>
                <a:gridCol w="1298448"/>
                <a:gridCol w="896112"/>
                <a:gridCol w="1097280"/>
                <a:gridCol w="731520"/>
                <a:gridCol w="1097280"/>
              </a:tblGrid>
              <a:tr h="256032">
                <a:tc>
                  <a:txBody>
                    <a:bodyPr/>
                    <a:lstStyle/>
                    <a:p>
                      <a:pPr indent="0" marL="0">
                        <a:buNone/>
                      </a:pPr>
                      <a:r>
                        <a:rPr lang="en-US" sz="800" b="1" spc="50" kern="0" dirty="0">
                          <a:solidFill>
                            <a:srgbClr val="898781"/>
                          </a:solidFill>
                          <a:latin typeface="Arial" pitchFamily="34" charset="0"/>
                          <a:ea typeface="Arial" pitchFamily="34" charset="-122"/>
                          <a:cs typeface="Arial" pitchFamily="34" charset="-120"/>
                        </a:rPr>
                        <a:t>COMPANY</a:t>
                      </a:r>
                      <a:endParaRPr lang="en-US" sz="8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800" b="1" spc="50" kern="0" dirty="0">
                          <a:solidFill>
                            <a:srgbClr val="898781"/>
                          </a:solidFill>
                          <a:latin typeface="Arial" pitchFamily="34" charset="0"/>
                          <a:ea typeface="Arial" pitchFamily="34" charset="-122"/>
                          <a:cs typeface="Arial" pitchFamily="34" charset="-120"/>
                        </a:rPr>
                        <a:t>SECTOR</a:t>
                      </a:r>
                      <a:endParaRPr lang="en-US" sz="8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800" b="1" spc="50" kern="0" dirty="0">
                          <a:solidFill>
                            <a:srgbClr val="898781"/>
                          </a:solidFill>
                          <a:latin typeface="Arial" pitchFamily="34" charset="0"/>
                          <a:ea typeface="Arial" pitchFamily="34" charset="-122"/>
                          <a:cs typeface="Arial" pitchFamily="34" charset="-120"/>
                        </a:rPr>
                        <a:t>STAGE</a:t>
                      </a:r>
                      <a:endParaRPr lang="en-US" sz="8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800" b="1" spc="50" kern="0" dirty="0">
                          <a:solidFill>
                            <a:srgbClr val="898781"/>
                          </a:solidFill>
                          <a:latin typeface="Arial" pitchFamily="34" charset="0"/>
                          <a:ea typeface="Arial" pitchFamily="34" charset="-122"/>
                          <a:cs typeface="Arial" pitchFamily="34" charset="-120"/>
                        </a:rPr>
                        <a:t>DEAL SIZE</a:t>
                      </a:r>
                      <a:endParaRPr lang="en-US" sz="800" dirty="0">
                        <a:latin typeface="Arial" charset="0"/>
                        <a:ea typeface="Arial" charset="0"/>
                        <a:cs typeface="Arial" charset="0"/>
                      </a:endParaRPr>
                    </a:p>
                  </a:txBody>
                  <a:tcPr marL="27432" marR="7315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800" b="1" spc="50" kern="0" dirty="0">
                          <a:solidFill>
                            <a:srgbClr val="898781"/>
                          </a:solidFill>
                          <a:latin typeface="Arial" pitchFamily="34" charset="0"/>
                          <a:ea typeface="Arial" pitchFamily="34" charset="-122"/>
                          <a:cs typeface="Arial" pitchFamily="34" charset="-120"/>
                        </a:rPr>
                        <a:t>OWNER’S REP</a:t>
                      </a:r>
                      <a:endParaRPr lang="en-US" sz="800" dirty="0">
                        <a:latin typeface="Arial" charset="0"/>
                        <a:ea typeface="Arial" charset="0"/>
                        <a:cs typeface="Arial" charset="0"/>
                      </a:endParaRPr>
                    </a:p>
                  </a:txBody>
                  <a:tcPr marL="91440"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9</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10</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37" name="Shape 34"/>
          <p:cNvSpPr/>
          <p:nvPr/>
        </p:nvSpPr>
        <p:spPr>
          <a:xfrm>
            <a:off x="2624328" y="2887218"/>
            <a:ext cx="877824" cy="219456"/>
          </a:xfrm>
          <a:prstGeom prst="roundRect">
            <a:avLst>
              <a:gd name="adj" fmla="val 50000"/>
            </a:avLst>
          </a:prstGeom>
          <a:solidFill>
            <a:srgbClr val="E7F3E7"/>
          </a:solidFill>
          <a:ln/>
        </p:spPr>
      </p:sp>
      <p:sp>
        <p:nvSpPr>
          <p:cNvPr id="38" name="Text 35"/>
          <p:cNvSpPr/>
          <p:nvPr/>
        </p:nvSpPr>
        <p:spPr>
          <a:xfrm>
            <a:off x="2624328" y="28872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39" name="Shape 36"/>
          <p:cNvSpPr/>
          <p:nvPr/>
        </p:nvSpPr>
        <p:spPr>
          <a:xfrm>
            <a:off x="2624328" y="3230118"/>
            <a:ext cx="877824" cy="219456"/>
          </a:xfrm>
          <a:prstGeom prst="roundRect">
            <a:avLst>
              <a:gd name="adj" fmla="val 50000"/>
            </a:avLst>
          </a:prstGeom>
          <a:solidFill>
            <a:srgbClr val="E7F3E7"/>
          </a:solidFill>
          <a:ln/>
        </p:spPr>
      </p:sp>
      <p:sp>
        <p:nvSpPr>
          <p:cNvPr id="40" name="Text 37"/>
          <p:cNvSpPr/>
          <p:nvPr/>
        </p:nvSpPr>
        <p:spPr>
          <a:xfrm>
            <a:off x="2624328" y="32301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1" name="Shape 38"/>
          <p:cNvSpPr/>
          <p:nvPr/>
        </p:nvSpPr>
        <p:spPr>
          <a:xfrm>
            <a:off x="2624328" y="3573018"/>
            <a:ext cx="877824" cy="219456"/>
          </a:xfrm>
          <a:prstGeom prst="roundRect">
            <a:avLst>
              <a:gd name="adj" fmla="val 50000"/>
            </a:avLst>
          </a:prstGeom>
          <a:solidFill>
            <a:srgbClr val="E7F3E7"/>
          </a:solidFill>
          <a:ln/>
        </p:spPr>
      </p:sp>
      <p:sp>
        <p:nvSpPr>
          <p:cNvPr id="42" name="Text 39"/>
          <p:cNvSpPr/>
          <p:nvPr/>
        </p:nvSpPr>
        <p:spPr>
          <a:xfrm>
            <a:off x="2624328" y="35730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3" name="Shape 40"/>
          <p:cNvSpPr/>
          <p:nvPr/>
        </p:nvSpPr>
        <p:spPr>
          <a:xfrm>
            <a:off x="2624328" y="3915918"/>
            <a:ext cx="877824" cy="219456"/>
          </a:xfrm>
          <a:prstGeom prst="roundRect">
            <a:avLst>
              <a:gd name="adj" fmla="val 50000"/>
            </a:avLst>
          </a:prstGeom>
          <a:solidFill>
            <a:srgbClr val="E7F3E7"/>
          </a:solidFill>
          <a:ln/>
        </p:spPr>
      </p:sp>
      <p:sp>
        <p:nvSpPr>
          <p:cNvPr id="44" name="Text 41"/>
          <p:cNvSpPr/>
          <p:nvPr/>
        </p:nvSpPr>
        <p:spPr>
          <a:xfrm>
            <a:off x="2624328" y="39159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5" name="Shape 42"/>
          <p:cNvSpPr/>
          <p:nvPr/>
        </p:nvSpPr>
        <p:spPr>
          <a:xfrm>
            <a:off x="2624328" y="4258818"/>
            <a:ext cx="877824" cy="219456"/>
          </a:xfrm>
          <a:prstGeom prst="roundRect">
            <a:avLst>
              <a:gd name="adj" fmla="val 50000"/>
            </a:avLst>
          </a:prstGeom>
          <a:solidFill>
            <a:srgbClr val="E7F3E7"/>
          </a:solidFill>
          <a:ln/>
        </p:spPr>
      </p:sp>
      <p:sp>
        <p:nvSpPr>
          <p:cNvPr id="46" name="Text 43"/>
          <p:cNvSpPr/>
          <p:nvPr/>
        </p:nvSpPr>
        <p:spPr>
          <a:xfrm>
            <a:off x="2624328" y="42588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7" name="Shape 44"/>
          <p:cNvSpPr/>
          <p:nvPr/>
        </p:nvSpPr>
        <p:spPr>
          <a:xfrm>
            <a:off x="2624328" y="4601718"/>
            <a:ext cx="877824" cy="219456"/>
          </a:xfrm>
          <a:prstGeom prst="roundRect">
            <a:avLst>
              <a:gd name="adj" fmla="val 50000"/>
            </a:avLst>
          </a:prstGeom>
          <a:solidFill>
            <a:srgbClr val="E7F3E7"/>
          </a:solidFill>
          <a:ln/>
        </p:spPr>
      </p:sp>
      <p:sp>
        <p:nvSpPr>
          <p:cNvPr id="48" name="Text 45"/>
          <p:cNvSpPr/>
          <p:nvPr/>
        </p:nvSpPr>
        <p:spPr>
          <a:xfrm>
            <a:off x="2624328" y="46017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9" name="Shape 46"/>
          <p:cNvSpPr/>
          <p:nvPr/>
        </p:nvSpPr>
        <p:spPr>
          <a:xfrm>
            <a:off x="2624328" y="4944618"/>
            <a:ext cx="987552" cy="219456"/>
          </a:xfrm>
          <a:prstGeom prst="roundRect">
            <a:avLst>
              <a:gd name="adj" fmla="val 50000"/>
            </a:avLst>
          </a:prstGeom>
          <a:solidFill>
            <a:srgbClr val="F0EFEC"/>
          </a:solidFill>
          <a:ln/>
        </p:spPr>
      </p:sp>
      <p:sp>
        <p:nvSpPr>
          <p:cNvPr id="50" name="Text 47"/>
          <p:cNvSpPr/>
          <p:nvPr/>
        </p:nvSpPr>
        <p:spPr>
          <a:xfrm>
            <a:off x="2624328" y="49446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1" name="Shape 48"/>
          <p:cNvSpPr/>
          <p:nvPr/>
        </p:nvSpPr>
        <p:spPr>
          <a:xfrm>
            <a:off x="2624328" y="5287518"/>
            <a:ext cx="987552" cy="219456"/>
          </a:xfrm>
          <a:prstGeom prst="roundRect">
            <a:avLst>
              <a:gd name="adj" fmla="val 50000"/>
            </a:avLst>
          </a:prstGeom>
          <a:solidFill>
            <a:srgbClr val="F0EFEC"/>
          </a:solidFill>
          <a:ln/>
        </p:spPr>
      </p:sp>
      <p:sp>
        <p:nvSpPr>
          <p:cNvPr id="52" name="Text 49"/>
          <p:cNvSpPr/>
          <p:nvPr/>
        </p:nvSpPr>
        <p:spPr>
          <a:xfrm>
            <a:off x="2624328" y="52875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3" name="Shape 50"/>
          <p:cNvSpPr/>
          <p:nvPr/>
        </p:nvSpPr>
        <p:spPr>
          <a:xfrm>
            <a:off x="2624328" y="5630418"/>
            <a:ext cx="987552" cy="219456"/>
          </a:xfrm>
          <a:prstGeom prst="roundRect">
            <a:avLst>
              <a:gd name="adj" fmla="val 50000"/>
            </a:avLst>
          </a:prstGeom>
          <a:solidFill>
            <a:srgbClr val="F0EFEC"/>
          </a:solidFill>
          <a:ln/>
        </p:spPr>
      </p:sp>
      <p:sp>
        <p:nvSpPr>
          <p:cNvPr id="54" name="Text 51"/>
          <p:cNvSpPr/>
          <p:nvPr/>
        </p:nvSpPr>
        <p:spPr>
          <a:xfrm>
            <a:off x="2624328" y="56304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5" name="Shape 52"/>
          <p:cNvSpPr/>
          <p:nvPr/>
        </p:nvSpPr>
        <p:spPr>
          <a:xfrm>
            <a:off x="2624328" y="5973318"/>
            <a:ext cx="694944" cy="219456"/>
          </a:xfrm>
          <a:prstGeom prst="roundRect">
            <a:avLst>
              <a:gd name="adj" fmla="val 50000"/>
            </a:avLst>
          </a:prstGeom>
          <a:solidFill>
            <a:srgbClr val="E5EEFB"/>
          </a:solidFill>
          <a:ln/>
        </p:spPr>
      </p:sp>
      <p:sp>
        <p:nvSpPr>
          <p:cNvPr id="56" name="Text 53"/>
          <p:cNvSpPr/>
          <p:nvPr/>
        </p:nvSpPr>
        <p:spPr>
          <a:xfrm>
            <a:off x="2624328" y="59733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7" name="Shape 54"/>
          <p:cNvSpPr/>
          <p:nvPr/>
        </p:nvSpPr>
        <p:spPr>
          <a:xfrm>
            <a:off x="2624328" y="6316218"/>
            <a:ext cx="694944" cy="219456"/>
          </a:xfrm>
          <a:prstGeom prst="roundRect">
            <a:avLst>
              <a:gd name="adj" fmla="val 50000"/>
            </a:avLst>
          </a:prstGeom>
          <a:solidFill>
            <a:srgbClr val="E5EEFB"/>
          </a:solidFill>
          <a:ln/>
        </p:spPr>
      </p:sp>
      <p:sp>
        <p:nvSpPr>
          <p:cNvPr id="58" name="Text 55"/>
          <p:cNvSpPr/>
          <p:nvPr/>
        </p:nvSpPr>
        <p:spPr>
          <a:xfrm>
            <a:off x="2624328" y="63162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9" name="Shape 56"/>
          <p:cNvSpPr/>
          <p:nvPr/>
        </p:nvSpPr>
        <p:spPr>
          <a:xfrm>
            <a:off x="2624328" y="6659118"/>
            <a:ext cx="694944" cy="219456"/>
          </a:xfrm>
          <a:prstGeom prst="roundRect">
            <a:avLst>
              <a:gd name="adj" fmla="val 50000"/>
            </a:avLst>
          </a:prstGeom>
          <a:solidFill>
            <a:srgbClr val="E5EEFB"/>
          </a:solidFill>
          <a:ln/>
        </p:spPr>
      </p:sp>
      <p:sp>
        <p:nvSpPr>
          <p:cNvPr id="60" name="Text 57"/>
          <p:cNvSpPr/>
          <p:nvPr/>
        </p:nvSpPr>
        <p:spPr>
          <a:xfrm>
            <a:off x="2624328" y="66591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61" name="Shape 58"/>
          <p:cNvSpPr/>
          <p:nvPr/>
        </p:nvSpPr>
        <p:spPr>
          <a:xfrm>
            <a:off x="2624328" y="7002018"/>
            <a:ext cx="694944" cy="219456"/>
          </a:xfrm>
          <a:prstGeom prst="roundRect">
            <a:avLst>
              <a:gd name="adj" fmla="val 50000"/>
            </a:avLst>
          </a:prstGeom>
          <a:solidFill>
            <a:srgbClr val="E5EEFB"/>
          </a:solidFill>
          <a:ln/>
        </p:spPr>
      </p:sp>
      <p:sp>
        <p:nvSpPr>
          <p:cNvPr id="62" name="Text 59"/>
          <p:cNvSpPr/>
          <p:nvPr/>
        </p:nvSpPr>
        <p:spPr>
          <a:xfrm>
            <a:off x="2624328" y="70020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63" name="Shape 60"/>
          <p:cNvSpPr/>
          <p:nvPr/>
        </p:nvSpPr>
        <p:spPr>
          <a:xfrm>
            <a:off x="5742432" y="2162556"/>
            <a:ext cx="274320" cy="187452"/>
          </a:xfrm>
          <a:prstGeom prst="roundRect">
            <a:avLst>
              <a:gd name="adj" fmla="val 9756"/>
            </a:avLst>
          </a:prstGeom>
          <a:solidFill>
            <a:srgbClr val="FFFFFF"/>
          </a:solidFill>
          <a:ln w="9525">
            <a:solidFill>
              <a:srgbClr val="D5D3CC"/>
            </a:solidFill>
            <a:prstDash val="solid"/>
          </a:ln>
        </p:spPr>
      </p:sp>
      <p:sp>
        <p:nvSpPr>
          <p:cNvPr id="64" name="Shape 61"/>
          <p:cNvSpPr/>
          <p:nvPr/>
        </p:nvSpPr>
        <p:spPr>
          <a:xfrm>
            <a:off x="5827105" y="2203795"/>
            <a:ext cx="104973" cy="104973"/>
          </a:xfrm>
          <a:prstGeom prst="ellipse">
            <a:avLst/>
          </a:prstGeom>
          <a:solidFill>
            <a:srgbClr val="003478"/>
          </a:solidFill>
          <a:ln/>
        </p:spPr>
      </p:sp>
      <p:sp>
        <p:nvSpPr>
          <p:cNvPr id="65" name="Shape 62"/>
          <p:cNvSpPr/>
          <p:nvPr/>
        </p:nvSpPr>
        <p:spPr>
          <a:xfrm>
            <a:off x="5827105" y="2203795"/>
            <a:ext cx="104973" cy="104973"/>
          </a:xfrm>
          <a:prstGeom prst="pie">
            <a:avLst>
              <a:gd name="adj1" fmla="val 10800000"/>
              <a:gd name="adj2" fmla="val 21600000"/>
            </a:avLst>
          </a:prstGeom>
          <a:solidFill>
            <a:srgbClr val="C60C30"/>
          </a:solidFill>
          <a:ln/>
        </p:spPr>
      </p:sp>
      <p:sp>
        <p:nvSpPr>
          <p:cNvPr id="66" name="Text 63"/>
          <p:cNvSpPr/>
          <p:nvPr/>
        </p:nvSpPr>
        <p:spPr>
          <a:xfrm>
            <a:off x="6089904" y="2121408"/>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KOREA</a:t>
            </a:r>
            <a:endParaRPr lang="en-US" sz="1400" dirty="0"/>
          </a:p>
        </p:txBody>
      </p:sp>
      <p:sp>
        <p:nvSpPr>
          <p:cNvPr id="67" name="Text 64"/>
          <p:cNvSpPr/>
          <p:nvPr/>
        </p:nvSpPr>
        <p:spPr>
          <a:xfrm>
            <a:off x="6931152" y="2171700"/>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6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68" name="Shape 65"/>
          <p:cNvSpPr/>
          <p:nvPr/>
        </p:nvSpPr>
        <p:spPr>
          <a:xfrm>
            <a:off x="5742432" y="2459736"/>
            <a:ext cx="3931920" cy="25603"/>
          </a:xfrm>
          <a:prstGeom prst="rect">
            <a:avLst/>
          </a:prstGeom>
          <a:solidFill>
            <a:srgbClr val="003478"/>
          </a:solidFill>
          <a:ln/>
        </p:spPr>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5742432" y="2569464"/>
          <a:ext cx="3931920" cy="914400"/>
        </p:xfrm>
        <a:graphic>
          <a:graphicData uri="http://schemas.openxmlformats.org/drawingml/2006/table">
            <a:tbl>
              <a:tblPr/>
              <a:tblGrid>
                <a:gridCol w="859536"/>
                <a:gridCol w="585216"/>
                <a:gridCol w="1060704"/>
                <a:gridCol w="621792"/>
                <a:gridCol w="804672"/>
              </a:tblGrid>
              <a:tr h="256032">
                <a:tc>
                  <a:txBody>
                    <a:bodyPr/>
                    <a:lstStyle/>
                    <a:p>
                      <a:pPr indent="0" marL="0">
                        <a:buNone/>
                      </a:pPr>
                      <a:r>
                        <a:rPr lang="en-US" sz="750" b="1" dirty="0">
                          <a:solidFill>
                            <a:srgbClr val="898781"/>
                          </a:solidFill>
                          <a:latin typeface="Arial" pitchFamily="34" charset="0"/>
                          <a:ea typeface="Arial" pitchFamily="34" charset="-122"/>
                          <a:cs typeface="Arial" pitchFamily="34" charset="-120"/>
                        </a:rPr>
                        <a:t>COMPANY</a:t>
                      </a:r>
                      <a:endParaRPr lang="en-US" sz="7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50" b="1" dirty="0">
                          <a:solidFill>
                            <a:srgbClr val="898781"/>
                          </a:solidFill>
                          <a:latin typeface="Arial" pitchFamily="34" charset="0"/>
                          <a:ea typeface="Arial" pitchFamily="34" charset="-122"/>
                          <a:cs typeface="Arial" pitchFamily="34" charset="-120"/>
                        </a:rPr>
                        <a:t>SECTOR</a:t>
                      </a:r>
                      <a:endParaRPr lang="en-US" sz="7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50" b="1" dirty="0">
                          <a:solidFill>
                            <a:srgbClr val="898781"/>
                          </a:solidFill>
                          <a:latin typeface="Arial" pitchFamily="34" charset="0"/>
                          <a:ea typeface="Arial" pitchFamily="34" charset="-122"/>
                          <a:cs typeface="Arial" pitchFamily="34" charset="-120"/>
                        </a:rPr>
                        <a:t>STAGE</a:t>
                      </a:r>
                      <a:endParaRPr lang="en-US" sz="7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750" b="1" dirty="0">
                          <a:solidFill>
                            <a:srgbClr val="898781"/>
                          </a:solidFill>
                          <a:latin typeface="Arial" pitchFamily="34" charset="0"/>
                          <a:ea typeface="Arial" pitchFamily="34" charset="-122"/>
                          <a:cs typeface="Arial" pitchFamily="34" charset="-120"/>
                        </a:rPr>
                        <a:t>DEAL SIZE</a:t>
                      </a:r>
                      <a:endParaRPr lang="en-US" sz="750" dirty="0">
                        <a:latin typeface="Arial" charset="0"/>
                        <a:ea typeface="Arial" charset="0"/>
                        <a:cs typeface="Arial" charset="0"/>
                      </a:endParaRPr>
                    </a:p>
                  </a:txBody>
                  <a:tcPr marL="27432" marR="7315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50" b="1" dirty="0">
                          <a:solidFill>
                            <a:srgbClr val="898781"/>
                          </a:solidFill>
                          <a:latin typeface="Arial" pitchFamily="34" charset="0"/>
                          <a:ea typeface="Arial" pitchFamily="34" charset="-122"/>
                          <a:cs typeface="Arial" pitchFamily="34" charset="-120"/>
                        </a:rPr>
                        <a:t>OWNER’S REP</a:t>
                      </a:r>
                      <a:endParaRPr lang="en-US" sz="750" dirty="0">
                        <a:latin typeface="Arial" charset="0"/>
                        <a:ea typeface="Arial" charset="0"/>
                        <a:cs typeface="Arial" charset="0"/>
                      </a:endParaRPr>
                    </a:p>
                  </a:txBody>
                  <a:tcPr marL="91440"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19</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70" name="Shape 66"/>
          <p:cNvSpPr/>
          <p:nvPr/>
        </p:nvSpPr>
        <p:spPr>
          <a:xfrm>
            <a:off x="7232904" y="2887218"/>
            <a:ext cx="987552" cy="219456"/>
          </a:xfrm>
          <a:prstGeom prst="roundRect">
            <a:avLst>
              <a:gd name="adj" fmla="val 50000"/>
            </a:avLst>
          </a:prstGeom>
          <a:solidFill>
            <a:srgbClr val="F0EFEC"/>
          </a:solidFill>
          <a:ln/>
        </p:spPr>
      </p:sp>
      <p:sp>
        <p:nvSpPr>
          <p:cNvPr id="71" name="Text 67"/>
          <p:cNvSpPr/>
          <p:nvPr/>
        </p:nvSpPr>
        <p:spPr>
          <a:xfrm>
            <a:off x="7232904" y="28872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2" name="Shape 68"/>
          <p:cNvSpPr/>
          <p:nvPr/>
        </p:nvSpPr>
        <p:spPr>
          <a:xfrm>
            <a:off x="7232904" y="3230118"/>
            <a:ext cx="987552" cy="219456"/>
          </a:xfrm>
          <a:prstGeom prst="roundRect">
            <a:avLst>
              <a:gd name="adj" fmla="val 50000"/>
            </a:avLst>
          </a:prstGeom>
          <a:solidFill>
            <a:srgbClr val="F0EFEC"/>
          </a:solidFill>
          <a:ln/>
        </p:spPr>
      </p:sp>
      <p:sp>
        <p:nvSpPr>
          <p:cNvPr id="73" name="Text 69"/>
          <p:cNvSpPr/>
          <p:nvPr/>
        </p:nvSpPr>
        <p:spPr>
          <a:xfrm>
            <a:off x="7232904" y="32301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4" name="Shape 70"/>
          <p:cNvSpPr/>
          <p:nvPr/>
        </p:nvSpPr>
        <p:spPr>
          <a:xfrm>
            <a:off x="7232904" y="3573018"/>
            <a:ext cx="987552" cy="219456"/>
          </a:xfrm>
          <a:prstGeom prst="roundRect">
            <a:avLst>
              <a:gd name="adj" fmla="val 50000"/>
            </a:avLst>
          </a:prstGeom>
          <a:solidFill>
            <a:srgbClr val="F0EFEC"/>
          </a:solidFill>
          <a:ln/>
        </p:spPr>
      </p:sp>
      <p:sp>
        <p:nvSpPr>
          <p:cNvPr id="75" name="Text 71"/>
          <p:cNvSpPr/>
          <p:nvPr/>
        </p:nvSpPr>
        <p:spPr>
          <a:xfrm>
            <a:off x="7232904" y="35730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6" name="Shape 72"/>
          <p:cNvSpPr/>
          <p:nvPr/>
        </p:nvSpPr>
        <p:spPr>
          <a:xfrm>
            <a:off x="7232904" y="3915918"/>
            <a:ext cx="694944" cy="219456"/>
          </a:xfrm>
          <a:prstGeom prst="roundRect">
            <a:avLst>
              <a:gd name="adj" fmla="val 50000"/>
            </a:avLst>
          </a:prstGeom>
          <a:solidFill>
            <a:srgbClr val="E5EEFB"/>
          </a:solidFill>
          <a:ln/>
        </p:spPr>
      </p:sp>
      <p:sp>
        <p:nvSpPr>
          <p:cNvPr id="77" name="Text 73"/>
          <p:cNvSpPr/>
          <p:nvPr/>
        </p:nvSpPr>
        <p:spPr>
          <a:xfrm>
            <a:off x="7232904" y="39159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78" name="Shape 74"/>
          <p:cNvSpPr/>
          <p:nvPr/>
        </p:nvSpPr>
        <p:spPr>
          <a:xfrm>
            <a:off x="7232904" y="4258818"/>
            <a:ext cx="694944" cy="219456"/>
          </a:xfrm>
          <a:prstGeom prst="roundRect">
            <a:avLst>
              <a:gd name="adj" fmla="val 50000"/>
            </a:avLst>
          </a:prstGeom>
          <a:solidFill>
            <a:srgbClr val="E5EEFB"/>
          </a:solidFill>
          <a:ln/>
        </p:spPr>
      </p:sp>
      <p:sp>
        <p:nvSpPr>
          <p:cNvPr id="79" name="Text 75"/>
          <p:cNvSpPr/>
          <p:nvPr/>
        </p:nvSpPr>
        <p:spPr>
          <a:xfrm>
            <a:off x="7232904" y="42588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80" name="Shape 76"/>
          <p:cNvSpPr/>
          <p:nvPr/>
        </p:nvSpPr>
        <p:spPr>
          <a:xfrm>
            <a:off x="7232904" y="4601718"/>
            <a:ext cx="694944" cy="219456"/>
          </a:xfrm>
          <a:prstGeom prst="roundRect">
            <a:avLst>
              <a:gd name="adj" fmla="val 50000"/>
            </a:avLst>
          </a:prstGeom>
          <a:solidFill>
            <a:srgbClr val="E5EEFB"/>
          </a:solidFill>
          <a:ln/>
        </p:spPr>
      </p:sp>
      <p:sp>
        <p:nvSpPr>
          <p:cNvPr id="81" name="Text 77"/>
          <p:cNvSpPr/>
          <p:nvPr/>
        </p:nvSpPr>
        <p:spPr>
          <a:xfrm>
            <a:off x="7232904" y="46017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82" name="Shape 78"/>
          <p:cNvSpPr/>
          <p:nvPr/>
        </p:nvSpPr>
        <p:spPr>
          <a:xfrm>
            <a:off x="384048" y="7406640"/>
            <a:ext cx="9290304" cy="9144"/>
          </a:xfrm>
          <a:prstGeom prst="rect">
            <a:avLst/>
          </a:prstGeom>
          <a:solidFill>
            <a:srgbClr val="E1E0D9"/>
          </a:solidFill>
          <a:ln/>
        </p:spPr>
      </p:sp>
      <p:sp>
        <p:nvSpPr>
          <p:cNvPr id="83" name="Text 79"/>
          <p:cNvSpPr/>
          <p:nvPr/>
        </p:nvSpPr>
        <p:spPr>
          <a:xfrm>
            <a:off x="6400800" y="7461504"/>
            <a:ext cx="3273552" cy="182880"/>
          </a:xfrm>
          <a:prstGeom prst="rect">
            <a:avLst/>
          </a:prstGeom>
          <a:noFill/>
          <a:ln/>
        </p:spPr>
        <p:txBody>
          <a:bodyPr wrap="square" lIns="0" tIns="0" rIns="0" bIns="0" rtlCol="0" anchor="ctr"/>
          <a:lstStyle/>
          <a:p>
            <a:pPr algn="r" indent="0" marL="0">
              <a:buNone/>
            </a:pPr>
            <a:r>
              <a:rPr lang="en-US" sz="750" dirty="0">
                <a:solidFill>
                  <a:srgbClr val="898781"/>
                </a:solidFill>
                <a:latin typeface="Arial" pitchFamily="34" charset="0"/>
                <a:ea typeface="Arial" pitchFamily="34" charset="-122"/>
                <a:cs typeface="Arial" pitchFamily="34" charset="-120"/>
              </a:rPr>
              <a:t>Data as of July 29, 2026</a:t>
            </a:r>
            <a:endParaRPr lang="en-US" sz="750" dirty="0"/>
          </a:p>
        </p:txBody>
      </p:sp>
      <p:sp>
        <p:nvSpPr>
          <p:cNvPr id="84" name="Text 80"/>
          <p:cNvSpPr/>
          <p:nvPr/>
        </p:nvSpPr>
        <p:spPr>
          <a:xfrm>
            <a:off x="10287000" y="2286000"/>
            <a:ext cx="2011680" cy="502920"/>
          </a:xfrm>
          <a:prstGeom prst="rect">
            <a:avLst/>
          </a:prstGeom>
          <a:noFill/>
          <a:ln/>
        </p:spPr>
        <p:txBody>
          <a:bodyPr wrap="square" lIns="0" tIns="0" rIns="0" bIns="0" rtlCol="0" anchor="ctr"/>
          <a:lstStyle/>
          <a:p>
            <a:pPr indent="0" marL="0">
              <a:buNone/>
            </a:pPr>
            <a:r>
              <a:rPr lang="en-US" sz="800" b="1" dirty="0">
                <a:solidFill>
                  <a:srgbClr val="898781"/>
                </a:solidFill>
                <a:latin typeface="Arial" pitchFamily="34" charset="0"/>
                <a:ea typeface="Arial" pitchFamily="34" charset="-122"/>
                <a:cs typeface="Arial" pitchFamily="34" charset="-120"/>
              </a:rPr>
              <a:t>SPARE STAGE TAGS — copy (Ctrl/Cmd-drag) onto any row.</a:t>
            </a:r>
            <a:endParaRPr lang="en-US" sz="800" dirty="0"/>
          </a:p>
          <a:p>
            <a:pPr indent="0" marL="0">
              <a:buNone/>
            </a:pPr>
            <a:r>
              <a:rPr lang="en-US" sz="800" b="1" dirty="0">
                <a:solidFill>
                  <a:srgbClr val="898781"/>
                </a:solidFill>
                <a:latin typeface="Arial" pitchFamily="34" charset="0"/>
                <a:ea typeface="Arial" pitchFamily="34" charset="-122"/>
                <a:cs typeface="Arial" pitchFamily="34" charset="-120"/>
              </a:rPr>
              <a:t>This area is off the page and never prints.</a:t>
            </a:r>
            <a:endParaRPr lang="en-US" sz="800" dirty="0"/>
          </a:p>
        </p:txBody>
      </p:sp>
      <p:sp>
        <p:nvSpPr>
          <p:cNvPr id="85" name="Shape 81"/>
          <p:cNvSpPr/>
          <p:nvPr/>
        </p:nvSpPr>
        <p:spPr>
          <a:xfrm>
            <a:off x="10287000" y="2880360"/>
            <a:ext cx="877824" cy="219456"/>
          </a:xfrm>
          <a:prstGeom prst="roundRect">
            <a:avLst>
              <a:gd name="adj" fmla="val 50000"/>
            </a:avLst>
          </a:prstGeom>
          <a:solidFill>
            <a:srgbClr val="E7F3E7"/>
          </a:solidFill>
          <a:ln/>
        </p:spPr>
      </p:sp>
      <p:sp>
        <p:nvSpPr>
          <p:cNvPr id="86" name="Text 82"/>
          <p:cNvSpPr/>
          <p:nvPr/>
        </p:nvSpPr>
        <p:spPr>
          <a:xfrm>
            <a:off x="10287000" y="2880360"/>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87" name="Shape 83"/>
          <p:cNvSpPr/>
          <p:nvPr/>
        </p:nvSpPr>
        <p:spPr>
          <a:xfrm>
            <a:off x="10287000" y="3200400"/>
            <a:ext cx="987552" cy="219456"/>
          </a:xfrm>
          <a:prstGeom prst="roundRect">
            <a:avLst>
              <a:gd name="adj" fmla="val 50000"/>
            </a:avLst>
          </a:prstGeom>
          <a:solidFill>
            <a:srgbClr val="F0EFEC"/>
          </a:solidFill>
          <a:ln/>
        </p:spPr>
      </p:sp>
      <p:sp>
        <p:nvSpPr>
          <p:cNvPr id="88" name="Text 84"/>
          <p:cNvSpPr/>
          <p:nvPr/>
        </p:nvSpPr>
        <p:spPr>
          <a:xfrm>
            <a:off x="10287000" y="3200400"/>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89" name="Shape 85"/>
          <p:cNvSpPr/>
          <p:nvPr/>
        </p:nvSpPr>
        <p:spPr>
          <a:xfrm>
            <a:off x="10287000" y="3520440"/>
            <a:ext cx="694944" cy="219456"/>
          </a:xfrm>
          <a:prstGeom prst="roundRect">
            <a:avLst>
              <a:gd name="adj" fmla="val 50000"/>
            </a:avLst>
          </a:prstGeom>
          <a:solidFill>
            <a:srgbClr val="E5EEFB"/>
          </a:solidFill>
          <a:ln/>
        </p:spPr>
      </p:sp>
      <p:sp>
        <p:nvSpPr>
          <p:cNvPr id="90" name="Text 86"/>
          <p:cNvSpPr/>
          <p:nvPr/>
        </p:nvSpPr>
        <p:spPr>
          <a:xfrm>
            <a:off x="10287000" y="3520440"/>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2026-07-29T15:53:18Z</dcterms:created>
  <dcterms:modified xsi:type="dcterms:W3CDTF">2026-07-29T15:53:18Z</dcterms:modified>
</cp:coreProperties>
</file>