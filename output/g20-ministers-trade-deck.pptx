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image" Target="../media/image80.png"/><Relationship Id="rId4" Type="http://schemas.openxmlformats.org/officeDocument/2006/relationships/image" Target="../media/image8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19500000">
            <a:off x="8229600" y="-1463040"/>
            <a:ext cx="6858000" cy="777240"/>
          </a:xfrm>
          <a:prstGeom prst="rect">
            <a:avLst/>
          </a:prstGeom>
          <a:solidFill>
            <a:srgbClr val="00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9500000">
            <a:off x="9418320" y="-1737360"/>
            <a:ext cx="6858000" cy="502920"/>
          </a:xfrm>
          <a:prstGeom prst="rect">
            <a:avLst/>
          </a:prstGeom>
          <a:solidFill>
            <a:srgbClr val="B1B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9500000">
            <a:off x="7406640" y="-1097280"/>
            <a:ext cx="6858000" cy="274320"/>
          </a:xfrm>
          <a:prstGeom prst="rect">
            <a:avLst/>
          </a:prstGeom>
          <a:solidFill>
            <a:srgbClr val="0075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oc-seal-white.png"/>
          <p:cNvPicPr>
            <a:picLocks noChangeAspect="1"/>
          </p:cNvPicPr>
          <p:nvPr/>
        </p:nvPicPr>
        <p:blipFill>
          <a:blip r:embed="rId2"/>
          <a:stretch>
            <a:fillRect/>
          </a:stretch>
        </p:blipFill>
        <p:spPr>
          <a:xfrm>
            <a:off x="548640" y="438912"/>
            <a:ext cx="658368" cy="658368"/>
          </a:xfrm>
          <a:prstGeom prst="rect">
            <a:avLst/>
          </a:prstGeom>
        </p:spPr>
      </p:pic>
      <p:sp>
        <p:nvSpPr>
          <p:cNvPr id="7" name="TextBox 6"/>
          <p:cNvSpPr txBox="1"/>
          <p:nvPr/>
        </p:nvSpPr>
        <p:spPr>
          <a:xfrm>
            <a:off x="1408175" y="502920"/>
            <a:ext cx="6400800" cy="603504"/>
          </a:xfrm>
          <a:prstGeom prst="rect">
            <a:avLst/>
          </a:prstGeom>
          <a:noFill/>
        </p:spPr>
        <p:txBody>
          <a:bodyPr wrap="square" anchor="ctr" lIns="0" rIns="0" tIns="0" bIns="0">
            <a:spAutoFit/>
          </a:bodyPr>
          <a:lstStyle/>
          <a:p>
            <a:r>
              <a:rPr sz="1050" b="1" i="0" spc="160">
                <a:solidFill>
                  <a:srgbClr val="FFFFFF"/>
                </a:solidFill>
                <a:latin typeface="Open Sans"/>
              </a:rPr>
              <a:t>U.S. DEPARTMENT OF COMMERCE</a:t>
            </a:r>
          </a:p>
          <a:p>
            <a:pPr>
              <a:spcBef>
                <a:spcPts val="300"/>
              </a:spcBef>
            </a:pPr>
            <a:r>
              <a:rPr sz="1050" b="0" i="0" spc="160">
                <a:solidFill>
                  <a:srgbClr val="B9C9D9"/>
                </a:solidFill>
                <a:latin typeface="Open Sans"/>
              </a:rPr>
              <a:t>INTERNATIONAL TRADE ADMINISTRATION</a:t>
            </a:r>
          </a:p>
        </p:txBody>
      </p:sp>
      <p:sp>
        <p:nvSpPr>
          <p:cNvPr id="8" name="TextBox 7"/>
          <p:cNvSpPr txBox="1"/>
          <p:nvPr/>
        </p:nvSpPr>
        <p:spPr>
          <a:xfrm>
            <a:off x="914400" y="2606040"/>
            <a:ext cx="9601200" cy="1463040"/>
          </a:xfrm>
          <a:prstGeom prst="rect">
            <a:avLst/>
          </a:prstGeom>
          <a:noFill/>
        </p:spPr>
        <p:txBody>
          <a:bodyPr wrap="square" anchor="t" lIns="0" rIns="0" tIns="0" bIns="0">
            <a:spAutoFit/>
          </a:bodyPr>
          <a:lstStyle/>
          <a:p>
            <a:r>
              <a:rPr sz="3600" b="1" i="0">
                <a:solidFill>
                  <a:srgbClr val="FFFFFF"/>
                </a:solidFill>
                <a:latin typeface="Open Sans"/>
              </a:rPr>
              <a:t>G20 Digital &amp; Trade Ministers</a:t>
            </a:r>
          </a:p>
          <a:p>
            <a:pPr>
              <a:spcBef>
                <a:spcPts val="800"/>
              </a:spcBef>
            </a:pPr>
            <a:r>
              <a:rPr sz="2000" b="0" i="0">
                <a:solidFill>
                  <a:srgbClr val="B1BBCA"/>
                </a:solidFill>
                <a:latin typeface="Open Sans"/>
              </a:rPr>
              <a:t>GDP and U.S. Bilateral Trade Profiles</a:t>
            </a:r>
          </a:p>
        </p:txBody>
      </p:sp>
      <p:sp>
        <p:nvSpPr>
          <p:cNvPr id="9" name="Rectangle 8"/>
          <p:cNvSpPr/>
          <p:nvPr/>
        </p:nvSpPr>
        <p:spPr>
          <a:xfrm>
            <a:off x="932688" y="4041648"/>
            <a:ext cx="210312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4434840"/>
            <a:ext cx="7863840" cy="475488"/>
          </a:xfrm>
          <a:prstGeom prst="rect">
            <a:avLst/>
          </a:prstGeom>
          <a:noFill/>
          <a:ln w="12700">
            <a:solidFill>
              <a:srgbClr val="5B77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434840"/>
            <a:ext cx="7498079" cy="475488"/>
          </a:xfrm>
          <a:prstGeom prst="rect">
            <a:avLst/>
          </a:prstGeom>
          <a:noFill/>
        </p:spPr>
        <p:txBody>
          <a:bodyPr wrap="square" anchor="ctr" lIns="0" rIns="0" tIns="0" bIns="0">
            <a:spAutoFit/>
          </a:bodyPr>
          <a:lstStyle/>
          <a:p>
            <a:r>
              <a:rPr sz="1200" b="0" i="0">
                <a:solidFill>
                  <a:srgbClr val="FFFFFF"/>
                </a:solidFill>
                <a:latin typeface="Open Sans"/>
              </a:rPr>
              <a:t>Internal Reference  |  Trade data: 2025 full year (goods basis)  |  July 16, 2026</a:t>
            </a:r>
          </a:p>
        </p:txBody>
      </p:sp>
      <p:sp>
        <p:nvSpPr>
          <p:cNvPr id="12" name="TextBox 11"/>
          <p:cNvSpPr txBox="1"/>
          <p:nvPr/>
        </p:nvSpPr>
        <p:spPr>
          <a:xfrm>
            <a:off x="548640" y="6355080"/>
            <a:ext cx="7863840" cy="274320"/>
          </a:xfrm>
          <a:prstGeom prst="rect">
            <a:avLst/>
          </a:prstGeom>
          <a:noFill/>
        </p:spPr>
        <p:txBody>
          <a:bodyPr wrap="square" anchor="t" lIns="0" rIns="0" tIns="0" bIns="0">
            <a:spAutoFit/>
          </a:bodyPr>
          <a:lstStyle/>
          <a:p>
            <a:r>
              <a:rPr sz="900" b="1" i="0">
                <a:solidFill>
                  <a:srgbClr val="FFFFFF"/>
                </a:solidFill>
                <a:latin typeface="Open Sans"/>
              </a:rPr>
              <a:t>U.S. Department of Commerce  |  International Trade Administration</a:t>
            </a:r>
          </a:p>
        </p:txBody>
      </p:sp>
      <p:sp>
        <p:nvSpPr>
          <p:cNvPr id="13" name="TextBox 12"/>
          <p:cNvSpPr txBox="1"/>
          <p:nvPr/>
        </p:nvSpPr>
        <p:spPr>
          <a:xfrm>
            <a:off x="9326880" y="6355080"/>
            <a:ext cx="2313432" cy="274320"/>
          </a:xfrm>
          <a:prstGeom prst="rect">
            <a:avLst/>
          </a:prstGeom>
          <a:noFill/>
        </p:spPr>
        <p:txBody>
          <a:bodyPr wrap="square" anchor="t" lIns="0" rIns="0" tIns="0" bIns="0">
            <a:spAutoFit/>
          </a:bodyPr>
          <a:lstStyle/>
          <a:p>
            <a:pPr algn="r"/>
            <a:r>
              <a:rPr sz="900" b="1" i="0">
                <a:solidFill>
                  <a:srgbClr val="FFFFFF"/>
                </a:solidFill>
                <a:latin typeface="Open Sans"/>
              </a:rPr>
              <a:t>trade.gov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1672" cy="411480"/>
          </a:xfrm>
          <a:prstGeom prst="rect">
            <a:avLst/>
          </a:prstGeom>
          <a:noFill/>
        </p:spPr>
        <p:txBody>
          <a:bodyPr wrap="square" anchor="t" lIns="0" rIns="0" tIns="0" bIns="0">
            <a:spAutoFit/>
          </a:bodyPr>
          <a:lstStyle/>
          <a:p>
            <a:r>
              <a:rPr sz="2200" b="1" i="0">
                <a:solidFill>
                  <a:srgbClr val="0A314D"/>
                </a:solidFill>
                <a:latin typeface="Open Sans"/>
              </a:rPr>
              <a:t>Methodology &amp; Scope</a:t>
            </a:r>
          </a:p>
        </p:txBody>
      </p:sp>
      <p:sp>
        <p:nvSpPr>
          <p:cNvPr id="4" name="TextBox 3"/>
          <p:cNvSpPr txBox="1"/>
          <p:nvPr/>
        </p:nvSpPr>
        <p:spPr>
          <a:xfrm>
            <a:off x="548640" y="694944"/>
            <a:ext cx="11091672" cy="256032"/>
          </a:xfrm>
          <a:prstGeom prst="rect">
            <a:avLst/>
          </a:prstGeom>
          <a:noFill/>
        </p:spPr>
        <p:txBody>
          <a:bodyPr wrap="square" anchor="t" lIns="0" rIns="0" tIns="0" bIns="0">
            <a:spAutoFit/>
          </a:bodyPr>
          <a:lstStyle/>
          <a:p>
            <a:r>
              <a:rPr sz="1050" b="0" i="0">
                <a:solidFill>
                  <a:srgbClr val="54606C"/>
                </a:solidFill>
                <a:latin typeface="Open Sans"/>
              </a:rPr>
              <a:t>19 sovereign members · EU &amp; African Union annex · compiled 2026-07-16</a:t>
            </a:r>
          </a:p>
        </p:txBody>
      </p:sp>
      <p:sp>
        <p:nvSpPr>
          <p:cNvPr id="5" name="Rectangle 4"/>
          <p:cNvSpPr/>
          <p:nvPr/>
        </p:nvSpPr>
        <p:spPr>
          <a:xfrm>
            <a:off x="548640" y="1005840"/>
            <a:ext cx="2011680"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98448"/>
            <a:ext cx="10332720" cy="4846320"/>
          </a:xfrm>
          <a:prstGeom prst="rect">
            <a:avLst/>
          </a:prstGeom>
          <a:noFill/>
        </p:spPr>
        <p:txBody>
          <a:bodyPr wrap="square" anchor="t" lIns="0" rIns="0" tIns="0" bIns="0">
            <a:spAutoFit/>
          </a:bodyPr>
          <a:lstStyle/>
          <a:p>
            <a:pPr>
              <a:spcAft>
                <a:spcPts val="700"/>
              </a:spcAft>
            </a:pPr>
            <a:r>
              <a:rPr sz="1200" b="1" i="0">
                <a:solidFill>
                  <a:srgbClr val="0A314D"/>
                </a:solidFill>
                <a:latin typeface="Open Sans"/>
              </a:rPr>
              <a:t>Countries (19):  </a:t>
            </a:r>
            <a:r>
              <a:rPr sz="1200" b="0" i="0">
                <a:solidFill>
                  <a:srgbClr val="2C2C2C"/>
                </a:solidFill>
                <a:latin typeface="Open Sans"/>
              </a:rPr>
              <a:t>Argentina, Australia, Brazil, Canada, China, France, Germany, India, Indonesia, Italy, Japan, Mexico, Poland, Russia, Saudi Arabia, South Korea, Türkiye, United Kingdom, United States.</a:t>
            </a:r>
          </a:p>
          <a:p>
            <a:pPr>
              <a:spcAft>
                <a:spcPts val="700"/>
              </a:spcAft>
            </a:pPr>
            <a:r>
              <a:rPr sz="1200" b="1" i="0">
                <a:solidFill>
                  <a:srgbClr val="0A314D"/>
                </a:solidFill>
                <a:latin typeface="Open Sans"/>
              </a:rPr>
              <a:t>Substitution:  </a:t>
            </a:r>
            <a:r>
              <a:rPr sz="1200" b="0" i="0">
                <a:solidFill>
                  <a:srgbClr val="2C2C2C"/>
                </a:solidFill>
                <a:latin typeface="Open Sans"/>
              </a:rPr>
              <a:t>Poland is covered in place of South Africa — a deliberate substitution, not an omission.</a:t>
            </a:r>
          </a:p>
          <a:p>
            <a:pPr>
              <a:spcAft>
                <a:spcPts val="700"/>
              </a:spcAft>
            </a:pPr>
            <a:r>
              <a:rPr sz="1200" b="1" i="0">
                <a:solidFill>
                  <a:srgbClr val="0A314D"/>
                </a:solidFill>
                <a:latin typeface="Open Sans"/>
              </a:rPr>
              <a:t>Bloc members:  </a:t>
            </a:r>
            <a:r>
              <a:rPr sz="1200" b="0" i="0">
                <a:solidFill>
                  <a:srgbClr val="2C2C2C"/>
                </a:solidFill>
                <a:latin typeface="Open Sans"/>
              </a:rPr>
              <a:t>The European Union and African Union hold G20 seats as supranational blocs; they are profiled in the bloc annex following the country pages.</a:t>
            </a:r>
          </a:p>
          <a:p>
            <a:pPr>
              <a:spcAft>
                <a:spcPts val="700"/>
              </a:spcAft>
            </a:pPr>
            <a:r>
              <a:rPr sz="1200" b="1" i="0">
                <a:solidFill>
                  <a:srgbClr val="0A314D"/>
                </a:solidFill>
                <a:latin typeface="Open Sans"/>
              </a:rPr>
              <a:t>GDP:  </a:t>
            </a:r>
            <a:r>
              <a:rPr sz="1200" b="0" i="0">
                <a:solidFill>
                  <a:srgbClr val="2C2C2C"/>
                </a:solidFill>
                <a:latin typeface="Open Sans"/>
              </a:rPr>
              <a:t>Nominal (current USD), IMF World Economic Outlook 2025, single vintage across all 19.</a:t>
            </a:r>
          </a:p>
          <a:p>
            <a:pPr>
              <a:spcAft>
                <a:spcPts val="700"/>
              </a:spcAft>
            </a:pPr>
            <a:r>
              <a:rPr sz="1200" b="1" i="0">
                <a:solidFill>
                  <a:srgbClr val="0A314D"/>
                </a:solidFill>
                <a:latin typeface="Open Sans"/>
              </a:rPr>
              <a:t>U.S. bilateral trade:  </a:t>
            </a:r>
            <a:r>
              <a:rPr sz="1200" b="0" i="0">
                <a:solidFill>
                  <a:srgbClr val="2C2C2C"/>
                </a:solidFill>
                <a:latin typeface="Open Sans"/>
              </a:rPr>
              <a:t>U.S. Census Bureau goods trade, 2025 full year (goods basis), via Census-derived channels (see Sources).</a:t>
            </a:r>
          </a:p>
          <a:p>
            <a:pPr>
              <a:spcAft>
                <a:spcPts val="700"/>
              </a:spcAft>
            </a:pPr>
            <a:r>
              <a:rPr sz="1200" b="1" i="0">
                <a:solidFill>
                  <a:srgbClr val="0A314D"/>
                </a:solidFill>
                <a:latin typeface="Open Sans"/>
              </a:rPr>
              <a:t>Ministers:  </a:t>
            </a:r>
            <a:r>
              <a:rPr sz="1200" b="0" i="0">
                <a:solidFill>
                  <a:srgbClr val="2C2C2C"/>
                </a:solidFill>
                <a:latin typeface="Open Sans"/>
              </a:rPr>
              <a:t>Each officeholder confirmed current on 2026-07-16 by live search plus an independent verification pass. Where a portfolio is split, both responsible officials are profiled.</a:t>
            </a:r>
          </a:p>
        </p:txBody>
      </p:sp>
      <p:cxnSp>
        <p:nvCxnSpPr>
          <p:cNvPr id="7" name="Connector 6"/>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9" name="TextBox 8"/>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10" name="TextBox 9"/>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1672" cy="411480"/>
          </a:xfrm>
          <a:prstGeom prst="rect">
            <a:avLst/>
          </a:prstGeom>
          <a:noFill/>
        </p:spPr>
        <p:txBody>
          <a:bodyPr wrap="square" anchor="t" lIns="0" rIns="0" tIns="0" bIns="0">
            <a:spAutoFit/>
          </a:bodyPr>
          <a:lstStyle/>
          <a:p>
            <a:r>
              <a:rPr sz="2200" b="1" i="0">
                <a:solidFill>
                  <a:srgbClr val="0A314D"/>
                </a:solidFill>
                <a:latin typeface="Open Sans"/>
              </a:rPr>
              <a:t>Summary — GDP &amp; U.S. Bilateral Goods Trade</a:t>
            </a:r>
          </a:p>
        </p:txBody>
      </p:sp>
      <p:sp>
        <p:nvSpPr>
          <p:cNvPr id="4" name="TextBox 3"/>
          <p:cNvSpPr txBox="1"/>
          <p:nvPr/>
        </p:nvSpPr>
        <p:spPr>
          <a:xfrm>
            <a:off x="548640" y="694944"/>
            <a:ext cx="11091672" cy="256032"/>
          </a:xfrm>
          <a:prstGeom prst="rect">
            <a:avLst/>
          </a:prstGeom>
          <a:noFill/>
        </p:spPr>
        <p:txBody>
          <a:bodyPr wrap="square" anchor="t" lIns="0" rIns="0" tIns="0" bIns="0">
            <a:spAutoFit/>
          </a:bodyPr>
          <a:lstStyle/>
          <a:p>
            <a:r>
              <a:rPr sz="1050" b="0" i="0">
                <a:solidFill>
                  <a:srgbClr val="54606C"/>
                </a:solidFill>
                <a:latin typeface="Open Sans"/>
              </a:rPr>
              <a:t>USD billions · GDP 2025 · trade 2025 (goods) · part 1 of 2</a:t>
            </a:r>
          </a:p>
        </p:txBody>
      </p:sp>
      <p:sp>
        <p:nvSpPr>
          <p:cNvPr id="5" name="Rectangle 4"/>
          <p:cNvSpPr/>
          <p:nvPr/>
        </p:nvSpPr>
        <p:spPr>
          <a:xfrm>
            <a:off x="548640" y="1005840"/>
            <a:ext cx="2011680"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98448"/>
            <a:ext cx="11274552" cy="434340"/>
          </a:xfrm>
          <a:prstGeom prst="rect">
            <a:avLst/>
          </a:prstGeom>
          <a:solidFill>
            <a:srgbClr val="0A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53312"/>
            <a:ext cx="3108960" cy="342900"/>
          </a:xfrm>
          <a:prstGeom prst="rect">
            <a:avLst/>
          </a:prstGeom>
          <a:noFill/>
        </p:spPr>
        <p:txBody>
          <a:bodyPr wrap="square" anchor="ctr" lIns="0" rIns="0" tIns="0" bIns="0">
            <a:spAutoFit/>
          </a:bodyPr>
          <a:lstStyle/>
          <a:p>
            <a:pPr algn="l"/>
            <a:r>
              <a:rPr sz="1150" b="1" i="0">
                <a:solidFill>
                  <a:srgbClr val="FFFFFF"/>
                </a:solidFill>
                <a:latin typeface="Open Sans"/>
              </a:rPr>
              <a:t>Country</a:t>
            </a:r>
          </a:p>
        </p:txBody>
      </p:sp>
      <p:sp>
        <p:nvSpPr>
          <p:cNvPr id="8" name="TextBox 7"/>
          <p:cNvSpPr txBox="1"/>
          <p:nvPr/>
        </p:nvSpPr>
        <p:spPr>
          <a:xfrm>
            <a:off x="3657600" y="1353312"/>
            <a:ext cx="1828800" cy="342900"/>
          </a:xfrm>
          <a:prstGeom prst="rect">
            <a:avLst/>
          </a:prstGeom>
          <a:noFill/>
        </p:spPr>
        <p:txBody>
          <a:bodyPr wrap="square" anchor="ctr" lIns="0" rIns="0" tIns="0" bIns="0">
            <a:spAutoFit/>
          </a:bodyPr>
          <a:lstStyle/>
          <a:p>
            <a:pPr algn="r"/>
            <a:r>
              <a:rPr sz="1150" b="1" i="0">
                <a:solidFill>
                  <a:srgbClr val="FFFFFF"/>
                </a:solidFill>
                <a:latin typeface="Open Sans"/>
              </a:rPr>
              <a:t>GDP (2025)</a:t>
            </a:r>
          </a:p>
        </p:txBody>
      </p:sp>
      <p:sp>
        <p:nvSpPr>
          <p:cNvPr id="9" name="TextBox 8"/>
          <p:cNvSpPr txBox="1"/>
          <p:nvPr/>
        </p:nvSpPr>
        <p:spPr>
          <a:xfrm>
            <a:off x="5532120" y="1353312"/>
            <a:ext cx="2011680" cy="342900"/>
          </a:xfrm>
          <a:prstGeom prst="rect">
            <a:avLst/>
          </a:prstGeom>
          <a:noFill/>
        </p:spPr>
        <p:txBody>
          <a:bodyPr wrap="square" anchor="ctr" lIns="0" rIns="0" tIns="0" bIns="0">
            <a:spAutoFit/>
          </a:bodyPr>
          <a:lstStyle/>
          <a:p>
            <a:pPr algn="r"/>
            <a:r>
              <a:rPr sz="1150" b="1" i="0">
                <a:solidFill>
                  <a:srgbClr val="FFFFFF"/>
                </a:solidFill>
                <a:latin typeface="Open Sans"/>
              </a:rPr>
              <a:t>U.S. exports to</a:t>
            </a:r>
          </a:p>
        </p:txBody>
      </p:sp>
      <p:sp>
        <p:nvSpPr>
          <p:cNvPr id="10" name="TextBox 9"/>
          <p:cNvSpPr txBox="1"/>
          <p:nvPr/>
        </p:nvSpPr>
        <p:spPr>
          <a:xfrm>
            <a:off x="7589520" y="1353312"/>
            <a:ext cx="2103120" cy="342900"/>
          </a:xfrm>
          <a:prstGeom prst="rect">
            <a:avLst/>
          </a:prstGeom>
          <a:noFill/>
        </p:spPr>
        <p:txBody>
          <a:bodyPr wrap="square" anchor="ctr" lIns="0" rIns="0" tIns="0" bIns="0">
            <a:spAutoFit/>
          </a:bodyPr>
          <a:lstStyle/>
          <a:p>
            <a:pPr algn="r"/>
            <a:r>
              <a:rPr sz="1150" b="1" i="0">
                <a:solidFill>
                  <a:srgbClr val="FFFFFF"/>
                </a:solidFill>
                <a:latin typeface="Open Sans"/>
              </a:rPr>
              <a:t>U.S. imports from</a:t>
            </a:r>
          </a:p>
        </p:txBody>
      </p:sp>
      <p:sp>
        <p:nvSpPr>
          <p:cNvPr id="11" name="TextBox 10"/>
          <p:cNvSpPr txBox="1"/>
          <p:nvPr/>
        </p:nvSpPr>
        <p:spPr>
          <a:xfrm>
            <a:off x="9738360" y="1353312"/>
            <a:ext cx="1920240" cy="342900"/>
          </a:xfrm>
          <a:prstGeom prst="rect">
            <a:avLst/>
          </a:prstGeom>
          <a:noFill/>
        </p:spPr>
        <p:txBody>
          <a:bodyPr wrap="square" anchor="ctr" lIns="0" rIns="0" tIns="0" bIns="0">
            <a:spAutoFit/>
          </a:bodyPr>
          <a:lstStyle/>
          <a:p>
            <a:pPr algn="r"/>
            <a:r>
              <a:rPr sz="1150" b="1" i="0">
                <a:solidFill>
                  <a:srgbClr val="FFFFFF"/>
                </a:solidFill>
                <a:latin typeface="Open Sans"/>
              </a:rPr>
              <a:t>U.S. bilateral balance</a:t>
            </a:r>
          </a:p>
        </p:txBody>
      </p:sp>
      <p:sp>
        <p:nvSpPr>
          <p:cNvPr id="12" name="Rectangle 11"/>
          <p:cNvSpPr/>
          <p:nvPr/>
        </p:nvSpPr>
        <p:spPr>
          <a:xfrm>
            <a:off x="457200" y="1732788"/>
            <a:ext cx="11274552" cy="4343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778508"/>
            <a:ext cx="3108960" cy="361187"/>
          </a:xfrm>
          <a:prstGeom prst="rect">
            <a:avLst/>
          </a:prstGeom>
          <a:noFill/>
        </p:spPr>
        <p:txBody>
          <a:bodyPr wrap="square" anchor="ctr" lIns="0" rIns="0" tIns="0" bIns="0">
            <a:spAutoFit/>
          </a:bodyPr>
          <a:lstStyle/>
          <a:p>
            <a:pPr algn="l"/>
            <a:r>
              <a:rPr sz="1150" b="1" i="0">
                <a:solidFill>
                  <a:srgbClr val="2C2C2C"/>
                </a:solidFill>
                <a:latin typeface="Open Sans"/>
              </a:rPr>
              <a:t>Argentina</a:t>
            </a:r>
          </a:p>
        </p:txBody>
      </p:sp>
      <p:sp>
        <p:nvSpPr>
          <p:cNvPr id="14" name="TextBox 13"/>
          <p:cNvSpPr txBox="1"/>
          <p:nvPr/>
        </p:nvSpPr>
        <p:spPr>
          <a:xfrm>
            <a:off x="3657600" y="1778508"/>
            <a:ext cx="1828800" cy="361187"/>
          </a:xfrm>
          <a:prstGeom prst="rect">
            <a:avLst/>
          </a:prstGeom>
          <a:noFill/>
        </p:spPr>
        <p:txBody>
          <a:bodyPr wrap="square" anchor="ctr" lIns="0" rIns="0" tIns="0" bIns="0">
            <a:spAutoFit/>
          </a:bodyPr>
          <a:lstStyle/>
          <a:p>
            <a:pPr algn="r"/>
            <a:r>
              <a:rPr sz="1150" b="0" i="0">
                <a:solidFill>
                  <a:srgbClr val="2C2C2C"/>
                </a:solidFill>
                <a:latin typeface="Open Sans"/>
              </a:rPr>
              <a:t>$681.5B</a:t>
            </a:r>
          </a:p>
        </p:txBody>
      </p:sp>
      <p:sp>
        <p:nvSpPr>
          <p:cNvPr id="15" name="TextBox 14"/>
          <p:cNvSpPr txBox="1"/>
          <p:nvPr/>
        </p:nvSpPr>
        <p:spPr>
          <a:xfrm>
            <a:off x="5532120" y="1778508"/>
            <a:ext cx="2011680" cy="361187"/>
          </a:xfrm>
          <a:prstGeom prst="rect">
            <a:avLst/>
          </a:prstGeom>
          <a:noFill/>
        </p:spPr>
        <p:txBody>
          <a:bodyPr wrap="square" anchor="ctr" lIns="0" rIns="0" tIns="0" bIns="0">
            <a:spAutoFit/>
          </a:bodyPr>
          <a:lstStyle/>
          <a:p>
            <a:pPr algn="r"/>
            <a:r>
              <a:rPr sz="1150" b="0" i="0">
                <a:solidFill>
                  <a:srgbClr val="2C2C2C"/>
                </a:solidFill>
                <a:latin typeface="Open Sans"/>
              </a:rPr>
              <a:t>$9.9B</a:t>
            </a:r>
          </a:p>
        </p:txBody>
      </p:sp>
      <p:sp>
        <p:nvSpPr>
          <p:cNvPr id="16" name="TextBox 15"/>
          <p:cNvSpPr txBox="1"/>
          <p:nvPr/>
        </p:nvSpPr>
        <p:spPr>
          <a:xfrm>
            <a:off x="7589520" y="1778508"/>
            <a:ext cx="2103120" cy="361187"/>
          </a:xfrm>
          <a:prstGeom prst="rect">
            <a:avLst/>
          </a:prstGeom>
          <a:noFill/>
        </p:spPr>
        <p:txBody>
          <a:bodyPr wrap="square" anchor="ctr" lIns="0" rIns="0" tIns="0" bIns="0">
            <a:spAutoFit/>
          </a:bodyPr>
          <a:lstStyle/>
          <a:p>
            <a:pPr algn="r"/>
            <a:r>
              <a:rPr sz="1150" b="0" i="0">
                <a:solidFill>
                  <a:srgbClr val="2C2C2C"/>
                </a:solidFill>
                <a:latin typeface="Open Sans"/>
              </a:rPr>
              <a:t>$8.3B</a:t>
            </a:r>
          </a:p>
        </p:txBody>
      </p:sp>
      <p:sp>
        <p:nvSpPr>
          <p:cNvPr id="17" name="TextBox 16"/>
          <p:cNvSpPr txBox="1"/>
          <p:nvPr/>
        </p:nvSpPr>
        <p:spPr>
          <a:xfrm>
            <a:off x="9738360" y="1778508"/>
            <a:ext cx="1920240" cy="361187"/>
          </a:xfrm>
          <a:prstGeom prst="rect">
            <a:avLst/>
          </a:prstGeom>
          <a:noFill/>
        </p:spPr>
        <p:txBody>
          <a:bodyPr wrap="square" anchor="ctr" lIns="0" rIns="0" tIns="0" bIns="0">
            <a:spAutoFit/>
          </a:bodyPr>
          <a:lstStyle/>
          <a:p>
            <a:pPr algn="r"/>
            <a:r>
              <a:rPr sz="1150" b="1" i="0">
                <a:solidFill>
                  <a:srgbClr val="00833E"/>
                </a:solidFill>
                <a:latin typeface="Open Sans"/>
              </a:rPr>
              <a:t>+$1.6B</a:t>
            </a:r>
          </a:p>
        </p:txBody>
      </p:sp>
      <p:sp>
        <p:nvSpPr>
          <p:cNvPr id="18" name="TextBox 17"/>
          <p:cNvSpPr txBox="1"/>
          <p:nvPr/>
        </p:nvSpPr>
        <p:spPr>
          <a:xfrm>
            <a:off x="548640" y="2212848"/>
            <a:ext cx="3108960" cy="361187"/>
          </a:xfrm>
          <a:prstGeom prst="rect">
            <a:avLst/>
          </a:prstGeom>
          <a:noFill/>
        </p:spPr>
        <p:txBody>
          <a:bodyPr wrap="square" anchor="ctr" lIns="0" rIns="0" tIns="0" bIns="0">
            <a:spAutoFit/>
          </a:bodyPr>
          <a:lstStyle/>
          <a:p>
            <a:pPr algn="l"/>
            <a:r>
              <a:rPr sz="1150" b="1" i="0">
                <a:solidFill>
                  <a:srgbClr val="2C2C2C"/>
                </a:solidFill>
                <a:latin typeface="Open Sans"/>
              </a:rPr>
              <a:t>Australia</a:t>
            </a:r>
          </a:p>
        </p:txBody>
      </p:sp>
      <p:sp>
        <p:nvSpPr>
          <p:cNvPr id="19" name="TextBox 18"/>
          <p:cNvSpPr txBox="1"/>
          <p:nvPr/>
        </p:nvSpPr>
        <p:spPr>
          <a:xfrm>
            <a:off x="3657600" y="2212848"/>
            <a:ext cx="1828800" cy="361187"/>
          </a:xfrm>
          <a:prstGeom prst="rect">
            <a:avLst/>
          </a:prstGeom>
          <a:noFill/>
        </p:spPr>
        <p:txBody>
          <a:bodyPr wrap="square" anchor="ctr" lIns="0" rIns="0" tIns="0" bIns="0">
            <a:spAutoFit/>
          </a:bodyPr>
          <a:lstStyle/>
          <a:p>
            <a:pPr algn="r"/>
            <a:r>
              <a:rPr sz="1150" b="0" i="0">
                <a:solidFill>
                  <a:srgbClr val="2C2C2C"/>
                </a:solidFill>
                <a:latin typeface="Open Sans"/>
              </a:rPr>
              <a:t>$1,840.0B</a:t>
            </a:r>
          </a:p>
        </p:txBody>
      </p:sp>
      <p:sp>
        <p:nvSpPr>
          <p:cNvPr id="20" name="TextBox 19"/>
          <p:cNvSpPr txBox="1"/>
          <p:nvPr/>
        </p:nvSpPr>
        <p:spPr>
          <a:xfrm>
            <a:off x="5532120" y="2212848"/>
            <a:ext cx="2011680" cy="361187"/>
          </a:xfrm>
          <a:prstGeom prst="rect">
            <a:avLst/>
          </a:prstGeom>
          <a:noFill/>
        </p:spPr>
        <p:txBody>
          <a:bodyPr wrap="square" anchor="ctr" lIns="0" rIns="0" tIns="0" bIns="0">
            <a:spAutoFit/>
          </a:bodyPr>
          <a:lstStyle/>
          <a:p>
            <a:pPr algn="r"/>
            <a:r>
              <a:rPr sz="1150" b="0" i="0">
                <a:solidFill>
                  <a:srgbClr val="2C2C2C"/>
                </a:solidFill>
                <a:latin typeface="Open Sans"/>
              </a:rPr>
              <a:t>$33.7B</a:t>
            </a:r>
          </a:p>
        </p:txBody>
      </p:sp>
      <p:sp>
        <p:nvSpPr>
          <p:cNvPr id="21" name="TextBox 20"/>
          <p:cNvSpPr txBox="1"/>
          <p:nvPr/>
        </p:nvSpPr>
        <p:spPr>
          <a:xfrm>
            <a:off x="7589520" y="2212848"/>
            <a:ext cx="2103120" cy="361187"/>
          </a:xfrm>
          <a:prstGeom prst="rect">
            <a:avLst/>
          </a:prstGeom>
          <a:noFill/>
        </p:spPr>
        <p:txBody>
          <a:bodyPr wrap="square" anchor="ctr" lIns="0" rIns="0" tIns="0" bIns="0">
            <a:spAutoFit/>
          </a:bodyPr>
          <a:lstStyle/>
          <a:p>
            <a:pPr algn="r"/>
            <a:r>
              <a:rPr sz="1150" b="0" i="0">
                <a:solidFill>
                  <a:srgbClr val="2C2C2C"/>
                </a:solidFill>
                <a:latin typeface="Open Sans"/>
              </a:rPr>
              <a:t>$29.1B</a:t>
            </a:r>
          </a:p>
        </p:txBody>
      </p:sp>
      <p:sp>
        <p:nvSpPr>
          <p:cNvPr id="22" name="TextBox 21"/>
          <p:cNvSpPr txBox="1"/>
          <p:nvPr/>
        </p:nvSpPr>
        <p:spPr>
          <a:xfrm>
            <a:off x="9738360" y="2212848"/>
            <a:ext cx="1920240" cy="361187"/>
          </a:xfrm>
          <a:prstGeom prst="rect">
            <a:avLst/>
          </a:prstGeom>
          <a:noFill/>
        </p:spPr>
        <p:txBody>
          <a:bodyPr wrap="square" anchor="ctr" lIns="0" rIns="0" tIns="0" bIns="0">
            <a:spAutoFit/>
          </a:bodyPr>
          <a:lstStyle/>
          <a:p>
            <a:pPr algn="r"/>
            <a:r>
              <a:rPr sz="1150" b="1" i="0">
                <a:solidFill>
                  <a:srgbClr val="00833E"/>
                </a:solidFill>
                <a:latin typeface="Open Sans"/>
              </a:rPr>
              <a:t>+$4.6B</a:t>
            </a:r>
          </a:p>
        </p:txBody>
      </p:sp>
      <p:sp>
        <p:nvSpPr>
          <p:cNvPr id="23" name="Rectangle 22"/>
          <p:cNvSpPr/>
          <p:nvPr/>
        </p:nvSpPr>
        <p:spPr>
          <a:xfrm>
            <a:off x="457200" y="2601468"/>
            <a:ext cx="11274552" cy="4343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2647187"/>
            <a:ext cx="3108960" cy="361187"/>
          </a:xfrm>
          <a:prstGeom prst="rect">
            <a:avLst/>
          </a:prstGeom>
          <a:noFill/>
        </p:spPr>
        <p:txBody>
          <a:bodyPr wrap="square" anchor="ctr" lIns="0" rIns="0" tIns="0" bIns="0">
            <a:spAutoFit/>
          </a:bodyPr>
          <a:lstStyle/>
          <a:p>
            <a:pPr algn="l"/>
            <a:r>
              <a:rPr sz="1150" b="1" i="0">
                <a:solidFill>
                  <a:srgbClr val="2C2C2C"/>
                </a:solidFill>
                <a:latin typeface="Open Sans"/>
              </a:rPr>
              <a:t>Brazil</a:t>
            </a:r>
          </a:p>
        </p:txBody>
      </p:sp>
      <p:sp>
        <p:nvSpPr>
          <p:cNvPr id="25" name="TextBox 24"/>
          <p:cNvSpPr txBox="1"/>
          <p:nvPr/>
        </p:nvSpPr>
        <p:spPr>
          <a:xfrm>
            <a:off x="3657600" y="2647187"/>
            <a:ext cx="1828800" cy="361187"/>
          </a:xfrm>
          <a:prstGeom prst="rect">
            <a:avLst/>
          </a:prstGeom>
          <a:noFill/>
        </p:spPr>
        <p:txBody>
          <a:bodyPr wrap="square" anchor="ctr" lIns="0" rIns="0" tIns="0" bIns="0">
            <a:spAutoFit/>
          </a:bodyPr>
          <a:lstStyle/>
          <a:p>
            <a:pPr algn="r"/>
            <a:r>
              <a:rPr sz="1150" b="0" i="0">
                <a:solidFill>
                  <a:srgbClr val="2C2C2C"/>
                </a:solidFill>
                <a:latin typeface="Open Sans"/>
              </a:rPr>
              <a:t>$2,280.0B</a:t>
            </a:r>
          </a:p>
        </p:txBody>
      </p:sp>
      <p:sp>
        <p:nvSpPr>
          <p:cNvPr id="26" name="TextBox 25"/>
          <p:cNvSpPr txBox="1"/>
          <p:nvPr/>
        </p:nvSpPr>
        <p:spPr>
          <a:xfrm>
            <a:off x="5532120" y="2647187"/>
            <a:ext cx="2011680" cy="361187"/>
          </a:xfrm>
          <a:prstGeom prst="rect">
            <a:avLst/>
          </a:prstGeom>
          <a:noFill/>
        </p:spPr>
        <p:txBody>
          <a:bodyPr wrap="square" anchor="ctr" lIns="0" rIns="0" tIns="0" bIns="0">
            <a:spAutoFit/>
          </a:bodyPr>
          <a:lstStyle/>
          <a:p>
            <a:pPr algn="r"/>
            <a:r>
              <a:rPr sz="1150" b="0" i="0">
                <a:solidFill>
                  <a:srgbClr val="2C2C2C"/>
                </a:solidFill>
                <a:latin typeface="Open Sans"/>
              </a:rPr>
              <a:t>$54.4B</a:t>
            </a:r>
          </a:p>
        </p:txBody>
      </p:sp>
      <p:sp>
        <p:nvSpPr>
          <p:cNvPr id="27" name="TextBox 26"/>
          <p:cNvSpPr txBox="1"/>
          <p:nvPr/>
        </p:nvSpPr>
        <p:spPr>
          <a:xfrm>
            <a:off x="7589520" y="2647187"/>
            <a:ext cx="2103120" cy="361187"/>
          </a:xfrm>
          <a:prstGeom prst="rect">
            <a:avLst/>
          </a:prstGeom>
          <a:noFill/>
        </p:spPr>
        <p:txBody>
          <a:bodyPr wrap="square" anchor="ctr" lIns="0" rIns="0" tIns="0" bIns="0">
            <a:spAutoFit/>
          </a:bodyPr>
          <a:lstStyle/>
          <a:p>
            <a:pPr algn="r"/>
            <a:r>
              <a:rPr sz="1150" b="0" i="0">
                <a:solidFill>
                  <a:srgbClr val="2C2C2C"/>
                </a:solidFill>
                <a:latin typeface="Open Sans"/>
              </a:rPr>
              <a:t>$39.9B</a:t>
            </a:r>
          </a:p>
        </p:txBody>
      </p:sp>
      <p:sp>
        <p:nvSpPr>
          <p:cNvPr id="28" name="TextBox 27"/>
          <p:cNvSpPr txBox="1"/>
          <p:nvPr/>
        </p:nvSpPr>
        <p:spPr>
          <a:xfrm>
            <a:off x="9738360" y="2647187"/>
            <a:ext cx="1920240" cy="361187"/>
          </a:xfrm>
          <a:prstGeom prst="rect">
            <a:avLst/>
          </a:prstGeom>
          <a:noFill/>
        </p:spPr>
        <p:txBody>
          <a:bodyPr wrap="square" anchor="ctr" lIns="0" rIns="0" tIns="0" bIns="0">
            <a:spAutoFit/>
          </a:bodyPr>
          <a:lstStyle/>
          <a:p>
            <a:pPr algn="r"/>
            <a:r>
              <a:rPr sz="1150" b="1" i="0">
                <a:solidFill>
                  <a:srgbClr val="00833E"/>
                </a:solidFill>
                <a:latin typeface="Open Sans"/>
              </a:rPr>
              <a:t>+$14.5B</a:t>
            </a:r>
          </a:p>
        </p:txBody>
      </p:sp>
      <p:sp>
        <p:nvSpPr>
          <p:cNvPr id="29" name="TextBox 28"/>
          <p:cNvSpPr txBox="1"/>
          <p:nvPr/>
        </p:nvSpPr>
        <p:spPr>
          <a:xfrm>
            <a:off x="548640" y="3081527"/>
            <a:ext cx="3108960" cy="361187"/>
          </a:xfrm>
          <a:prstGeom prst="rect">
            <a:avLst/>
          </a:prstGeom>
          <a:noFill/>
        </p:spPr>
        <p:txBody>
          <a:bodyPr wrap="square" anchor="ctr" lIns="0" rIns="0" tIns="0" bIns="0">
            <a:spAutoFit/>
          </a:bodyPr>
          <a:lstStyle/>
          <a:p>
            <a:pPr algn="l"/>
            <a:r>
              <a:rPr sz="1150" b="1" i="0">
                <a:solidFill>
                  <a:srgbClr val="2C2C2C"/>
                </a:solidFill>
                <a:latin typeface="Open Sans"/>
              </a:rPr>
              <a:t>Canada</a:t>
            </a:r>
          </a:p>
        </p:txBody>
      </p:sp>
      <p:sp>
        <p:nvSpPr>
          <p:cNvPr id="30" name="TextBox 29"/>
          <p:cNvSpPr txBox="1"/>
          <p:nvPr/>
        </p:nvSpPr>
        <p:spPr>
          <a:xfrm>
            <a:off x="3657600" y="3081527"/>
            <a:ext cx="1828800" cy="361187"/>
          </a:xfrm>
          <a:prstGeom prst="rect">
            <a:avLst/>
          </a:prstGeom>
          <a:noFill/>
        </p:spPr>
        <p:txBody>
          <a:bodyPr wrap="square" anchor="ctr" lIns="0" rIns="0" tIns="0" bIns="0">
            <a:spAutoFit/>
          </a:bodyPr>
          <a:lstStyle/>
          <a:p>
            <a:pPr algn="r"/>
            <a:r>
              <a:rPr sz="1150" b="0" i="0">
                <a:solidFill>
                  <a:srgbClr val="2C2C2C"/>
                </a:solidFill>
                <a:latin typeface="Open Sans"/>
              </a:rPr>
              <a:t>$2,284.0B</a:t>
            </a:r>
          </a:p>
        </p:txBody>
      </p:sp>
      <p:sp>
        <p:nvSpPr>
          <p:cNvPr id="31" name="TextBox 30"/>
          <p:cNvSpPr txBox="1"/>
          <p:nvPr/>
        </p:nvSpPr>
        <p:spPr>
          <a:xfrm>
            <a:off x="5532120" y="3081527"/>
            <a:ext cx="2011680" cy="361187"/>
          </a:xfrm>
          <a:prstGeom prst="rect">
            <a:avLst/>
          </a:prstGeom>
          <a:noFill/>
        </p:spPr>
        <p:txBody>
          <a:bodyPr wrap="square" anchor="ctr" lIns="0" rIns="0" tIns="0" bIns="0">
            <a:spAutoFit/>
          </a:bodyPr>
          <a:lstStyle/>
          <a:p>
            <a:pPr algn="r"/>
            <a:r>
              <a:rPr sz="1150" b="0" i="0">
                <a:solidFill>
                  <a:srgbClr val="2C2C2C"/>
                </a:solidFill>
                <a:latin typeface="Open Sans"/>
              </a:rPr>
              <a:t>$336.5B</a:t>
            </a:r>
          </a:p>
        </p:txBody>
      </p:sp>
      <p:sp>
        <p:nvSpPr>
          <p:cNvPr id="32" name="TextBox 31"/>
          <p:cNvSpPr txBox="1"/>
          <p:nvPr/>
        </p:nvSpPr>
        <p:spPr>
          <a:xfrm>
            <a:off x="7589520" y="3081527"/>
            <a:ext cx="2103120" cy="361187"/>
          </a:xfrm>
          <a:prstGeom prst="rect">
            <a:avLst/>
          </a:prstGeom>
          <a:noFill/>
        </p:spPr>
        <p:txBody>
          <a:bodyPr wrap="square" anchor="ctr" lIns="0" rIns="0" tIns="0" bIns="0">
            <a:spAutoFit/>
          </a:bodyPr>
          <a:lstStyle/>
          <a:p>
            <a:pPr algn="r"/>
            <a:r>
              <a:rPr sz="1150" b="0" i="0">
                <a:solidFill>
                  <a:srgbClr val="2C2C2C"/>
                </a:solidFill>
                <a:latin typeface="Open Sans"/>
              </a:rPr>
              <a:t>$383.0B</a:t>
            </a:r>
          </a:p>
        </p:txBody>
      </p:sp>
      <p:sp>
        <p:nvSpPr>
          <p:cNvPr id="33" name="TextBox 32"/>
          <p:cNvSpPr txBox="1"/>
          <p:nvPr/>
        </p:nvSpPr>
        <p:spPr>
          <a:xfrm>
            <a:off x="9738360" y="3081527"/>
            <a:ext cx="1920240" cy="361187"/>
          </a:xfrm>
          <a:prstGeom prst="rect">
            <a:avLst/>
          </a:prstGeom>
          <a:noFill/>
        </p:spPr>
        <p:txBody>
          <a:bodyPr wrap="square" anchor="ctr" lIns="0" rIns="0" tIns="0" bIns="0">
            <a:spAutoFit/>
          </a:bodyPr>
          <a:lstStyle/>
          <a:p>
            <a:pPr algn="r"/>
            <a:r>
              <a:rPr sz="1150" b="1" i="0">
                <a:solidFill>
                  <a:srgbClr val="D46127"/>
                </a:solidFill>
                <a:latin typeface="Open Sans"/>
              </a:rPr>
              <a:t>−$46.5B</a:t>
            </a:r>
          </a:p>
        </p:txBody>
      </p:sp>
      <p:sp>
        <p:nvSpPr>
          <p:cNvPr id="34" name="Rectangle 33"/>
          <p:cNvSpPr/>
          <p:nvPr/>
        </p:nvSpPr>
        <p:spPr>
          <a:xfrm>
            <a:off x="457200" y="3470148"/>
            <a:ext cx="11274552" cy="4343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3515868"/>
            <a:ext cx="3108960" cy="361187"/>
          </a:xfrm>
          <a:prstGeom prst="rect">
            <a:avLst/>
          </a:prstGeom>
          <a:noFill/>
        </p:spPr>
        <p:txBody>
          <a:bodyPr wrap="square" anchor="ctr" lIns="0" rIns="0" tIns="0" bIns="0">
            <a:spAutoFit/>
          </a:bodyPr>
          <a:lstStyle/>
          <a:p>
            <a:pPr algn="l"/>
            <a:r>
              <a:rPr sz="1150" b="1" i="0">
                <a:solidFill>
                  <a:srgbClr val="2C2C2C"/>
                </a:solidFill>
                <a:latin typeface="Open Sans"/>
              </a:rPr>
              <a:t>China</a:t>
            </a:r>
          </a:p>
        </p:txBody>
      </p:sp>
      <p:sp>
        <p:nvSpPr>
          <p:cNvPr id="36" name="TextBox 35"/>
          <p:cNvSpPr txBox="1"/>
          <p:nvPr/>
        </p:nvSpPr>
        <p:spPr>
          <a:xfrm>
            <a:off x="3657600" y="3515868"/>
            <a:ext cx="1828800" cy="361187"/>
          </a:xfrm>
          <a:prstGeom prst="rect">
            <a:avLst/>
          </a:prstGeom>
          <a:noFill/>
        </p:spPr>
        <p:txBody>
          <a:bodyPr wrap="square" anchor="ctr" lIns="0" rIns="0" tIns="0" bIns="0">
            <a:spAutoFit/>
          </a:bodyPr>
          <a:lstStyle/>
          <a:p>
            <a:pPr algn="r"/>
            <a:r>
              <a:rPr sz="1150" b="0" i="0">
                <a:solidFill>
                  <a:srgbClr val="2C2C2C"/>
                </a:solidFill>
                <a:latin typeface="Open Sans"/>
              </a:rPr>
              <a:t>$19,399.0B</a:t>
            </a:r>
          </a:p>
        </p:txBody>
      </p:sp>
      <p:sp>
        <p:nvSpPr>
          <p:cNvPr id="37" name="TextBox 36"/>
          <p:cNvSpPr txBox="1"/>
          <p:nvPr/>
        </p:nvSpPr>
        <p:spPr>
          <a:xfrm>
            <a:off x="5532120" y="3515868"/>
            <a:ext cx="2011680" cy="361187"/>
          </a:xfrm>
          <a:prstGeom prst="rect">
            <a:avLst/>
          </a:prstGeom>
          <a:noFill/>
        </p:spPr>
        <p:txBody>
          <a:bodyPr wrap="square" anchor="ctr" lIns="0" rIns="0" tIns="0" bIns="0">
            <a:spAutoFit/>
          </a:bodyPr>
          <a:lstStyle/>
          <a:p>
            <a:pPr algn="r"/>
            <a:r>
              <a:rPr sz="1150" b="0" i="0">
                <a:solidFill>
                  <a:srgbClr val="2C2C2C"/>
                </a:solidFill>
                <a:latin typeface="Open Sans"/>
              </a:rPr>
              <a:t>$106.3B</a:t>
            </a:r>
          </a:p>
        </p:txBody>
      </p:sp>
      <p:sp>
        <p:nvSpPr>
          <p:cNvPr id="38" name="TextBox 37"/>
          <p:cNvSpPr txBox="1"/>
          <p:nvPr/>
        </p:nvSpPr>
        <p:spPr>
          <a:xfrm>
            <a:off x="7589520" y="3515868"/>
            <a:ext cx="2103120" cy="361187"/>
          </a:xfrm>
          <a:prstGeom prst="rect">
            <a:avLst/>
          </a:prstGeom>
          <a:noFill/>
        </p:spPr>
        <p:txBody>
          <a:bodyPr wrap="square" anchor="ctr" lIns="0" rIns="0" tIns="0" bIns="0">
            <a:spAutoFit/>
          </a:bodyPr>
          <a:lstStyle/>
          <a:p>
            <a:pPr algn="r"/>
            <a:r>
              <a:rPr sz="1150" b="0" i="0">
                <a:solidFill>
                  <a:srgbClr val="2C2C2C"/>
                </a:solidFill>
                <a:latin typeface="Open Sans"/>
              </a:rPr>
              <a:t>$308.4B</a:t>
            </a:r>
          </a:p>
        </p:txBody>
      </p:sp>
      <p:sp>
        <p:nvSpPr>
          <p:cNvPr id="39" name="TextBox 38"/>
          <p:cNvSpPr txBox="1"/>
          <p:nvPr/>
        </p:nvSpPr>
        <p:spPr>
          <a:xfrm>
            <a:off x="9738360" y="3515868"/>
            <a:ext cx="1920240" cy="361187"/>
          </a:xfrm>
          <a:prstGeom prst="rect">
            <a:avLst/>
          </a:prstGeom>
          <a:noFill/>
        </p:spPr>
        <p:txBody>
          <a:bodyPr wrap="square" anchor="ctr" lIns="0" rIns="0" tIns="0" bIns="0">
            <a:spAutoFit/>
          </a:bodyPr>
          <a:lstStyle/>
          <a:p>
            <a:pPr algn="r"/>
            <a:r>
              <a:rPr sz="1150" b="1" i="0">
                <a:solidFill>
                  <a:srgbClr val="D46127"/>
                </a:solidFill>
                <a:latin typeface="Open Sans"/>
              </a:rPr>
              <a:t>−$202.1B</a:t>
            </a:r>
          </a:p>
        </p:txBody>
      </p:sp>
      <p:sp>
        <p:nvSpPr>
          <p:cNvPr id="40" name="TextBox 39"/>
          <p:cNvSpPr txBox="1"/>
          <p:nvPr/>
        </p:nvSpPr>
        <p:spPr>
          <a:xfrm>
            <a:off x="548640" y="3950207"/>
            <a:ext cx="3108960" cy="361187"/>
          </a:xfrm>
          <a:prstGeom prst="rect">
            <a:avLst/>
          </a:prstGeom>
          <a:noFill/>
        </p:spPr>
        <p:txBody>
          <a:bodyPr wrap="square" anchor="ctr" lIns="0" rIns="0" tIns="0" bIns="0">
            <a:spAutoFit/>
          </a:bodyPr>
          <a:lstStyle/>
          <a:p>
            <a:pPr algn="l"/>
            <a:r>
              <a:rPr sz="1150" b="1" i="0">
                <a:solidFill>
                  <a:srgbClr val="2C2C2C"/>
                </a:solidFill>
                <a:latin typeface="Open Sans"/>
              </a:rPr>
              <a:t>France</a:t>
            </a:r>
          </a:p>
        </p:txBody>
      </p:sp>
      <p:sp>
        <p:nvSpPr>
          <p:cNvPr id="41" name="TextBox 40"/>
          <p:cNvSpPr txBox="1"/>
          <p:nvPr/>
        </p:nvSpPr>
        <p:spPr>
          <a:xfrm>
            <a:off x="3657600" y="3950207"/>
            <a:ext cx="1828800" cy="361187"/>
          </a:xfrm>
          <a:prstGeom prst="rect">
            <a:avLst/>
          </a:prstGeom>
          <a:noFill/>
        </p:spPr>
        <p:txBody>
          <a:bodyPr wrap="square" anchor="ctr" lIns="0" rIns="0" tIns="0" bIns="0">
            <a:spAutoFit/>
          </a:bodyPr>
          <a:lstStyle/>
          <a:p>
            <a:pPr algn="r"/>
            <a:r>
              <a:rPr sz="1150" b="0" i="0">
                <a:solidFill>
                  <a:srgbClr val="2C2C2C"/>
                </a:solidFill>
                <a:latin typeface="Open Sans"/>
              </a:rPr>
              <a:t>$3,362.0B</a:t>
            </a:r>
          </a:p>
        </p:txBody>
      </p:sp>
      <p:sp>
        <p:nvSpPr>
          <p:cNvPr id="42" name="TextBox 41"/>
          <p:cNvSpPr txBox="1"/>
          <p:nvPr/>
        </p:nvSpPr>
        <p:spPr>
          <a:xfrm>
            <a:off x="5532120" y="3950207"/>
            <a:ext cx="2011680" cy="361187"/>
          </a:xfrm>
          <a:prstGeom prst="rect">
            <a:avLst/>
          </a:prstGeom>
          <a:noFill/>
        </p:spPr>
        <p:txBody>
          <a:bodyPr wrap="square" anchor="ctr" lIns="0" rIns="0" tIns="0" bIns="0">
            <a:spAutoFit/>
          </a:bodyPr>
          <a:lstStyle/>
          <a:p>
            <a:pPr algn="r"/>
            <a:r>
              <a:rPr sz="1150" b="0" i="0">
                <a:solidFill>
                  <a:srgbClr val="2C2C2C"/>
                </a:solidFill>
                <a:latin typeface="Open Sans"/>
              </a:rPr>
              <a:t>$44.4B</a:t>
            </a:r>
          </a:p>
        </p:txBody>
      </p:sp>
      <p:sp>
        <p:nvSpPr>
          <p:cNvPr id="43" name="TextBox 42"/>
          <p:cNvSpPr txBox="1"/>
          <p:nvPr/>
        </p:nvSpPr>
        <p:spPr>
          <a:xfrm>
            <a:off x="7589520" y="3950207"/>
            <a:ext cx="2103120" cy="361187"/>
          </a:xfrm>
          <a:prstGeom prst="rect">
            <a:avLst/>
          </a:prstGeom>
          <a:noFill/>
        </p:spPr>
        <p:txBody>
          <a:bodyPr wrap="square" anchor="ctr" lIns="0" rIns="0" tIns="0" bIns="0">
            <a:spAutoFit/>
          </a:bodyPr>
          <a:lstStyle/>
          <a:p>
            <a:pPr algn="r"/>
            <a:r>
              <a:rPr sz="1150" b="0" i="0">
                <a:solidFill>
                  <a:srgbClr val="2C2C2C"/>
                </a:solidFill>
                <a:latin typeface="Open Sans"/>
              </a:rPr>
              <a:t>$61.1B</a:t>
            </a:r>
          </a:p>
        </p:txBody>
      </p:sp>
      <p:sp>
        <p:nvSpPr>
          <p:cNvPr id="44" name="TextBox 43"/>
          <p:cNvSpPr txBox="1"/>
          <p:nvPr/>
        </p:nvSpPr>
        <p:spPr>
          <a:xfrm>
            <a:off x="9738360" y="3950207"/>
            <a:ext cx="1920240" cy="361187"/>
          </a:xfrm>
          <a:prstGeom prst="rect">
            <a:avLst/>
          </a:prstGeom>
          <a:noFill/>
        </p:spPr>
        <p:txBody>
          <a:bodyPr wrap="square" anchor="ctr" lIns="0" rIns="0" tIns="0" bIns="0">
            <a:spAutoFit/>
          </a:bodyPr>
          <a:lstStyle/>
          <a:p>
            <a:pPr algn="r"/>
            <a:r>
              <a:rPr sz="1150" b="1" i="0">
                <a:solidFill>
                  <a:srgbClr val="D46127"/>
                </a:solidFill>
                <a:latin typeface="Open Sans"/>
              </a:rPr>
              <a:t>−$16.7B</a:t>
            </a:r>
          </a:p>
        </p:txBody>
      </p:sp>
      <p:sp>
        <p:nvSpPr>
          <p:cNvPr id="45" name="Rectangle 44"/>
          <p:cNvSpPr/>
          <p:nvPr/>
        </p:nvSpPr>
        <p:spPr>
          <a:xfrm>
            <a:off x="457200" y="4338827"/>
            <a:ext cx="11274552" cy="4343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4384547"/>
            <a:ext cx="3108960" cy="361187"/>
          </a:xfrm>
          <a:prstGeom prst="rect">
            <a:avLst/>
          </a:prstGeom>
          <a:noFill/>
        </p:spPr>
        <p:txBody>
          <a:bodyPr wrap="square" anchor="ctr" lIns="0" rIns="0" tIns="0" bIns="0">
            <a:spAutoFit/>
          </a:bodyPr>
          <a:lstStyle/>
          <a:p>
            <a:pPr algn="l"/>
            <a:r>
              <a:rPr sz="1150" b="1" i="0">
                <a:solidFill>
                  <a:srgbClr val="2C2C2C"/>
                </a:solidFill>
                <a:latin typeface="Open Sans"/>
              </a:rPr>
              <a:t>Germany</a:t>
            </a:r>
          </a:p>
        </p:txBody>
      </p:sp>
      <p:sp>
        <p:nvSpPr>
          <p:cNvPr id="47" name="TextBox 46"/>
          <p:cNvSpPr txBox="1"/>
          <p:nvPr/>
        </p:nvSpPr>
        <p:spPr>
          <a:xfrm>
            <a:off x="3657600" y="4384547"/>
            <a:ext cx="1828800" cy="361187"/>
          </a:xfrm>
          <a:prstGeom prst="rect">
            <a:avLst/>
          </a:prstGeom>
          <a:noFill/>
        </p:spPr>
        <p:txBody>
          <a:bodyPr wrap="square" anchor="ctr" lIns="0" rIns="0" tIns="0" bIns="0">
            <a:spAutoFit/>
          </a:bodyPr>
          <a:lstStyle/>
          <a:p>
            <a:pPr algn="r"/>
            <a:r>
              <a:rPr sz="1150" b="0" i="0">
                <a:solidFill>
                  <a:srgbClr val="2C2C2C"/>
                </a:solidFill>
                <a:latin typeface="Open Sans"/>
              </a:rPr>
              <a:t>$5,014.0B</a:t>
            </a:r>
          </a:p>
        </p:txBody>
      </p:sp>
      <p:sp>
        <p:nvSpPr>
          <p:cNvPr id="48" name="TextBox 47"/>
          <p:cNvSpPr txBox="1"/>
          <p:nvPr/>
        </p:nvSpPr>
        <p:spPr>
          <a:xfrm>
            <a:off x="5532120" y="4384547"/>
            <a:ext cx="2011680" cy="361187"/>
          </a:xfrm>
          <a:prstGeom prst="rect">
            <a:avLst/>
          </a:prstGeom>
          <a:noFill/>
        </p:spPr>
        <p:txBody>
          <a:bodyPr wrap="square" anchor="ctr" lIns="0" rIns="0" tIns="0" bIns="0">
            <a:spAutoFit/>
          </a:bodyPr>
          <a:lstStyle/>
          <a:p>
            <a:pPr algn="r"/>
            <a:r>
              <a:rPr sz="1150" b="0" i="0">
                <a:solidFill>
                  <a:srgbClr val="2C2C2C"/>
                </a:solidFill>
                <a:latin typeface="Open Sans"/>
              </a:rPr>
              <a:t>$82.7B</a:t>
            </a:r>
          </a:p>
        </p:txBody>
      </p:sp>
      <p:sp>
        <p:nvSpPr>
          <p:cNvPr id="49" name="TextBox 48"/>
          <p:cNvSpPr txBox="1"/>
          <p:nvPr/>
        </p:nvSpPr>
        <p:spPr>
          <a:xfrm>
            <a:off x="7589520" y="4384547"/>
            <a:ext cx="2103120" cy="361187"/>
          </a:xfrm>
          <a:prstGeom prst="rect">
            <a:avLst/>
          </a:prstGeom>
          <a:noFill/>
        </p:spPr>
        <p:txBody>
          <a:bodyPr wrap="square" anchor="ctr" lIns="0" rIns="0" tIns="0" bIns="0">
            <a:spAutoFit/>
          </a:bodyPr>
          <a:lstStyle/>
          <a:p>
            <a:pPr algn="r"/>
            <a:r>
              <a:rPr sz="1150" b="0" i="0">
                <a:solidFill>
                  <a:srgbClr val="2C2C2C"/>
                </a:solidFill>
                <a:latin typeface="Open Sans"/>
              </a:rPr>
              <a:t>$159.0B</a:t>
            </a:r>
          </a:p>
        </p:txBody>
      </p:sp>
      <p:sp>
        <p:nvSpPr>
          <p:cNvPr id="50" name="TextBox 49"/>
          <p:cNvSpPr txBox="1"/>
          <p:nvPr/>
        </p:nvSpPr>
        <p:spPr>
          <a:xfrm>
            <a:off x="9738360" y="4384547"/>
            <a:ext cx="1920240" cy="361187"/>
          </a:xfrm>
          <a:prstGeom prst="rect">
            <a:avLst/>
          </a:prstGeom>
          <a:noFill/>
        </p:spPr>
        <p:txBody>
          <a:bodyPr wrap="square" anchor="ctr" lIns="0" rIns="0" tIns="0" bIns="0">
            <a:spAutoFit/>
          </a:bodyPr>
          <a:lstStyle/>
          <a:p>
            <a:pPr algn="r"/>
            <a:r>
              <a:rPr sz="1150" b="1" i="0">
                <a:solidFill>
                  <a:srgbClr val="D46127"/>
                </a:solidFill>
                <a:latin typeface="Open Sans"/>
              </a:rPr>
              <a:t>−$76.3B</a:t>
            </a:r>
          </a:p>
        </p:txBody>
      </p:sp>
      <p:sp>
        <p:nvSpPr>
          <p:cNvPr id="51" name="TextBox 50"/>
          <p:cNvSpPr txBox="1"/>
          <p:nvPr/>
        </p:nvSpPr>
        <p:spPr>
          <a:xfrm>
            <a:off x="548640" y="4818888"/>
            <a:ext cx="3108960" cy="361187"/>
          </a:xfrm>
          <a:prstGeom prst="rect">
            <a:avLst/>
          </a:prstGeom>
          <a:noFill/>
        </p:spPr>
        <p:txBody>
          <a:bodyPr wrap="square" anchor="ctr" lIns="0" rIns="0" tIns="0" bIns="0">
            <a:spAutoFit/>
          </a:bodyPr>
          <a:lstStyle/>
          <a:p>
            <a:pPr algn="l"/>
            <a:r>
              <a:rPr sz="1150" b="1" i="0">
                <a:solidFill>
                  <a:srgbClr val="2C2C2C"/>
                </a:solidFill>
                <a:latin typeface="Open Sans"/>
              </a:rPr>
              <a:t>India</a:t>
            </a:r>
          </a:p>
        </p:txBody>
      </p:sp>
      <p:sp>
        <p:nvSpPr>
          <p:cNvPr id="52" name="TextBox 51"/>
          <p:cNvSpPr txBox="1"/>
          <p:nvPr/>
        </p:nvSpPr>
        <p:spPr>
          <a:xfrm>
            <a:off x="3657600" y="4818888"/>
            <a:ext cx="1828800" cy="361187"/>
          </a:xfrm>
          <a:prstGeom prst="rect">
            <a:avLst/>
          </a:prstGeom>
          <a:noFill/>
        </p:spPr>
        <p:txBody>
          <a:bodyPr wrap="square" anchor="ctr" lIns="0" rIns="0" tIns="0" bIns="0">
            <a:spAutoFit/>
          </a:bodyPr>
          <a:lstStyle/>
          <a:p>
            <a:pPr algn="r"/>
            <a:r>
              <a:rPr sz="1150" b="0" i="0">
                <a:solidFill>
                  <a:srgbClr val="2C2C2C"/>
                </a:solidFill>
                <a:latin typeface="Open Sans"/>
              </a:rPr>
              <a:t>$4,125.0B</a:t>
            </a:r>
          </a:p>
        </p:txBody>
      </p:sp>
      <p:sp>
        <p:nvSpPr>
          <p:cNvPr id="53" name="TextBox 52"/>
          <p:cNvSpPr txBox="1"/>
          <p:nvPr/>
        </p:nvSpPr>
        <p:spPr>
          <a:xfrm>
            <a:off x="5532120" y="4818888"/>
            <a:ext cx="2011680" cy="361187"/>
          </a:xfrm>
          <a:prstGeom prst="rect">
            <a:avLst/>
          </a:prstGeom>
          <a:noFill/>
        </p:spPr>
        <p:txBody>
          <a:bodyPr wrap="square" anchor="ctr" lIns="0" rIns="0" tIns="0" bIns="0">
            <a:spAutoFit/>
          </a:bodyPr>
          <a:lstStyle/>
          <a:p>
            <a:pPr algn="r"/>
            <a:r>
              <a:rPr sz="1150" b="0" i="0">
                <a:solidFill>
                  <a:srgbClr val="2C2C2C"/>
                </a:solidFill>
                <a:latin typeface="Open Sans"/>
              </a:rPr>
              <a:t>$45.6B</a:t>
            </a:r>
          </a:p>
        </p:txBody>
      </p:sp>
      <p:sp>
        <p:nvSpPr>
          <p:cNvPr id="54" name="TextBox 53"/>
          <p:cNvSpPr txBox="1"/>
          <p:nvPr/>
        </p:nvSpPr>
        <p:spPr>
          <a:xfrm>
            <a:off x="7589520" y="4818888"/>
            <a:ext cx="2103120" cy="361187"/>
          </a:xfrm>
          <a:prstGeom prst="rect">
            <a:avLst/>
          </a:prstGeom>
          <a:noFill/>
        </p:spPr>
        <p:txBody>
          <a:bodyPr wrap="square" anchor="ctr" lIns="0" rIns="0" tIns="0" bIns="0">
            <a:spAutoFit/>
          </a:bodyPr>
          <a:lstStyle/>
          <a:p>
            <a:pPr algn="r"/>
            <a:r>
              <a:rPr sz="1150" b="0" i="0">
                <a:solidFill>
                  <a:srgbClr val="2C2C2C"/>
                </a:solidFill>
                <a:latin typeface="Open Sans"/>
              </a:rPr>
              <a:t>$103.8B</a:t>
            </a:r>
          </a:p>
        </p:txBody>
      </p:sp>
      <p:sp>
        <p:nvSpPr>
          <p:cNvPr id="55" name="TextBox 54"/>
          <p:cNvSpPr txBox="1"/>
          <p:nvPr/>
        </p:nvSpPr>
        <p:spPr>
          <a:xfrm>
            <a:off x="9738360" y="4818888"/>
            <a:ext cx="1920240" cy="361187"/>
          </a:xfrm>
          <a:prstGeom prst="rect">
            <a:avLst/>
          </a:prstGeom>
          <a:noFill/>
        </p:spPr>
        <p:txBody>
          <a:bodyPr wrap="square" anchor="ctr" lIns="0" rIns="0" tIns="0" bIns="0">
            <a:spAutoFit/>
          </a:bodyPr>
          <a:lstStyle/>
          <a:p>
            <a:pPr algn="r"/>
            <a:r>
              <a:rPr sz="1150" b="1" i="0">
                <a:solidFill>
                  <a:srgbClr val="D46127"/>
                </a:solidFill>
                <a:latin typeface="Open Sans"/>
              </a:rPr>
              <a:t>−$58.2B</a:t>
            </a:r>
          </a:p>
        </p:txBody>
      </p:sp>
      <p:sp>
        <p:nvSpPr>
          <p:cNvPr id="56" name="Rectangle 55"/>
          <p:cNvSpPr/>
          <p:nvPr/>
        </p:nvSpPr>
        <p:spPr>
          <a:xfrm>
            <a:off x="457200" y="5207508"/>
            <a:ext cx="11274552" cy="4343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8640" y="5253228"/>
            <a:ext cx="3108960" cy="361187"/>
          </a:xfrm>
          <a:prstGeom prst="rect">
            <a:avLst/>
          </a:prstGeom>
          <a:noFill/>
        </p:spPr>
        <p:txBody>
          <a:bodyPr wrap="square" anchor="ctr" lIns="0" rIns="0" tIns="0" bIns="0">
            <a:spAutoFit/>
          </a:bodyPr>
          <a:lstStyle/>
          <a:p>
            <a:pPr algn="l"/>
            <a:r>
              <a:rPr sz="1150" b="1" i="0">
                <a:solidFill>
                  <a:srgbClr val="2C2C2C"/>
                </a:solidFill>
                <a:latin typeface="Open Sans"/>
              </a:rPr>
              <a:t>Indonesia</a:t>
            </a:r>
          </a:p>
        </p:txBody>
      </p:sp>
      <p:sp>
        <p:nvSpPr>
          <p:cNvPr id="58" name="TextBox 57"/>
          <p:cNvSpPr txBox="1"/>
          <p:nvPr/>
        </p:nvSpPr>
        <p:spPr>
          <a:xfrm>
            <a:off x="3657600" y="5253228"/>
            <a:ext cx="1828800" cy="361187"/>
          </a:xfrm>
          <a:prstGeom prst="rect">
            <a:avLst/>
          </a:prstGeom>
          <a:noFill/>
        </p:spPr>
        <p:txBody>
          <a:bodyPr wrap="square" anchor="ctr" lIns="0" rIns="0" tIns="0" bIns="0">
            <a:spAutoFit/>
          </a:bodyPr>
          <a:lstStyle/>
          <a:p>
            <a:pPr algn="r"/>
            <a:r>
              <a:rPr sz="1150" b="0" i="0">
                <a:solidFill>
                  <a:srgbClr val="2C2C2C"/>
                </a:solidFill>
                <a:latin typeface="Open Sans"/>
              </a:rPr>
              <a:t>$1,443.0B</a:t>
            </a:r>
          </a:p>
        </p:txBody>
      </p:sp>
      <p:sp>
        <p:nvSpPr>
          <p:cNvPr id="59" name="TextBox 58"/>
          <p:cNvSpPr txBox="1"/>
          <p:nvPr/>
        </p:nvSpPr>
        <p:spPr>
          <a:xfrm>
            <a:off x="5532120" y="5253228"/>
            <a:ext cx="2011680" cy="361187"/>
          </a:xfrm>
          <a:prstGeom prst="rect">
            <a:avLst/>
          </a:prstGeom>
          <a:noFill/>
        </p:spPr>
        <p:txBody>
          <a:bodyPr wrap="square" anchor="ctr" lIns="0" rIns="0" tIns="0" bIns="0">
            <a:spAutoFit/>
          </a:bodyPr>
          <a:lstStyle/>
          <a:p>
            <a:pPr algn="r"/>
            <a:r>
              <a:rPr sz="1150" b="0" i="0">
                <a:solidFill>
                  <a:srgbClr val="2C2C2C"/>
                </a:solidFill>
                <a:latin typeface="Open Sans"/>
              </a:rPr>
              <a:t>$11.0B</a:t>
            </a:r>
          </a:p>
        </p:txBody>
      </p:sp>
      <p:sp>
        <p:nvSpPr>
          <p:cNvPr id="60" name="TextBox 59"/>
          <p:cNvSpPr txBox="1"/>
          <p:nvPr/>
        </p:nvSpPr>
        <p:spPr>
          <a:xfrm>
            <a:off x="7589520" y="5253228"/>
            <a:ext cx="2103120" cy="361187"/>
          </a:xfrm>
          <a:prstGeom prst="rect">
            <a:avLst/>
          </a:prstGeom>
          <a:noFill/>
        </p:spPr>
        <p:txBody>
          <a:bodyPr wrap="square" anchor="ctr" lIns="0" rIns="0" tIns="0" bIns="0">
            <a:spAutoFit/>
          </a:bodyPr>
          <a:lstStyle/>
          <a:p>
            <a:pPr algn="r"/>
            <a:r>
              <a:rPr sz="1150" b="0" i="0">
                <a:solidFill>
                  <a:srgbClr val="2C2C2C"/>
                </a:solidFill>
                <a:latin typeface="Open Sans"/>
              </a:rPr>
              <a:t>$34.7B</a:t>
            </a:r>
          </a:p>
        </p:txBody>
      </p:sp>
      <p:sp>
        <p:nvSpPr>
          <p:cNvPr id="61" name="TextBox 60"/>
          <p:cNvSpPr txBox="1"/>
          <p:nvPr/>
        </p:nvSpPr>
        <p:spPr>
          <a:xfrm>
            <a:off x="9738360" y="5253228"/>
            <a:ext cx="1920240" cy="361187"/>
          </a:xfrm>
          <a:prstGeom prst="rect">
            <a:avLst/>
          </a:prstGeom>
          <a:noFill/>
        </p:spPr>
        <p:txBody>
          <a:bodyPr wrap="square" anchor="ctr" lIns="0" rIns="0" tIns="0" bIns="0">
            <a:spAutoFit/>
          </a:bodyPr>
          <a:lstStyle/>
          <a:p>
            <a:pPr algn="r"/>
            <a:r>
              <a:rPr sz="1150" b="1" i="0">
                <a:solidFill>
                  <a:srgbClr val="D46127"/>
                </a:solidFill>
                <a:latin typeface="Open Sans"/>
              </a:rPr>
              <a:t>−$23.7B</a:t>
            </a:r>
          </a:p>
        </p:txBody>
      </p:sp>
      <p:sp>
        <p:nvSpPr>
          <p:cNvPr id="62" name="TextBox 61"/>
          <p:cNvSpPr txBox="1"/>
          <p:nvPr/>
        </p:nvSpPr>
        <p:spPr>
          <a:xfrm>
            <a:off x="548640" y="5687568"/>
            <a:ext cx="3108960" cy="361187"/>
          </a:xfrm>
          <a:prstGeom prst="rect">
            <a:avLst/>
          </a:prstGeom>
          <a:noFill/>
        </p:spPr>
        <p:txBody>
          <a:bodyPr wrap="square" anchor="ctr" lIns="0" rIns="0" tIns="0" bIns="0">
            <a:spAutoFit/>
          </a:bodyPr>
          <a:lstStyle/>
          <a:p>
            <a:pPr algn="l"/>
            <a:r>
              <a:rPr sz="1150" b="1" i="0">
                <a:solidFill>
                  <a:srgbClr val="2C2C2C"/>
                </a:solidFill>
                <a:latin typeface="Open Sans"/>
              </a:rPr>
              <a:t>Italy</a:t>
            </a:r>
          </a:p>
        </p:txBody>
      </p:sp>
      <p:sp>
        <p:nvSpPr>
          <p:cNvPr id="63" name="TextBox 62"/>
          <p:cNvSpPr txBox="1"/>
          <p:nvPr/>
        </p:nvSpPr>
        <p:spPr>
          <a:xfrm>
            <a:off x="3657600" y="5687568"/>
            <a:ext cx="1828800" cy="361187"/>
          </a:xfrm>
          <a:prstGeom prst="rect">
            <a:avLst/>
          </a:prstGeom>
          <a:noFill/>
        </p:spPr>
        <p:txBody>
          <a:bodyPr wrap="square" anchor="ctr" lIns="0" rIns="0" tIns="0" bIns="0">
            <a:spAutoFit/>
          </a:bodyPr>
          <a:lstStyle/>
          <a:p>
            <a:pPr algn="r"/>
            <a:r>
              <a:rPr sz="1150" b="0" i="0">
                <a:solidFill>
                  <a:srgbClr val="2C2C2C"/>
                </a:solidFill>
                <a:latin typeface="Open Sans"/>
              </a:rPr>
              <a:t>$2,544.0B</a:t>
            </a:r>
          </a:p>
        </p:txBody>
      </p:sp>
      <p:sp>
        <p:nvSpPr>
          <p:cNvPr id="64" name="TextBox 63"/>
          <p:cNvSpPr txBox="1"/>
          <p:nvPr/>
        </p:nvSpPr>
        <p:spPr>
          <a:xfrm>
            <a:off x="5532120" y="5687568"/>
            <a:ext cx="2011680" cy="361187"/>
          </a:xfrm>
          <a:prstGeom prst="rect">
            <a:avLst/>
          </a:prstGeom>
          <a:noFill/>
        </p:spPr>
        <p:txBody>
          <a:bodyPr wrap="square" anchor="ctr" lIns="0" rIns="0" tIns="0" bIns="0">
            <a:spAutoFit/>
          </a:bodyPr>
          <a:lstStyle/>
          <a:p>
            <a:pPr algn="r"/>
            <a:r>
              <a:rPr sz="1150" b="0" i="0">
                <a:solidFill>
                  <a:srgbClr val="2C2C2C"/>
                </a:solidFill>
                <a:latin typeface="Open Sans"/>
              </a:rPr>
              <a:t>$43.7B</a:t>
            </a:r>
          </a:p>
        </p:txBody>
      </p:sp>
      <p:sp>
        <p:nvSpPr>
          <p:cNvPr id="65" name="TextBox 64"/>
          <p:cNvSpPr txBox="1"/>
          <p:nvPr/>
        </p:nvSpPr>
        <p:spPr>
          <a:xfrm>
            <a:off x="7589520" y="5687568"/>
            <a:ext cx="2103120" cy="361187"/>
          </a:xfrm>
          <a:prstGeom prst="rect">
            <a:avLst/>
          </a:prstGeom>
          <a:noFill/>
        </p:spPr>
        <p:txBody>
          <a:bodyPr wrap="square" anchor="ctr" lIns="0" rIns="0" tIns="0" bIns="0">
            <a:spAutoFit/>
          </a:bodyPr>
          <a:lstStyle/>
          <a:p>
            <a:pPr algn="r"/>
            <a:r>
              <a:rPr sz="1150" b="0" i="0">
                <a:solidFill>
                  <a:srgbClr val="2C2C2C"/>
                </a:solidFill>
                <a:latin typeface="Open Sans"/>
              </a:rPr>
              <a:t>$78.7B</a:t>
            </a:r>
          </a:p>
        </p:txBody>
      </p:sp>
      <p:sp>
        <p:nvSpPr>
          <p:cNvPr id="66" name="TextBox 65"/>
          <p:cNvSpPr txBox="1"/>
          <p:nvPr/>
        </p:nvSpPr>
        <p:spPr>
          <a:xfrm>
            <a:off x="9738360" y="5687568"/>
            <a:ext cx="1920240" cy="361187"/>
          </a:xfrm>
          <a:prstGeom prst="rect">
            <a:avLst/>
          </a:prstGeom>
          <a:noFill/>
        </p:spPr>
        <p:txBody>
          <a:bodyPr wrap="square" anchor="ctr" lIns="0" rIns="0" tIns="0" bIns="0">
            <a:spAutoFit/>
          </a:bodyPr>
          <a:lstStyle/>
          <a:p>
            <a:pPr algn="r"/>
            <a:r>
              <a:rPr sz="1150" b="1" i="0">
                <a:solidFill>
                  <a:srgbClr val="D46127"/>
                </a:solidFill>
                <a:latin typeface="Open Sans"/>
              </a:rPr>
              <a:t>−$35.0B</a:t>
            </a:r>
          </a:p>
        </p:txBody>
      </p:sp>
      <p:sp>
        <p:nvSpPr>
          <p:cNvPr id="67" name="TextBox 66"/>
          <p:cNvSpPr txBox="1"/>
          <p:nvPr/>
        </p:nvSpPr>
        <p:spPr>
          <a:xfrm>
            <a:off x="457200" y="6149340"/>
            <a:ext cx="11274552" cy="310896"/>
          </a:xfrm>
          <a:prstGeom prst="rect">
            <a:avLst/>
          </a:prstGeom>
          <a:noFill/>
        </p:spPr>
        <p:txBody>
          <a:bodyPr wrap="square" anchor="t" lIns="0" rIns="0" tIns="0" bIns="0">
            <a:spAutoFit/>
          </a:bodyPr>
          <a:lstStyle/>
          <a:p>
            <a:r>
              <a:rPr sz="900" b="0" i="1">
                <a:solidFill>
                  <a:srgbClr val="757D87"/>
                </a:solidFill>
                <a:latin typeface="Open Sans"/>
              </a:rPr>
              <a:t>Negative U.S. bilateral balance = U.S. goods deficit; positive = U.S. surplus. Bilateral columns measure trade with the United States, so the U.S. row shows N/A — the U.S. country page reports world totals.</a:t>
            </a:r>
          </a:p>
        </p:txBody>
      </p:sp>
      <p:cxnSp>
        <p:nvCxnSpPr>
          <p:cNvPr id="68" name="Connector 67"/>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70" name="TextBox 69"/>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71" name="TextBox 70"/>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1672" cy="411480"/>
          </a:xfrm>
          <a:prstGeom prst="rect">
            <a:avLst/>
          </a:prstGeom>
          <a:noFill/>
        </p:spPr>
        <p:txBody>
          <a:bodyPr wrap="square" anchor="t" lIns="0" rIns="0" tIns="0" bIns="0">
            <a:spAutoFit/>
          </a:bodyPr>
          <a:lstStyle/>
          <a:p>
            <a:r>
              <a:rPr sz="2200" b="1" i="0">
                <a:solidFill>
                  <a:srgbClr val="0A314D"/>
                </a:solidFill>
                <a:latin typeface="Open Sans"/>
              </a:rPr>
              <a:t>Summary — GDP &amp; U.S. Bilateral Goods Trade</a:t>
            </a:r>
          </a:p>
        </p:txBody>
      </p:sp>
      <p:sp>
        <p:nvSpPr>
          <p:cNvPr id="4" name="TextBox 3"/>
          <p:cNvSpPr txBox="1"/>
          <p:nvPr/>
        </p:nvSpPr>
        <p:spPr>
          <a:xfrm>
            <a:off x="548640" y="694944"/>
            <a:ext cx="11091672" cy="256032"/>
          </a:xfrm>
          <a:prstGeom prst="rect">
            <a:avLst/>
          </a:prstGeom>
          <a:noFill/>
        </p:spPr>
        <p:txBody>
          <a:bodyPr wrap="square" anchor="t" lIns="0" rIns="0" tIns="0" bIns="0">
            <a:spAutoFit/>
          </a:bodyPr>
          <a:lstStyle/>
          <a:p>
            <a:r>
              <a:rPr sz="1050" b="0" i="0">
                <a:solidFill>
                  <a:srgbClr val="54606C"/>
                </a:solidFill>
                <a:latin typeface="Open Sans"/>
              </a:rPr>
              <a:t>USD billions · GDP 2025 · trade 2025 (goods) · part 2 of 2</a:t>
            </a:r>
          </a:p>
        </p:txBody>
      </p:sp>
      <p:sp>
        <p:nvSpPr>
          <p:cNvPr id="5" name="Rectangle 4"/>
          <p:cNvSpPr/>
          <p:nvPr/>
        </p:nvSpPr>
        <p:spPr>
          <a:xfrm>
            <a:off x="548640" y="1005840"/>
            <a:ext cx="2011680"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98448"/>
            <a:ext cx="11274552" cy="434340"/>
          </a:xfrm>
          <a:prstGeom prst="rect">
            <a:avLst/>
          </a:prstGeom>
          <a:solidFill>
            <a:srgbClr val="0A3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53312"/>
            <a:ext cx="3108960" cy="342900"/>
          </a:xfrm>
          <a:prstGeom prst="rect">
            <a:avLst/>
          </a:prstGeom>
          <a:noFill/>
        </p:spPr>
        <p:txBody>
          <a:bodyPr wrap="square" anchor="ctr" lIns="0" rIns="0" tIns="0" bIns="0">
            <a:spAutoFit/>
          </a:bodyPr>
          <a:lstStyle/>
          <a:p>
            <a:pPr algn="l"/>
            <a:r>
              <a:rPr sz="1150" b="1" i="0">
                <a:solidFill>
                  <a:srgbClr val="FFFFFF"/>
                </a:solidFill>
                <a:latin typeface="Open Sans"/>
              </a:rPr>
              <a:t>Country</a:t>
            </a:r>
          </a:p>
        </p:txBody>
      </p:sp>
      <p:sp>
        <p:nvSpPr>
          <p:cNvPr id="8" name="TextBox 7"/>
          <p:cNvSpPr txBox="1"/>
          <p:nvPr/>
        </p:nvSpPr>
        <p:spPr>
          <a:xfrm>
            <a:off x="3657600" y="1353312"/>
            <a:ext cx="1828800" cy="342900"/>
          </a:xfrm>
          <a:prstGeom prst="rect">
            <a:avLst/>
          </a:prstGeom>
          <a:noFill/>
        </p:spPr>
        <p:txBody>
          <a:bodyPr wrap="square" anchor="ctr" lIns="0" rIns="0" tIns="0" bIns="0">
            <a:spAutoFit/>
          </a:bodyPr>
          <a:lstStyle/>
          <a:p>
            <a:pPr algn="r"/>
            <a:r>
              <a:rPr sz="1150" b="1" i="0">
                <a:solidFill>
                  <a:srgbClr val="FFFFFF"/>
                </a:solidFill>
                <a:latin typeface="Open Sans"/>
              </a:rPr>
              <a:t>GDP (2025)</a:t>
            </a:r>
          </a:p>
        </p:txBody>
      </p:sp>
      <p:sp>
        <p:nvSpPr>
          <p:cNvPr id="9" name="TextBox 8"/>
          <p:cNvSpPr txBox="1"/>
          <p:nvPr/>
        </p:nvSpPr>
        <p:spPr>
          <a:xfrm>
            <a:off x="5532120" y="1353312"/>
            <a:ext cx="2011680" cy="342900"/>
          </a:xfrm>
          <a:prstGeom prst="rect">
            <a:avLst/>
          </a:prstGeom>
          <a:noFill/>
        </p:spPr>
        <p:txBody>
          <a:bodyPr wrap="square" anchor="ctr" lIns="0" rIns="0" tIns="0" bIns="0">
            <a:spAutoFit/>
          </a:bodyPr>
          <a:lstStyle/>
          <a:p>
            <a:pPr algn="r"/>
            <a:r>
              <a:rPr sz="1150" b="1" i="0">
                <a:solidFill>
                  <a:srgbClr val="FFFFFF"/>
                </a:solidFill>
                <a:latin typeface="Open Sans"/>
              </a:rPr>
              <a:t>U.S. exports to</a:t>
            </a:r>
          </a:p>
        </p:txBody>
      </p:sp>
      <p:sp>
        <p:nvSpPr>
          <p:cNvPr id="10" name="TextBox 9"/>
          <p:cNvSpPr txBox="1"/>
          <p:nvPr/>
        </p:nvSpPr>
        <p:spPr>
          <a:xfrm>
            <a:off x="7589520" y="1353312"/>
            <a:ext cx="2103120" cy="342900"/>
          </a:xfrm>
          <a:prstGeom prst="rect">
            <a:avLst/>
          </a:prstGeom>
          <a:noFill/>
        </p:spPr>
        <p:txBody>
          <a:bodyPr wrap="square" anchor="ctr" lIns="0" rIns="0" tIns="0" bIns="0">
            <a:spAutoFit/>
          </a:bodyPr>
          <a:lstStyle/>
          <a:p>
            <a:pPr algn="r"/>
            <a:r>
              <a:rPr sz="1150" b="1" i="0">
                <a:solidFill>
                  <a:srgbClr val="FFFFFF"/>
                </a:solidFill>
                <a:latin typeface="Open Sans"/>
              </a:rPr>
              <a:t>U.S. imports from</a:t>
            </a:r>
          </a:p>
        </p:txBody>
      </p:sp>
      <p:sp>
        <p:nvSpPr>
          <p:cNvPr id="11" name="TextBox 10"/>
          <p:cNvSpPr txBox="1"/>
          <p:nvPr/>
        </p:nvSpPr>
        <p:spPr>
          <a:xfrm>
            <a:off x="9738360" y="1353312"/>
            <a:ext cx="1920240" cy="342900"/>
          </a:xfrm>
          <a:prstGeom prst="rect">
            <a:avLst/>
          </a:prstGeom>
          <a:noFill/>
        </p:spPr>
        <p:txBody>
          <a:bodyPr wrap="square" anchor="ctr" lIns="0" rIns="0" tIns="0" bIns="0">
            <a:spAutoFit/>
          </a:bodyPr>
          <a:lstStyle/>
          <a:p>
            <a:pPr algn="r"/>
            <a:r>
              <a:rPr sz="1150" b="1" i="0">
                <a:solidFill>
                  <a:srgbClr val="FFFFFF"/>
                </a:solidFill>
                <a:latin typeface="Open Sans"/>
              </a:rPr>
              <a:t>U.S. bilateral balance</a:t>
            </a:r>
          </a:p>
        </p:txBody>
      </p:sp>
      <p:sp>
        <p:nvSpPr>
          <p:cNvPr id="12" name="Rectangle 11"/>
          <p:cNvSpPr/>
          <p:nvPr/>
        </p:nvSpPr>
        <p:spPr>
          <a:xfrm>
            <a:off x="457200" y="1732788"/>
            <a:ext cx="11274552" cy="4343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778508"/>
            <a:ext cx="3108960" cy="361187"/>
          </a:xfrm>
          <a:prstGeom prst="rect">
            <a:avLst/>
          </a:prstGeom>
          <a:noFill/>
        </p:spPr>
        <p:txBody>
          <a:bodyPr wrap="square" anchor="ctr" lIns="0" rIns="0" tIns="0" bIns="0">
            <a:spAutoFit/>
          </a:bodyPr>
          <a:lstStyle/>
          <a:p>
            <a:pPr algn="l"/>
            <a:r>
              <a:rPr sz="1150" b="1" i="0">
                <a:solidFill>
                  <a:srgbClr val="2C2C2C"/>
                </a:solidFill>
                <a:latin typeface="Open Sans"/>
              </a:rPr>
              <a:t>Japan</a:t>
            </a:r>
          </a:p>
        </p:txBody>
      </p:sp>
      <p:sp>
        <p:nvSpPr>
          <p:cNvPr id="14" name="TextBox 13"/>
          <p:cNvSpPr txBox="1"/>
          <p:nvPr/>
        </p:nvSpPr>
        <p:spPr>
          <a:xfrm>
            <a:off x="3657600" y="1778508"/>
            <a:ext cx="1828800" cy="361187"/>
          </a:xfrm>
          <a:prstGeom prst="rect">
            <a:avLst/>
          </a:prstGeom>
          <a:noFill/>
        </p:spPr>
        <p:txBody>
          <a:bodyPr wrap="square" anchor="ctr" lIns="0" rIns="0" tIns="0" bIns="0">
            <a:spAutoFit/>
          </a:bodyPr>
          <a:lstStyle/>
          <a:p>
            <a:pPr algn="r"/>
            <a:r>
              <a:rPr sz="1150" b="0" i="0">
                <a:solidFill>
                  <a:srgbClr val="2C2C2C"/>
                </a:solidFill>
                <a:latin typeface="Open Sans"/>
              </a:rPr>
              <a:t>$4,280.0B</a:t>
            </a:r>
          </a:p>
        </p:txBody>
      </p:sp>
      <p:sp>
        <p:nvSpPr>
          <p:cNvPr id="15" name="TextBox 14"/>
          <p:cNvSpPr txBox="1"/>
          <p:nvPr/>
        </p:nvSpPr>
        <p:spPr>
          <a:xfrm>
            <a:off x="5532120" y="1778508"/>
            <a:ext cx="2011680" cy="361187"/>
          </a:xfrm>
          <a:prstGeom prst="rect">
            <a:avLst/>
          </a:prstGeom>
          <a:noFill/>
        </p:spPr>
        <p:txBody>
          <a:bodyPr wrap="square" anchor="ctr" lIns="0" rIns="0" tIns="0" bIns="0">
            <a:spAutoFit/>
          </a:bodyPr>
          <a:lstStyle/>
          <a:p>
            <a:pPr algn="r"/>
            <a:r>
              <a:rPr sz="1150" b="0" i="0">
                <a:solidFill>
                  <a:srgbClr val="2C2C2C"/>
                </a:solidFill>
                <a:latin typeface="Open Sans"/>
              </a:rPr>
              <a:t>$82.1B</a:t>
            </a:r>
          </a:p>
        </p:txBody>
      </p:sp>
      <p:sp>
        <p:nvSpPr>
          <p:cNvPr id="16" name="TextBox 15"/>
          <p:cNvSpPr txBox="1"/>
          <p:nvPr/>
        </p:nvSpPr>
        <p:spPr>
          <a:xfrm>
            <a:off x="7589520" y="1778508"/>
            <a:ext cx="2103120" cy="361187"/>
          </a:xfrm>
          <a:prstGeom prst="rect">
            <a:avLst/>
          </a:prstGeom>
          <a:noFill/>
        </p:spPr>
        <p:txBody>
          <a:bodyPr wrap="square" anchor="ctr" lIns="0" rIns="0" tIns="0" bIns="0">
            <a:spAutoFit/>
          </a:bodyPr>
          <a:lstStyle/>
          <a:p>
            <a:pPr algn="r"/>
            <a:r>
              <a:rPr sz="1150" b="0" i="0">
                <a:solidFill>
                  <a:srgbClr val="2C2C2C"/>
                </a:solidFill>
                <a:latin typeface="Open Sans"/>
              </a:rPr>
              <a:t>$146.0B</a:t>
            </a:r>
          </a:p>
        </p:txBody>
      </p:sp>
      <p:sp>
        <p:nvSpPr>
          <p:cNvPr id="17" name="TextBox 16"/>
          <p:cNvSpPr txBox="1"/>
          <p:nvPr/>
        </p:nvSpPr>
        <p:spPr>
          <a:xfrm>
            <a:off x="9738360" y="1778508"/>
            <a:ext cx="1920240" cy="361187"/>
          </a:xfrm>
          <a:prstGeom prst="rect">
            <a:avLst/>
          </a:prstGeom>
          <a:noFill/>
        </p:spPr>
        <p:txBody>
          <a:bodyPr wrap="square" anchor="ctr" lIns="0" rIns="0" tIns="0" bIns="0">
            <a:spAutoFit/>
          </a:bodyPr>
          <a:lstStyle/>
          <a:p>
            <a:pPr algn="r"/>
            <a:r>
              <a:rPr sz="1150" b="1" i="0">
                <a:solidFill>
                  <a:srgbClr val="D46127"/>
                </a:solidFill>
                <a:latin typeface="Open Sans"/>
              </a:rPr>
              <a:t>−$63.9B</a:t>
            </a:r>
          </a:p>
        </p:txBody>
      </p:sp>
      <p:sp>
        <p:nvSpPr>
          <p:cNvPr id="18" name="TextBox 17"/>
          <p:cNvSpPr txBox="1"/>
          <p:nvPr/>
        </p:nvSpPr>
        <p:spPr>
          <a:xfrm>
            <a:off x="548640" y="2212848"/>
            <a:ext cx="3108960" cy="361187"/>
          </a:xfrm>
          <a:prstGeom prst="rect">
            <a:avLst/>
          </a:prstGeom>
          <a:noFill/>
        </p:spPr>
        <p:txBody>
          <a:bodyPr wrap="square" anchor="ctr" lIns="0" rIns="0" tIns="0" bIns="0">
            <a:spAutoFit/>
          </a:bodyPr>
          <a:lstStyle/>
          <a:p>
            <a:pPr algn="l"/>
            <a:r>
              <a:rPr sz="1150" b="1" i="0">
                <a:solidFill>
                  <a:srgbClr val="2C2C2C"/>
                </a:solidFill>
                <a:latin typeface="Open Sans"/>
              </a:rPr>
              <a:t>Mexico</a:t>
            </a:r>
          </a:p>
        </p:txBody>
      </p:sp>
      <p:sp>
        <p:nvSpPr>
          <p:cNvPr id="19" name="TextBox 18"/>
          <p:cNvSpPr txBox="1"/>
          <p:nvPr/>
        </p:nvSpPr>
        <p:spPr>
          <a:xfrm>
            <a:off x="3657600" y="2212848"/>
            <a:ext cx="1828800" cy="361187"/>
          </a:xfrm>
          <a:prstGeom prst="rect">
            <a:avLst/>
          </a:prstGeom>
          <a:noFill/>
        </p:spPr>
        <p:txBody>
          <a:bodyPr wrap="square" anchor="ctr" lIns="0" rIns="0" tIns="0" bIns="0">
            <a:spAutoFit/>
          </a:bodyPr>
          <a:lstStyle/>
          <a:p>
            <a:pPr algn="r"/>
            <a:r>
              <a:rPr sz="1150" b="0" i="0">
                <a:solidFill>
                  <a:srgbClr val="2C2C2C"/>
                </a:solidFill>
                <a:latin typeface="Open Sans"/>
              </a:rPr>
              <a:t>$1,830.0B</a:t>
            </a:r>
          </a:p>
        </p:txBody>
      </p:sp>
      <p:sp>
        <p:nvSpPr>
          <p:cNvPr id="20" name="TextBox 19"/>
          <p:cNvSpPr txBox="1"/>
          <p:nvPr/>
        </p:nvSpPr>
        <p:spPr>
          <a:xfrm>
            <a:off x="5532120" y="2212848"/>
            <a:ext cx="2011680" cy="361187"/>
          </a:xfrm>
          <a:prstGeom prst="rect">
            <a:avLst/>
          </a:prstGeom>
          <a:noFill/>
        </p:spPr>
        <p:txBody>
          <a:bodyPr wrap="square" anchor="ctr" lIns="0" rIns="0" tIns="0" bIns="0">
            <a:spAutoFit/>
          </a:bodyPr>
          <a:lstStyle/>
          <a:p>
            <a:pPr algn="r"/>
            <a:r>
              <a:rPr sz="1150" b="0" i="0">
                <a:solidFill>
                  <a:srgbClr val="2C2C2C"/>
                </a:solidFill>
                <a:latin typeface="Open Sans"/>
              </a:rPr>
              <a:t>$338.0B</a:t>
            </a:r>
          </a:p>
        </p:txBody>
      </p:sp>
      <p:sp>
        <p:nvSpPr>
          <p:cNvPr id="21" name="TextBox 20"/>
          <p:cNvSpPr txBox="1"/>
          <p:nvPr/>
        </p:nvSpPr>
        <p:spPr>
          <a:xfrm>
            <a:off x="7589520" y="2212848"/>
            <a:ext cx="2103120" cy="361187"/>
          </a:xfrm>
          <a:prstGeom prst="rect">
            <a:avLst/>
          </a:prstGeom>
          <a:noFill/>
        </p:spPr>
        <p:txBody>
          <a:bodyPr wrap="square" anchor="ctr" lIns="0" rIns="0" tIns="0" bIns="0">
            <a:spAutoFit/>
          </a:bodyPr>
          <a:lstStyle/>
          <a:p>
            <a:pPr algn="r"/>
            <a:r>
              <a:rPr sz="1150" b="0" i="0">
                <a:solidFill>
                  <a:srgbClr val="2C2C2C"/>
                </a:solidFill>
                <a:latin typeface="Open Sans"/>
              </a:rPr>
              <a:t>$534.9B</a:t>
            </a:r>
          </a:p>
        </p:txBody>
      </p:sp>
      <p:sp>
        <p:nvSpPr>
          <p:cNvPr id="22" name="TextBox 21"/>
          <p:cNvSpPr txBox="1"/>
          <p:nvPr/>
        </p:nvSpPr>
        <p:spPr>
          <a:xfrm>
            <a:off x="9738360" y="2212848"/>
            <a:ext cx="1920240" cy="361187"/>
          </a:xfrm>
          <a:prstGeom prst="rect">
            <a:avLst/>
          </a:prstGeom>
          <a:noFill/>
        </p:spPr>
        <p:txBody>
          <a:bodyPr wrap="square" anchor="ctr" lIns="0" rIns="0" tIns="0" bIns="0">
            <a:spAutoFit/>
          </a:bodyPr>
          <a:lstStyle/>
          <a:p>
            <a:pPr algn="r"/>
            <a:r>
              <a:rPr sz="1150" b="1" i="0">
                <a:solidFill>
                  <a:srgbClr val="D46127"/>
                </a:solidFill>
                <a:latin typeface="Open Sans"/>
              </a:rPr>
              <a:t>−$196.9B</a:t>
            </a:r>
          </a:p>
        </p:txBody>
      </p:sp>
      <p:sp>
        <p:nvSpPr>
          <p:cNvPr id="23" name="Rectangle 22"/>
          <p:cNvSpPr/>
          <p:nvPr/>
        </p:nvSpPr>
        <p:spPr>
          <a:xfrm>
            <a:off x="457200" y="2601468"/>
            <a:ext cx="11274552" cy="4343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2647187"/>
            <a:ext cx="3108960" cy="361187"/>
          </a:xfrm>
          <a:prstGeom prst="rect">
            <a:avLst/>
          </a:prstGeom>
          <a:noFill/>
        </p:spPr>
        <p:txBody>
          <a:bodyPr wrap="square" anchor="ctr" lIns="0" rIns="0" tIns="0" bIns="0">
            <a:spAutoFit/>
          </a:bodyPr>
          <a:lstStyle/>
          <a:p>
            <a:pPr algn="l"/>
            <a:r>
              <a:rPr sz="1150" b="1" i="0">
                <a:solidFill>
                  <a:srgbClr val="2C2C2C"/>
                </a:solidFill>
                <a:latin typeface="Open Sans"/>
              </a:rPr>
              <a:t>Poland</a:t>
            </a:r>
          </a:p>
        </p:txBody>
      </p:sp>
      <p:sp>
        <p:nvSpPr>
          <p:cNvPr id="25" name="TextBox 24"/>
          <p:cNvSpPr txBox="1"/>
          <p:nvPr/>
        </p:nvSpPr>
        <p:spPr>
          <a:xfrm>
            <a:off x="3657600" y="2647187"/>
            <a:ext cx="1828800" cy="361187"/>
          </a:xfrm>
          <a:prstGeom prst="rect">
            <a:avLst/>
          </a:prstGeom>
          <a:noFill/>
        </p:spPr>
        <p:txBody>
          <a:bodyPr wrap="square" anchor="ctr" lIns="0" rIns="0" tIns="0" bIns="0">
            <a:spAutoFit/>
          </a:bodyPr>
          <a:lstStyle/>
          <a:p>
            <a:pPr algn="r"/>
            <a:r>
              <a:rPr sz="1150" b="0" i="0">
                <a:solidFill>
                  <a:srgbClr val="2C2C2C"/>
                </a:solidFill>
                <a:latin typeface="Open Sans"/>
              </a:rPr>
              <a:t>$1,040.0B</a:t>
            </a:r>
          </a:p>
        </p:txBody>
      </p:sp>
      <p:sp>
        <p:nvSpPr>
          <p:cNvPr id="26" name="TextBox 25"/>
          <p:cNvSpPr txBox="1"/>
          <p:nvPr/>
        </p:nvSpPr>
        <p:spPr>
          <a:xfrm>
            <a:off x="5532120" y="2647187"/>
            <a:ext cx="2011680" cy="361187"/>
          </a:xfrm>
          <a:prstGeom prst="rect">
            <a:avLst/>
          </a:prstGeom>
          <a:noFill/>
        </p:spPr>
        <p:txBody>
          <a:bodyPr wrap="square" anchor="ctr" lIns="0" rIns="0" tIns="0" bIns="0">
            <a:spAutoFit/>
          </a:bodyPr>
          <a:lstStyle/>
          <a:p>
            <a:pPr algn="r"/>
            <a:r>
              <a:rPr sz="1150" b="0" i="0">
                <a:solidFill>
                  <a:srgbClr val="2C2C2C"/>
                </a:solidFill>
                <a:latin typeface="Open Sans"/>
              </a:rPr>
              <a:t>$14.1B</a:t>
            </a:r>
          </a:p>
        </p:txBody>
      </p:sp>
      <p:sp>
        <p:nvSpPr>
          <p:cNvPr id="27" name="TextBox 26"/>
          <p:cNvSpPr txBox="1"/>
          <p:nvPr/>
        </p:nvSpPr>
        <p:spPr>
          <a:xfrm>
            <a:off x="7589520" y="2647187"/>
            <a:ext cx="2103120" cy="361187"/>
          </a:xfrm>
          <a:prstGeom prst="rect">
            <a:avLst/>
          </a:prstGeom>
          <a:noFill/>
        </p:spPr>
        <p:txBody>
          <a:bodyPr wrap="square" anchor="ctr" lIns="0" rIns="0" tIns="0" bIns="0">
            <a:spAutoFit/>
          </a:bodyPr>
          <a:lstStyle/>
          <a:p>
            <a:pPr algn="r"/>
            <a:r>
              <a:rPr sz="1150" b="0" i="0">
                <a:solidFill>
                  <a:srgbClr val="2C2C2C"/>
                </a:solidFill>
                <a:latin typeface="Open Sans"/>
              </a:rPr>
              <a:t>$14.5B</a:t>
            </a:r>
          </a:p>
        </p:txBody>
      </p:sp>
      <p:sp>
        <p:nvSpPr>
          <p:cNvPr id="28" name="TextBox 27"/>
          <p:cNvSpPr txBox="1"/>
          <p:nvPr/>
        </p:nvSpPr>
        <p:spPr>
          <a:xfrm>
            <a:off x="9738360" y="2647187"/>
            <a:ext cx="1920240" cy="361187"/>
          </a:xfrm>
          <a:prstGeom prst="rect">
            <a:avLst/>
          </a:prstGeom>
          <a:noFill/>
        </p:spPr>
        <p:txBody>
          <a:bodyPr wrap="square" anchor="ctr" lIns="0" rIns="0" tIns="0" bIns="0">
            <a:spAutoFit/>
          </a:bodyPr>
          <a:lstStyle/>
          <a:p>
            <a:pPr algn="r"/>
            <a:r>
              <a:rPr sz="1150" b="1" i="0">
                <a:solidFill>
                  <a:srgbClr val="D46127"/>
                </a:solidFill>
                <a:latin typeface="Open Sans"/>
              </a:rPr>
              <a:t>−$0.4B</a:t>
            </a:r>
          </a:p>
        </p:txBody>
      </p:sp>
      <p:sp>
        <p:nvSpPr>
          <p:cNvPr id="29" name="TextBox 28"/>
          <p:cNvSpPr txBox="1"/>
          <p:nvPr/>
        </p:nvSpPr>
        <p:spPr>
          <a:xfrm>
            <a:off x="548640" y="3081527"/>
            <a:ext cx="3108960" cy="361187"/>
          </a:xfrm>
          <a:prstGeom prst="rect">
            <a:avLst/>
          </a:prstGeom>
          <a:noFill/>
        </p:spPr>
        <p:txBody>
          <a:bodyPr wrap="square" anchor="ctr" lIns="0" rIns="0" tIns="0" bIns="0">
            <a:spAutoFit/>
          </a:bodyPr>
          <a:lstStyle/>
          <a:p>
            <a:pPr algn="l"/>
            <a:r>
              <a:rPr sz="1150" b="1" i="0">
                <a:solidFill>
                  <a:srgbClr val="2C2C2C"/>
                </a:solidFill>
                <a:latin typeface="Open Sans"/>
              </a:rPr>
              <a:t>Russia</a:t>
            </a:r>
          </a:p>
        </p:txBody>
      </p:sp>
      <p:sp>
        <p:nvSpPr>
          <p:cNvPr id="30" name="TextBox 29"/>
          <p:cNvSpPr txBox="1"/>
          <p:nvPr/>
        </p:nvSpPr>
        <p:spPr>
          <a:xfrm>
            <a:off x="3657600" y="3081527"/>
            <a:ext cx="1828800" cy="361187"/>
          </a:xfrm>
          <a:prstGeom prst="rect">
            <a:avLst/>
          </a:prstGeom>
          <a:noFill/>
        </p:spPr>
        <p:txBody>
          <a:bodyPr wrap="square" anchor="ctr" lIns="0" rIns="0" tIns="0" bIns="0">
            <a:spAutoFit/>
          </a:bodyPr>
          <a:lstStyle/>
          <a:p>
            <a:pPr algn="r"/>
            <a:r>
              <a:rPr sz="1150" b="0" i="0">
                <a:solidFill>
                  <a:srgbClr val="2C2C2C"/>
                </a:solidFill>
                <a:latin typeface="Open Sans"/>
              </a:rPr>
              <a:t>$2,541.0B</a:t>
            </a:r>
          </a:p>
        </p:txBody>
      </p:sp>
      <p:sp>
        <p:nvSpPr>
          <p:cNvPr id="31" name="TextBox 30"/>
          <p:cNvSpPr txBox="1"/>
          <p:nvPr/>
        </p:nvSpPr>
        <p:spPr>
          <a:xfrm>
            <a:off x="5532120" y="3081527"/>
            <a:ext cx="2011680" cy="361187"/>
          </a:xfrm>
          <a:prstGeom prst="rect">
            <a:avLst/>
          </a:prstGeom>
          <a:noFill/>
        </p:spPr>
        <p:txBody>
          <a:bodyPr wrap="square" anchor="ctr" lIns="0" rIns="0" tIns="0" bIns="0">
            <a:spAutoFit/>
          </a:bodyPr>
          <a:lstStyle/>
          <a:p>
            <a:pPr algn="r"/>
            <a:r>
              <a:rPr sz="1150" b="0" i="0">
                <a:solidFill>
                  <a:srgbClr val="2C2C2C"/>
                </a:solidFill>
                <a:latin typeface="Open Sans"/>
              </a:rPr>
              <a:t>$0.6B</a:t>
            </a:r>
          </a:p>
        </p:txBody>
      </p:sp>
      <p:sp>
        <p:nvSpPr>
          <p:cNvPr id="32" name="TextBox 31"/>
          <p:cNvSpPr txBox="1"/>
          <p:nvPr/>
        </p:nvSpPr>
        <p:spPr>
          <a:xfrm>
            <a:off x="7589520" y="3081527"/>
            <a:ext cx="2103120" cy="361187"/>
          </a:xfrm>
          <a:prstGeom prst="rect">
            <a:avLst/>
          </a:prstGeom>
          <a:noFill/>
        </p:spPr>
        <p:txBody>
          <a:bodyPr wrap="square" anchor="ctr" lIns="0" rIns="0" tIns="0" bIns="0">
            <a:spAutoFit/>
          </a:bodyPr>
          <a:lstStyle/>
          <a:p>
            <a:pPr algn="r"/>
            <a:r>
              <a:rPr sz="1150" b="0" i="0">
                <a:solidFill>
                  <a:srgbClr val="2C2C2C"/>
                </a:solidFill>
                <a:latin typeface="Open Sans"/>
              </a:rPr>
              <a:t>$3.8B</a:t>
            </a:r>
          </a:p>
        </p:txBody>
      </p:sp>
      <p:sp>
        <p:nvSpPr>
          <p:cNvPr id="33" name="TextBox 32"/>
          <p:cNvSpPr txBox="1"/>
          <p:nvPr/>
        </p:nvSpPr>
        <p:spPr>
          <a:xfrm>
            <a:off x="9738360" y="3081527"/>
            <a:ext cx="1920240" cy="361187"/>
          </a:xfrm>
          <a:prstGeom prst="rect">
            <a:avLst/>
          </a:prstGeom>
          <a:noFill/>
        </p:spPr>
        <p:txBody>
          <a:bodyPr wrap="square" anchor="ctr" lIns="0" rIns="0" tIns="0" bIns="0">
            <a:spAutoFit/>
          </a:bodyPr>
          <a:lstStyle/>
          <a:p>
            <a:pPr algn="r"/>
            <a:r>
              <a:rPr sz="1150" b="1" i="0">
                <a:solidFill>
                  <a:srgbClr val="D46127"/>
                </a:solidFill>
                <a:latin typeface="Open Sans"/>
              </a:rPr>
              <a:t>−$3.2B</a:t>
            </a:r>
          </a:p>
        </p:txBody>
      </p:sp>
      <p:sp>
        <p:nvSpPr>
          <p:cNvPr id="34" name="Rectangle 33"/>
          <p:cNvSpPr/>
          <p:nvPr/>
        </p:nvSpPr>
        <p:spPr>
          <a:xfrm>
            <a:off x="457200" y="3470148"/>
            <a:ext cx="11274552" cy="4343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3515868"/>
            <a:ext cx="3108960" cy="361187"/>
          </a:xfrm>
          <a:prstGeom prst="rect">
            <a:avLst/>
          </a:prstGeom>
          <a:noFill/>
        </p:spPr>
        <p:txBody>
          <a:bodyPr wrap="square" anchor="ctr" lIns="0" rIns="0" tIns="0" bIns="0">
            <a:spAutoFit/>
          </a:bodyPr>
          <a:lstStyle/>
          <a:p>
            <a:pPr algn="l"/>
            <a:r>
              <a:rPr sz="1150" b="1" i="0">
                <a:solidFill>
                  <a:srgbClr val="2C2C2C"/>
                </a:solidFill>
                <a:latin typeface="Open Sans"/>
              </a:rPr>
              <a:t>Saudi Arabia</a:t>
            </a:r>
          </a:p>
        </p:txBody>
      </p:sp>
      <p:sp>
        <p:nvSpPr>
          <p:cNvPr id="36" name="TextBox 35"/>
          <p:cNvSpPr txBox="1"/>
          <p:nvPr/>
        </p:nvSpPr>
        <p:spPr>
          <a:xfrm>
            <a:off x="3657600" y="3515868"/>
            <a:ext cx="1828800" cy="361187"/>
          </a:xfrm>
          <a:prstGeom prst="rect">
            <a:avLst/>
          </a:prstGeom>
          <a:noFill/>
        </p:spPr>
        <p:txBody>
          <a:bodyPr wrap="square" anchor="ctr" lIns="0" rIns="0" tIns="0" bIns="0">
            <a:spAutoFit/>
          </a:bodyPr>
          <a:lstStyle/>
          <a:p>
            <a:pPr algn="r"/>
            <a:r>
              <a:rPr sz="1150" b="0" i="0">
                <a:solidFill>
                  <a:srgbClr val="2C2C2C"/>
                </a:solidFill>
                <a:latin typeface="Open Sans"/>
              </a:rPr>
              <a:t>$1,277.0B</a:t>
            </a:r>
          </a:p>
        </p:txBody>
      </p:sp>
      <p:sp>
        <p:nvSpPr>
          <p:cNvPr id="37" name="TextBox 36"/>
          <p:cNvSpPr txBox="1"/>
          <p:nvPr/>
        </p:nvSpPr>
        <p:spPr>
          <a:xfrm>
            <a:off x="5532120" y="3515868"/>
            <a:ext cx="2011680" cy="361187"/>
          </a:xfrm>
          <a:prstGeom prst="rect">
            <a:avLst/>
          </a:prstGeom>
          <a:noFill/>
        </p:spPr>
        <p:txBody>
          <a:bodyPr wrap="square" anchor="ctr" lIns="0" rIns="0" tIns="0" bIns="0">
            <a:spAutoFit/>
          </a:bodyPr>
          <a:lstStyle/>
          <a:p>
            <a:pPr algn="r"/>
            <a:r>
              <a:rPr sz="1150" b="0" i="0">
                <a:solidFill>
                  <a:srgbClr val="2C2C2C"/>
                </a:solidFill>
                <a:latin typeface="Open Sans"/>
              </a:rPr>
              <a:t>$14.1B</a:t>
            </a:r>
          </a:p>
        </p:txBody>
      </p:sp>
      <p:sp>
        <p:nvSpPr>
          <p:cNvPr id="38" name="TextBox 37"/>
          <p:cNvSpPr txBox="1"/>
          <p:nvPr/>
        </p:nvSpPr>
        <p:spPr>
          <a:xfrm>
            <a:off x="7589520" y="3515868"/>
            <a:ext cx="2103120" cy="361187"/>
          </a:xfrm>
          <a:prstGeom prst="rect">
            <a:avLst/>
          </a:prstGeom>
          <a:noFill/>
        </p:spPr>
        <p:txBody>
          <a:bodyPr wrap="square" anchor="ctr" lIns="0" rIns="0" tIns="0" bIns="0">
            <a:spAutoFit/>
          </a:bodyPr>
          <a:lstStyle/>
          <a:p>
            <a:pPr algn="r"/>
            <a:r>
              <a:rPr sz="1150" b="0" i="0">
                <a:solidFill>
                  <a:srgbClr val="2C2C2C"/>
                </a:solidFill>
                <a:latin typeface="Open Sans"/>
              </a:rPr>
              <a:t>$10.5B</a:t>
            </a:r>
          </a:p>
        </p:txBody>
      </p:sp>
      <p:sp>
        <p:nvSpPr>
          <p:cNvPr id="39" name="TextBox 38"/>
          <p:cNvSpPr txBox="1"/>
          <p:nvPr/>
        </p:nvSpPr>
        <p:spPr>
          <a:xfrm>
            <a:off x="9738360" y="3515868"/>
            <a:ext cx="1920240" cy="361187"/>
          </a:xfrm>
          <a:prstGeom prst="rect">
            <a:avLst/>
          </a:prstGeom>
          <a:noFill/>
        </p:spPr>
        <p:txBody>
          <a:bodyPr wrap="square" anchor="ctr" lIns="0" rIns="0" tIns="0" bIns="0">
            <a:spAutoFit/>
          </a:bodyPr>
          <a:lstStyle/>
          <a:p>
            <a:pPr algn="r"/>
            <a:r>
              <a:rPr sz="1150" b="1" i="0">
                <a:solidFill>
                  <a:srgbClr val="00833E"/>
                </a:solidFill>
                <a:latin typeface="Open Sans"/>
              </a:rPr>
              <a:t>+$3.6B</a:t>
            </a:r>
          </a:p>
        </p:txBody>
      </p:sp>
      <p:sp>
        <p:nvSpPr>
          <p:cNvPr id="40" name="TextBox 39"/>
          <p:cNvSpPr txBox="1"/>
          <p:nvPr/>
        </p:nvSpPr>
        <p:spPr>
          <a:xfrm>
            <a:off x="548640" y="3950207"/>
            <a:ext cx="3108960" cy="361187"/>
          </a:xfrm>
          <a:prstGeom prst="rect">
            <a:avLst/>
          </a:prstGeom>
          <a:noFill/>
        </p:spPr>
        <p:txBody>
          <a:bodyPr wrap="square" anchor="ctr" lIns="0" rIns="0" tIns="0" bIns="0">
            <a:spAutoFit/>
          </a:bodyPr>
          <a:lstStyle/>
          <a:p>
            <a:pPr algn="l"/>
            <a:r>
              <a:rPr sz="1150" b="1" i="0">
                <a:solidFill>
                  <a:srgbClr val="2C2C2C"/>
                </a:solidFill>
                <a:latin typeface="Open Sans"/>
              </a:rPr>
              <a:t>South Korea</a:t>
            </a:r>
          </a:p>
        </p:txBody>
      </p:sp>
      <p:sp>
        <p:nvSpPr>
          <p:cNvPr id="41" name="TextBox 40"/>
          <p:cNvSpPr txBox="1"/>
          <p:nvPr/>
        </p:nvSpPr>
        <p:spPr>
          <a:xfrm>
            <a:off x="3657600" y="3950207"/>
            <a:ext cx="1828800" cy="361187"/>
          </a:xfrm>
          <a:prstGeom prst="rect">
            <a:avLst/>
          </a:prstGeom>
          <a:noFill/>
        </p:spPr>
        <p:txBody>
          <a:bodyPr wrap="square" anchor="ctr" lIns="0" rIns="0" tIns="0" bIns="0">
            <a:spAutoFit/>
          </a:bodyPr>
          <a:lstStyle/>
          <a:p>
            <a:pPr algn="r"/>
            <a:r>
              <a:rPr sz="1150" b="0" i="0">
                <a:solidFill>
                  <a:srgbClr val="2C2C2C"/>
                </a:solidFill>
                <a:latin typeface="Open Sans"/>
              </a:rPr>
              <a:t>$1,859.0B</a:t>
            </a:r>
          </a:p>
        </p:txBody>
      </p:sp>
      <p:sp>
        <p:nvSpPr>
          <p:cNvPr id="42" name="TextBox 41"/>
          <p:cNvSpPr txBox="1"/>
          <p:nvPr/>
        </p:nvSpPr>
        <p:spPr>
          <a:xfrm>
            <a:off x="5532120" y="3950207"/>
            <a:ext cx="2011680" cy="361187"/>
          </a:xfrm>
          <a:prstGeom prst="rect">
            <a:avLst/>
          </a:prstGeom>
          <a:noFill/>
        </p:spPr>
        <p:txBody>
          <a:bodyPr wrap="square" anchor="ctr" lIns="0" rIns="0" tIns="0" bIns="0">
            <a:spAutoFit/>
          </a:bodyPr>
          <a:lstStyle/>
          <a:p>
            <a:pPr algn="r"/>
            <a:r>
              <a:rPr sz="1150" b="0" i="0">
                <a:solidFill>
                  <a:srgbClr val="2C2C2C"/>
                </a:solidFill>
                <a:latin typeface="Open Sans"/>
              </a:rPr>
              <a:t>$68.8B</a:t>
            </a:r>
          </a:p>
        </p:txBody>
      </p:sp>
      <p:sp>
        <p:nvSpPr>
          <p:cNvPr id="43" name="TextBox 42"/>
          <p:cNvSpPr txBox="1"/>
          <p:nvPr/>
        </p:nvSpPr>
        <p:spPr>
          <a:xfrm>
            <a:off x="7589520" y="3950207"/>
            <a:ext cx="2103120" cy="361187"/>
          </a:xfrm>
          <a:prstGeom prst="rect">
            <a:avLst/>
          </a:prstGeom>
          <a:noFill/>
        </p:spPr>
        <p:txBody>
          <a:bodyPr wrap="square" anchor="ctr" lIns="0" rIns="0" tIns="0" bIns="0">
            <a:spAutoFit/>
          </a:bodyPr>
          <a:lstStyle/>
          <a:p>
            <a:pPr algn="r"/>
            <a:r>
              <a:rPr sz="1150" b="0" i="0">
                <a:solidFill>
                  <a:srgbClr val="2C2C2C"/>
                </a:solidFill>
                <a:latin typeface="Open Sans"/>
              </a:rPr>
              <a:t>$125.2B</a:t>
            </a:r>
          </a:p>
        </p:txBody>
      </p:sp>
      <p:sp>
        <p:nvSpPr>
          <p:cNvPr id="44" name="TextBox 43"/>
          <p:cNvSpPr txBox="1"/>
          <p:nvPr/>
        </p:nvSpPr>
        <p:spPr>
          <a:xfrm>
            <a:off x="9738360" y="3950207"/>
            <a:ext cx="1920240" cy="361187"/>
          </a:xfrm>
          <a:prstGeom prst="rect">
            <a:avLst/>
          </a:prstGeom>
          <a:noFill/>
        </p:spPr>
        <p:txBody>
          <a:bodyPr wrap="square" anchor="ctr" lIns="0" rIns="0" tIns="0" bIns="0">
            <a:spAutoFit/>
          </a:bodyPr>
          <a:lstStyle/>
          <a:p>
            <a:pPr algn="r"/>
            <a:r>
              <a:rPr sz="1150" b="1" i="0">
                <a:solidFill>
                  <a:srgbClr val="D46127"/>
                </a:solidFill>
                <a:latin typeface="Open Sans"/>
              </a:rPr>
              <a:t>−$56.4B</a:t>
            </a:r>
          </a:p>
        </p:txBody>
      </p:sp>
      <p:sp>
        <p:nvSpPr>
          <p:cNvPr id="45" name="Rectangle 44"/>
          <p:cNvSpPr/>
          <p:nvPr/>
        </p:nvSpPr>
        <p:spPr>
          <a:xfrm>
            <a:off x="457200" y="4338827"/>
            <a:ext cx="11274552" cy="4343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4384547"/>
            <a:ext cx="3108960" cy="361187"/>
          </a:xfrm>
          <a:prstGeom prst="rect">
            <a:avLst/>
          </a:prstGeom>
          <a:noFill/>
        </p:spPr>
        <p:txBody>
          <a:bodyPr wrap="square" anchor="ctr" lIns="0" rIns="0" tIns="0" bIns="0">
            <a:spAutoFit/>
          </a:bodyPr>
          <a:lstStyle/>
          <a:p>
            <a:pPr algn="l"/>
            <a:r>
              <a:rPr sz="1150" b="1" i="0">
                <a:solidFill>
                  <a:srgbClr val="2C2C2C"/>
                </a:solidFill>
                <a:latin typeface="Open Sans"/>
              </a:rPr>
              <a:t>Türkiye</a:t>
            </a:r>
          </a:p>
        </p:txBody>
      </p:sp>
      <p:sp>
        <p:nvSpPr>
          <p:cNvPr id="47" name="TextBox 46"/>
          <p:cNvSpPr txBox="1"/>
          <p:nvPr/>
        </p:nvSpPr>
        <p:spPr>
          <a:xfrm>
            <a:off x="3657600" y="4384547"/>
            <a:ext cx="1828800" cy="361187"/>
          </a:xfrm>
          <a:prstGeom prst="rect">
            <a:avLst/>
          </a:prstGeom>
          <a:noFill/>
        </p:spPr>
        <p:txBody>
          <a:bodyPr wrap="square" anchor="ctr" lIns="0" rIns="0" tIns="0" bIns="0">
            <a:spAutoFit/>
          </a:bodyPr>
          <a:lstStyle/>
          <a:p>
            <a:pPr algn="r"/>
            <a:r>
              <a:rPr sz="1150" b="0" i="0">
                <a:solidFill>
                  <a:srgbClr val="2C2C2C"/>
                </a:solidFill>
                <a:latin typeface="Open Sans"/>
              </a:rPr>
              <a:t>$1,565.0B</a:t>
            </a:r>
          </a:p>
        </p:txBody>
      </p:sp>
      <p:sp>
        <p:nvSpPr>
          <p:cNvPr id="48" name="TextBox 47"/>
          <p:cNvSpPr txBox="1"/>
          <p:nvPr/>
        </p:nvSpPr>
        <p:spPr>
          <a:xfrm>
            <a:off x="5532120" y="4384547"/>
            <a:ext cx="2011680" cy="361187"/>
          </a:xfrm>
          <a:prstGeom prst="rect">
            <a:avLst/>
          </a:prstGeom>
          <a:noFill/>
        </p:spPr>
        <p:txBody>
          <a:bodyPr wrap="square" anchor="ctr" lIns="0" rIns="0" tIns="0" bIns="0">
            <a:spAutoFit/>
          </a:bodyPr>
          <a:lstStyle/>
          <a:p>
            <a:pPr algn="r"/>
            <a:r>
              <a:rPr sz="1150" b="0" i="0">
                <a:solidFill>
                  <a:srgbClr val="2C2C2C"/>
                </a:solidFill>
                <a:latin typeface="Open Sans"/>
              </a:rPr>
              <a:t>$20.4B</a:t>
            </a:r>
          </a:p>
        </p:txBody>
      </p:sp>
      <p:sp>
        <p:nvSpPr>
          <p:cNvPr id="49" name="TextBox 48"/>
          <p:cNvSpPr txBox="1"/>
          <p:nvPr/>
        </p:nvSpPr>
        <p:spPr>
          <a:xfrm>
            <a:off x="7589520" y="4384547"/>
            <a:ext cx="2103120" cy="361187"/>
          </a:xfrm>
          <a:prstGeom prst="rect">
            <a:avLst/>
          </a:prstGeom>
          <a:noFill/>
        </p:spPr>
        <p:txBody>
          <a:bodyPr wrap="square" anchor="ctr" lIns="0" rIns="0" tIns="0" bIns="0">
            <a:spAutoFit/>
          </a:bodyPr>
          <a:lstStyle/>
          <a:p>
            <a:pPr algn="r"/>
            <a:r>
              <a:rPr sz="1150" b="0" i="0">
                <a:solidFill>
                  <a:srgbClr val="2C2C2C"/>
                </a:solidFill>
                <a:latin typeface="Open Sans"/>
              </a:rPr>
              <a:t>$16.4B</a:t>
            </a:r>
          </a:p>
        </p:txBody>
      </p:sp>
      <p:sp>
        <p:nvSpPr>
          <p:cNvPr id="50" name="TextBox 49"/>
          <p:cNvSpPr txBox="1"/>
          <p:nvPr/>
        </p:nvSpPr>
        <p:spPr>
          <a:xfrm>
            <a:off x="9738360" y="4384547"/>
            <a:ext cx="1920240" cy="361187"/>
          </a:xfrm>
          <a:prstGeom prst="rect">
            <a:avLst/>
          </a:prstGeom>
          <a:noFill/>
        </p:spPr>
        <p:txBody>
          <a:bodyPr wrap="square" anchor="ctr" lIns="0" rIns="0" tIns="0" bIns="0">
            <a:spAutoFit/>
          </a:bodyPr>
          <a:lstStyle/>
          <a:p>
            <a:pPr algn="r"/>
            <a:r>
              <a:rPr sz="1150" b="1" i="0">
                <a:solidFill>
                  <a:srgbClr val="00833E"/>
                </a:solidFill>
                <a:latin typeface="Open Sans"/>
              </a:rPr>
              <a:t>+$4.0B</a:t>
            </a:r>
          </a:p>
        </p:txBody>
      </p:sp>
      <p:sp>
        <p:nvSpPr>
          <p:cNvPr id="51" name="TextBox 50"/>
          <p:cNvSpPr txBox="1"/>
          <p:nvPr/>
        </p:nvSpPr>
        <p:spPr>
          <a:xfrm>
            <a:off x="548640" y="4818888"/>
            <a:ext cx="3108960" cy="361187"/>
          </a:xfrm>
          <a:prstGeom prst="rect">
            <a:avLst/>
          </a:prstGeom>
          <a:noFill/>
        </p:spPr>
        <p:txBody>
          <a:bodyPr wrap="square" anchor="ctr" lIns="0" rIns="0" tIns="0" bIns="0">
            <a:spAutoFit/>
          </a:bodyPr>
          <a:lstStyle/>
          <a:p>
            <a:pPr algn="l"/>
            <a:r>
              <a:rPr sz="1150" b="1" i="0">
                <a:solidFill>
                  <a:srgbClr val="2C2C2C"/>
                </a:solidFill>
                <a:latin typeface="Open Sans"/>
              </a:rPr>
              <a:t>United Kingdom</a:t>
            </a:r>
          </a:p>
        </p:txBody>
      </p:sp>
      <p:sp>
        <p:nvSpPr>
          <p:cNvPr id="52" name="TextBox 51"/>
          <p:cNvSpPr txBox="1"/>
          <p:nvPr/>
        </p:nvSpPr>
        <p:spPr>
          <a:xfrm>
            <a:off x="3657600" y="4818888"/>
            <a:ext cx="1828800" cy="361187"/>
          </a:xfrm>
          <a:prstGeom prst="rect">
            <a:avLst/>
          </a:prstGeom>
          <a:noFill/>
        </p:spPr>
        <p:txBody>
          <a:bodyPr wrap="square" anchor="ctr" lIns="0" rIns="0" tIns="0" bIns="0">
            <a:spAutoFit/>
          </a:bodyPr>
          <a:lstStyle/>
          <a:p>
            <a:pPr algn="r"/>
            <a:r>
              <a:rPr sz="1150" b="0" i="0">
                <a:solidFill>
                  <a:srgbClr val="2C2C2C"/>
                </a:solidFill>
                <a:latin typeface="Open Sans"/>
              </a:rPr>
              <a:t>$3,959.0B</a:t>
            </a:r>
          </a:p>
        </p:txBody>
      </p:sp>
      <p:sp>
        <p:nvSpPr>
          <p:cNvPr id="53" name="TextBox 52"/>
          <p:cNvSpPr txBox="1"/>
          <p:nvPr/>
        </p:nvSpPr>
        <p:spPr>
          <a:xfrm>
            <a:off x="5532120" y="4818888"/>
            <a:ext cx="2011680" cy="361187"/>
          </a:xfrm>
          <a:prstGeom prst="rect">
            <a:avLst/>
          </a:prstGeom>
          <a:noFill/>
        </p:spPr>
        <p:txBody>
          <a:bodyPr wrap="square" anchor="ctr" lIns="0" rIns="0" tIns="0" bIns="0">
            <a:spAutoFit/>
          </a:bodyPr>
          <a:lstStyle/>
          <a:p>
            <a:pPr algn="r"/>
            <a:r>
              <a:rPr sz="1150" b="0" i="0">
                <a:solidFill>
                  <a:srgbClr val="2C2C2C"/>
                </a:solidFill>
                <a:latin typeface="Open Sans"/>
              </a:rPr>
              <a:t>$97.0B</a:t>
            </a:r>
          </a:p>
        </p:txBody>
      </p:sp>
      <p:sp>
        <p:nvSpPr>
          <p:cNvPr id="54" name="TextBox 53"/>
          <p:cNvSpPr txBox="1"/>
          <p:nvPr/>
        </p:nvSpPr>
        <p:spPr>
          <a:xfrm>
            <a:off x="7589520" y="4818888"/>
            <a:ext cx="2103120" cy="361187"/>
          </a:xfrm>
          <a:prstGeom prst="rect">
            <a:avLst/>
          </a:prstGeom>
          <a:noFill/>
        </p:spPr>
        <p:txBody>
          <a:bodyPr wrap="square" anchor="ctr" lIns="0" rIns="0" tIns="0" bIns="0">
            <a:spAutoFit/>
          </a:bodyPr>
          <a:lstStyle/>
          <a:p>
            <a:pPr algn="r"/>
            <a:r>
              <a:rPr sz="1150" b="0" i="0">
                <a:solidFill>
                  <a:srgbClr val="2C2C2C"/>
                </a:solidFill>
                <a:latin typeface="Open Sans"/>
              </a:rPr>
              <a:t>$64.8B</a:t>
            </a:r>
          </a:p>
        </p:txBody>
      </p:sp>
      <p:sp>
        <p:nvSpPr>
          <p:cNvPr id="55" name="TextBox 54"/>
          <p:cNvSpPr txBox="1"/>
          <p:nvPr/>
        </p:nvSpPr>
        <p:spPr>
          <a:xfrm>
            <a:off x="9738360" y="4818888"/>
            <a:ext cx="1920240" cy="361187"/>
          </a:xfrm>
          <a:prstGeom prst="rect">
            <a:avLst/>
          </a:prstGeom>
          <a:noFill/>
        </p:spPr>
        <p:txBody>
          <a:bodyPr wrap="square" anchor="ctr" lIns="0" rIns="0" tIns="0" bIns="0">
            <a:spAutoFit/>
          </a:bodyPr>
          <a:lstStyle/>
          <a:p>
            <a:pPr algn="r"/>
            <a:r>
              <a:rPr sz="1150" b="1" i="0">
                <a:solidFill>
                  <a:srgbClr val="00833E"/>
                </a:solidFill>
                <a:latin typeface="Open Sans"/>
              </a:rPr>
              <a:t>+$32.2B</a:t>
            </a:r>
          </a:p>
        </p:txBody>
      </p:sp>
      <p:sp>
        <p:nvSpPr>
          <p:cNvPr id="56" name="Rectangle 55"/>
          <p:cNvSpPr/>
          <p:nvPr/>
        </p:nvSpPr>
        <p:spPr>
          <a:xfrm>
            <a:off x="457200" y="5207508"/>
            <a:ext cx="11274552" cy="4343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8640" y="5253228"/>
            <a:ext cx="3108960" cy="361187"/>
          </a:xfrm>
          <a:prstGeom prst="rect">
            <a:avLst/>
          </a:prstGeom>
          <a:noFill/>
        </p:spPr>
        <p:txBody>
          <a:bodyPr wrap="square" anchor="ctr" lIns="0" rIns="0" tIns="0" bIns="0">
            <a:spAutoFit/>
          </a:bodyPr>
          <a:lstStyle/>
          <a:p>
            <a:pPr algn="l"/>
            <a:r>
              <a:rPr sz="1150" b="1" i="0">
                <a:solidFill>
                  <a:srgbClr val="2C2C2C"/>
                </a:solidFill>
                <a:latin typeface="Open Sans"/>
              </a:rPr>
              <a:t>United States</a:t>
            </a:r>
          </a:p>
        </p:txBody>
      </p:sp>
      <p:sp>
        <p:nvSpPr>
          <p:cNvPr id="58" name="TextBox 57"/>
          <p:cNvSpPr txBox="1"/>
          <p:nvPr/>
        </p:nvSpPr>
        <p:spPr>
          <a:xfrm>
            <a:off x="3657600" y="5253228"/>
            <a:ext cx="1828800" cy="361187"/>
          </a:xfrm>
          <a:prstGeom prst="rect">
            <a:avLst/>
          </a:prstGeom>
          <a:noFill/>
        </p:spPr>
        <p:txBody>
          <a:bodyPr wrap="square" anchor="ctr" lIns="0" rIns="0" tIns="0" bIns="0">
            <a:spAutoFit/>
          </a:bodyPr>
          <a:lstStyle/>
          <a:p>
            <a:pPr algn="r"/>
            <a:r>
              <a:rPr sz="1150" b="0" i="0">
                <a:solidFill>
                  <a:srgbClr val="2C2C2C"/>
                </a:solidFill>
                <a:latin typeface="Open Sans"/>
              </a:rPr>
              <a:t>$30,620.0B</a:t>
            </a:r>
          </a:p>
        </p:txBody>
      </p:sp>
      <p:sp>
        <p:nvSpPr>
          <p:cNvPr id="59" name="TextBox 58"/>
          <p:cNvSpPr txBox="1"/>
          <p:nvPr/>
        </p:nvSpPr>
        <p:spPr>
          <a:xfrm>
            <a:off x="5532120" y="5253228"/>
            <a:ext cx="2011680" cy="361187"/>
          </a:xfrm>
          <a:prstGeom prst="rect">
            <a:avLst/>
          </a:prstGeom>
          <a:noFill/>
        </p:spPr>
        <p:txBody>
          <a:bodyPr wrap="square" anchor="ctr" lIns="0" rIns="0" tIns="0" bIns="0">
            <a:spAutoFit/>
          </a:bodyPr>
          <a:lstStyle/>
          <a:p>
            <a:pPr algn="r"/>
            <a:r>
              <a:rPr sz="1150" b="0" i="0">
                <a:solidFill>
                  <a:srgbClr val="2C2C2C"/>
                </a:solidFill>
                <a:latin typeface="Open Sans"/>
              </a:rPr>
              <a:t>N/A</a:t>
            </a:r>
          </a:p>
        </p:txBody>
      </p:sp>
      <p:sp>
        <p:nvSpPr>
          <p:cNvPr id="60" name="TextBox 59"/>
          <p:cNvSpPr txBox="1"/>
          <p:nvPr/>
        </p:nvSpPr>
        <p:spPr>
          <a:xfrm>
            <a:off x="7589520" y="5253228"/>
            <a:ext cx="2103120" cy="361187"/>
          </a:xfrm>
          <a:prstGeom prst="rect">
            <a:avLst/>
          </a:prstGeom>
          <a:noFill/>
        </p:spPr>
        <p:txBody>
          <a:bodyPr wrap="square" anchor="ctr" lIns="0" rIns="0" tIns="0" bIns="0">
            <a:spAutoFit/>
          </a:bodyPr>
          <a:lstStyle/>
          <a:p>
            <a:pPr algn="r"/>
            <a:r>
              <a:rPr sz="1150" b="0" i="0">
                <a:solidFill>
                  <a:srgbClr val="2C2C2C"/>
                </a:solidFill>
                <a:latin typeface="Open Sans"/>
              </a:rPr>
              <a:t>N/A</a:t>
            </a:r>
          </a:p>
        </p:txBody>
      </p:sp>
      <p:sp>
        <p:nvSpPr>
          <p:cNvPr id="61" name="TextBox 60"/>
          <p:cNvSpPr txBox="1"/>
          <p:nvPr/>
        </p:nvSpPr>
        <p:spPr>
          <a:xfrm>
            <a:off x="9738360" y="5253228"/>
            <a:ext cx="1920240" cy="361187"/>
          </a:xfrm>
          <a:prstGeom prst="rect">
            <a:avLst/>
          </a:prstGeom>
          <a:noFill/>
        </p:spPr>
        <p:txBody>
          <a:bodyPr wrap="square" anchor="ctr" lIns="0" rIns="0" tIns="0" bIns="0">
            <a:spAutoFit/>
          </a:bodyPr>
          <a:lstStyle/>
          <a:p>
            <a:pPr algn="r"/>
            <a:r>
              <a:rPr sz="1150" b="1" i="0">
                <a:solidFill>
                  <a:srgbClr val="54606C"/>
                </a:solidFill>
                <a:latin typeface="Open Sans"/>
              </a:rPr>
              <a:t>N/A</a:t>
            </a:r>
          </a:p>
        </p:txBody>
      </p:sp>
      <p:sp>
        <p:nvSpPr>
          <p:cNvPr id="62" name="TextBox 61"/>
          <p:cNvSpPr txBox="1"/>
          <p:nvPr/>
        </p:nvSpPr>
        <p:spPr>
          <a:xfrm>
            <a:off x="457200" y="5715000"/>
            <a:ext cx="11274552" cy="310896"/>
          </a:xfrm>
          <a:prstGeom prst="rect">
            <a:avLst/>
          </a:prstGeom>
          <a:noFill/>
        </p:spPr>
        <p:txBody>
          <a:bodyPr wrap="square" anchor="t" lIns="0" rIns="0" tIns="0" bIns="0">
            <a:spAutoFit/>
          </a:bodyPr>
          <a:lstStyle/>
          <a:p>
            <a:r>
              <a:rPr sz="900" b="0" i="1">
                <a:solidFill>
                  <a:srgbClr val="757D87"/>
                </a:solidFill>
                <a:latin typeface="Open Sans"/>
              </a:rPr>
              <a:t>Negative U.S. bilateral balance = U.S. goods deficit; positive = U.S. surplus. Bilateral columns measure trade with the United States, so the U.S. row shows N/A — the U.S. country page reports world totals.</a:t>
            </a:r>
          </a:p>
        </p:txBody>
      </p:sp>
      <p:cxnSp>
        <p:nvCxnSpPr>
          <p:cNvPr id="63" name="Connector 62"/>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65" name="TextBox 64"/>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66" name="TextBox 65"/>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rgentina.png"/>
          <p:cNvPicPr>
            <a:picLocks noChangeAspect="1"/>
          </p:cNvPicPr>
          <p:nvPr/>
        </p:nvPicPr>
        <p:blipFill>
          <a:blip r:embed="rId2"/>
          <a:stretch>
            <a:fillRect/>
          </a:stretch>
        </p:blipFill>
        <p:spPr>
          <a:xfrm>
            <a:off x="548640" y="329184"/>
            <a:ext cx="877824" cy="548640"/>
          </a:xfrm>
          <a:prstGeom prst="rect">
            <a:avLst/>
          </a:prstGeom>
        </p:spPr>
      </p:pic>
      <p:sp>
        <p:nvSpPr>
          <p:cNvPr id="4" name="Rectangle 3"/>
          <p:cNvSpPr/>
          <p:nvPr/>
        </p:nvSpPr>
        <p:spPr>
          <a:xfrm>
            <a:off x="548640" y="329184"/>
            <a:ext cx="877824"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Argentina</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$681.5B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+$11.3B</a:t>
            </a:r>
            <a:r>
              <a:rPr sz="950" b="0" i="0">
                <a:solidFill>
                  <a:srgbClr val="54606C"/>
                </a:solidFill>
                <a:latin typeface="Open Sans"/>
              </a:rPr>
              <a:t>  surplus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$9.9B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$8.3B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00833E"/>
                </a:solidFill>
                <a:latin typeface="Open Sans"/>
              </a:rPr>
              <a:t>+$1.6B</a:t>
            </a:r>
            <a:r>
              <a:rPr sz="950" b="0" i="0">
                <a:solidFill>
                  <a:srgbClr val="54606C"/>
                </a:solidFill>
                <a:latin typeface="Open Sans"/>
              </a:rPr>
              <a:t>  surplus</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a:t>
            </a:r>
          </a:p>
        </p:txBody>
      </p:sp>
      <p:pic>
        <p:nvPicPr>
          <p:cNvPr id="16" name="Picture 15" descr="_ph-argentina-genua.png"/>
          <p:cNvPicPr>
            <a:picLocks noChangeAspect="1"/>
          </p:cNvPicPr>
          <p:nvPr/>
        </p:nvPicPr>
        <p:blipFill>
          <a:blip r:embed="rId3"/>
          <a:stretch>
            <a:fillRect/>
          </a:stretch>
        </p:blipFill>
        <p:spPr>
          <a:xfrm>
            <a:off x="3611880" y="1408176"/>
            <a:ext cx="731520" cy="914400"/>
          </a:xfrm>
          <a:prstGeom prst="rect">
            <a:avLst/>
          </a:prstGeom>
        </p:spPr>
      </p:pic>
      <p:sp>
        <p:nvSpPr>
          <p:cNvPr id="17" name="Rectangle 16"/>
          <p:cNvSpPr/>
          <p:nvPr/>
        </p:nvSpPr>
        <p:spPr>
          <a:xfrm>
            <a:off x="3611880" y="1408176"/>
            <a:ext cx="731520"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7992" y="1408176"/>
            <a:ext cx="7132320" cy="256032"/>
          </a:xfrm>
          <a:prstGeom prst="rect">
            <a:avLst/>
          </a:prstGeom>
          <a:noFill/>
        </p:spPr>
        <p:txBody>
          <a:bodyPr wrap="square" anchor="t" lIns="0" rIns="0" tIns="0" bIns="0">
            <a:spAutoFit/>
          </a:bodyPr>
          <a:lstStyle/>
          <a:p>
            <a:r>
              <a:rPr sz="1400" b="1" i="0">
                <a:solidFill>
                  <a:srgbClr val="0A314D"/>
                </a:solidFill>
                <a:latin typeface="Open Sans"/>
              </a:rPr>
              <a:t>Darío Leandro Genua</a:t>
            </a:r>
          </a:p>
        </p:txBody>
      </p:sp>
      <p:sp>
        <p:nvSpPr>
          <p:cNvPr id="19" name="TextBox 18"/>
          <p:cNvSpPr txBox="1"/>
          <p:nvPr/>
        </p:nvSpPr>
        <p:spPr>
          <a:xfrm>
            <a:off x="4507992" y="1682495"/>
            <a:ext cx="7132320"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Secretary of Innovation, Science and Technology</a:t>
            </a:r>
          </a:p>
        </p:txBody>
      </p:sp>
      <p:sp>
        <p:nvSpPr>
          <p:cNvPr id="20" name="TextBox 19"/>
          <p:cNvSpPr txBox="1"/>
          <p:nvPr/>
        </p:nvSpPr>
        <p:spPr>
          <a:xfrm>
            <a:off x="4507992" y="2048256"/>
            <a:ext cx="7132320"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Jefatura de Gabinete de Ministros (Chief of Cabinet's Office)</a:t>
            </a:r>
            <a:r>
              <a:rPr sz="950" b="0" i="0">
                <a:solidFill>
                  <a:srgbClr val="757D87"/>
                </a:solidFill>
                <a:latin typeface="Open Sans"/>
              </a:rPr>
              <a:t>   ·   Assumed office: 2024-06</a:t>
            </a:r>
          </a:p>
        </p:txBody>
      </p:sp>
      <p:sp>
        <p:nvSpPr>
          <p:cNvPr id="21" name="TextBox 20"/>
          <p:cNvSpPr txBox="1"/>
          <p:nvPr/>
        </p:nvSpPr>
        <p:spPr>
          <a:xfrm>
            <a:off x="3611880" y="2377440"/>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Darío Leandro Genua, a business-administration graduate of the Universidad Catolica Argentina with a postgraduate degree in information systems and administrative processes, became Secretary of Innovation, Science and Technology in June 2024, succeeding Alejandro Cosentino. He previously served as executive coordinator of the intervention of ENACOM, Argentina's telecommunications regulator, working on the repeal of DNU 690 and satellite-internet opening.</a:t>
            </a:r>
          </a:p>
          <a:p>
            <a:pPr>
              <a:spcBef>
                <a:spcPts val="500"/>
              </a:spcBef>
            </a:pPr>
            <a:r>
              <a:rPr sz="900" b="0" i="1">
                <a:solidFill>
                  <a:srgbClr val="54606C"/>
                </a:solidFill>
                <a:latin typeface="Open Sans"/>
              </a:rPr>
              <a:t>Digital and tech policy is led from the Chief of Cabinet's Office via the Secretariat of Innovation, Science and Technology (Darío Genua) — there is no standalone digital ministry.</a:t>
            </a:r>
          </a:p>
        </p:txBody>
      </p:sp>
      <p:cxnSp>
        <p:nvCxnSpPr>
          <p:cNvPr id="22" name="Connector 21"/>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  ·  SPLIT PORTFOLIO</a:t>
            </a:r>
          </a:p>
        </p:txBody>
      </p:sp>
      <p:pic>
        <p:nvPicPr>
          <p:cNvPr id="24" name="Picture 23" descr="argentina-quirno.png"/>
          <p:cNvPicPr>
            <a:picLocks noChangeAspect="1"/>
          </p:cNvPicPr>
          <p:nvPr/>
        </p:nvPicPr>
        <p:blipFill>
          <a:blip r:embed="rId4"/>
          <a:stretch>
            <a:fillRect/>
          </a:stretch>
        </p:blipFill>
        <p:spPr>
          <a:xfrm>
            <a:off x="3611880" y="4023359"/>
            <a:ext cx="584481" cy="731520"/>
          </a:xfrm>
          <a:prstGeom prst="rect">
            <a:avLst/>
          </a:prstGeom>
        </p:spPr>
      </p:pic>
      <p:sp>
        <p:nvSpPr>
          <p:cNvPr id="25" name="Rectangle 24"/>
          <p:cNvSpPr/>
          <p:nvPr/>
        </p:nvSpPr>
        <p:spPr>
          <a:xfrm>
            <a:off x="3611880" y="4023359"/>
            <a:ext cx="584480"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24376" y="4023359"/>
            <a:ext cx="3137127" cy="914400"/>
          </a:xfrm>
          <a:prstGeom prst="rect">
            <a:avLst/>
          </a:prstGeom>
          <a:noFill/>
        </p:spPr>
        <p:txBody>
          <a:bodyPr wrap="square" anchor="t" lIns="0" rIns="0" tIns="0" bIns="0">
            <a:spAutoFit/>
          </a:bodyPr>
          <a:lstStyle/>
          <a:p>
            <a:r>
              <a:rPr sz="750" b="1" i="0" spc="80">
                <a:solidFill>
                  <a:srgbClr val="007582"/>
                </a:solidFill>
                <a:latin typeface="Open Sans"/>
              </a:rPr>
              <a:t>FOREIGN AFFAIRS &amp; INTERNATIONAL TRADE</a:t>
            </a:r>
          </a:p>
          <a:p>
            <a:pPr>
              <a:spcBef>
                <a:spcPts val="200"/>
              </a:spcBef>
            </a:pPr>
            <a:r>
              <a:rPr sz="1200" b="1" i="0">
                <a:solidFill>
                  <a:srgbClr val="0A314D"/>
                </a:solidFill>
                <a:latin typeface="Open Sans"/>
              </a:rPr>
              <a:t>Pablo Quirno</a:t>
            </a:r>
          </a:p>
          <a:p>
            <a:pPr>
              <a:lnSpc>
                <a:spcPct val="104000"/>
              </a:lnSpc>
              <a:spcBef>
                <a:spcPts val="200"/>
              </a:spcBef>
            </a:pPr>
            <a:r>
              <a:rPr sz="900" b="0" i="1">
                <a:solidFill>
                  <a:srgbClr val="54606C"/>
                </a:solidFill>
                <a:latin typeface="Open Sans"/>
              </a:rPr>
              <a:t>Minister of Foreign Affairs, International Trade and Worship (Canciller)</a:t>
            </a:r>
          </a:p>
        </p:txBody>
      </p:sp>
      <p:sp>
        <p:nvSpPr>
          <p:cNvPr id="27" name="TextBox 26"/>
          <p:cNvSpPr txBox="1"/>
          <p:nvPr/>
        </p:nvSpPr>
        <p:spPr>
          <a:xfrm>
            <a:off x="3611880"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Ministerio de Relaciones Exteriores, Comercio Internacional y Culto</a:t>
            </a:r>
            <a:r>
              <a:rPr sz="850" b="0" i="0">
                <a:solidFill>
                  <a:srgbClr val="757D87"/>
                </a:solidFill>
                <a:latin typeface="Open Sans"/>
              </a:rPr>
              <a:t>  ·  2025-10-27</a:t>
            </a:r>
          </a:p>
        </p:txBody>
      </p:sp>
      <p:sp>
        <p:nvSpPr>
          <p:cNvPr id="28" name="TextBox 27"/>
          <p:cNvSpPr txBox="1"/>
          <p:nvPr/>
        </p:nvSpPr>
        <p:spPr>
          <a:xfrm>
            <a:off x="3611880"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Minister of Foreign Affairs, International Trade and Worship since October 27, 2025, succeeding Gerardo Werthein. Economist (born August 24, 1966) and former longtime JPMorgan executive; served as Secretary of Finance under Economy Minister Luis Caputo from December 2023, leading Argentina's debt operations.</a:t>
            </a:r>
          </a:p>
        </p:txBody>
      </p:sp>
      <p:pic>
        <p:nvPicPr>
          <p:cNvPr id="29" name="Picture 28" descr="_ph-argentina-lavigne.png"/>
          <p:cNvPicPr>
            <a:picLocks noChangeAspect="1"/>
          </p:cNvPicPr>
          <p:nvPr/>
        </p:nvPicPr>
        <p:blipFill>
          <a:blip r:embed="rId5"/>
          <a:stretch>
            <a:fillRect/>
          </a:stretch>
        </p:blipFill>
        <p:spPr>
          <a:xfrm>
            <a:off x="7790688" y="4023359"/>
            <a:ext cx="585216" cy="731520"/>
          </a:xfrm>
          <a:prstGeom prst="rect">
            <a:avLst/>
          </a:prstGeom>
        </p:spPr>
      </p:pic>
      <p:sp>
        <p:nvSpPr>
          <p:cNvPr id="30" name="Rectangle 29"/>
          <p:cNvSpPr/>
          <p:nvPr/>
        </p:nvSpPr>
        <p:spPr>
          <a:xfrm>
            <a:off x="7790688" y="4023359"/>
            <a:ext cx="585216"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3920" y="4023359"/>
            <a:ext cx="3136391" cy="914400"/>
          </a:xfrm>
          <a:prstGeom prst="rect">
            <a:avLst/>
          </a:prstGeom>
          <a:noFill/>
        </p:spPr>
        <p:txBody>
          <a:bodyPr wrap="square" anchor="t" lIns="0" rIns="0" tIns="0" bIns="0">
            <a:spAutoFit/>
          </a:bodyPr>
          <a:lstStyle/>
          <a:p>
            <a:r>
              <a:rPr sz="750" b="1" i="0" spc="80">
                <a:solidFill>
                  <a:srgbClr val="007582"/>
                </a:solidFill>
                <a:latin typeface="Open Sans"/>
              </a:rPr>
              <a:t>DOMESTIC COMMERCE &amp; INDUSTRY</a:t>
            </a:r>
          </a:p>
          <a:p>
            <a:pPr>
              <a:spcBef>
                <a:spcPts val="200"/>
              </a:spcBef>
            </a:pPr>
            <a:r>
              <a:rPr sz="1200" b="1" i="0">
                <a:solidFill>
                  <a:srgbClr val="0A314D"/>
                </a:solidFill>
                <a:latin typeface="Open Sans"/>
              </a:rPr>
              <a:t>Pablo Lavigne</a:t>
            </a:r>
            <a:r>
              <a:rPr sz="936" b="1" i="1">
                <a:solidFill>
                  <a:srgbClr val="D46127"/>
                </a:solidFill>
                <a:latin typeface="Open Sans"/>
              </a:rPr>
              <a:t>  · acting</a:t>
            </a:r>
          </a:p>
          <a:p>
            <a:pPr>
              <a:lnSpc>
                <a:spcPct val="104000"/>
              </a:lnSpc>
              <a:spcBef>
                <a:spcPts val="200"/>
              </a:spcBef>
            </a:pPr>
            <a:r>
              <a:rPr sz="900" b="0" i="1">
                <a:solidFill>
                  <a:srgbClr val="54606C"/>
                </a:solidFill>
                <a:latin typeface="Open Sans"/>
              </a:rPr>
              <a:t>Secretary of Production Coordination (also exercising Industry &amp; Commerce functions, acting)</a:t>
            </a:r>
          </a:p>
        </p:txBody>
      </p:sp>
      <p:sp>
        <p:nvSpPr>
          <p:cNvPr id="32" name="TextBox 31"/>
          <p:cNvSpPr txBox="1"/>
          <p:nvPr/>
        </p:nvSpPr>
        <p:spPr>
          <a:xfrm>
            <a:off x="7790688"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Ministerio de Economía</a:t>
            </a:r>
            <a:r>
              <a:rPr sz="850" b="0" i="0">
                <a:solidFill>
                  <a:srgbClr val="757D87"/>
                </a:solidFill>
                <a:latin typeface="Open Sans"/>
              </a:rPr>
              <a:t>  ·  2024-12-11</a:t>
            </a:r>
          </a:p>
        </p:txBody>
      </p:sp>
      <p:sp>
        <p:nvSpPr>
          <p:cNvPr id="33" name="TextBox 32"/>
          <p:cNvSpPr txBox="1"/>
          <p:nvPr/>
        </p:nvSpPr>
        <p:spPr>
          <a:xfrm>
            <a:off x="7790688"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Pablo Lavigne has been Secretary of Production Coordination in Argentina's Economy Ministry since December 2024. He led the Secretariat of Industry and Commerce; a March 2026 decree merged those functions into his secretariat, and he exercises them on an acting basis.</a:t>
            </a:r>
          </a:p>
        </p:txBody>
      </p:sp>
      <p:cxnSp>
        <p:nvCxnSpPr>
          <p:cNvPr id="34" name="Connector 33"/>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6" name="TextBox 35"/>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7" name="TextBox 36"/>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1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ustralia.png"/>
          <p:cNvPicPr>
            <a:picLocks noChangeAspect="1"/>
          </p:cNvPicPr>
          <p:nvPr/>
        </p:nvPicPr>
        <p:blipFill>
          <a:blip r:embed="rId2"/>
          <a:stretch>
            <a:fillRect/>
          </a:stretch>
        </p:blipFill>
        <p:spPr>
          <a:xfrm>
            <a:off x="548640" y="329184"/>
            <a:ext cx="1097280" cy="548640"/>
          </a:xfrm>
          <a:prstGeom prst="rect">
            <a:avLst/>
          </a:prstGeom>
        </p:spPr>
      </p:pic>
      <p:sp>
        <p:nvSpPr>
          <p:cNvPr id="4" name="Rectangle 3"/>
          <p:cNvSpPr/>
          <p:nvPr/>
        </p:nvSpPr>
        <p:spPr>
          <a:xfrm>
            <a:off x="548640" y="329184"/>
            <a:ext cx="1097280"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Australia</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$1,840.0B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+$4.5B</a:t>
            </a:r>
            <a:r>
              <a:rPr sz="950" b="0" i="0">
                <a:solidFill>
                  <a:srgbClr val="54606C"/>
                </a:solidFill>
                <a:latin typeface="Open Sans"/>
              </a:rPr>
              <a:t>  surplus · g+s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$33.7B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$29.1B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00833E"/>
                </a:solidFill>
                <a:latin typeface="Open Sans"/>
              </a:rPr>
              <a:t>+$4.6B</a:t>
            </a:r>
            <a:r>
              <a:rPr sz="950" b="0" i="0">
                <a:solidFill>
                  <a:srgbClr val="54606C"/>
                </a:solidFill>
                <a:latin typeface="Open Sans"/>
              </a:rPr>
              <a:t>  surplus</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  ·  SPLIT PORTFOLIO</a:t>
            </a:r>
          </a:p>
        </p:txBody>
      </p:sp>
      <p:pic>
        <p:nvPicPr>
          <p:cNvPr id="16" name="Picture 15" descr="australia-charlton.png"/>
          <p:cNvPicPr>
            <a:picLocks noChangeAspect="1"/>
          </p:cNvPicPr>
          <p:nvPr/>
        </p:nvPicPr>
        <p:blipFill>
          <a:blip r:embed="rId3"/>
          <a:stretch>
            <a:fillRect/>
          </a:stretch>
        </p:blipFill>
        <p:spPr>
          <a:xfrm>
            <a:off x="3611880" y="1389888"/>
            <a:ext cx="586097" cy="731520"/>
          </a:xfrm>
          <a:prstGeom prst="rect">
            <a:avLst/>
          </a:prstGeom>
        </p:spPr>
      </p:pic>
      <p:sp>
        <p:nvSpPr>
          <p:cNvPr id="17" name="Rectangle 16"/>
          <p:cNvSpPr/>
          <p:nvPr/>
        </p:nvSpPr>
        <p:spPr>
          <a:xfrm>
            <a:off x="3611880" y="1389888"/>
            <a:ext cx="586097"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5993" y="1389888"/>
            <a:ext cx="3135510" cy="914400"/>
          </a:xfrm>
          <a:prstGeom prst="rect">
            <a:avLst/>
          </a:prstGeom>
          <a:noFill/>
        </p:spPr>
        <p:txBody>
          <a:bodyPr wrap="square" anchor="t" lIns="0" rIns="0" tIns="0" bIns="0">
            <a:spAutoFit/>
          </a:bodyPr>
          <a:lstStyle/>
          <a:p>
            <a:r>
              <a:rPr sz="750" b="1" i="0" spc="80">
                <a:solidFill>
                  <a:srgbClr val="007582"/>
                </a:solidFill>
                <a:latin typeface="Open Sans"/>
              </a:rPr>
              <a:t>SCIENCE, TECH &amp; THE DIGITAL ECONOMY</a:t>
            </a:r>
          </a:p>
          <a:p>
            <a:pPr>
              <a:spcBef>
                <a:spcPts val="200"/>
              </a:spcBef>
            </a:pPr>
            <a:r>
              <a:rPr sz="1200" b="1" i="0">
                <a:solidFill>
                  <a:srgbClr val="0A314D"/>
                </a:solidFill>
                <a:latin typeface="Open Sans"/>
              </a:rPr>
              <a:t>Andrew Charlton</a:t>
            </a:r>
          </a:p>
          <a:p>
            <a:pPr>
              <a:lnSpc>
                <a:spcPct val="104000"/>
              </a:lnSpc>
              <a:spcBef>
                <a:spcPts val="200"/>
              </a:spcBef>
            </a:pPr>
            <a:r>
              <a:rPr sz="900" b="0" i="1">
                <a:solidFill>
                  <a:srgbClr val="54606C"/>
                </a:solidFill>
                <a:latin typeface="Open Sans"/>
              </a:rPr>
              <a:t>Cabinet Secretary; Assistant Minister for Science, Technology and the Digital Economy</a:t>
            </a:r>
          </a:p>
        </p:txBody>
      </p:sp>
      <p:sp>
        <p:nvSpPr>
          <p:cNvPr id="19" name="TextBox 18"/>
          <p:cNvSpPr txBox="1"/>
          <p:nvPr/>
        </p:nvSpPr>
        <p:spPr>
          <a:xfrm>
            <a:off x="3611880" y="2322576"/>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Department of Industry, Science and Resources (also Department of the Prime Minister and Cabinet as Cabinet Secretary)</a:t>
            </a:r>
            <a:r>
              <a:rPr sz="850" b="0" i="0">
                <a:solidFill>
                  <a:srgbClr val="757D87"/>
                </a:solidFill>
                <a:latin typeface="Open Sans"/>
              </a:rPr>
              <a:t>  ·  2025-05-13</a:t>
            </a:r>
          </a:p>
        </p:txBody>
      </p:sp>
      <p:sp>
        <p:nvSpPr>
          <p:cNvPr id="20" name="TextBox 19"/>
          <p:cNvSpPr txBox="1"/>
          <p:nvPr/>
        </p:nvSpPr>
        <p:spPr>
          <a:xfrm>
            <a:off x="3611880" y="2633472"/>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Cabinet Secretary and Assistant Minister for Science, Technology and the Digital Economy since 13 May 2025; Labor MP for Parramatta since 2022.</a:t>
            </a:r>
          </a:p>
        </p:txBody>
      </p:sp>
      <p:pic>
        <p:nvPicPr>
          <p:cNvPr id="21" name="Picture 20" descr="australia-ayres.png"/>
          <p:cNvPicPr>
            <a:picLocks noChangeAspect="1"/>
          </p:cNvPicPr>
          <p:nvPr/>
        </p:nvPicPr>
        <p:blipFill>
          <a:blip r:embed="rId4"/>
          <a:stretch>
            <a:fillRect/>
          </a:stretch>
        </p:blipFill>
        <p:spPr>
          <a:xfrm>
            <a:off x="7790688" y="1389888"/>
            <a:ext cx="584481" cy="731520"/>
          </a:xfrm>
          <a:prstGeom prst="rect">
            <a:avLst/>
          </a:prstGeom>
        </p:spPr>
      </p:pic>
      <p:sp>
        <p:nvSpPr>
          <p:cNvPr id="22" name="Rectangle 21"/>
          <p:cNvSpPr/>
          <p:nvPr/>
        </p:nvSpPr>
        <p:spPr>
          <a:xfrm>
            <a:off x="7790688" y="1389888"/>
            <a:ext cx="584480"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184" y="1389888"/>
            <a:ext cx="3137127" cy="914400"/>
          </a:xfrm>
          <a:prstGeom prst="rect">
            <a:avLst/>
          </a:prstGeom>
          <a:noFill/>
        </p:spPr>
        <p:txBody>
          <a:bodyPr wrap="square" anchor="t" lIns="0" rIns="0" tIns="0" bIns="0">
            <a:spAutoFit/>
          </a:bodyPr>
          <a:lstStyle/>
          <a:p>
            <a:r>
              <a:rPr sz="750" b="1" i="0" spc="80">
                <a:solidFill>
                  <a:srgbClr val="007582"/>
                </a:solidFill>
                <a:latin typeface="Open Sans"/>
              </a:rPr>
              <a:t>INDUSTRY, INNOVATION &amp; SCIENCE</a:t>
            </a:r>
          </a:p>
          <a:p>
            <a:pPr>
              <a:spcBef>
                <a:spcPts val="200"/>
              </a:spcBef>
            </a:pPr>
            <a:r>
              <a:rPr sz="1200" b="1" i="0">
                <a:solidFill>
                  <a:srgbClr val="0A314D"/>
                </a:solidFill>
                <a:latin typeface="Open Sans"/>
              </a:rPr>
              <a:t>Tim Ayres</a:t>
            </a:r>
          </a:p>
          <a:p>
            <a:pPr>
              <a:lnSpc>
                <a:spcPct val="104000"/>
              </a:lnSpc>
              <a:spcBef>
                <a:spcPts val="200"/>
              </a:spcBef>
            </a:pPr>
            <a:r>
              <a:rPr sz="900" b="0" i="1">
                <a:solidFill>
                  <a:srgbClr val="54606C"/>
                </a:solidFill>
                <a:latin typeface="Open Sans"/>
              </a:rPr>
              <a:t>Minister for Industry and Innovation; Minister for Science</a:t>
            </a:r>
          </a:p>
        </p:txBody>
      </p:sp>
      <p:sp>
        <p:nvSpPr>
          <p:cNvPr id="24" name="TextBox 23"/>
          <p:cNvSpPr txBox="1"/>
          <p:nvPr/>
        </p:nvSpPr>
        <p:spPr>
          <a:xfrm>
            <a:off x="7790688" y="2322576"/>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Department of Industry, Science and Resources</a:t>
            </a:r>
            <a:r>
              <a:rPr sz="850" b="0" i="0">
                <a:solidFill>
                  <a:srgbClr val="757D87"/>
                </a:solidFill>
                <a:latin typeface="Open Sans"/>
              </a:rPr>
              <a:t>  ·  2025-05-13</a:t>
            </a:r>
          </a:p>
        </p:txBody>
      </p:sp>
      <p:sp>
        <p:nvSpPr>
          <p:cNvPr id="25" name="TextBox 24"/>
          <p:cNvSpPr txBox="1"/>
          <p:nvPr/>
        </p:nvSpPr>
        <p:spPr>
          <a:xfrm>
            <a:off x="7790688" y="2633472"/>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Minister for Industry and Innovation and Minister for Science since 13 May 2025; Labor Senator for New South Wales since 2019.</a:t>
            </a:r>
          </a:p>
        </p:txBody>
      </p:sp>
      <p:cxnSp>
        <p:nvCxnSpPr>
          <p:cNvPr id="26" name="Connector 25"/>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a:t>
            </a:r>
          </a:p>
        </p:txBody>
      </p:sp>
      <p:pic>
        <p:nvPicPr>
          <p:cNvPr id="28" name="Picture 27" descr="australia-farrell.png"/>
          <p:cNvPicPr>
            <a:picLocks noChangeAspect="1"/>
          </p:cNvPicPr>
          <p:nvPr/>
        </p:nvPicPr>
        <p:blipFill>
          <a:blip r:embed="rId5"/>
          <a:stretch>
            <a:fillRect/>
          </a:stretch>
        </p:blipFill>
        <p:spPr>
          <a:xfrm>
            <a:off x="3611880" y="4041648"/>
            <a:ext cx="733778" cy="914400"/>
          </a:xfrm>
          <a:prstGeom prst="rect">
            <a:avLst/>
          </a:prstGeom>
        </p:spPr>
      </p:pic>
      <p:sp>
        <p:nvSpPr>
          <p:cNvPr id="29" name="Rectangle 28"/>
          <p:cNvSpPr/>
          <p:nvPr/>
        </p:nvSpPr>
        <p:spPr>
          <a:xfrm>
            <a:off x="3611880" y="4041648"/>
            <a:ext cx="733777"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10249" y="4041648"/>
            <a:ext cx="7130062" cy="256032"/>
          </a:xfrm>
          <a:prstGeom prst="rect">
            <a:avLst/>
          </a:prstGeom>
          <a:noFill/>
        </p:spPr>
        <p:txBody>
          <a:bodyPr wrap="square" anchor="t" lIns="0" rIns="0" tIns="0" bIns="0">
            <a:spAutoFit/>
          </a:bodyPr>
          <a:lstStyle/>
          <a:p>
            <a:r>
              <a:rPr sz="1400" b="1" i="0">
                <a:solidFill>
                  <a:srgbClr val="0A314D"/>
                </a:solidFill>
                <a:latin typeface="Open Sans"/>
              </a:rPr>
              <a:t>Don Farrell</a:t>
            </a:r>
          </a:p>
        </p:txBody>
      </p:sp>
      <p:sp>
        <p:nvSpPr>
          <p:cNvPr id="31" name="TextBox 30"/>
          <p:cNvSpPr txBox="1"/>
          <p:nvPr/>
        </p:nvSpPr>
        <p:spPr>
          <a:xfrm>
            <a:off x="4510249" y="4315968"/>
            <a:ext cx="7130062"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Minister for Trade and Tourism; Special Minister of State</a:t>
            </a:r>
          </a:p>
        </p:txBody>
      </p:sp>
      <p:sp>
        <p:nvSpPr>
          <p:cNvPr id="32" name="TextBox 31"/>
          <p:cNvSpPr txBox="1"/>
          <p:nvPr/>
        </p:nvSpPr>
        <p:spPr>
          <a:xfrm>
            <a:off x="4510249" y="4681727"/>
            <a:ext cx="7130062"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Department of Foreign Affairs and Trade</a:t>
            </a:r>
            <a:r>
              <a:rPr sz="950" b="0" i="0">
                <a:solidFill>
                  <a:srgbClr val="757D87"/>
                </a:solidFill>
                <a:latin typeface="Open Sans"/>
              </a:rPr>
              <a:t>   ·   Assumed office: 2022-06-01</a:t>
            </a:r>
          </a:p>
        </p:txBody>
      </p:sp>
      <p:sp>
        <p:nvSpPr>
          <p:cNvPr id="33" name="TextBox 32"/>
          <p:cNvSpPr txBox="1"/>
          <p:nvPr/>
        </p:nvSpPr>
        <p:spPr>
          <a:xfrm>
            <a:off x="3611880" y="5010912"/>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Senator Donald Edward Farrell (born 1954) is a Labor Senator for South Australia and a former trade unionist who was state secretary of the Shop, Distributive and Allied Employees Association (SDA) from 1993 to 2008.</a:t>
            </a:r>
          </a:p>
          <a:p>
            <a:pPr>
              <a:spcBef>
                <a:spcPts val="500"/>
              </a:spcBef>
            </a:pPr>
            <a:r>
              <a:rPr sz="900" b="0" i="1">
                <a:solidFill>
                  <a:srgbClr val="54606C"/>
                </a:solidFill>
                <a:latin typeface="Open Sans"/>
              </a:rPr>
              <a:t>Farrell is the sole senior minister for trade and tourism within the Department of Foreign Affairs and Trade; Ayres, formerly his Assistant Minister for Trade, moved up to the industry portfolio in May 2025.</a:t>
            </a:r>
          </a:p>
        </p:txBody>
      </p:sp>
      <p:cxnSp>
        <p:nvCxnSpPr>
          <p:cNvPr id="34" name="Connector 33"/>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6" name="TextBox 35"/>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7" name="TextBox 36"/>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2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razil.png"/>
          <p:cNvPicPr>
            <a:picLocks noChangeAspect="1"/>
          </p:cNvPicPr>
          <p:nvPr/>
        </p:nvPicPr>
        <p:blipFill>
          <a:blip r:embed="rId2"/>
          <a:stretch>
            <a:fillRect/>
          </a:stretch>
        </p:blipFill>
        <p:spPr>
          <a:xfrm>
            <a:off x="548640" y="329184"/>
            <a:ext cx="783184" cy="548640"/>
          </a:xfrm>
          <a:prstGeom prst="rect">
            <a:avLst/>
          </a:prstGeom>
        </p:spPr>
      </p:pic>
      <p:sp>
        <p:nvSpPr>
          <p:cNvPr id="4" name="Rectangle 3"/>
          <p:cNvSpPr/>
          <p:nvPr/>
        </p:nvSpPr>
        <p:spPr>
          <a:xfrm>
            <a:off x="548640" y="329184"/>
            <a:ext cx="783183"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Brazil</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$2,280.0B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+$68.3B</a:t>
            </a:r>
            <a:r>
              <a:rPr sz="950" b="0" i="0">
                <a:solidFill>
                  <a:srgbClr val="54606C"/>
                </a:solidFill>
                <a:latin typeface="Open Sans"/>
              </a:rPr>
              <a:t>  surplus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$54.4B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$39.9B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00833E"/>
                </a:solidFill>
                <a:latin typeface="Open Sans"/>
              </a:rPr>
              <a:t>+$14.5B</a:t>
            </a:r>
            <a:r>
              <a:rPr sz="950" b="0" i="0">
                <a:solidFill>
                  <a:srgbClr val="54606C"/>
                </a:solidFill>
                <a:latin typeface="Open Sans"/>
              </a:rPr>
              <a:t>  surplus</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  ·  SPLIT PORTFOLIO</a:t>
            </a:r>
          </a:p>
        </p:txBody>
      </p:sp>
      <p:pic>
        <p:nvPicPr>
          <p:cNvPr id="16" name="Picture 15" descr="brazil-siqueira.png"/>
          <p:cNvPicPr>
            <a:picLocks noChangeAspect="1"/>
          </p:cNvPicPr>
          <p:nvPr/>
        </p:nvPicPr>
        <p:blipFill>
          <a:blip r:embed="rId3"/>
          <a:stretch>
            <a:fillRect/>
          </a:stretch>
        </p:blipFill>
        <p:spPr>
          <a:xfrm>
            <a:off x="3611880" y="1389888"/>
            <a:ext cx="586740" cy="731520"/>
          </a:xfrm>
          <a:prstGeom prst="rect">
            <a:avLst/>
          </a:prstGeom>
        </p:spPr>
      </p:pic>
      <p:sp>
        <p:nvSpPr>
          <p:cNvPr id="17" name="Rectangle 16"/>
          <p:cNvSpPr/>
          <p:nvPr/>
        </p:nvSpPr>
        <p:spPr>
          <a:xfrm>
            <a:off x="3611880" y="1389888"/>
            <a:ext cx="586740"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6636" y="1389888"/>
            <a:ext cx="3134868" cy="914400"/>
          </a:xfrm>
          <a:prstGeom prst="rect">
            <a:avLst/>
          </a:prstGeom>
          <a:noFill/>
        </p:spPr>
        <p:txBody>
          <a:bodyPr wrap="square" anchor="t" lIns="0" rIns="0" tIns="0" bIns="0">
            <a:spAutoFit/>
          </a:bodyPr>
          <a:lstStyle/>
          <a:p>
            <a:r>
              <a:rPr sz="750" b="1" i="0" spc="80">
                <a:solidFill>
                  <a:srgbClr val="007582"/>
                </a:solidFill>
                <a:latin typeface="Open Sans"/>
              </a:rPr>
              <a:t>COMMUNICATIONS &amp; TELECOM</a:t>
            </a:r>
          </a:p>
          <a:p>
            <a:pPr>
              <a:spcBef>
                <a:spcPts val="200"/>
              </a:spcBef>
            </a:pPr>
            <a:r>
              <a:rPr sz="1200" b="1" i="0">
                <a:solidFill>
                  <a:srgbClr val="0A314D"/>
                </a:solidFill>
                <a:latin typeface="Open Sans"/>
              </a:rPr>
              <a:t>Frederico de Siqueira Filho</a:t>
            </a:r>
          </a:p>
          <a:p>
            <a:pPr>
              <a:lnSpc>
                <a:spcPct val="104000"/>
              </a:lnSpc>
              <a:spcBef>
                <a:spcPts val="200"/>
              </a:spcBef>
            </a:pPr>
            <a:r>
              <a:rPr sz="900" b="0" i="1">
                <a:solidFill>
                  <a:srgbClr val="54606C"/>
                </a:solidFill>
                <a:latin typeface="Open Sans"/>
              </a:rPr>
              <a:t>Minister of Communications</a:t>
            </a:r>
          </a:p>
        </p:txBody>
      </p:sp>
      <p:sp>
        <p:nvSpPr>
          <p:cNvPr id="19" name="TextBox 18"/>
          <p:cNvSpPr txBox="1"/>
          <p:nvPr/>
        </p:nvSpPr>
        <p:spPr>
          <a:xfrm>
            <a:off x="3611880" y="2322576"/>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Communications (Ministério das Comunicações)</a:t>
            </a:r>
            <a:r>
              <a:rPr sz="850" b="0" i="0">
                <a:solidFill>
                  <a:srgbClr val="757D87"/>
                </a:solidFill>
                <a:latin typeface="Open Sans"/>
              </a:rPr>
              <a:t>  ·  2025-05</a:t>
            </a:r>
          </a:p>
        </p:txBody>
      </p:sp>
      <p:sp>
        <p:nvSpPr>
          <p:cNvPr id="20" name="TextBox 19"/>
          <p:cNvSpPr txBox="1"/>
          <p:nvPr/>
        </p:nvSpPr>
        <p:spPr>
          <a:xfrm>
            <a:off x="3611880" y="2633472"/>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Frederico de Siqueira Filho, a Brazilian engineer with over 26 years in telecommunications, including some 21 years at operator Oi, led state-owned Telebras from 2023 to 2025. President Lula appointed him Minister of Communications in April 2025, succeeding Juscelino Filho.</a:t>
            </a:r>
          </a:p>
        </p:txBody>
      </p:sp>
      <p:pic>
        <p:nvPicPr>
          <p:cNvPr id="21" name="Picture 20" descr="brazil-santos.png"/>
          <p:cNvPicPr>
            <a:picLocks noChangeAspect="1"/>
          </p:cNvPicPr>
          <p:nvPr/>
        </p:nvPicPr>
        <p:blipFill>
          <a:blip r:embed="rId4"/>
          <a:stretch>
            <a:fillRect/>
          </a:stretch>
        </p:blipFill>
        <p:spPr>
          <a:xfrm>
            <a:off x="7790688" y="1389888"/>
            <a:ext cx="582736" cy="731520"/>
          </a:xfrm>
          <a:prstGeom prst="rect">
            <a:avLst/>
          </a:prstGeom>
        </p:spPr>
      </p:pic>
      <p:sp>
        <p:nvSpPr>
          <p:cNvPr id="22" name="Rectangle 21"/>
          <p:cNvSpPr/>
          <p:nvPr/>
        </p:nvSpPr>
        <p:spPr>
          <a:xfrm>
            <a:off x="7790688" y="1389888"/>
            <a:ext cx="582736"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1440" y="1389888"/>
            <a:ext cx="3138871" cy="914400"/>
          </a:xfrm>
          <a:prstGeom prst="rect">
            <a:avLst/>
          </a:prstGeom>
          <a:noFill/>
        </p:spPr>
        <p:txBody>
          <a:bodyPr wrap="square" anchor="t" lIns="0" rIns="0" tIns="0" bIns="0">
            <a:spAutoFit/>
          </a:bodyPr>
          <a:lstStyle/>
          <a:p>
            <a:r>
              <a:rPr sz="750" b="1" i="0" spc="80">
                <a:solidFill>
                  <a:srgbClr val="007582"/>
                </a:solidFill>
                <a:latin typeface="Open Sans"/>
              </a:rPr>
              <a:t>SCIENCE, TECHNOLOGY &amp; INNOVATION</a:t>
            </a:r>
          </a:p>
          <a:p>
            <a:pPr>
              <a:spcBef>
                <a:spcPts val="200"/>
              </a:spcBef>
            </a:pPr>
            <a:r>
              <a:rPr sz="1200" b="1" i="0">
                <a:solidFill>
                  <a:srgbClr val="0A314D"/>
                </a:solidFill>
                <a:latin typeface="Open Sans"/>
              </a:rPr>
              <a:t>Luciana Santos</a:t>
            </a:r>
          </a:p>
          <a:p>
            <a:pPr>
              <a:lnSpc>
                <a:spcPct val="104000"/>
              </a:lnSpc>
              <a:spcBef>
                <a:spcPts val="200"/>
              </a:spcBef>
            </a:pPr>
            <a:r>
              <a:rPr sz="900" b="0" i="1">
                <a:solidFill>
                  <a:srgbClr val="54606C"/>
                </a:solidFill>
                <a:latin typeface="Open Sans"/>
              </a:rPr>
              <a:t>Minister of Science, Technology and Innovation</a:t>
            </a:r>
          </a:p>
        </p:txBody>
      </p:sp>
      <p:sp>
        <p:nvSpPr>
          <p:cNvPr id="24" name="TextBox 23"/>
          <p:cNvSpPr txBox="1"/>
          <p:nvPr/>
        </p:nvSpPr>
        <p:spPr>
          <a:xfrm>
            <a:off x="7790688" y="2322576"/>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Science, Technology and Innovation (Ministério da Ciência, Tecnologia e Inovação, MCTI)</a:t>
            </a:r>
            <a:r>
              <a:rPr sz="850" b="0" i="0">
                <a:solidFill>
                  <a:srgbClr val="757D87"/>
                </a:solidFill>
                <a:latin typeface="Open Sans"/>
              </a:rPr>
              <a:t>  ·  2023-01-01</a:t>
            </a:r>
          </a:p>
        </p:txBody>
      </p:sp>
      <p:sp>
        <p:nvSpPr>
          <p:cNvPr id="25" name="TextBox 24"/>
          <p:cNvSpPr txBox="1"/>
          <p:nvPr/>
        </p:nvSpPr>
        <p:spPr>
          <a:xfrm>
            <a:off x="7790688" y="2633472"/>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Luciana Santos, an electrical engineer and national president of the Communist Party of Brazil, has been Minister of Science, Technology and Innovation since 1 January 2023. She previously served as mayor of Olinda, federal deputy and vice-governor of Pernambuco.</a:t>
            </a:r>
          </a:p>
        </p:txBody>
      </p:sp>
      <p:cxnSp>
        <p:nvCxnSpPr>
          <p:cNvPr id="26" name="Connector 25"/>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a:t>
            </a:r>
          </a:p>
        </p:txBody>
      </p:sp>
      <p:pic>
        <p:nvPicPr>
          <p:cNvPr id="28" name="Picture 27" descr="brazil-rosa.png"/>
          <p:cNvPicPr>
            <a:picLocks noChangeAspect="1"/>
          </p:cNvPicPr>
          <p:nvPr/>
        </p:nvPicPr>
        <p:blipFill>
          <a:blip r:embed="rId5"/>
          <a:stretch>
            <a:fillRect/>
          </a:stretch>
        </p:blipFill>
        <p:spPr>
          <a:xfrm>
            <a:off x="3611880" y="4041648"/>
            <a:ext cx="730601" cy="914400"/>
          </a:xfrm>
          <a:prstGeom prst="rect">
            <a:avLst/>
          </a:prstGeom>
        </p:spPr>
      </p:pic>
      <p:sp>
        <p:nvSpPr>
          <p:cNvPr id="29" name="Rectangle 28"/>
          <p:cNvSpPr/>
          <p:nvPr/>
        </p:nvSpPr>
        <p:spPr>
          <a:xfrm>
            <a:off x="3611880" y="4041648"/>
            <a:ext cx="730601"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07073" y="4041648"/>
            <a:ext cx="7133238" cy="256032"/>
          </a:xfrm>
          <a:prstGeom prst="rect">
            <a:avLst/>
          </a:prstGeom>
          <a:noFill/>
        </p:spPr>
        <p:txBody>
          <a:bodyPr wrap="square" anchor="t" lIns="0" rIns="0" tIns="0" bIns="0">
            <a:spAutoFit/>
          </a:bodyPr>
          <a:lstStyle/>
          <a:p>
            <a:r>
              <a:rPr sz="1400" b="1" i="0">
                <a:solidFill>
                  <a:srgbClr val="0A314D"/>
                </a:solidFill>
                <a:latin typeface="Open Sans"/>
              </a:rPr>
              <a:t>Márcio Fernando Elias Rosa</a:t>
            </a:r>
          </a:p>
        </p:txBody>
      </p:sp>
      <p:sp>
        <p:nvSpPr>
          <p:cNvPr id="31" name="TextBox 30"/>
          <p:cNvSpPr txBox="1"/>
          <p:nvPr/>
        </p:nvSpPr>
        <p:spPr>
          <a:xfrm>
            <a:off x="4507073" y="4315968"/>
            <a:ext cx="7133238"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Minister of Development, Industry, Trade and Services</a:t>
            </a:r>
          </a:p>
        </p:txBody>
      </p:sp>
      <p:sp>
        <p:nvSpPr>
          <p:cNvPr id="32" name="TextBox 31"/>
          <p:cNvSpPr txBox="1"/>
          <p:nvPr/>
        </p:nvSpPr>
        <p:spPr>
          <a:xfrm>
            <a:off x="4507073" y="4681727"/>
            <a:ext cx="7133238"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Ministry of Development, Industry, Trade and Services (Ministério do Desenvolvimento, Indústria, Comércio e Serviços, MDIC)</a:t>
            </a:r>
            <a:r>
              <a:rPr sz="950" b="0" i="0">
                <a:solidFill>
                  <a:srgbClr val="757D87"/>
                </a:solidFill>
                <a:latin typeface="Open Sans"/>
              </a:rPr>
              <a:t>   ·   Assumed office: 2026-04-06</a:t>
            </a:r>
          </a:p>
        </p:txBody>
      </p:sp>
      <p:sp>
        <p:nvSpPr>
          <p:cNvPr id="33" name="TextBox 32"/>
          <p:cNvSpPr txBox="1"/>
          <p:nvPr/>
        </p:nvSpPr>
        <p:spPr>
          <a:xfrm>
            <a:off x="3611880" y="5010912"/>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Retired public prosecutor, lawyer and law professor, born in Ibiúna, São Paulo, in 1962. He spent his career in the São Paulo Public Prosecutor's Office, serving twice as Attorney General of Justice (2012-2016) and as São Paulo State Secretary of Justice. He joined MDIC as Executive Secretary in January 2023, and was sworn in as Minister on 6 April 2026, succeeding Vice President Geraldo Alckmin, who left the post to run for re-election as Lula's running mate.</a:t>
            </a:r>
          </a:p>
        </p:txBody>
      </p:sp>
      <p:cxnSp>
        <p:nvCxnSpPr>
          <p:cNvPr id="34" name="Connector 33"/>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6" name="TextBox 35"/>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7" name="TextBox 36"/>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3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anada.png"/>
          <p:cNvPicPr>
            <a:picLocks noChangeAspect="1"/>
          </p:cNvPicPr>
          <p:nvPr/>
        </p:nvPicPr>
        <p:blipFill>
          <a:blip r:embed="rId2"/>
          <a:stretch>
            <a:fillRect/>
          </a:stretch>
        </p:blipFill>
        <p:spPr>
          <a:xfrm>
            <a:off x="548640" y="329184"/>
            <a:ext cx="1097280" cy="548640"/>
          </a:xfrm>
          <a:prstGeom prst="rect">
            <a:avLst/>
          </a:prstGeom>
        </p:spPr>
      </p:pic>
      <p:sp>
        <p:nvSpPr>
          <p:cNvPr id="4" name="Rectangle 3"/>
          <p:cNvSpPr/>
          <p:nvPr/>
        </p:nvSpPr>
        <p:spPr>
          <a:xfrm>
            <a:off x="548640" y="329184"/>
            <a:ext cx="1097280"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Canada</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$2,284.0B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−$22.4B</a:t>
            </a:r>
            <a:r>
              <a:rPr sz="950" b="0" i="0">
                <a:solidFill>
                  <a:srgbClr val="54606C"/>
                </a:solidFill>
                <a:latin typeface="Open Sans"/>
              </a:rPr>
              <a:t>  deficit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$336.5B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$383.0B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D46127"/>
                </a:solidFill>
                <a:latin typeface="Open Sans"/>
              </a:rPr>
              <a:t>−$46.5B</a:t>
            </a:r>
            <a:r>
              <a:rPr sz="950" b="0" i="0">
                <a:solidFill>
                  <a:srgbClr val="54606C"/>
                </a:solidFill>
                <a:latin typeface="Open Sans"/>
              </a:rPr>
              <a:t>  deficit</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a:t>
            </a:r>
          </a:p>
        </p:txBody>
      </p:sp>
      <p:pic>
        <p:nvPicPr>
          <p:cNvPr id="16" name="Picture 15" descr="canada-solomon.png"/>
          <p:cNvPicPr>
            <a:picLocks noChangeAspect="1"/>
          </p:cNvPicPr>
          <p:nvPr/>
        </p:nvPicPr>
        <p:blipFill>
          <a:blip r:embed="rId3"/>
          <a:stretch>
            <a:fillRect/>
          </a:stretch>
        </p:blipFill>
        <p:spPr>
          <a:xfrm>
            <a:off x="3611880" y="1408176"/>
            <a:ext cx="727113" cy="914400"/>
          </a:xfrm>
          <a:prstGeom prst="rect">
            <a:avLst/>
          </a:prstGeom>
        </p:spPr>
      </p:pic>
      <p:sp>
        <p:nvSpPr>
          <p:cNvPr id="17" name="Rectangle 16"/>
          <p:cNvSpPr/>
          <p:nvPr/>
        </p:nvSpPr>
        <p:spPr>
          <a:xfrm>
            <a:off x="3611880" y="1408176"/>
            <a:ext cx="727113"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3585" y="1408176"/>
            <a:ext cx="7136726" cy="256032"/>
          </a:xfrm>
          <a:prstGeom prst="rect">
            <a:avLst/>
          </a:prstGeom>
          <a:noFill/>
        </p:spPr>
        <p:txBody>
          <a:bodyPr wrap="square" anchor="t" lIns="0" rIns="0" tIns="0" bIns="0">
            <a:spAutoFit/>
          </a:bodyPr>
          <a:lstStyle/>
          <a:p>
            <a:r>
              <a:rPr sz="1400" b="1" i="0">
                <a:solidFill>
                  <a:srgbClr val="0A314D"/>
                </a:solidFill>
                <a:latin typeface="Open Sans"/>
              </a:rPr>
              <a:t>Evan Solomon</a:t>
            </a:r>
          </a:p>
        </p:txBody>
      </p:sp>
      <p:sp>
        <p:nvSpPr>
          <p:cNvPr id="19" name="TextBox 18"/>
          <p:cNvSpPr txBox="1"/>
          <p:nvPr/>
        </p:nvSpPr>
        <p:spPr>
          <a:xfrm>
            <a:off x="4503585" y="1682495"/>
            <a:ext cx="7136726"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Minister of Artificial Intelligence and Digital Innovation</a:t>
            </a:r>
          </a:p>
        </p:txBody>
      </p:sp>
      <p:sp>
        <p:nvSpPr>
          <p:cNvPr id="20" name="TextBox 19"/>
          <p:cNvSpPr txBox="1"/>
          <p:nvPr/>
        </p:nvSpPr>
        <p:spPr>
          <a:xfrm>
            <a:off x="4503585" y="2048256"/>
            <a:ext cx="7136726"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Innovation, Science and Economic Development Canada (ISED)</a:t>
            </a:r>
            <a:r>
              <a:rPr sz="950" b="0" i="0">
                <a:solidFill>
                  <a:srgbClr val="757D87"/>
                </a:solidFill>
                <a:latin typeface="Open Sans"/>
              </a:rPr>
              <a:t>   ·   Assumed office: 2025-05-13</a:t>
            </a:r>
          </a:p>
        </p:txBody>
      </p:sp>
      <p:sp>
        <p:nvSpPr>
          <p:cNvPr id="21" name="TextBox 20"/>
          <p:cNvSpPr txBox="1"/>
          <p:nvPr/>
        </p:nvSpPr>
        <p:spPr>
          <a:xfrm>
            <a:off x="3611880" y="2377440"/>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Solomon, a longtime Canadian broadcaster and author, was elected Liberal MP for Toronto Centre in April 2025 and sworn in May 13, 2025 as Canada's first Minister of Artificial Intelligence and Digital Innovation, a portfolio created by PM Mark Carney. Before politics he hosted CTV's Power Play and Question Period and a CFRB talk-radio show, wrote for Maclean's, and co-founded Shift magazine. He studied at McGill University and now leads federal AI, quantum and digital policy within ISED.</a:t>
            </a:r>
          </a:p>
        </p:txBody>
      </p:sp>
      <p:cxnSp>
        <p:nvCxnSpPr>
          <p:cNvPr id="22" name="Connector 21"/>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  ·  SPLIT PORTFOLIO</a:t>
            </a:r>
          </a:p>
        </p:txBody>
      </p:sp>
      <p:pic>
        <p:nvPicPr>
          <p:cNvPr id="24" name="Picture 23" descr="canada-sidhu.png"/>
          <p:cNvPicPr>
            <a:picLocks noChangeAspect="1"/>
          </p:cNvPicPr>
          <p:nvPr/>
        </p:nvPicPr>
        <p:blipFill>
          <a:blip r:embed="rId4"/>
          <a:stretch>
            <a:fillRect/>
          </a:stretch>
        </p:blipFill>
        <p:spPr>
          <a:xfrm>
            <a:off x="3611880" y="4023359"/>
            <a:ext cx="585216" cy="731520"/>
          </a:xfrm>
          <a:prstGeom prst="rect">
            <a:avLst/>
          </a:prstGeom>
        </p:spPr>
      </p:pic>
      <p:sp>
        <p:nvSpPr>
          <p:cNvPr id="25" name="Rectangle 24"/>
          <p:cNvSpPr/>
          <p:nvPr/>
        </p:nvSpPr>
        <p:spPr>
          <a:xfrm>
            <a:off x="3611880" y="4023359"/>
            <a:ext cx="585216"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25112" y="4023359"/>
            <a:ext cx="3136391" cy="914400"/>
          </a:xfrm>
          <a:prstGeom prst="rect">
            <a:avLst/>
          </a:prstGeom>
          <a:noFill/>
        </p:spPr>
        <p:txBody>
          <a:bodyPr wrap="square" anchor="t" lIns="0" rIns="0" tIns="0" bIns="0">
            <a:spAutoFit/>
          </a:bodyPr>
          <a:lstStyle/>
          <a:p>
            <a:r>
              <a:rPr sz="750" b="1" i="0" spc="80">
                <a:solidFill>
                  <a:srgbClr val="007582"/>
                </a:solidFill>
                <a:latin typeface="Open Sans"/>
              </a:rPr>
              <a:t>INTERNATIONAL TRADE</a:t>
            </a:r>
          </a:p>
          <a:p>
            <a:pPr>
              <a:spcBef>
                <a:spcPts val="200"/>
              </a:spcBef>
            </a:pPr>
            <a:r>
              <a:rPr sz="1200" b="1" i="0">
                <a:solidFill>
                  <a:srgbClr val="0A314D"/>
                </a:solidFill>
                <a:latin typeface="Open Sans"/>
              </a:rPr>
              <a:t>Maninder Sidhu</a:t>
            </a:r>
          </a:p>
          <a:p>
            <a:pPr>
              <a:lnSpc>
                <a:spcPct val="104000"/>
              </a:lnSpc>
              <a:spcBef>
                <a:spcPts val="200"/>
              </a:spcBef>
            </a:pPr>
            <a:r>
              <a:rPr sz="900" b="0" i="1">
                <a:solidFill>
                  <a:srgbClr val="54606C"/>
                </a:solidFill>
                <a:latin typeface="Open Sans"/>
              </a:rPr>
              <a:t>Minister of International Trade</a:t>
            </a:r>
          </a:p>
        </p:txBody>
      </p:sp>
      <p:sp>
        <p:nvSpPr>
          <p:cNvPr id="27" name="TextBox 26"/>
          <p:cNvSpPr txBox="1"/>
          <p:nvPr/>
        </p:nvSpPr>
        <p:spPr>
          <a:xfrm>
            <a:off x="3611880"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Global Affairs Canada</a:t>
            </a:r>
            <a:r>
              <a:rPr sz="850" b="0" i="0">
                <a:solidFill>
                  <a:srgbClr val="757D87"/>
                </a:solidFill>
                <a:latin typeface="Open Sans"/>
              </a:rPr>
              <a:t>  ·  2025-05-13</a:t>
            </a:r>
          </a:p>
        </p:txBody>
      </p:sp>
      <p:sp>
        <p:nvSpPr>
          <p:cNvPr id="28" name="TextBox 27"/>
          <p:cNvSpPr txBox="1"/>
          <p:nvPr/>
        </p:nvSpPr>
        <p:spPr>
          <a:xfrm>
            <a:off x="3611880"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Maninder Sidhu, a businessman and Liberal MP for Brampton East since 2019, was sworn into Mark Carney's cabinet on May 13, 2025, as Minister of International Trade. He was previously Parliamentary Secretary to the Ministers of Foreign Affairs and International Development.</a:t>
            </a:r>
          </a:p>
        </p:txBody>
      </p:sp>
      <p:pic>
        <p:nvPicPr>
          <p:cNvPr id="29" name="Picture 28" descr="canada-leblanc.png"/>
          <p:cNvPicPr>
            <a:picLocks noChangeAspect="1"/>
          </p:cNvPicPr>
          <p:nvPr/>
        </p:nvPicPr>
        <p:blipFill>
          <a:blip r:embed="rId5"/>
          <a:stretch>
            <a:fillRect/>
          </a:stretch>
        </p:blipFill>
        <p:spPr>
          <a:xfrm>
            <a:off x="7790688" y="4023359"/>
            <a:ext cx="586097" cy="731520"/>
          </a:xfrm>
          <a:prstGeom prst="rect">
            <a:avLst/>
          </a:prstGeom>
        </p:spPr>
      </p:pic>
      <p:sp>
        <p:nvSpPr>
          <p:cNvPr id="30" name="Rectangle 29"/>
          <p:cNvSpPr/>
          <p:nvPr/>
        </p:nvSpPr>
        <p:spPr>
          <a:xfrm>
            <a:off x="7790688" y="4023359"/>
            <a:ext cx="586097"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4801" y="4023359"/>
            <a:ext cx="3135510" cy="914400"/>
          </a:xfrm>
          <a:prstGeom prst="rect">
            <a:avLst/>
          </a:prstGeom>
          <a:noFill/>
        </p:spPr>
        <p:txBody>
          <a:bodyPr wrap="square" anchor="t" lIns="0" rIns="0" tIns="0" bIns="0">
            <a:spAutoFit/>
          </a:bodyPr>
          <a:lstStyle/>
          <a:p>
            <a:r>
              <a:rPr sz="750" b="1" i="0" spc="80">
                <a:solidFill>
                  <a:srgbClr val="007582"/>
                </a:solidFill>
                <a:latin typeface="Open Sans"/>
              </a:rPr>
              <a:t>CANADA–U.S. TRADE</a:t>
            </a:r>
          </a:p>
          <a:p>
            <a:pPr>
              <a:spcBef>
                <a:spcPts val="200"/>
              </a:spcBef>
            </a:pPr>
            <a:r>
              <a:rPr sz="1200" b="1" i="0">
                <a:solidFill>
                  <a:srgbClr val="0A314D"/>
                </a:solidFill>
                <a:latin typeface="Open Sans"/>
              </a:rPr>
              <a:t>Dominic LeBlanc</a:t>
            </a:r>
          </a:p>
          <a:p>
            <a:pPr>
              <a:lnSpc>
                <a:spcPct val="104000"/>
              </a:lnSpc>
              <a:spcBef>
                <a:spcPts val="200"/>
              </a:spcBef>
            </a:pPr>
            <a:r>
              <a:rPr sz="900" b="0" i="1">
                <a:solidFill>
                  <a:srgbClr val="54606C"/>
                </a:solidFill>
                <a:latin typeface="Open Sans"/>
              </a:rPr>
              <a:t>President of the King's Privy Council for Canada and Minister responsible for Canada-U.S. Trade, Intergovernmental Affairs, Internal Trade and One Canadian Economy</a:t>
            </a:r>
          </a:p>
        </p:txBody>
      </p:sp>
      <p:sp>
        <p:nvSpPr>
          <p:cNvPr id="32" name="TextBox 31"/>
          <p:cNvSpPr txBox="1"/>
          <p:nvPr/>
        </p:nvSpPr>
        <p:spPr>
          <a:xfrm>
            <a:off x="7790688"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Privy Council Office / Global Affairs Canada (Canada-U.S. trade file)</a:t>
            </a:r>
            <a:r>
              <a:rPr sz="850" b="0" i="0">
                <a:solidFill>
                  <a:srgbClr val="757D87"/>
                </a:solidFill>
                <a:latin typeface="Open Sans"/>
              </a:rPr>
              <a:t>  ·  2025-05-13</a:t>
            </a:r>
          </a:p>
        </p:txBody>
      </p:sp>
      <p:sp>
        <p:nvSpPr>
          <p:cNvPr id="33" name="TextBox 32"/>
          <p:cNvSpPr txBox="1"/>
          <p:nvPr/>
        </p:nvSpPr>
        <p:spPr>
          <a:xfrm>
            <a:off x="7790688"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Dominic LeBlanc, a lawyer and Liberal MP for Beausejour since 2000, is a veteran minister who has held Fisheries, Intergovernmental Affairs, Public Safety and Finance. Since May 13, 2025 he has led the Canada-U.S. trade file as Privy Council President.</a:t>
            </a:r>
          </a:p>
        </p:txBody>
      </p:sp>
      <p:cxnSp>
        <p:nvCxnSpPr>
          <p:cNvPr id="34" name="Connector 33"/>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6" name="TextBox 35"/>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7" name="TextBox 36"/>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4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hina.png"/>
          <p:cNvPicPr>
            <a:picLocks noChangeAspect="1"/>
          </p:cNvPicPr>
          <p:nvPr/>
        </p:nvPicPr>
        <p:blipFill>
          <a:blip r:embed="rId2"/>
          <a:stretch>
            <a:fillRect/>
          </a:stretch>
        </p:blipFill>
        <p:spPr>
          <a:xfrm>
            <a:off x="548640" y="329184"/>
            <a:ext cx="822960" cy="548640"/>
          </a:xfrm>
          <a:prstGeom prst="rect">
            <a:avLst/>
          </a:prstGeom>
        </p:spPr>
      </p:pic>
      <p:sp>
        <p:nvSpPr>
          <p:cNvPr id="4" name="Rectangle 3"/>
          <p:cNvSpPr/>
          <p:nvPr/>
        </p:nvSpPr>
        <p:spPr>
          <a:xfrm>
            <a:off x="548640" y="329184"/>
            <a:ext cx="822959"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China</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$19,399.0B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+$1,190.0B</a:t>
            </a:r>
            <a:r>
              <a:rPr sz="950" b="0" i="0">
                <a:solidFill>
                  <a:srgbClr val="54606C"/>
                </a:solidFill>
                <a:latin typeface="Open Sans"/>
              </a:rPr>
              <a:t>  surplus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$106.3B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$308.4B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D46127"/>
                </a:solidFill>
                <a:latin typeface="Open Sans"/>
              </a:rPr>
              <a:t>−$202.1B</a:t>
            </a:r>
            <a:r>
              <a:rPr sz="950" b="0" i="0">
                <a:solidFill>
                  <a:srgbClr val="54606C"/>
                </a:solidFill>
                <a:latin typeface="Open Sans"/>
              </a:rPr>
              <a:t>  deficit</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  ·  SPLIT PORTFOLIO</a:t>
            </a:r>
          </a:p>
        </p:txBody>
      </p:sp>
      <p:pic>
        <p:nvPicPr>
          <p:cNvPr id="16" name="Picture 15" descr="china-lilecheng.png"/>
          <p:cNvPicPr>
            <a:picLocks noChangeAspect="1"/>
          </p:cNvPicPr>
          <p:nvPr/>
        </p:nvPicPr>
        <p:blipFill>
          <a:blip r:embed="rId3"/>
          <a:stretch>
            <a:fillRect/>
          </a:stretch>
        </p:blipFill>
        <p:spPr>
          <a:xfrm>
            <a:off x="3611880" y="1389888"/>
            <a:ext cx="582070" cy="731520"/>
          </a:xfrm>
          <a:prstGeom prst="rect">
            <a:avLst/>
          </a:prstGeom>
        </p:spPr>
      </p:pic>
      <p:sp>
        <p:nvSpPr>
          <p:cNvPr id="17" name="Rectangle 16"/>
          <p:cNvSpPr/>
          <p:nvPr/>
        </p:nvSpPr>
        <p:spPr>
          <a:xfrm>
            <a:off x="3611880" y="1389888"/>
            <a:ext cx="582069"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1965" y="1389888"/>
            <a:ext cx="3139538" cy="914400"/>
          </a:xfrm>
          <a:prstGeom prst="rect">
            <a:avLst/>
          </a:prstGeom>
          <a:noFill/>
        </p:spPr>
        <p:txBody>
          <a:bodyPr wrap="square" anchor="t" lIns="0" rIns="0" tIns="0" bIns="0">
            <a:spAutoFit/>
          </a:bodyPr>
          <a:lstStyle/>
          <a:p>
            <a:r>
              <a:rPr sz="750" b="1" i="0" spc="80">
                <a:solidFill>
                  <a:srgbClr val="007582"/>
                </a:solidFill>
                <a:latin typeface="Open Sans"/>
              </a:rPr>
              <a:t>INDUSTRY &amp; INFORMATION TECHNOLOGY (MIIT)</a:t>
            </a:r>
          </a:p>
          <a:p>
            <a:pPr>
              <a:spcBef>
                <a:spcPts val="200"/>
              </a:spcBef>
            </a:pPr>
            <a:r>
              <a:rPr sz="1200" b="1" i="0">
                <a:solidFill>
                  <a:srgbClr val="0A314D"/>
                </a:solidFill>
                <a:latin typeface="Open Sans"/>
              </a:rPr>
              <a:t>Li Lecheng</a:t>
            </a:r>
          </a:p>
          <a:p>
            <a:pPr>
              <a:lnSpc>
                <a:spcPct val="104000"/>
              </a:lnSpc>
              <a:spcBef>
                <a:spcPts val="200"/>
              </a:spcBef>
            </a:pPr>
            <a:r>
              <a:rPr sz="900" b="0" i="1">
                <a:solidFill>
                  <a:srgbClr val="54606C"/>
                </a:solidFill>
                <a:latin typeface="Open Sans"/>
              </a:rPr>
              <a:t>Minister of Industry and Information Technology</a:t>
            </a:r>
          </a:p>
        </p:txBody>
      </p:sp>
      <p:sp>
        <p:nvSpPr>
          <p:cNvPr id="19" name="TextBox 18"/>
          <p:cNvSpPr txBox="1"/>
          <p:nvPr/>
        </p:nvSpPr>
        <p:spPr>
          <a:xfrm>
            <a:off x="3611880" y="2322576"/>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Industry and Information Technology (MIIT)</a:t>
            </a:r>
            <a:r>
              <a:rPr sz="850" b="0" i="0">
                <a:solidFill>
                  <a:srgbClr val="757D87"/>
                </a:solidFill>
                <a:latin typeface="Open Sans"/>
              </a:rPr>
              <a:t>  ·  2025-04-30</a:t>
            </a:r>
          </a:p>
        </p:txBody>
      </p:sp>
      <p:sp>
        <p:nvSpPr>
          <p:cNvPr id="20" name="TextBox 19"/>
          <p:cNvSpPr txBox="1"/>
          <p:nvPr/>
        </p:nvSpPr>
        <p:spPr>
          <a:xfrm>
            <a:off x="3611880" y="2633472"/>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Li Lecheng was appointed China's Minister of Industry and Information Technology on 30 April 2025, replacing Jin Zhuanglong, after becoming MIIT party secretary in February 2025. He previously served as Governor of Liaoning (2021-2025) and executive vice governor of Hubei.</a:t>
            </a:r>
          </a:p>
        </p:txBody>
      </p:sp>
      <p:pic>
        <p:nvPicPr>
          <p:cNvPr id="21" name="Picture 20" descr="china-hejun.png"/>
          <p:cNvPicPr>
            <a:picLocks noChangeAspect="1"/>
          </p:cNvPicPr>
          <p:nvPr/>
        </p:nvPicPr>
        <p:blipFill>
          <a:blip r:embed="rId4"/>
          <a:stretch>
            <a:fillRect/>
          </a:stretch>
        </p:blipFill>
        <p:spPr>
          <a:xfrm>
            <a:off x="7790688" y="1389888"/>
            <a:ext cx="583617" cy="731520"/>
          </a:xfrm>
          <a:prstGeom prst="rect">
            <a:avLst/>
          </a:prstGeom>
        </p:spPr>
      </p:pic>
      <p:sp>
        <p:nvSpPr>
          <p:cNvPr id="22" name="Rectangle 21"/>
          <p:cNvSpPr/>
          <p:nvPr/>
        </p:nvSpPr>
        <p:spPr>
          <a:xfrm>
            <a:off x="7790688" y="1389888"/>
            <a:ext cx="583617"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2321" y="1389888"/>
            <a:ext cx="3137990" cy="914400"/>
          </a:xfrm>
          <a:prstGeom prst="rect">
            <a:avLst/>
          </a:prstGeom>
          <a:noFill/>
        </p:spPr>
        <p:txBody>
          <a:bodyPr wrap="square" anchor="t" lIns="0" rIns="0" tIns="0" bIns="0">
            <a:spAutoFit/>
          </a:bodyPr>
          <a:lstStyle/>
          <a:p>
            <a:r>
              <a:rPr sz="750" b="1" i="0" spc="80">
                <a:solidFill>
                  <a:srgbClr val="007582"/>
                </a:solidFill>
                <a:latin typeface="Open Sans"/>
              </a:rPr>
              <a:t>SCIENCE &amp; TECHNOLOGY (MOST)</a:t>
            </a:r>
          </a:p>
          <a:p>
            <a:pPr>
              <a:spcBef>
                <a:spcPts val="200"/>
              </a:spcBef>
            </a:pPr>
            <a:r>
              <a:rPr sz="1200" b="1" i="0">
                <a:solidFill>
                  <a:srgbClr val="0A314D"/>
                </a:solidFill>
                <a:latin typeface="Open Sans"/>
              </a:rPr>
              <a:t>Yin Hejun</a:t>
            </a:r>
          </a:p>
          <a:p>
            <a:pPr>
              <a:lnSpc>
                <a:spcPct val="104000"/>
              </a:lnSpc>
              <a:spcBef>
                <a:spcPts val="200"/>
              </a:spcBef>
            </a:pPr>
            <a:r>
              <a:rPr sz="900" b="0" i="1">
                <a:solidFill>
                  <a:srgbClr val="54606C"/>
                </a:solidFill>
                <a:latin typeface="Open Sans"/>
              </a:rPr>
              <a:t>Minister of Science and Technology</a:t>
            </a:r>
          </a:p>
        </p:txBody>
      </p:sp>
      <p:sp>
        <p:nvSpPr>
          <p:cNvPr id="24" name="TextBox 23"/>
          <p:cNvSpPr txBox="1"/>
          <p:nvPr/>
        </p:nvSpPr>
        <p:spPr>
          <a:xfrm>
            <a:off x="7790688" y="2322576"/>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Science and Technology (MOST)</a:t>
            </a:r>
            <a:r>
              <a:rPr sz="850" b="0" i="0">
                <a:solidFill>
                  <a:srgbClr val="757D87"/>
                </a:solidFill>
                <a:latin typeface="Open Sans"/>
              </a:rPr>
              <a:t>  ·  2023-10-24</a:t>
            </a:r>
          </a:p>
        </p:txBody>
      </p:sp>
      <p:sp>
        <p:nvSpPr>
          <p:cNvPr id="25" name="TextBox 24"/>
          <p:cNvSpPr txBox="1"/>
          <p:nvPr/>
        </p:nvSpPr>
        <p:spPr>
          <a:xfrm>
            <a:off x="7790688" y="2633472"/>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Minister of Science and Technology since October 24, 2023, and MOST Party Secretary since October 7, 2023.</a:t>
            </a:r>
          </a:p>
        </p:txBody>
      </p:sp>
      <p:cxnSp>
        <p:nvCxnSpPr>
          <p:cNvPr id="26" name="Connector 25"/>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  ·  SPLIT PORTFOLIO</a:t>
            </a:r>
          </a:p>
        </p:txBody>
      </p:sp>
      <p:pic>
        <p:nvPicPr>
          <p:cNvPr id="28" name="Picture 27" descr="china-wangwentao.png"/>
          <p:cNvPicPr>
            <a:picLocks noChangeAspect="1"/>
          </p:cNvPicPr>
          <p:nvPr/>
        </p:nvPicPr>
        <p:blipFill>
          <a:blip r:embed="rId5"/>
          <a:stretch>
            <a:fillRect/>
          </a:stretch>
        </p:blipFill>
        <p:spPr>
          <a:xfrm>
            <a:off x="3611880" y="4023359"/>
            <a:ext cx="583738" cy="731520"/>
          </a:xfrm>
          <a:prstGeom prst="rect">
            <a:avLst/>
          </a:prstGeom>
        </p:spPr>
      </p:pic>
      <p:sp>
        <p:nvSpPr>
          <p:cNvPr id="29" name="Rectangle 28"/>
          <p:cNvSpPr/>
          <p:nvPr/>
        </p:nvSpPr>
        <p:spPr>
          <a:xfrm>
            <a:off x="3611880" y="4023359"/>
            <a:ext cx="583738"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23634" y="4023359"/>
            <a:ext cx="3137869" cy="914400"/>
          </a:xfrm>
          <a:prstGeom prst="rect">
            <a:avLst/>
          </a:prstGeom>
          <a:noFill/>
        </p:spPr>
        <p:txBody>
          <a:bodyPr wrap="square" anchor="t" lIns="0" rIns="0" tIns="0" bIns="0">
            <a:spAutoFit/>
          </a:bodyPr>
          <a:lstStyle/>
          <a:p>
            <a:r>
              <a:rPr sz="750" b="1" i="0" spc="80">
                <a:solidFill>
                  <a:srgbClr val="007582"/>
                </a:solidFill>
                <a:latin typeface="Open Sans"/>
              </a:rPr>
              <a:t>COMMERCE MINISTER (MOFCOM)</a:t>
            </a:r>
          </a:p>
          <a:p>
            <a:pPr>
              <a:spcBef>
                <a:spcPts val="200"/>
              </a:spcBef>
            </a:pPr>
            <a:r>
              <a:rPr sz="1200" b="1" i="0">
                <a:solidFill>
                  <a:srgbClr val="0A314D"/>
                </a:solidFill>
                <a:latin typeface="Open Sans"/>
              </a:rPr>
              <a:t>Wang Wentao</a:t>
            </a:r>
          </a:p>
          <a:p>
            <a:pPr>
              <a:lnSpc>
                <a:spcPct val="104000"/>
              </a:lnSpc>
              <a:spcBef>
                <a:spcPts val="200"/>
              </a:spcBef>
            </a:pPr>
            <a:r>
              <a:rPr sz="900" b="0" i="1">
                <a:solidFill>
                  <a:srgbClr val="54606C"/>
                </a:solidFill>
                <a:latin typeface="Open Sans"/>
              </a:rPr>
              <a:t>Minister of Commerce</a:t>
            </a:r>
          </a:p>
        </p:txBody>
      </p:sp>
      <p:sp>
        <p:nvSpPr>
          <p:cNvPr id="31" name="TextBox 30"/>
          <p:cNvSpPr txBox="1"/>
          <p:nvPr/>
        </p:nvSpPr>
        <p:spPr>
          <a:xfrm>
            <a:off x="3611880"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Commerce (MOFCOM)</a:t>
            </a:r>
            <a:r>
              <a:rPr sz="850" b="0" i="0">
                <a:solidFill>
                  <a:srgbClr val="757D87"/>
                </a:solidFill>
                <a:latin typeface="Open Sans"/>
              </a:rPr>
              <a:t>  ·  2020-12</a:t>
            </a:r>
          </a:p>
        </p:txBody>
      </p:sp>
      <p:sp>
        <p:nvSpPr>
          <p:cNvPr id="32" name="TextBox 31"/>
          <p:cNvSpPr txBox="1"/>
          <p:nvPr/>
        </p:nvSpPr>
        <p:spPr>
          <a:xfrm>
            <a:off x="3611880"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Wang Wentao has served as China's Minister of Commerce since December 2020, leading trade, investment and market-access policy. He was previously mayor of Nanchang and Governor of Heilongjiang (2018-2020). In 2026 he co-chaired the first China-EU Trade and Investment Consultations.</a:t>
            </a:r>
          </a:p>
        </p:txBody>
      </p:sp>
      <p:pic>
        <p:nvPicPr>
          <p:cNvPr id="33" name="Picture 32" descr="china-lichenggang.png"/>
          <p:cNvPicPr>
            <a:picLocks noChangeAspect="1"/>
          </p:cNvPicPr>
          <p:nvPr/>
        </p:nvPicPr>
        <p:blipFill>
          <a:blip r:embed="rId6"/>
          <a:stretch>
            <a:fillRect/>
          </a:stretch>
        </p:blipFill>
        <p:spPr>
          <a:xfrm>
            <a:off x="7790688" y="4023359"/>
            <a:ext cx="587433" cy="731520"/>
          </a:xfrm>
          <a:prstGeom prst="rect">
            <a:avLst/>
          </a:prstGeom>
        </p:spPr>
      </p:pic>
      <p:sp>
        <p:nvSpPr>
          <p:cNvPr id="34" name="Rectangle 33"/>
          <p:cNvSpPr/>
          <p:nvPr/>
        </p:nvSpPr>
        <p:spPr>
          <a:xfrm>
            <a:off x="7790688" y="4023359"/>
            <a:ext cx="587432"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06136" y="4023359"/>
            <a:ext cx="3134175" cy="914400"/>
          </a:xfrm>
          <a:prstGeom prst="rect">
            <a:avLst/>
          </a:prstGeom>
          <a:noFill/>
        </p:spPr>
        <p:txBody>
          <a:bodyPr wrap="square" anchor="t" lIns="0" rIns="0" tIns="0" bIns="0">
            <a:spAutoFit/>
          </a:bodyPr>
          <a:lstStyle/>
          <a:p>
            <a:r>
              <a:rPr sz="750" b="1" i="0" spc="80">
                <a:solidFill>
                  <a:srgbClr val="007582"/>
                </a:solidFill>
                <a:latin typeface="Open Sans"/>
              </a:rPr>
              <a:t>CHIEF TRADE NEGOTIATOR</a:t>
            </a:r>
          </a:p>
          <a:p>
            <a:pPr>
              <a:spcBef>
                <a:spcPts val="200"/>
              </a:spcBef>
            </a:pPr>
            <a:r>
              <a:rPr sz="1200" b="1" i="0">
                <a:solidFill>
                  <a:srgbClr val="0A314D"/>
                </a:solidFill>
                <a:latin typeface="Open Sans"/>
              </a:rPr>
              <a:t>Li Chenggang</a:t>
            </a:r>
          </a:p>
          <a:p>
            <a:pPr>
              <a:lnSpc>
                <a:spcPct val="104000"/>
              </a:lnSpc>
              <a:spcBef>
                <a:spcPts val="200"/>
              </a:spcBef>
            </a:pPr>
            <a:r>
              <a:rPr sz="900" b="0" i="1">
                <a:solidFill>
                  <a:srgbClr val="54606C"/>
                </a:solidFill>
                <a:latin typeface="Open Sans"/>
              </a:rPr>
              <a:t>China International Trade Representative (full ministerial rank) and Vice Minister of Commerce</a:t>
            </a:r>
          </a:p>
        </p:txBody>
      </p:sp>
      <p:sp>
        <p:nvSpPr>
          <p:cNvPr id="36" name="TextBox 35"/>
          <p:cNvSpPr txBox="1"/>
          <p:nvPr/>
        </p:nvSpPr>
        <p:spPr>
          <a:xfrm>
            <a:off x="7790688"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Commerce (MOFCOM)</a:t>
            </a:r>
            <a:r>
              <a:rPr sz="850" b="0" i="0">
                <a:solidFill>
                  <a:srgbClr val="757D87"/>
                </a:solidFill>
                <a:latin typeface="Open Sans"/>
              </a:rPr>
              <a:t>  ·  2025-04-16</a:t>
            </a:r>
          </a:p>
        </p:txBody>
      </p:sp>
      <p:sp>
        <p:nvSpPr>
          <p:cNvPr id="37" name="TextBox 36"/>
          <p:cNvSpPr txBox="1"/>
          <p:nvPr/>
        </p:nvSpPr>
        <p:spPr>
          <a:xfrm>
            <a:off x="7790688"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Li Chenggang, a career MOFCOM official who served as China's Ambassador to the WTO from February 2021, was appointed China International Trade Representative and Vice Minister of Commerce on 16 April 2025, replacing Wang Shouwen as Beijing's chief trade negotiator.</a:t>
            </a:r>
          </a:p>
        </p:txBody>
      </p:sp>
      <p:cxnSp>
        <p:nvCxnSpPr>
          <p:cNvPr id="38" name="Connector 37"/>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40" name="TextBox 39"/>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41" name="TextBox 40"/>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5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rance.png"/>
          <p:cNvPicPr>
            <a:picLocks noChangeAspect="1"/>
          </p:cNvPicPr>
          <p:nvPr/>
        </p:nvPicPr>
        <p:blipFill>
          <a:blip r:embed="rId2"/>
          <a:stretch>
            <a:fillRect/>
          </a:stretch>
        </p:blipFill>
        <p:spPr>
          <a:xfrm>
            <a:off x="548640" y="329184"/>
            <a:ext cx="822960" cy="548640"/>
          </a:xfrm>
          <a:prstGeom prst="rect">
            <a:avLst/>
          </a:prstGeom>
        </p:spPr>
      </p:pic>
      <p:sp>
        <p:nvSpPr>
          <p:cNvPr id="4" name="Rectangle 3"/>
          <p:cNvSpPr/>
          <p:nvPr/>
        </p:nvSpPr>
        <p:spPr>
          <a:xfrm>
            <a:off x="548640" y="329184"/>
            <a:ext cx="822959"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France</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$3,362.0B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−$76.1B</a:t>
            </a:r>
            <a:r>
              <a:rPr sz="950" b="0" i="0">
                <a:solidFill>
                  <a:srgbClr val="54606C"/>
                </a:solidFill>
                <a:latin typeface="Open Sans"/>
              </a:rPr>
              <a:t>  deficit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(2024)</a:t>
            </a:r>
          </a:p>
          <a:p>
            <a:pPr>
              <a:spcBef>
                <a:spcPts val="100"/>
              </a:spcBef>
            </a:pPr>
            <a:r>
              <a:rPr sz="1450" b="1" i="0">
                <a:solidFill>
                  <a:srgbClr val="0A314D"/>
                </a:solidFill>
                <a:latin typeface="Open Sans"/>
              </a:rPr>
              <a:t>$44.4B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(2024)</a:t>
            </a:r>
          </a:p>
          <a:p>
            <a:pPr>
              <a:spcBef>
                <a:spcPts val="100"/>
              </a:spcBef>
            </a:pPr>
            <a:r>
              <a:rPr sz="1450" b="1" i="0">
                <a:solidFill>
                  <a:srgbClr val="0A314D"/>
                </a:solidFill>
                <a:latin typeface="Open Sans"/>
              </a:rPr>
              <a:t>$61.1B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(2024)</a:t>
            </a:r>
          </a:p>
          <a:p>
            <a:pPr>
              <a:spcBef>
                <a:spcPts val="100"/>
              </a:spcBef>
            </a:pPr>
            <a:r>
              <a:rPr sz="1450" b="1" i="0">
                <a:solidFill>
                  <a:srgbClr val="D46127"/>
                </a:solidFill>
                <a:latin typeface="Open Sans"/>
              </a:rPr>
              <a:t>−$16.7B</a:t>
            </a:r>
            <a:r>
              <a:rPr sz="950" b="0" i="0">
                <a:solidFill>
                  <a:srgbClr val="54606C"/>
                </a:solidFill>
                <a:latin typeface="Open Sans"/>
              </a:rPr>
              <a:t>  deficit</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a:t>
            </a:r>
          </a:p>
        </p:txBody>
      </p:sp>
      <p:pic>
        <p:nvPicPr>
          <p:cNvPr id="16" name="Picture 15" descr="france-lehenanff.png"/>
          <p:cNvPicPr>
            <a:picLocks noChangeAspect="1"/>
          </p:cNvPicPr>
          <p:nvPr/>
        </p:nvPicPr>
        <p:blipFill>
          <a:blip r:embed="rId3"/>
          <a:stretch>
            <a:fillRect/>
          </a:stretch>
        </p:blipFill>
        <p:spPr>
          <a:xfrm>
            <a:off x="3611880" y="1408176"/>
            <a:ext cx="734291" cy="914400"/>
          </a:xfrm>
          <a:prstGeom prst="rect">
            <a:avLst/>
          </a:prstGeom>
        </p:spPr>
      </p:pic>
      <p:sp>
        <p:nvSpPr>
          <p:cNvPr id="17" name="Rectangle 16"/>
          <p:cNvSpPr/>
          <p:nvPr/>
        </p:nvSpPr>
        <p:spPr>
          <a:xfrm>
            <a:off x="3611880" y="1408176"/>
            <a:ext cx="734290"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10762" y="1408176"/>
            <a:ext cx="7129549" cy="256032"/>
          </a:xfrm>
          <a:prstGeom prst="rect">
            <a:avLst/>
          </a:prstGeom>
          <a:noFill/>
        </p:spPr>
        <p:txBody>
          <a:bodyPr wrap="square" anchor="t" lIns="0" rIns="0" tIns="0" bIns="0">
            <a:spAutoFit/>
          </a:bodyPr>
          <a:lstStyle/>
          <a:p>
            <a:r>
              <a:rPr sz="1400" b="1" i="0">
                <a:solidFill>
                  <a:srgbClr val="0A314D"/>
                </a:solidFill>
                <a:latin typeface="Open Sans"/>
              </a:rPr>
              <a:t>Anne Le Hénanff</a:t>
            </a:r>
          </a:p>
        </p:txBody>
      </p:sp>
      <p:sp>
        <p:nvSpPr>
          <p:cNvPr id="19" name="TextBox 18"/>
          <p:cNvSpPr txBox="1"/>
          <p:nvPr/>
        </p:nvSpPr>
        <p:spPr>
          <a:xfrm>
            <a:off x="4510762" y="1682495"/>
            <a:ext cx="7129549"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Minister Delegate for Artificial Intelligence and Digital Affairs</a:t>
            </a:r>
          </a:p>
        </p:txBody>
      </p:sp>
      <p:sp>
        <p:nvSpPr>
          <p:cNvPr id="20" name="TextBox 19"/>
          <p:cNvSpPr txBox="1"/>
          <p:nvPr/>
        </p:nvSpPr>
        <p:spPr>
          <a:xfrm>
            <a:off x="4510762" y="2048256"/>
            <a:ext cx="7129549"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Ministry for the Economy, Finance and Industrial, Energy and Digital Sovereignty (attached to Minister Roland Lescure)</a:t>
            </a:r>
            <a:r>
              <a:rPr sz="950" b="0" i="0">
                <a:solidFill>
                  <a:srgbClr val="757D87"/>
                </a:solidFill>
                <a:latin typeface="Open Sans"/>
              </a:rPr>
              <a:t>   ·   Assumed office: 2026-02-26</a:t>
            </a:r>
          </a:p>
        </p:txBody>
      </p:sp>
      <p:sp>
        <p:nvSpPr>
          <p:cNvPr id="21" name="TextBox 20"/>
          <p:cNvSpPr txBox="1"/>
          <p:nvPr/>
        </p:nvSpPr>
        <p:spPr>
          <a:xfrm>
            <a:off x="3611880" y="2377440"/>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Anne Le Hénanff (born 22 July 1969 in Vannes) is a Horizons-party politician and, since the Lecornu II government, France's Minister Delegate for Artificial Intelligence and Digital Affairs, attached to the Economy ministry. With a background in cybersecurity (she held a cyber chair at Université Bretagne-Sud), she was a deputy mayor of Vannes for digital affairs and was elected deputy for Morbihan's 1st constituency in 2022, re-elected in 2024, sitting on the Defence Committee.</a:t>
            </a:r>
          </a:p>
        </p:txBody>
      </p:sp>
      <p:cxnSp>
        <p:nvCxnSpPr>
          <p:cNvPr id="22" name="Connector 21"/>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a:t>
            </a:r>
          </a:p>
        </p:txBody>
      </p:sp>
      <p:pic>
        <p:nvPicPr>
          <p:cNvPr id="24" name="Picture 23" descr="france-forissier.png"/>
          <p:cNvPicPr>
            <a:picLocks noChangeAspect="1"/>
          </p:cNvPicPr>
          <p:nvPr/>
        </p:nvPicPr>
        <p:blipFill>
          <a:blip r:embed="rId4"/>
          <a:stretch>
            <a:fillRect/>
          </a:stretch>
        </p:blipFill>
        <p:spPr>
          <a:xfrm>
            <a:off x="3611880" y="4041648"/>
            <a:ext cx="727587" cy="914400"/>
          </a:xfrm>
          <a:prstGeom prst="rect">
            <a:avLst/>
          </a:prstGeom>
        </p:spPr>
      </p:pic>
      <p:sp>
        <p:nvSpPr>
          <p:cNvPr id="25" name="Rectangle 24"/>
          <p:cNvSpPr/>
          <p:nvPr/>
        </p:nvSpPr>
        <p:spPr>
          <a:xfrm>
            <a:off x="3611880" y="4041648"/>
            <a:ext cx="727587"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04059" y="4041648"/>
            <a:ext cx="7136252" cy="256032"/>
          </a:xfrm>
          <a:prstGeom prst="rect">
            <a:avLst/>
          </a:prstGeom>
          <a:noFill/>
        </p:spPr>
        <p:txBody>
          <a:bodyPr wrap="square" anchor="t" lIns="0" rIns="0" tIns="0" bIns="0">
            <a:spAutoFit/>
          </a:bodyPr>
          <a:lstStyle/>
          <a:p>
            <a:r>
              <a:rPr sz="1400" b="1" i="0">
                <a:solidFill>
                  <a:srgbClr val="0A314D"/>
                </a:solidFill>
                <a:latin typeface="Open Sans"/>
              </a:rPr>
              <a:t>Nicolas Forissier</a:t>
            </a:r>
          </a:p>
        </p:txBody>
      </p:sp>
      <p:sp>
        <p:nvSpPr>
          <p:cNvPr id="27" name="TextBox 26"/>
          <p:cNvSpPr txBox="1"/>
          <p:nvPr/>
        </p:nvSpPr>
        <p:spPr>
          <a:xfrm>
            <a:off x="4504059" y="4315968"/>
            <a:ext cx="7136252"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Minister Delegate for Foreign Trade and Attractiveness</a:t>
            </a:r>
          </a:p>
        </p:txBody>
      </p:sp>
      <p:sp>
        <p:nvSpPr>
          <p:cNvPr id="28" name="TextBox 27"/>
          <p:cNvSpPr txBox="1"/>
          <p:nvPr/>
        </p:nvSpPr>
        <p:spPr>
          <a:xfrm>
            <a:off x="4504059" y="4681727"/>
            <a:ext cx="7136252"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Ministry for Europe and Foreign Affairs (Minister Delegate attached to the Minister for Europe and Foreign Affairs)</a:t>
            </a:r>
            <a:r>
              <a:rPr sz="950" b="0" i="0">
                <a:solidFill>
                  <a:srgbClr val="757D87"/>
                </a:solidFill>
                <a:latin typeface="Open Sans"/>
              </a:rPr>
              <a:t>   ·   Assumed office: 2025-10-12</a:t>
            </a:r>
          </a:p>
        </p:txBody>
      </p:sp>
      <p:sp>
        <p:nvSpPr>
          <p:cNvPr id="29" name="TextBox 28"/>
          <p:cNvSpPr txBox="1"/>
          <p:nvPr/>
        </p:nvSpPr>
        <p:spPr>
          <a:xfrm>
            <a:off x="3611880" y="5010912"/>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Nicolas Forissier (born 17 February 1961) is a Les Républicains politician and, since October 2025 (retained in the Lecornu II government), France's Minister Delegate for Foreign Trade and Attractiveness, attached to the Minister for Europe and Foreign Affairs. A Sciences Po Paris graduate with a Sorbonne history degree, he was mayor of La Châtre (1995-2017) and has represented Indre's 2nd constituency in the National Assembly across several terms since 1993. He earlier served as Secretary of State for Agriculture (2004-2005).</a:t>
            </a:r>
          </a:p>
        </p:txBody>
      </p:sp>
      <p:cxnSp>
        <p:nvCxnSpPr>
          <p:cNvPr id="30" name="Connector 29"/>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2" name="TextBox 31"/>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3" name="TextBox 32"/>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6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ermany.png"/>
          <p:cNvPicPr>
            <a:picLocks noChangeAspect="1"/>
          </p:cNvPicPr>
          <p:nvPr/>
        </p:nvPicPr>
        <p:blipFill>
          <a:blip r:embed="rId2"/>
          <a:stretch>
            <a:fillRect/>
          </a:stretch>
        </p:blipFill>
        <p:spPr>
          <a:xfrm>
            <a:off x="548640" y="329184"/>
            <a:ext cx="914857" cy="548640"/>
          </a:xfrm>
          <a:prstGeom prst="rect">
            <a:avLst/>
          </a:prstGeom>
        </p:spPr>
      </p:pic>
      <p:sp>
        <p:nvSpPr>
          <p:cNvPr id="4" name="Rectangle 3"/>
          <p:cNvSpPr/>
          <p:nvPr/>
        </p:nvSpPr>
        <p:spPr>
          <a:xfrm>
            <a:off x="548640" y="329184"/>
            <a:ext cx="914857"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Germany</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$5,014.0B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+$226.0B</a:t>
            </a:r>
            <a:r>
              <a:rPr sz="950" b="0" i="0">
                <a:solidFill>
                  <a:srgbClr val="54606C"/>
                </a:solidFill>
                <a:latin typeface="Open Sans"/>
              </a:rPr>
              <a:t>  surplus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$82.7B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$159.0B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D46127"/>
                </a:solidFill>
                <a:latin typeface="Open Sans"/>
              </a:rPr>
              <a:t>−$76.3B</a:t>
            </a:r>
            <a:r>
              <a:rPr sz="950" b="0" i="0">
                <a:solidFill>
                  <a:srgbClr val="54606C"/>
                </a:solidFill>
                <a:latin typeface="Open Sans"/>
              </a:rPr>
              <a:t>  deficit</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a:t>
            </a:r>
          </a:p>
        </p:txBody>
      </p:sp>
      <p:pic>
        <p:nvPicPr>
          <p:cNvPr id="16" name="Picture 15" descr="germany-wildberger.png"/>
          <p:cNvPicPr>
            <a:picLocks noChangeAspect="1"/>
          </p:cNvPicPr>
          <p:nvPr/>
        </p:nvPicPr>
        <p:blipFill>
          <a:blip r:embed="rId3"/>
          <a:stretch>
            <a:fillRect/>
          </a:stretch>
        </p:blipFill>
        <p:spPr>
          <a:xfrm>
            <a:off x="3611880" y="1408176"/>
            <a:ext cx="734291" cy="914400"/>
          </a:xfrm>
          <a:prstGeom prst="rect">
            <a:avLst/>
          </a:prstGeom>
        </p:spPr>
      </p:pic>
      <p:sp>
        <p:nvSpPr>
          <p:cNvPr id="17" name="Rectangle 16"/>
          <p:cNvSpPr/>
          <p:nvPr/>
        </p:nvSpPr>
        <p:spPr>
          <a:xfrm>
            <a:off x="3611880" y="1408176"/>
            <a:ext cx="734290"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10762" y="1408176"/>
            <a:ext cx="7129549" cy="256032"/>
          </a:xfrm>
          <a:prstGeom prst="rect">
            <a:avLst/>
          </a:prstGeom>
          <a:noFill/>
        </p:spPr>
        <p:txBody>
          <a:bodyPr wrap="square" anchor="t" lIns="0" rIns="0" tIns="0" bIns="0">
            <a:spAutoFit/>
          </a:bodyPr>
          <a:lstStyle/>
          <a:p>
            <a:r>
              <a:rPr sz="1400" b="1" i="0">
                <a:solidFill>
                  <a:srgbClr val="0A314D"/>
                </a:solidFill>
                <a:latin typeface="Open Sans"/>
              </a:rPr>
              <a:t>Karsten Wildberger</a:t>
            </a:r>
          </a:p>
        </p:txBody>
      </p:sp>
      <p:sp>
        <p:nvSpPr>
          <p:cNvPr id="19" name="TextBox 18"/>
          <p:cNvSpPr txBox="1"/>
          <p:nvPr/>
        </p:nvSpPr>
        <p:spPr>
          <a:xfrm>
            <a:off x="4510762" y="1682495"/>
            <a:ext cx="7129549"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Federal Minister for Digital Transformation and Government Modernisation</a:t>
            </a:r>
          </a:p>
        </p:txBody>
      </p:sp>
      <p:sp>
        <p:nvSpPr>
          <p:cNvPr id="20" name="TextBox 19"/>
          <p:cNvSpPr txBox="1"/>
          <p:nvPr/>
        </p:nvSpPr>
        <p:spPr>
          <a:xfrm>
            <a:off x="4510762" y="2048256"/>
            <a:ext cx="7129549"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Federal Ministry for Digital Transformation and Government Modernisation (BMDS)</a:t>
            </a:r>
            <a:r>
              <a:rPr sz="950" b="0" i="0">
                <a:solidFill>
                  <a:srgbClr val="757D87"/>
                </a:solidFill>
                <a:latin typeface="Open Sans"/>
              </a:rPr>
              <a:t>   ·   Assumed office: 2025-05-06</a:t>
            </a:r>
          </a:p>
        </p:txBody>
      </p:sp>
      <p:sp>
        <p:nvSpPr>
          <p:cNvPr id="21" name="TextBox 20"/>
          <p:cNvSpPr txBox="1"/>
          <p:nvPr/>
        </p:nvSpPr>
        <p:spPr>
          <a:xfrm>
            <a:off x="3611880" y="2377440"/>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Karsten Wildberger (born 5 September 1969, Gießen) holds a doctorate in solid-state physics from RWTH Aachen and an INSEAD MBA. After Boston Consulting Group he held senior roles at T-Mobile, Vodafone and Telstra, sat on E.ON's management board (2016-2021), then led Ceconomy AG (parent of MediaMarktSaturn) from 2021 to 2025. On 6 May 2025 he became Germany's first federal digital minister under Chancellor Friedrich Merz, heading a new ministry consolidating digital responsibilities previously spread across several ministries.</a:t>
            </a:r>
          </a:p>
        </p:txBody>
      </p:sp>
      <p:cxnSp>
        <p:nvCxnSpPr>
          <p:cNvPr id="22" name="Connector 21"/>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a:t>
            </a:r>
          </a:p>
        </p:txBody>
      </p:sp>
      <p:pic>
        <p:nvPicPr>
          <p:cNvPr id="24" name="Picture 23" descr="germany-reiche.png"/>
          <p:cNvPicPr>
            <a:picLocks noChangeAspect="1"/>
          </p:cNvPicPr>
          <p:nvPr/>
        </p:nvPicPr>
        <p:blipFill>
          <a:blip r:embed="rId4"/>
          <a:stretch>
            <a:fillRect/>
          </a:stretch>
        </p:blipFill>
        <p:spPr>
          <a:xfrm>
            <a:off x="3611880" y="4041648"/>
            <a:ext cx="734291" cy="914400"/>
          </a:xfrm>
          <a:prstGeom prst="rect">
            <a:avLst/>
          </a:prstGeom>
        </p:spPr>
      </p:pic>
      <p:sp>
        <p:nvSpPr>
          <p:cNvPr id="25" name="Rectangle 24"/>
          <p:cNvSpPr/>
          <p:nvPr/>
        </p:nvSpPr>
        <p:spPr>
          <a:xfrm>
            <a:off x="3611880" y="4041648"/>
            <a:ext cx="734290"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10762" y="4041648"/>
            <a:ext cx="7129549" cy="256032"/>
          </a:xfrm>
          <a:prstGeom prst="rect">
            <a:avLst/>
          </a:prstGeom>
          <a:noFill/>
        </p:spPr>
        <p:txBody>
          <a:bodyPr wrap="square" anchor="t" lIns="0" rIns="0" tIns="0" bIns="0">
            <a:spAutoFit/>
          </a:bodyPr>
          <a:lstStyle/>
          <a:p>
            <a:r>
              <a:rPr sz="1400" b="1" i="0">
                <a:solidFill>
                  <a:srgbClr val="0A314D"/>
                </a:solidFill>
                <a:latin typeface="Open Sans"/>
              </a:rPr>
              <a:t>Katherina Reiche</a:t>
            </a:r>
          </a:p>
        </p:txBody>
      </p:sp>
      <p:sp>
        <p:nvSpPr>
          <p:cNvPr id="27" name="TextBox 26"/>
          <p:cNvSpPr txBox="1"/>
          <p:nvPr/>
        </p:nvSpPr>
        <p:spPr>
          <a:xfrm>
            <a:off x="4510762" y="4315968"/>
            <a:ext cx="7129549"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Federal Minister for Economic Affairs and Energy</a:t>
            </a:r>
          </a:p>
        </p:txBody>
      </p:sp>
      <p:sp>
        <p:nvSpPr>
          <p:cNvPr id="28" name="TextBox 27"/>
          <p:cNvSpPr txBox="1"/>
          <p:nvPr/>
        </p:nvSpPr>
        <p:spPr>
          <a:xfrm>
            <a:off x="4510762" y="4681727"/>
            <a:ext cx="7129549"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Federal Ministry for Economic Affairs and Energy (BMWE)</a:t>
            </a:r>
            <a:r>
              <a:rPr sz="950" b="0" i="0">
                <a:solidFill>
                  <a:srgbClr val="757D87"/>
                </a:solidFill>
                <a:latin typeface="Open Sans"/>
              </a:rPr>
              <a:t>   ·   Assumed office: 2025-05-06</a:t>
            </a:r>
          </a:p>
        </p:txBody>
      </p:sp>
      <p:sp>
        <p:nvSpPr>
          <p:cNvPr id="29" name="TextBox 28"/>
          <p:cNvSpPr txBox="1"/>
          <p:nvPr/>
        </p:nvSpPr>
        <p:spPr>
          <a:xfrm>
            <a:off x="3611880" y="5010912"/>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Katherina Reiche (born 16 July 1973, Luckenwalde) is a CDU politician and former energy executive, a trained chemist. She was a Bundestag member 1998-2015, including deputy chair of the CDU/CSU parliamentary group and parliamentary state secretary roles. She then led the municipal-utilities association VKU (2015-2019) and chaired the board of E.ON subsidiary Westenergie AG (2020-2025).</a:t>
            </a:r>
          </a:p>
          <a:p>
            <a:pPr>
              <a:spcBef>
                <a:spcPts val="500"/>
              </a:spcBef>
            </a:pPr>
            <a:r>
              <a:rPr sz="900" b="0" i="1">
                <a:solidFill>
                  <a:srgbClr val="54606C"/>
                </a:solidFill>
                <a:latin typeface="Open Sans"/>
              </a:rPr>
              <a:t>Also: Maroš Šefčovič (European Commissioner for Trade and Economic Security)</a:t>
            </a:r>
          </a:p>
        </p:txBody>
      </p:sp>
      <p:cxnSp>
        <p:nvCxnSpPr>
          <p:cNvPr id="30" name="Connector 29"/>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2" name="TextBox 31"/>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3" name="TextBox 32"/>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7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ndia.png"/>
          <p:cNvPicPr>
            <a:picLocks noChangeAspect="1"/>
          </p:cNvPicPr>
          <p:nvPr/>
        </p:nvPicPr>
        <p:blipFill>
          <a:blip r:embed="rId2"/>
          <a:stretch>
            <a:fillRect/>
          </a:stretch>
        </p:blipFill>
        <p:spPr>
          <a:xfrm>
            <a:off x="548640" y="329184"/>
            <a:ext cx="822960" cy="548640"/>
          </a:xfrm>
          <a:prstGeom prst="rect">
            <a:avLst/>
          </a:prstGeom>
        </p:spPr>
      </p:pic>
      <p:sp>
        <p:nvSpPr>
          <p:cNvPr id="4" name="Rectangle 3"/>
          <p:cNvSpPr/>
          <p:nvPr/>
        </p:nvSpPr>
        <p:spPr>
          <a:xfrm>
            <a:off x="548640" y="329184"/>
            <a:ext cx="822959"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India</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$4,125.0B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(FY 2025-26)</a:t>
            </a:r>
          </a:p>
          <a:p>
            <a:pPr>
              <a:spcBef>
                <a:spcPts val="100"/>
              </a:spcBef>
            </a:pPr>
            <a:r>
              <a:rPr sz="1450" b="1" i="0">
                <a:solidFill>
                  <a:srgbClr val="2C2C2C"/>
                </a:solidFill>
                <a:latin typeface="Open Sans"/>
              </a:rPr>
              <a:t>−$333.2B</a:t>
            </a:r>
            <a:r>
              <a:rPr sz="950" b="0" i="0">
                <a:solidFill>
                  <a:srgbClr val="54606C"/>
                </a:solidFill>
                <a:latin typeface="Open Sans"/>
              </a:rPr>
              <a:t>  deficit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$45.6B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$103.8B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D46127"/>
                </a:solidFill>
                <a:latin typeface="Open Sans"/>
              </a:rPr>
              <a:t>−$58.2B</a:t>
            </a:r>
            <a:r>
              <a:rPr sz="950" b="0" i="0">
                <a:solidFill>
                  <a:srgbClr val="54606C"/>
                </a:solidFill>
                <a:latin typeface="Open Sans"/>
              </a:rPr>
              <a:t>  deficit</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a:t>
            </a:r>
          </a:p>
        </p:txBody>
      </p:sp>
      <p:pic>
        <p:nvPicPr>
          <p:cNvPr id="16" name="Picture 15" descr="india-vaishnaw.png"/>
          <p:cNvPicPr>
            <a:picLocks noChangeAspect="1"/>
          </p:cNvPicPr>
          <p:nvPr/>
        </p:nvPicPr>
        <p:blipFill>
          <a:blip r:embed="rId3"/>
          <a:stretch>
            <a:fillRect/>
          </a:stretch>
        </p:blipFill>
        <p:spPr>
          <a:xfrm>
            <a:off x="3611880" y="1408176"/>
            <a:ext cx="731520" cy="914400"/>
          </a:xfrm>
          <a:prstGeom prst="rect">
            <a:avLst/>
          </a:prstGeom>
        </p:spPr>
      </p:pic>
      <p:sp>
        <p:nvSpPr>
          <p:cNvPr id="17" name="Rectangle 16"/>
          <p:cNvSpPr/>
          <p:nvPr/>
        </p:nvSpPr>
        <p:spPr>
          <a:xfrm>
            <a:off x="3611880" y="1408176"/>
            <a:ext cx="731520"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7992" y="1408176"/>
            <a:ext cx="7132320" cy="256032"/>
          </a:xfrm>
          <a:prstGeom prst="rect">
            <a:avLst/>
          </a:prstGeom>
          <a:noFill/>
        </p:spPr>
        <p:txBody>
          <a:bodyPr wrap="square" anchor="t" lIns="0" rIns="0" tIns="0" bIns="0">
            <a:spAutoFit/>
          </a:bodyPr>
          <a:lstStyle/>
          <a:p>
            <a:r>
              <a:rPr sz="1400" b="1" i="0">
                <a:solidFill>
                  <a:srgbClr val="0A314D"/>
                </a:solidFill>
                <a:latin typeface="Open Sans"/>
              </a:rPr>
              <a:t>Ashwini Vaishnaw</a:t>
            </a:r>
          </a:p>
        </p:txBody>
      </p:sp>
      <p:sp>
        <p:nvSpPr>
          <p:cNvPr id="19" name="TextBox 18"/>
          <p:cNvSpPr txBox="1"/>
          <p:nvPr/>
        </p:nvSpPr>
        <p:spPr>
          <a:xfrm>
            <a:off x="4507992" y="1682495"/>
            <a:ext cx="7132320"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Union Minister of Electronics and Information Technology (concurrently Minister of Railways and Minister of Information &amp; Broadcasting)</a:t>
            </a:r>
          </a:p>
        </p:txBody>
      </p:sp>
      <p:sp>
        <p:nvSpPr>
          <p:cNvPr id="20" name="TextBox 19"/>
          <p:cNvSpPr txBox="1"/>
          <p:nvPr/>
        </p:nvSpPr>
        <p:spPr>
          <a:xfrm>
            <a:off x="4507992" y="2048256"/>
            <a:ext cx="7132320"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Ministry of Electronics and Information Technology (MeitY)</a:t>
            </a:r>
            <a:r>
              <a:rPr sz="950" b="0" i="0">
                <a:solidFill>
                  <a:srgbClr val="757D87"/>
                </a:solidFill>
                <a:latin typeface="Open Sans"/>
              </a:rPr>
              <a:t>   ·   Assumed office: 2024-06-10</a:t>
            </a:r>
          </a:p>
        </p:txBody>
      </p:sp>
      <p:sp>
        <p:nvSpPr>
          <p:cNvPr id="21" name="TextBox 20"/>
          <p:cNvSpPr txBox="1"/>
          <p:nvPr/>
        </p:nvSpPr>
        <p:spPr>
          <a:xfrm>
            <a:off x="3611880" y="2377440"/>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Ashwini Vaishnaw (born 18 July 1970), a 1994-batch former IAS officer of the Odisha cadre, holds engineering degrees from MBM Jodhpur and IIT Kanpur and an MBA from Wharton. After district-collector postings and corporate roles at GE Transportation and Siemens, he entered the Rajya Sabha from Odisha in 2019.</a:t>
            </a:r>
          </a:p>
          <a:p>
            <a:pPr>
              <a:spcBef>
                <a:spcPts val="500"/>
              </a:spcBef>
            </a:pPr>
            <a:r>
              <a:rPr sz="900" b="0" i="1">
                <a:solidFill>
                  <a:srgbClr val="54606C"/>
                </a:solidFill>
                <a:latin typeface="Open Sans"/>
              </a:rPr>
              <a:t>Also: Jitin Prasada (Union Minister of State for Electronics and Information Technology (also Minister of State for Commerce and Industry))</a:t>
            </a:r>
          </a:p>
        </p:txBody>
      </p:sp>
      <p:cxnSp>
        <p:nvCxnSpPr>
          <p:cNvPr id="22" name="Connector 21"/>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  ·  SPLIT PORTFOLIO</a:t>
            </a:r>
          </a:p>
        </p:txBody>
      </p:sp>
      <p:pic>
        <p:nvPicPr>
          <p:cNvPr id="24" name="Picture 23" descr="india-goyal.png"/>
          <p:cNvPicPr>
            <a:picLocks noChangeAspect="1"/>
          </p:cNvPicPr>
          <p:nvPr/>
        </p:nvPicPr>
        <p:blipFill>
          <a:blip r:embed="rId4"/>
          <a:stretch>
            <a:fillRect/>
          </a:stretch>
        </p:blipFill>
        <p:spPr>
          <a:xfrm>
            <a:off x="3611880" y="4023359"/>
            <a:ext cx="585216" cy="731520"/>
          </a:xfrm>
          <a:prstGeom prst="rect">
            <a:avLst/>
          </a:prstGeom>
        </p:spPr>
      </p:pic>
      <p:sp>
        <p:nvSpPr>
          <p:cNvPr id="25" name="Rectangle 24"/>
          <p:cNvSpPr/>
          <p:nvPr/>
        </p:nvSpPr>
        <p:spPr>
          <a:xfrm>
            <a:off x="3611880" y="4023359"/>
            <a:ext cx="585216"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25112" y="4023359"/>
            <a:ext cx="3136391" cy="914400"/>
          </a:xfrm>
          <a:prstGeom prst="rect">
            <a:avLst/>
          </a:prstGeom>
          <a:noFill/>
        </p:spPr>
        <p:txBody>
          <a:bodyPr wrap="square" anchor="t" lIns="0" rIns="0" tIns="0" bIns="0">
            <a:spAutoFit/>
          </a:bodyPr>
          <a:lstStyle/>
          <a:p>
            <a:r>
              <a:rPr sz="750" b="1" i="0" spc="80">
                <a:solidFill>
                  <a:srgbClr val="007582"/>
                </a:solidFill>
                <a:latin typeface="Open Sans"/>
              </a:rPr>
              <a:t>CABINET MINISTER</a:t>
            </a:r>
          </a:p>
          <a:p>
            <a:pPr>
              <a:spcBef>
                <a:spcPts val="200"/>
              </a:spcBef>
            </a:pPr>
            <a:r>
              <a:rPr sz="1200" b="1" i="0">
                <a:solidFill>
                  <a:srgbClr val="0A314D"/>
                </a:solidFill>
                <a:latin typeface="Open Sans"/>
              </a:rPr>
              <a:t>Piyush Goyal</a:t>
            </a:r>
          </a:p>
          <a:p>
            <a:pPr>
              <a:lnSpc>
                <a:spcPct val="104000"/>
              </a:lnSpc>
              <a:spcBef>
                <a:spcPts val="200"/>
              </a:spcBef>
            </a:pPr>
            <a:r>
              <a:rPr sz="900" b="0" i="1">
                <a:solidFill>
                  <a:srgbClr val="54606C"/>
                </a:solidFill>
                <a:latin typeface="Open Sans"/>
              </a:rPr>
              <a:t>Union Minister of Commerce and Industry</a:t>
            </a:r>
          </a:p>
        </p:txBody>
      </p:sp>
      <p:sp>
        <p:nvSpPr>
          <p:cNvPr id="27" name="TextBox 26"/>
          <p:cNvSpPr txBox="1"/>
          <p:nvPr/>
        </p:nvSpPr>
        <p:spPr>
          <a:xfrm>
            <a:off x="3611880"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Commerce and Industry</a:t>
            </a:r>
            <a:r>
              <a:rPr sz="850" b="0" i="0">
                <a:solidFill>
                  <a:srgbClr val="757D87"/>
                </a:solidFill>
                <a:latin typeface="Open Sans"/>
              </a:rPr>
              <a:t>  ·  2019-05-31</a:t>
            </a:r>
          </a:p>
        </p:txBody>
      </p:sp>
      <p:sp>
        <p:nvSpPr>
          <p:cNvPr id="28" name="TextBox 27"/>
          <p:cNvSpPr txBox="1"/>
          <p:nvPr/>
        </p:nvSpPr>
        <p:spPr>
          <a:xfrm>
            <a:off x="3611880"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Piyush Goyal, a chartered accountant, lawyer and BJP parliamentarian, has served as India's Union Minister of Commerce and Industry since 2019, leading trade policy and free-trade-agreement strategy including India-US talks. He previously held the Railways, Power and Textiles portfolios.</a:t>
            </a:r>
          </a:p>
        </p:txBody>
      </p:sp>
      <p:pic>
        <p:nvPicPr>
          <p:cNvPr id="29" name="Picture 28" descr="india-agrawal.png"/>
          <p:cNvPicPr>
            <a:picLocks noChangeAspect="1"/>
          </p:cNvPicPr>
          <p:nvPr/>
        </p:nvPicPr>
        <p:blipFill>
          <a:blip r:embed="rId5"/>
          <a:stretch>
            <a:fillRect/>
          </a:stretch>
        </p:blipFill>
        <p:spPr>
          <a:xfrm>
            <a:off x="7790688" y="4023359"/>
            <a:ext cx="587433" cy="731520"/>
          </a:xfrm>
          <a:prstGeom prst="rect">
            <a:avLst/>
          </a:prstGeom>
        </p:spPr>
      </p:pic>
      <p:sp>
        <p:nvSpPr>
          <p:cNvPr id="30" name="Rectangle 29"/>
          <p:cNvSpPr/>
          <p:nvPr/>
        </p:nvSpPr>
        <p:spPr>
          <a:xfrm>
            <a:off x="7790688" y="4023359"/>
            <a:ext cx="587432"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6136" y="4023359"/>
            <a:ext cx="3134175" cy="914400"/>
          </a:xfrm>
          <a:prstGeom prst="rect">
            <a:avLst/>
          </a:prstGeom>
          <a:noFill/>
        </p:spPr>
        <p:txBody>
          <a:bodyPr wrap="square" anchor="t" lIns="0" rIns="0" tIns="0" bIns="0">
            <a:spAutoFit/>
          </a:bodyPr>
          <a:lstStyle/>
          <a:p>
            <a:r>
              <a:rPr sz="750" b="1" i="0" spc="80">
                <a:solidFill>
                  <a:srgbClr val="007582"/>
                </a:solidFill>
                <a:latin typeface="Open Sans"/>
              </a:rPr>
              <a:t>COMMERCE SECRETARY · CHIEF US NEGOTIATOR</a:t>
            </a:r>
          </a:p>
          <a:p>
            <a:pPr>
              <a:spcBef>
                <a:spcPts val="200"/>
              </a:spcBef>
            </a:pPr>
            <a:r>
              <a:rPr sz="1200" b="1" i="0">
                <a:solidFill>
                  <a:srgbClr val="0A314D"/>
                </a:solidFill>
                <a:latin typeface="Open Sans"/>
              </a:rPr>
              <a:t>Rajesh Agrawal</a:t>
            </a:r>
          </a:p>
          <a:p>
            <a:pPr>
              <a:lnSpc>
                <a:spcPct val="104000"/>
              </a:lnSpc>
              <a:spcBef>
                <a:spcPts val="200"/>
              </a:spcBef>
            </a:pPr>
            <a:r>
              <a:rPr sz="900" b="0" i="1">
                <a:solidFill>
                  <a:srgbClr val="54606C"/>
                </a:solidFill>
                <a:latin typeface="Open Sans"/>
              </a:rPr>
              <a:t>Commerce Secretary (Secretary, Department of Commerce) and India's Chief Negotiator for the India-US Bilateral Trade Agreement</a:t>
            </a:r>
          </a:p>
        </p:txBody>
      </p:sp>
      <p:sp>
        <p:nvSpPr>
          <p:cNvPr id="32" name="TextBox 31"/>
          <p:cNvSpPr txBox="1"/>
          <p:nvPr/>
        </p:nvSpPr>
        <p:spPr>
          <a:xfrm>
            <a:off x="7790688"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Commerce and Industry, Department of Commerce</a:t>
            </a:r>
            <a:r>
              <a:rPr sz="850" b="0" i="0">
                <a:solidFill>
                  <a:srgbClr val="757D87"/>
                </a:solidFill>
                <a:latin typeface="Open Sans"/>
              </a:rPr>
              <a:t>  ·  2025-10-01</a:t>
            </a:r>
          </a:p>
        </p:txBody>
      </p:sp>
      <p:sp>
        <p:nvSpPr>
          <p:cNvPr id="33" name="TextBox 32"/>
          <p:cNvSpPr txBox="1"/>
          <p:nvPr/>
        </p:nvSpPr>
        <p:spPr>
          <a:xfrm>
            <a:off x="7790688"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Rajesh Agrawal, a senior IAS officer, became India's Commerce Secretary on 1 October 2025 after serving as Special Secretary and Additional Secretary in the Department of Commerce. He is chief negotiator for major trade deals, including the India-US Bilateral Trade Agreement.</a:t>
            </a:r>
          </a:p>
        </p:txBody>
      </p:sp>
      <p:cxnSp>
        <p:nvCxnSpPr>
          <p:cNvPr id="34" name="Connector 33"/>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6" name="TextBox 35"/>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7" name="TextBox 36"/>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8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ndonesia.png"/>
          <p:cNvPicPr>
            <a:picLocks noChangeAspect="1"/>
          </p:cNvPicPr>
          <p:nvPr/>
        </p:nvPicPr>
        <p:blipFill>
          <a:blip r:embed="rId2"/>
          <a:stretch>
            <a:fillRect/>
          </a:stretch>
        </p:blipFill>
        <p:spPr>
          <a:xfrm>
            <a:off x="548640" y="329184"/>
            <a:ext cx="822960" cy="548640"/>
          </a:xfrm>
          <a:prstGeom prst="rect">
            <a:avLst/>
          </a:prstGeom>
        </p:spPr>
      </p:pic>
      <p:sp>
        <p:nvSpPr>
          <p:cNvPr id="4" name="Rectangle 3"/>
          <p:cNvSpPr/>
          <p:nvPr/>
        </p:nvSpPr>
        <p:spPr>
          <a:xfrm>
            <a:off x="548640" y="329184"/>
            <a:ext cx="822959"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Indonesia</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$1,443.0B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+$41.0B</a:t>
            </a:r>
            <a:r>
              <a:rPr sz="950" b="0" i="0">
                <a:solidFill>
                  <a:srgbClr val="54606C"/>
                </a:solidFill>
                <a:latin typeface="Open Sans"/>
              </a:rPr>
              <a:t>  surplus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$11.0B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$34.7B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D46127"/>
                </a:solidFill>
                <a:latin typeface="Open Sans"/>
              </a:rPr>
              <a:t>−$23.7B</a:t>
            </a:r>
            <a:r>
              <a:rPr sz="950" b="0" i="0">
                <a:solidFill>
                  <a:srgbClr val="54606C"/>
                </a:solidFill>
                <a:latin typeface="Open Sans"/>
              </a:rPr>
              <a:t>  deficit</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a:t>
            </a:r>
          </a:p>
        </p:txBody>
      </p:sp>
      <p:pic>
        <p:nvPicPr>
          <p:cNvPr id="16" name="Picture 15" descr="indonesia-hafid.png"/>
          <p:cNvPicPr>
            <a:picLocks noChangeAspect="1"/>
          </p:cNvPicPr>
          <p:nvPr/>
        </p:nvPicPr>
        <p:blipFill>
          <a:blip r:embed="rId3"/>
          <a:stretch>
            <a:fillRect/>
          </a:stretch>
        </p:blipFill>
        <p:spPr>
          <a:xfrm>
            <a:off x="3611880" y="1408176"/>
            <a:ext cx="734291" cy="914400"/>
          </a:xfrm>
          <a:prstGeom prst="rect">
            <a:avLst/>
          </a:prstGeom>
        </p:spPr>
      </p:pic>
      <p:sp>
        <p:nvSpPr>
          <p:cNvPr id="17" name="Rectangle 16"/>
          <p:cNvSpPr/>
          <p:nvPr/>
        </p:nvSpPr>
        <p:spPr>
          <a:xfrm>
            <a:off x="3611880" y="1408176"/>
            <a:ext cx="734290"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10762" y="1408176"/>
            <a:ext cx="7129549" cy="256032"/>
          </a:xfrm>
          <a:prstGeom prst="rect">
            <a:avLst/>
          </a:prstGeom>
          <a:noFill/>
        </p:spPr>
        <p:txBody>
          <a:bodyPr wrap="square" anchor="t" lIns="0" rIns="0" tIns="0" bIns="0">
            <a:spAutoFit/>
          </a:bodyPr>
          <a:lstStyle/>
          <a:p>
            <a:r>
              <a:rPr sz="1400" b="1" i="0">
                <a:solidFill>
                  <a:srgbClr val="0A314D"/>
                </a:solidFill>
                <a:latin typeface="Open Sans"/>
              </a:rPr>
              <a:t>Meutya Viada Hafid</a:t>
            </a:r>
          </a:p>
        </p:txBody>
      </p:sp>
      <p:sp>
        <p:nvSpPr>
          <p:cNvPr id="19" name="TextBox 18"/>
          <p:cNvSpPr txBox="1"/>
          <p:nvPr/>
        </p:nvSpPr>
        <p:spPr>
          <a:xfrm>
            <a:off x="4510762" y="1682495"/>
            <a:ext cx="7129549"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Minister of Communication and Digital Affairs</a:t>
            </a:r>
          </a:p>
        </p:txBody>
      </p:sp>
      <p:sp>
        <p:nvSpPr>
          <p:cNvPr id="20" name="TextBox 19"/>
          <p:cNvSpPr txBox="1"/>
          <p:nvPr/>
        </p:nvSpPr>
        <p:spPr>
          <a:xfrm>
            <a:off x="4510762" y="2048256"/>
            <a:ext cx="7129549"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Ministry of Communication and Digital Affairs (Kementerian Komunikasi dan Digital, 'Komdigi')</a:t>
            </a:r>
            <a:r>
              <a:rPr sz="950" b="0" i="0">
                <a:solidFill>
                  <a:srgbClr val="757D87"/>
                </a:solidFill>
                <a:latin typeface="Open Sans"/>
              </a:rPr>
              <a:t>   ·   Assumed office: 2024-10-21</a:t>
            </a:r>
          </a:p>
        </p:txBody>
      </p:sp>
      <p:sp>
        <p:nvSpPr>
          <p:cNvPr id="21" name="TextBox 20"/>
          <p:cNvSpPr txBox="1"/>
          <p:nvPr/>
        </p:nvSpPr>
        <p:spPr>
          <a:xfrm>
            <a:off x="3611880" y="2377440"/>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Meutya Viada Hafid (born 3 May 1978, Bandung) is an Indonesian former television journalist and Golkar politician who became Minister of Communication and Digital Affairs on 21 October 2024 in President Prabowo Subianto's Red and White Cabinet, the first woman to lead the ministry. A former Metro TV newscaster, she previously served multiple terms in the House of Representatives (DPR), chairing Commission I on defense, foreign affairs and information.</a:t>
            </a:r>
          </a:p>
        </p:txBody>
      </p:sp>
      <p:cxnSp>
        <p:nvCxnSpPr>
          <p:cNvPr id="22" name="Connector 21"/>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  ·  SPLIT PORTFOLIO</a:t>
            </a:r>
          </a:p>
        </p:txBody>
      </p:sp>
      <p:pic>
        <p:nvPicPr>
          <p:cNvPr id="24" name="Picture 23" descr="indonesia-santoso.png"/>
          <p:cNvPicPr>
            <a:picLocks noChangeAspect="1"/>
          </p:cNvPicPr>
          <p:nvPr/>
        </p:nvPicPr>
        <p:blipFill>
          <a:blip r:embed="rId4"/>
          <a:stretch>
            <a:fillRect/>
          </a:stretch>
        </p:blipFill>
        <p:spPr>
          <a:xfrm>
            <a:off x="3611880" y="4023359"/>
            <a:ext cx="583738" cy="731520"/>
          </a:xfrm>
          <a:prstGeom prst="rect">
            <a:avLst/>
          </a:prstGeom>
        </p:spPr>
      </p:pic>
      <p:sp>
        <p:nvSpPr>
          <p:cNvPr id="25" name="Rectangle 24"/>
          <p:cNvSpPr/>
          <p:nvPr/>
        </p:nvSpPr>
        <p:spPr>
          <a:xfrm>
            <a:off x="3611880" y="4023359"/>
            <a:ext cx="583738"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23634" y="4023359"/>
            <a:ext cx="3137869" cy="914400"/>
          </a:xfrm>
          <a:prstGeom prst="rect">
            <a:avLst/>
          </a:prstGeom>
          <a:noFill/>
        </p:spPr>
        <p:txBody>
          <a:bodyPr wrap="square" anchor="t" lIns="0" rIns="0" tIns="0" bIns="0">
            <a:spAutoFit/>
          </a:bodyPr>
          <a:lstStyle/>
          <a:p>
            <a:r>
              <a:rPr sz="750" b="1" i="0" spc="80">
                <a:solidFill>
                  <a:srgbClr val="007582"/>
                </a:solidFill>
                <a:latin typeface="Open Sans"/>
              </a:rPr>
              <a:t>TRADE MINISTER</a:t>
            </a:r>
          </a:p>
          <a:p>
            <a:pPr>
              <a:spcBef>
                <a:spcPts val="200"/>
              </a:spcBef>
            </a:pPr>
            <a:r>
              <a:rPr sz="1200" b="1" i="0">
                <a:solidFill>
                  <a:srgbClr val="0A314D"/>
                </a:solidFill>
                <a:latin typeface="Open Sans"/>
              </a:rPr>
              <a:t>Budi Santoso</a:t>
            </a:r>
          </a:p>
          <a:p>
            <a:pPr>
              <a:lnSpc>
                <a:spcPct val="104000"/>
              </a:lnSpc>
              <a:spcBef>
                <a:spcPts val="200"/>
              </a:spcBef>
            </a:pPr>
            <a:r>
              <a:rPr sz="900" b="0" i="1">
                <a:solidFill>
                  <a:srgbClr val="54606C"/>
                </a:solidFill>
                <a:latin typeface="Open Sans"/>
              </a:rPr>
              <a:t>Minister of Trade</a:t>
            </a:r>
          </a:p>
        </p:txBody>
      </p:sp>
      <p:sp>
        <p:nvSpPr>
          <p:cNvPr id="27" name="TextBox 26"/>
          <p:cNvSpPr txBox="1"/>
          <p:nvPr/>
        </p:nvSpPr>
        <p:spPr>
          <a:xfrm>
            <a:off x="3611880"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Trade (Kementerian Perdagangan)</a:t>
            </a:r>
            <a:r>
              <a:rPr sz="850" b="0" i="0">
                <a:solidFill>
                  <a:srgbClr val="757D87"/>
                </a:solidFill>
                <a:latin typeface="Open Sans"/>
              </a:rPr>
              <a:t>  ·  2024-10-21</a:t>
            </a:r>
          </a:p>
        </p:txBody>
      </p:sp>
      <p:sp>
        <p:nvSpPr>
          <p:cNvPr id="28" name="TextBox 27"/>
          <p:cNvSpPr txBox="1"/>
          <p:nvPr/>
        </p:nvSpPr>
        <p:spPr>
          <a:xfrm>
            <a:off x="3611880"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Budi Santoso, a career Ministry of Trade civil servant, has served as Indonesia's Minister of Trade since October 2024 in President Prabowo Subianto's cabinet. He was Director General of Foreign Trade (2022-2024) and emphasizes expanding exports through trade agreements.</a:t>
            </a:r>
          </a:p>
        </p:txBody>
      </p:sp>
      <p:pic>
        <p:nvPicPr>
          <p:cNvPr id="29" name="Picture 28" descr="indonesia-airlangga.png"/>
          <p:cNvPicPr>
            <a:picLocks noChangeAspect="1"/>
          </p:cNvPicPr>
          <p:nvPr/>
        </p:nvPicPr>
        <p:blipFill>
          <a:blip r:embed="rId5"/>
          <a:stretch>
            <a:fillRect/>
          </a:stretch>
        </p:blipFill>
        <p:spPr>
          <a:xfrm>
            <a:off x="7790688" y="4023359"/>
            <a:ext cx="587433" cy="731520"/>
          </a:xfrm>
          <a:prstGeom prst="rect">
            <a:avLst/>
          </a:prstGeom>
        </p:spPr>
      </p:pic>
      <p:sp>
        <p:nvSpPr>
          <p:cNvPr id="30" name="Rectangle 29"/>
          <p:cNvSpPr/>
          <p:nvPr/>
        </p:nvSpPr>
        <p:spPr>
          <a:xfrm>
            <a:off x="7790688" y="4023359"/>
            <a:ext cx="587432"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6136" y="4023359"/>
            <a:ext cx="3134175" cy="914400"/>
          </a:xfrm>
          <a:prstGeom prst="rect">
            <a:avLst/>
          </a:prstGeom>
          <a:noFill/>
        </p:spPr>
        <p:txBody>
          <a:bodyPr wrap="square" anchor="t" lIns="0" rIns="0" tIns="0" bIns="0">
            <a:spAutoFit/>
          </a:bodyPr>
          <a:lstStyle/>
          <a:p>
            <a:r>
              <a:rPr sz="750" b="1" i="0" spc="80">
                <a:solidFill>
                  <a:srgbClr val="007582"/>
                </a:solidFill>
                <a:latin typeface="Open Sans"/>
              </a:rPr>
              <a:t>ECONOMIC COORDINATION &amp; NEGOTIATIONS</a:t>
            </a:r>
          </a:p>
          <a:p>
            <a:pPr>
              <a:spcBef>
                <a:spcPts val="200"/>
              </a:spcBef>
            </a:pPr>
            <a:r>
              <a:rPr sz="1200" b="1" i="0">
                <a:solidFill>
                  <a:srgbClr val="0A314D"/>
                </a:solidFill>
                <a:latin typeface="Open Sans"/>
              </a:rPr>
              <a:t>Airlangga Hartarto</a:t>
            </a:r>
          </a:p>
          <a:p>
            <a:pPr>
              <a:lnSpc>
                <a:spcPct val="104000"/>
              </a:lnSpc>
              <a:spcBef>
                <a:spcPts val="200"/>
              </a:spcBef>
            </a:pPr>
            <a:r>
              <a:rPr sz="900" b="0" i="1">
                <a:solidFill>
                  <a:srgbClr val="54606C"/>
                </a:solidFill>
                <a:latin typeface="Open Sans"/>
              </a:rPr>
              <a:t>Coordinating Minister for Economic Affairs</a:t>
            </a:r>
          </a:p>
        </p:txBody>
      </p:sp>
      <p:sp>
        <p:nvSpPr>
          <p:cNvPr id="32" name="TextBox 31"/>
          <p:cNvSpPr txBox="1"/>
          <p:nvPr/>
        </p:nvSpPr>
        <p:spPr>
          <a:xfrm>
            <a:off x="7790688"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Coordinating Ministry for Economic Affairs (Kementerian Koordinator Bidang Perekonomian)</a:t>
            </a:r>
            <a:r>
              <a:rPr sz="850" b="0" i="0">
                <a:solidFill>
                  <a:srgbClr val="757D87"/>
                </a:solidFill>
                <a:latin typeface="Open Sans"/>
              </a:rPr>
              <a:t>  ·  2019-10-23</a:t>
            </a:r>
          </a:p>
        </p:txBody>
      </p:sp>
      <p:sp>
        <p:nvSpPr>
          <p:cNvPr id="33" name="TextBox 32"/>
          <p:cNvSpPr txBox="1"/>
          <p:nvPr/>
        </p:nvSpPr>
        <p:spPr>
          <a:xfrm>
            <a:off x="7790688"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Airlangga Hartarto has served as Indonesia's Coordinating Minister for Economic Affairs since 2019, retained under President Prabowo Subianto, and acts as chief negotiator in trade talks with the United States. He was Minister of Industry (2016-2019) and Golkar Party chairman (2017-2024).</a:t>
            </a:r>
          </a:p>
        </p:txBody>
      </p:sp>
      <p:cxnSp>
        <p:nvCxnSpPr>
          <p:cNvPr id="34" name="Connector 33"/>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6" name="TextBox 35"/>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7" name="TextBox 36"/>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9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aly.png"/>
          <p:cNvPicPr>
            <a:picLocks noChangeAspect="1"/>
          </p:cNvPicPr>
          <p:nvPr/>
        </p:nvPicPr>
        <p:blipFill>
          <a:blip r:embed="rId2"/>
          <a:stretch>
            <a:fillRect/>
          </a:stretch>
        </p:blipFill>
        <p:spPr>
          <a:xfrm>
            <a:off x="548640" y="329184"/>
            <a:ext cx="822960" cy="548640"/>
          </a:xfrm>
          <a:prstGeom prst="rect">
            <a:avLst/>
          </a:prstGeom>
        </p:spPr>
      </p:pic>
      <p:sp>
        <p:nvSpPr>
          <p:cNvPr id="4" name="Rectangle 3"/>
          <p:cNvSpPr/>
          <p:nvPr/>
        </p:nvSpPr>
        <p:spPr>
          <a:xfrm>
            <a:off x="548640" y="329184"/>
            <a:ext cx="822959"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Italy</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$2,544.0B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+$56.8B</a:t>
            </a:r>
            <a:r>
              <a:rPr sz="950" b="0" i="0">
                <a:solidFill>
                  <a:srgbClr val="54606C"/>
                </a:solidFill>
                <a:latin typeface="Open Sans"/>
              </a:rPr>
              <a:t>  surplus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$43.7B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$78.7B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D46127"/>
                </a:solidFill>
                <a:latin typeface="Open Sans"/>
              </a:rPr>
              <a:t>−$35.0B</a:t>
            </a:r>
            <a:r>
              <a:rPr sz="950" b="0" i="0">
                <a:solidFill>
                  <a:srgbClr val="54606C"/>
                </a:solidFill>
                <a:latin typeface="Open Sans"/>
              </a:rPr>
              <a:t>  deficit</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a:t>
            </a:r>
          </a:p>
        </p:txBody>
      </p:sp>
      <p:pic>
        <p:nvPicPr>
          <p:cNvPr id="16" name="Picture 15" descr="italy-butti.png"/>
          <p:cNvPicPr>
            <a:picLocks noChangeAspect="1"/>
          </p:cNvPicPr>
          <p:nvPr/>
        </p:nvPicPr>
        <p:blipFill>
          <a:blip r:embed="rId3"/>
          <a:stretch>
            <a:fillRect/>
          </a:stretch>
        </p:blipFill>
        <p:spPr>
          <a:xfrm>
            <a:off x="3611880" y="1408176"/>
            <a:ext cx="734291" cy="914400"/>
          </a:xfrm>
          <a:prstGeom prst="rect">
            <a:avLst/>
          </a:prstGeom>
        </p:spPr>
      </p:pic>
      <p:sp>
        <p:nvSpPr>
          <p:cNvPr id="17" name="Rectangle 16"/>
          <p:cNvSpPr/>
          <p:nvPr/>
        </p:nvSpPr>
        <p:spPr>
          <a:xfrm>
            <a:off x="3611880" y="1408176"/>
            <a:ext cx="734290"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10762" y="1408176"/>
            <a:ext cx="7129549" cy="256032"/>
          </a:xfrm>
          <a:prstGeom prst="rect">
            <a:avLst/>
          </a:prstGeom>
          <a:noFill/>
        </p:spPr>
        <p:txBody>
          <a:bodyPr wrap="square" anchor="t" lIns="0" rIns="0" tIns="0" bIns="0">
            <a:spAutoFit/>
          </a:bodyPr>
          <a:lstStyle/>
          <a:p>
            <a:r>
              <a:rPr sz="1400" b="1" i="0">
                <a:solidFill>
                  <a:srgbClr val="0A314D"/>
                </a:solidFill>
                <a:latin typeface="Open Sans"/>
              </a:rPr>
              <a:t>Alessio Butti</a:t>
            </a:r>
          </a:p>
        </p:txBody>
      </p:sp>
      <p:sp>
        <p:nvSpPr>
          <p:cNvPr id="19" name="TextBox 18"/>
          <p:cNvSpPr txBox="1"/>
          <p:nvPr/>
        </p:nvSpPr>
        <p:spPr>
          <a:xfrm>
            <a:off x="4510762" y="1682495"/>
            <a:ext cx="7129549"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Undersecretary of State to the Presidency of the Council of Ministers with responsibility for Technological Innovation</a:t>
            </a:r>
          </a:p>
        </p:txBody>
      </p:sp>
      <p:sp>
        <p:nvSpPr>
          <p:cNvPr id="20" name="TextBox 19"/>
          <p:cNvSpPr txBox="1"/>
          <p:nvPr/>
        </p:nvSpPr>
        <p:spPr>
          <a:xfrm>
            <a:off x="4510762" y="2048256"/>
            <a:ext cx="7129549"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Presidency of the Council of Ministers (Presidenza del Consiglio dei Ministri) - Department for Digital Transformation</a:t>
            </a:r>
            <a:r>
              <a:rPr sz="950" b="0" i="0">
                <a:solidFill>
                  <a:srgbClr val="757D87"/>
                </a:solidFill>
                <a:latin typeface="Open Sans"/>
              </a:rPr>
              <a:t>   ·   Assumed office: 2022-11-02</a:t>
            </a:r>
          </a:p>
        </p:txBody>
      </p:sp>
      <p:sp>
        <p:nvSpPr>
          <p:cNvPr id="21" name="TextBox 20"/>
          <p:cNvSpPr txBox="1"/>
          <p:nvPr/>
        </p:nvSpPr>
        <p:spPr>
          <a:xfrm>
            <a:off x="3611880" y="2377440"/>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Alessio Butti (born 1959) is an Italian politician of Fratelli d'Italia and a longtime senator and deputy who served as the party's head of media and telecommunications. In the Meloni government he holds the digital portfolio as Undersecretary of State to the Presidency of the Council with responsibility for Technological Innovation, inheriting functions of the former standalone Ministry for Technological Innovation and Digital Transition (held under Draghi by Vittorio Colao) that Meloni abolished.</a:t>
            </a:r>
          </a:p>
        </p:txBody>
      </p:sp>
      <p:cxnSp>
        <p:nvCxnSpPr>
          <p:cNvPr id="22" name="Connector 21"/>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  ·  SPLIT PORTFOLIO</a:t>
            </a:r>
          </a:p>
        </p:txBody>
      </p:sp>
      <p:pic>
        <p:nvPicPr>
          <p:cNvPr id="24" name="Picture 23" descr="italy-tajani.png"/>
          <p:cNvPicPr>
            <a:picLocks noChangeAspect="1"/>
          </p:cNvPicPr>
          <p:nvPr/>
        </p:nvPicPr>
        <p:blipFill>
          <a:blip r:embed="rId4"/>
          <a:stretch>
            <a:fillRect/>
          </a:stretch>
        </p:blipFill>
        <p:spPr>
          <a:xfrm>
            <a:off x="3611880" y="4023359"/>
            <a:ext cx="587433" cy="731520"/>
          </a:xfrm>
          <a:prstGeom prst="rect">
            <a:avLst/>
          </a:prstGeom>
        </p:spPr>
      </p:pic>
      <p:sp>
        <p:nvSpPr>
          <p:cNvPr id="25" name="Rectangle 24"/>
          <p:cNvSpPr/>
          <p:nvPr/>
        </p:nvSpPr>
        <p:spPr>
          <a:xfrm>
            <a:off x="3611880" y="4023359"/>
            <a:ext cx="587432"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27328" y="4023359"/>
            <a:ext cx="3134175" cy="914400"/>
          </a:xfrm>
          <a:prstGeom prst="rect">
            <a:avLst/>
          </a:prstGeom>
          <a:noFill/>
        </p:spPr>
        <p:txBody>
          <a:bodyPr wrap="square" anchor="t" lIns="0" rIns="0" tIns="0" bIns="0">
            <a:spAutoFit/>
          </a:bodyPr>
          <a:lstStyle/>
          <a:p>
            <a:r>
              <a:rPr sz="750" b="1" i="0" spc="80">
                <a:solidFill>
                  <a:srgbClr val="007582"/>
                </a:solidFill>
                <a:latin typeface="Open Sans"/>
              </a:rPr>
              <a:t>FOREIGN TRADE &amp; EXPORT PROMOTION</a:t>
            </a:r>
          </a:p>
          <a:p>
            <a:pPr>
              <a:spcBef>
                <a:spcPts val="200"/>
              </a:spcBef>
            </a:pPr>
            <a:r>
              <a:rPr sz="1200" b="1" i="0">
                <a:solidFill>
                  <a:srgbClr val="0A314D"/>
                </a:solidFill>
                <a:latin typeface="Open Sans"/>
              </a:rPr>
              <a:t>Antonio Tajani</a:t>
            </a:r>
          </a:p>
          <a:p>
            <a:pPr>
              <a:lnSpc>
                <a:spcPct val="104000"/>
              </a:lnSpc>
              <a:spcBef>
                <a:spcPts val="200"/>
              </a:spcBef>
            </a:pPr>
            <a:r>
              <a:rPr sz="900" b="0" i="1">
                <a:solidFill>
                  <a:srgbClr val="54606C"/>
                </a:solidFill>
                <a:latin typeface="Open Sans"/>
              </a:rPr>
              <a:t>Deputy Prime Minister (Vice President of the Council of Ministers) and Minister of Foreign Affairs and International Cooperation</a:t>
            </a:r>
          </a:p>
        </p:txBody>
      </p:sp>
      <p:sp>
        <p:nvSpPr>
          <p:cNvPr id="27" name="TextBox 26"/>
          <p:cNvSpPr txBox="1"/>
          <p:nvPr/>
        </p:nvSpPr>
        <p:spPr>
          <a:xfrm>
            <a:off x="3611880"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Foreign Affairs and International Cooperation (Ministero degli Affari Esteri e della Cooperazione Internazionale - MAECI / 'Farnesina')</a:t>
            </a:r>
            <a:r>
              <a:rPr sz="850" b="0" i="0">
                <a:solidFill>
                  <a:srgbClr val="757D87"/>
                </a:solidFill>
                <a:latin typeface="Open Sans"/>
              </a:rPr>
              <a:t>  ·  2022-10-22</a:t>
            </a:r>
          </a:p>
        </p:txBody>
      </p:sp>
      <p:sp>
        <p:nvSpPr>
          <p:cNvPr id="28" name="TextBox 27"/>
          <p:cNvSpPr txBox="1"/>
          <p:nvPr/>
        </p:nvSpPr>
        <p:spPr>
          <a:xfrm>
            <a:off x="3611880"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Antonio Tajani, a Forza Italia founder, former European Commissioner and President of the European Parliament (2017-2019), has been Italy's Deputy Prime Minister and Foreign Minister since October 2022. His ministry holds Italy's foreign-trade and export-promotion competency, coordinating ITA/ICE, SACE and SIMEST.</a:t>
            </a:r>
          </a:p>
        </p:txBody>
      </p:sp>
      <p:pic>
        <p:nvPicPr>
          <p:cNvPr id="29" name="Picture 28" descr="italy-urso.png"/>
          <p:cNvPicPr>
            <a:picLocks noChangeAspect="1"/>
          </p:cNvPicPr>
          <p:nvPr/>
        </p:nvPicPr>
        <p:blipFill>
          <a:blip r:embed="rId5"/>
          <a:stretch>
            <a:fillRect/>
          </a:stretch>
        </p:blipFill>
        <p:spPr>
          <a:xfrm>
            <a:off x="7790688" y="4023359"/>
            <a:ext cx="582930" cy="731520"/>
          </a:xfrm>
          <a:prstGeom prst="rect">
            <a:avLst/>
          </a:prstGeom>
        </p:spPr>
      </p:pic>
      <p:sp>
        <p:nvSpPr>
          <p:cNvPr id="30" name="Rectangle 29"/>
          <p:cNvSpPr/>
          <p:nvPr/>
        </p:nvSpPr>
        <p:spPr>
          <a:xfrm>
            <a:off x="7790688" y="4023359"/>
            <a:ext cx="582930"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1634" y="4023359"/>
            <a:ext cx="3138677" cy="914400"/>
          </a:xfrm>
          <a:prstGeom prst="rect">
            <a:avLst/>
          </a:prstGeom>
          <a:noFill/>
        </p:spPr>
        <p:txBody>
          <a:bodyPr wrap="square" anchor="t" lIns="0" rIns="0" tIns="0" bIns="0">
            <a:spAutoFit/>
          </a:bodyPr>
          <a:lstStyle/>
          <a:p>
            <a:r>
              <a:rPr sz="750" b="1" i="0" spc="80">
                <a:solidFill>
                  <a:srgbClr val="007582"/>
                </a:solidFill>
                <a:latin typeface="Open Sans"/>
              </a:rPr>
              <a:t>ENTERPRISES &amp; DOMESTIC INDUSTRY</a:t>
            </a:r>
          </a:p>
          <a:p>
            <a:pPr>
              <a:spcBef>
                <a:spcPts val="200"/>
              </a:spcBef>
            </a:pPr>
            <a:r>
              <a:rPr sz="1200" b="1" i="0">
                <a:solidFill>
                  <a:srgbClr val="0A314D"/>
                </a:solidFill>
                <a:latin typeface="Open Sans"/>
              </a:rPr>
              <a:t>Adolfo Urso</a:t>
            </a:r>
          </a:p>
          <a:p>
            <a:pPr>
              <a:lnSpc>
                <a:spcPct val="104000"/>
              </a:lnSpc>
              <a:spcBef>
                <a:spcPts val="200"/>
              </a:spcBef>
            </a:pPr>
            <a:r>
              <a:rPr sz="900" b="0" i="1">
                <a:solidFill>
                  <a:srgbClr val="54606C"/>
                </a:solidFill>
                <a:latin typeface="Open Sans"/>
              </a:rPr>
              <a:t>Minister of Enterprises and Made in Italy</a:t>
            </a:r>
          </a:p>
        </p:txBody>
      </p:sp>
      <p:sp>
        <p:nvSpPr>
          <p:cNvPr id="32" name="TextBox 31"/>
          <p:cNvSpPr txBox="1"/>
          <p:nvPr/>
        </p:nvSpPr>
        <p:spPr>
          <a:xfrm>
            <a:off x="7790688"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Enterprises and Made in Italy (Ministero delle Imprese e del Made in Italy - MIMIT)</a:t>
            </a:r>
            <a:r>
              <a:rPr sz="850" b="0" i="0">
                <a:solidFill>
                  <a:srgbClr val="757D87"/>
                </a:solidFill>
                <a:latin typeface="Open Sans"/>
              </a:rPr>
              <a:t>  ·  2022-10-22</a:t>
            </a:r>
          </a:p>
        </p:txBody>
      </p:sp>
      <p:sp>
        <p:nvSpPr>
          <p:cNvPr id="33" name="TextBox 32"/>
          <p:cNvSpPr txBox="1"/>
          <p:nvPr/>
        </p:nvSpPr>
        <p:spPr>
          <a:xfrm>
            <a:off x="7790688"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Adolfo Urso, a politician and journalist of the Italian right and former Deputy Minister of Economic Development responsible for Foreign Trade under Berlusconi, has led the Ministry of Enterprises and Made in Italy since 22 October 2022, covering industrial policy.</a:t>
            </a:r>
          </a:p>
        </p:txBody>
      </p:sp>
      <p:cxnSp>
        <p:nvCxnSpPr>
          <p:cNvPr id="34" name="Connector 33"/>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6" name="TextBox 35"/>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7" name="TextBox 36"/>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10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japan.png"/>
          <p:cNvPicPr>
            <a:picLocks noChangeAspect="1"/>
          </p:cNvPicPr>
          <p:nvPr/>
        </p:nvPicPr>
        <p:blipFill>
          <a:blip r:embed="rId2"/>
          <a:stretch>
            <a:fillRect/>
          </a:stretch>
        </p:blipFill>
        <p:spPr>
          <a:xfrm>
            <a:off x="548640" y="329184"/>
            <a:ext cx="822960" cy="548640"/>
          </a:xfrm>
          <a:prstGeom prst="rect">
            <a:avLst/>
          </a:prstGeom>
        </p:spPr>
      </p:pic>
      <p:sp>
        <p:nvSpPr>
          <p:cNvPr id="4" name="Rectangle 3"/>
          <p:cNvSpPr/>
          <p:nvPr/>
        </p:nvSpPr>
        <p:spPr>
          <a:xfrm>
            <a:off x="548640" y="329184"/>
            <a:ext cx="822959"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Japan</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$4,280.0B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−$17.0B</a:t>
            </a:r>
            <a:r>
              <a:rPr sz="950" b="0" i="0">
                <a:solidFill>
                  <a:srgbClr val="54606C"/>
                </a:solidFill>
                <a:latin typeface="Open Sans"/>
              </a:rPr>
              <a:t>  deficit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$82.1B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$146.0B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D46127"/>
                </a:solidFill>
                <a:latin typeface="Open Sans"/>
              </a:rPr>
              <a:t>−$63.9B</a:t>
            </a:r>
            <a:r>
              <a:rPr sz="950" b="0" i="0">
                <a:solidFill>
                  <a:srgbClr val="54606C"/>
                </a:solidFill>
                <a:latin typeface="Open Sans"/>
              </a:rPr>
              <a:t>  deficit</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a:t>
            </a:r>
          </a:p>
        </p:txBody>
      </p:sp>
      <p:pic>
        <p:nvPicPr>
          <p:cNvPr id="16" name="Picture 15" descr="japan-matsumoto.png"/>
          <p:cNvPicPr>
            <a:picLocks noChangeAspect="1"/>
          </p:cNvPicPr>
          <p:nvPr/>
        </p:nvPicPr>
        <p:blipFill>
          <a:blip r:embed="rId3"/>
          <a:stretch>
            <a:fillRect/>
          </a:stretch>
        </p:blipFill>
        <p:spPr>
          <a:xfrm>
            <a:off x="3611880" y="1408176"/>
            <a:ext cx="728235" cy="914400"/>
          </a:xfrm>
          <a:prstGeom prst="rect">
            <a:avLst/>
          </a:prstGeom>
        </p:spPr>
      </p:pic>
      <p:sp>
        <p:nvSpPr>
          <p:cNvPr id="17" name="Rectangle 16"/>
          <p:cNvSpPr/>
          <p:nvPr/>
        </p:nvSpPr>
        <p:spPr>
          <a:xfrm>
            <a:off x="3611880" y="1408176"/>
            <a:ext cx="728234"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4706" y="1408176"/>
            <a:ext cx="7135605" cy="256032"/>
          </a:xfrm>
          <a:prstGeom prst="rect">
            <a:avLst/>
          </a:prstGeom>
          <a:noFill/>
        </p:spPr>
        <p:txBody>
          <a:bodyPr wrap="square" anchor="t" lIns="0" rIns="0" tIns="0" bIns="0">
            <a:spAutoFit/>
          </a:bodyPr>
          <a:lstStyle/>
          <a:p>
            <a:r>
              <a:rPr sz="1400" b="1" i="0">
                <a:solidFill>
                  <a:srgbClr val="0A314D"/>
                </a:solidFill>
                <a:latin typeface="Open Sans"/>
              </a:rPr>
              <a:t>Matsumoto Hisashi</a:t>
            </a:r>
          </a:p>
        </p:txBody>
      </p:sp>
      <p:sp>
        <p:nvSpPr>
          <p:cNvPr id="19" name="TextBox 18"/>
          <p:cNvSpPr txBox="1"/>
          <p:nvPr/>
        </p:nvSpPr>
        <p:spPr>
          <a:xfrm>
            <a:off x="4504706" y="1682495"/>
            <a:ext cx="7135605"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Minister for Digital Transformation</a:t>
            </a:r>
          </a:p>
        </p:txBody>
      </p:sp>
      <p:sp>
        <p:nvSpPr>
          <p:cNvPr id="20" name="TextBox 19"/>
          <p:cNvSpPr txBox="1"/>
          <p:nvPr/>
        </p:nvSpPr>
        <p:spPr>
          <a:xfrm>
            <a:off x="4504706" y="2048256"/>
            <a:ext cx="7135605"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Digital Agency (Cabinet)</a:t>
            </a:r>
            <a:r>
              <a:rPr sz="950" b="0" i="0">
                <a:solidFill>
                  <a:srgbClr val="757D87"/>
                </a:solidFill>
                <a:latin typeface="Open Sans"/>
              </a:rPr>
              <a:t>   ·   Assumed office: 2025-10-21</a:t>
            </a:r>
          </a:p>
        </p:txBody>
      </p:sp>
      <p:sp>
        <p:nvSpPr>
          <p:cNvPr id="21" name="TextBox 20"/>
          <p:cNvSpPr txBox="1"/>
          <p:nvPr/>
        </p:nvSpPr>
        <p:spPr>
          <a:xfrm>
            <a:off x="3611880" y="2377440"/>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Matsumoto Hisashi (born June 13, 1962) is a Liberal Democratic Party member of the House of Representatives for Chiba's 13th district, elected in 2021. A former emergency and trauma surgeon and specially appointed professor at Nippon Medical School, he was named Minister for Digital Transformation by Prime Minister Takaichi Sanae on October 21, 2025, and reappointed in the Second Takaichi cabinet on February 18, 2026.</a:t>
            </a:r>
          </a:p>
        </p:txBody>
      </p:sp>
      <p:cxnSp>
        <p:nvCxnSpPr>
          <p:cNvPr id="22" name="Connector 21"/>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a:t>
            </a:r>
          </a:p>
        </p:txBody>
      </p:sp>
      <p:pic>
        <p:nvPicPr>
          <p:cNvPr id="24" name="Picture 23" descr="japan-akazawa.png"/>
          <p:cNvPicPr>
            <a:picLocks noChangeAspect="1"/>
          </p:cNvPicPr>
          <p:nvPr/>
        </p:nvPicPr>
        <p:blipFill>
          <a:blip r:embed="rId4"/>
          <a:stretch>
            <a:fillRect/>
          </a:stretch>
        </p:blipFill>
        <p:spPr>
          <a:xfrm>
            <a:off x="3611880" y="4041648"/>
            <a:ext cx="727587" cy="914400"/>
          </a:xfrm>
          <a:prstGeom prst="rect">
            <a:avLst/>
          </a:prstGeom>
        </p:spPr>
      </p:pic>
      <p:sp>
        <p:nvSpPr>
          <p:cNvPr id="25" name="Rectangle 24"/>
          <p:cNvSpPr/>
          <p:nvPr/>
        </p:nvSpPr>
        <p:spPr>
          <a:xfrm>
            <a:off x="3611880" y="4041648"/>
            <a:ext cx="727587"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04059" y="4041648"/>
            <a:ext cx="7136252" cy="256032"/>
          </a:xfrm>
          <a:prstGeom prst="rect">
            <a:avLst/>
          </a:prstGeom>
          <a:noFill/>
        </p:spPr>
        <p:txBody>
          <a:bodyPr wrap="square" anchor="t" lIns="0" rIns="0" tIns="0" bIns="0">
            <a:spAutoFit/>
          </a:bodyPr>
          <a:lstStyle/>
          <a:p>
            <a:r>
              <a:rPr sz="1400" b="1" i="0">
                <a:solidFill>
                  <a:srgbClr val="0A314D"/>
                </a:solidFill>
                <a:latin typeface="Open Sans"/>
              </a:rPr>
              <a:t>Akazawa Ryosei</a:t>
            </a:r>
          </a:p>
        </p:txBody>
      </p:sp>
      <p:sp>
        <p:nvSpPr>
          <p:cNvPr id="27" name="TextBox 26"/>
          <p:cNvSpPr txBox="1"/>
          <p:nvPr/>
        </p:nvSpPr>
        <p:spPr>
          <a:xfrm>
            <a:off x="4504059" y="4315968"/>
            <a:ext cx="7136252"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Minister of Economy, Trade and Industry</a:t>
            </a:r>
          </a:p>
        </p:txBody>
      </p:sp>
      <p:sp>
        <p:nvSpPr>
          <p:cNvPr id="28" name="TextBox 27"/>
          <p:cNvSpPr txBox="1"/>
          <p:nvPr/>
        </p:nvSpPr>
        <p:spPr>
          <a:xfrm>
            <a:off x="4504059" y="4681727"/>
            <a:ext cx="7136252"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Ministry of Economy, Trade and Industry (METI)</a:t>
            </a:r>
            <a:r>
              <a:rPr sz="950" b="0" i="0">
                <a:solidFill>
                  <a:srgbClr val="757D87"/>
                </a:solidFill>
                <a:latin typeface="Open Sans"/>
              </a:rPr>
              <a:t>   ·   Assumed office: 2025-10-21</a:t>
            </a:r>
          </a:p>
        </p:txBody>
      </p:sp>
      <p:sp>
        <p:nvSpPr>
          <p:cNvPr id="29" name="TextBox 28"/>
          <p:cNvSpPr txBox="1"/>
          <p:nvPr/>
        </p:nvSpPr>
        <p:spPr>
          <a:xfrm>
            <a:off x="3611880" y="5010912"/>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Akazawa Ryosei is a Liberal Democratic Party member of the House of Representatives for Tottori's 2nd district, first elected in 2005. A University of Tokyo Law graduate with a Cornell MBA, he spent about two decades as an MLIT-lineage bureaucrat.</a:t>
            </a:r>
          </a:p>
          <a:p>
            <a:pPr>
              <a:spcBef>
                <a:spcPts val="500"/>
              </a:spcBef>
            </a:pPr>
            <a:r>
              <a:rPr sz="900" b="0" i="1">
                <a:solidFill>
                  <a:srgbClr val="54606C"/>
                </a:solidFill>
                <a:latin typeface="Open Sans"/>
              </a:rPr>
              <a:t>Also: Motegi Toshimitsu (Minister for Foreign Affairs)</a:t>
            </a:r>
          </a:p>
        </p:txBody>
      </p:sp>
      <p:cxnSp>
        <p:nvCxnSpPr>
          <p:cNvPr id="30" name="Connector 29"/>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2" name="TextBox 31"/>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3" name="TextBox 32"/>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11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exico.png"/>
          <p:cNvPicPr>
            <a:picLocks noChangeAspect="1"/>
          </p:cNvPicPr>
          <p:nvPr/>
        </p:nvPicPr>
        <p:blipFill>
          <a:blip r:embed="rId2"/>
          <a:stretch>
            <a:fillRect/>
          </a:stretch>
        </p:blipFill>
        <p:spPr>
          <a:xfrm>
            <a:off x="548640" y="329184"/>
            <a:ext cx="960120" cy="548640"/>
          </a:xfrm>
          <a:prstGeom prst="rect">
            <a:avLst/>
          </a:prstGeom>
        </p:spPr>
      </p:pic>
      <p:sp>
        <p:nvSpPr>
          <p:cNvPr id="4" name="Rectangle 3"/>
          <p:cNvSpPr/>
          <p:nvPr/>
        </p:nvSpPr>
        <p:spPr>
          <a:xfrm>
            <a:off x="548640" y="329184"/>
            <a:ext cx="960120"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Mexico</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$1,830.0B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+$0.8B</a:t>
            </a:r>
            <a:r>
              <a:rPr sz="950" b="0" i="0">
                <a:solidFill>
                  <a:srgbClr val="54606C"/>
                </a:solidFill>
                <a:latin typeface="Open Sans"/>
              </a:rPr>
              <a:t>  surplus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$338.0B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$534.9B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D46127"/>
                </a:solidFill>
                <a:latin typeface="Open Sans"/>
              </a:rPr>
              <a:t>−$196.9B</a:t>
            </a:r>
            <a:r>
              <a:rPr sz="950" b="0" i="0">
                <a:solidFill>
                  <a:srgbClr val="54606C"/>
                </a:solidFill>
                <a:latin typeface="Open Sans"/>
              </a:rPr>
              <a:t>  deficit</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a:t>
            </a:r>
          </a:p>
        </p:txBody>
      </p:sp>
      <p:pic>
        <p:nvPicPr>
          <p:cNvPr id="16" name="Picture 15" descr="mexico-pena.png"/>
          <p:cNvPicPr>
            <a:picLocks noChangeAspect="1"/>
          </p:cNvPicPr>
          <p:nvPr/>
        </p:nvPicPr>
        <p:blipFill>
          <a:blip r:embed="rId3"/>
          <a:stretch>
            <a:fillRect/>
          </a:stretch>
        </p:blipFill>
        <p:spPr>
          <a:xfrm>
            <a:off x="3611880" y="1408176"/>
            <a:ext cx="729673" cy="914400"/>
          </a:xfrm>
          <a:prstGeom prst="rect">
            <a:avLst/>
          </a:prstGeom>
        </p:spPr>
      </p:pic>
      <p:sp>
        <p:nvSpPr>
          <p:cNvPr id="17" name="Rectangle 16"/>
          <p:cNvSpPr/>
          <p:nvPr/>
        </p:nvSpPr>
        <p:spPr>
          <a:xfrm>
            <a:off x="3611880" y="1408176"/>
            <a:ext cx="729672"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6144" y="1408176"/>
            <a:ext cx="7134167" cy="256032"/>
          </a:xfrm>
          <a:prstGeom prst="rect">
            <a:avLst/>
          </a:prstGeom>
          <a:noFill/>
        </p:spPr>
        <p:txBody>
          <a:bodyPr wrap="square" anchor="t" lIns="0" rIns="0" tIns="0" bIns="0">
            <a:spAutoFit/>
          </a:bodyPr>
          <a:lstStyle/>
          <a:p>
            <a:r>
              <a:rPr sz="1400" b="1" i="0">
                <a:solidFill>
                  <a:srgbClr val="0A314D"/>
                </a:solidFill>
                <a:latin typeface="Open Sans"/>
              </a:rPr>
              <a:t>José Antonio Peña Merino</a:t>
            </a:r>
          </a:p>
        </p:txBody>
      </p:sp>
      <p:sp>
        <p:nvSpPr>
          <p:cNvPr id="19" name="TextBox 18"/>
          <p:cNvSpPr txBox="1"/>
          <p:nvPr/>
        </p:nvSpPr>
        <p:spPr>
          <a:xfrm>
            <a:off x="4506144" y="1682495"/>
            <a:ext cx="7134167"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Head of the Agency for Digital Transformation and Telecommunications</a:t>
            </a:r>
          </a:p>
        </p:txBody>
      </p:sp>
      <p:sp>
        <p:nvSpPr>
          <p:cNvPr id="20" name="TextBox 19"/>
          <p:cNvSpPr txBox="1"/>
          <p:nvPr/>
        </p:nvSpPr>
        <p:spPr>
          <a:xfrm>
            <a:off x="4506144" y="2048256"/>
            <a:ext cx="7134167"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Agencia de Transformación Digital y Telecomunicaciones (ATDT) - Office of the President (State-Secretariat rank)</a:t>
            </a:r>
            <a:r>
              <a:rPr sz="950" b="0" i="0">
                <a:solidFill>
                  <a:srgbClr val="757D87"/>
                </a:solidFill>
                <a:latin typeface="Open Sans"/>
              </a:rPr>
              <a:t>   ·   Assumed office: 2024-10-01</a:t>
            </a:r>
          </a:p>
        </p:txBody>
      </p:sp>
      <p:sp>
        <p:nvSpPr>
          <p:cNvPr id="21" name="TextBox 20"/>
          <p:cNvSpPr txBox="1"/>
          <p:nvPr/>
        </p:nvSpPr>
        <p:spPr>
          <a:xfrm>
            <a:off x="3611880" y="2377440"/>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José Antonio 'Pepe' Peña Merino is a political scientist and data specialist. He studied Political Science and International Relations at CIDE and earned a PhD in Political Science from New York University, specializing in political economy and quantitative methods. He co-founded Data Cívica and led Mexico City's Agencia Digital de Innovación Pública (ADIP) under then-Mayor Claudia Sheinbaum.</a:t>
            </a:r>
          </a:p>
        </p:txBody>
      </p:sp>
      <p:cxnSp>
        <p:nvCxnSpPr>
          <p:cNvPr id="22" name="Connector 21"/>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  ·  SPLIT PORTFOLIO</a:t>
            </a:r>
          </a:p>
        </p:txBody>
      </p:sp>
      <p:pic>
        <p:nvPicPr>
          <p:cNvPr id="24" name="Picture 23" descr="mexico-ebrard.png"/>
          <p:cNvPicPr>
            <a:picLocks noChangeAspect="1"/>
          </p:cNvPicPr>
          <p:nvPr/>
        </p:nvPicPr>
        <p:blipFill>
          <a:blip r:embed="rId4"/>
          <a:stretch>
            <a:fillRect/>
          </a:stretch>
        </p:blipFill>
        <p:spPr>
          <a:xfrm>
            <a:off x="3611880" y="4023359"/>
            <a:ext cx="583738" cy="731520"/>
          </a:xfrm>
          <a:prstGeom prst="rect">
            <a:avLst/>
          </a:prstGeom>
        </p:spPr>
      </p:pic>
      <p:sp>
        <p:nvSpPr>
          <p:cNvPr id="25" name="Rectangle 24"/>
          <p:cNvSpPr/>
          <p:nvPr/>
        </p:nvSpPr>
        <p:spPr>
          <a:xfrm>
            <a:off x="3611880" y="4023359"/>
            <a:ext cx="583738"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23634" y="4023359"/>
            <a:ext cx="3137869" cy="914400"/>
          </a:xfrm>
          <a:prstGeom prst="rect">
            <a:avLst/>
          </a:prstGeom>
          <a:noFill/>
        </p:spPr>
        <p:txBody>
          <a:bodyPr wrap="square" anchor="t" lIns="0" rIns="0" tIns="0" bIns="0">
            <a:spAutoFit/>
          </a:bodyPr>
          <a:lstStyle/>
          <a:p>
            <a:r>
              <a:rPr sz="750" b="1" i="0" spc="80">
                <a:solidFill>
                  <a:srgbClr val="007582"/>
                </a:solidFill>
                <a:latin typeface="Open Sans"/>
              </a:rPr>
              <a:t>SECRETARY OF ECONOMY</a:t>
            </a:r>
          </a:p>
          <a:p>
            <a:pPr>
              <a:spcBef>
                <a:spcPts val="200"/>
              </a:spcBef>
            </a:pPr>
            <a:r>
              <a:rPr sz="1200" b="1" i="0">
                <a:solidFill>
                  <a:srgbClr val="0A314D"/>
                </a:solidFill>
                <a:latin typeface="Open Sans"/>
              </a:rPr>
              <a:t>Marcelo Luis Ebrard Casaubón</a:t>
            </a:r>
          </a:p>
          <a:p>
            <a:pPr>
              <a:lnSpc>
                <a:spcPct val="104000"/>
              </a:lnSpc>
              <a:spcBef>
                <a:spcPts val="200"/>
              </a:spcBef>
            </a:pPr>
            <a:r>
              <a:rPr sz="900" b="0" i="1">
                <a:solidFill>
                  <a:srgbClr val="54606C"/>
                </a:solidFill>
                <a:latin typeface="Open Sans"/>
              </a:rPr>
              <a:t>Secretary of Economy</a:t>
            </a:r>
          </a:p>
        </p:txBody>
      </p:sp>
      <p:sp>
        <p:nvSpPr>
          <p:cNvPr id="27" name="TextBox 26"/>
          <p:cNvSpPr txBox="1"/>
          <p:nvPr/>
        </p:nvSpPr>
        <p:spPr>
          <a:xfrm>
            <a:off x="3611880"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Secretaría de Economía</a:t>
            </a:r>
            <a:r>
              <a:rPr sz="850" b="0" i="0">
                <a:solidFill>
                  <a:srgbClr val="757D87"/>
                </a:solidFill>
                <a:latin typeface="Open Sans"/>
              </a:rPr>
              <a:t>  ·  2024-10-01</a:t>
            </a:r>
          </a:p>
        </p:txBody>
      </p:sp>
      <p:sp>
        <p:nvSpPr>
          <p:cNvPr id="28" name="TextBox 27"/>
          <p:cNvSpPr txBox="1"/>
          <p:nvPr/>
        </p:nvSpPr>
        <p:spPr>
          <a:xfrm>
            <a:off x="3611880"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Marcelo Ebrard Casaubón, former Head of Government of Mexico City (2006-2012) and Secretary of Foreign Affairs (2018-2023), took office as Mexico's Secretary of Economy on 1 October 2024. He leads trade policy, including the 2026 USMCA review and US tariff negotiations.</a:t>
            </a:r>
          </a:p>
        </p:txBody>
      </p:sp>
      <p:pic>
        <p:nvPicPr>
          <p:cNvPr id="29" name="Picture 28" descr="mexico-gutierrez.png"/>
          <p:cNvPicPr>
            <a:picLocks noChangeAspect="1"/>
          </p:cNvPicPr>
          <p:nvPr/>
        </p:nvPicPr>
        <p:blipFill>
          <a:blip r:embed="rId5"/>
          <a:stretch>
            <a:fillRect/>
          </a:stretch>
        </p:blipFill>
        <p:spPr>
          <a:xfrm>
            <a:off x="7790688" y="4023359"/>
            <a:ext cx="587433" cy="731520"/>
          </a:xfrm>
          <a:prstGeom prst="rect">
            <a:avLst/>
          </a:prstGeom>
        </p:spPr>
      </p:pic>
      <p:sp>
        <p:nvSpPr>
          <p:cNvPr id="30" name="Rectangle 29"/>
          <p:cNvSpPr/>
          <p:nvPr/>
        </p:nvSpPr>
        <p:spPr>
          <a:xfrm>
            <a:off x="7790688" y="4023359"/>
            <a:ext cx="587432"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6136" y="4023359"/>
            <a:ext cx="3134175" cy="914400"/>
          </a:xfrm>
          <a:prstGeom prst="rect">
            <a:avLst/>
          </a:prstGeom>
          <a:noFill/>
        </p:spPr>
        <p:txBody>
          <a:bodyPr wrap="square" anchor="t" lIns="0" rIns="0" tIns="0" bIns="0">
            <a:spAutoFit/>
          </a:bodyPr>
          <a:lstStyle/>
          <a:p>
            <a:r>
              <a:rPr sz="750" b="1" i="0" spc="80">
                <a:solidFill>
                  <a:srgbClr val="007582"/>
                </a:solidFill>
                <a:latin typeface="Open Sans"/>
              </a:rPr>
              <a:t>FOREIGN TRADE UNDERSECRETARY</a:t>
            </a:r>
          </a:p>
          <a:p>
            <a:pPr>
              <a:spcBef>
                <a:spcPts val="200"/>
              </a:spcBef>
            </a:pPr>
            <a:r>
              <a:rPr sz="1200" b="1" i="0">
                <a:solidFill>
                  <a:srgbClr val="0A314D"/>
                </a:solidFill>
                <a:latin typeface="Open Sans"/>
              </a:rPr>
              <a:t>Luis Rosendo Gutiérrez Romano</a:t>
            </a:r>
          </a:p>
          <a:p>
            <a:pPr>
              <a:lnSpc>
                <a:spcPct val="104000"/>
              </a:lnSpc>
              <a:spcBef>
                <a:spcPts val="200"/>
              </a:spcBef>
            </a:pPr>
            <a:r>
              <a:rPr sz="900" b="0" i="1">
                <a:solidFill>
                  <a:srgbClr val="54606C"/>
                </a:solidFill>
                <a:latin typeface="Open Sans"/>
              </a:rPr>
              <a:t>Undersecretary for Foreign Trade</a:t>
            </a:r>
          </a:p>
        </p:txBody>
      </p:sp>
      <p:sp>
        <p:nvSpPr>
          <p:cNvPr id="32" name="TextBox 31"/>
          <p:cNvSpPr txBox="1"/>
          <p:nvPr/>
        </p:nvSpPr>
        <p:spPr>
          <a:xfrm>
            <a:off x="7790688"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Secretaría de Economía</a:t>
            </a:r>
            <a:r>
              <a:rPr sz="850" b="0" i="0">
                <a:solidFill>
                  <a:srgbClr val="757D87"/>
                </a:solidFill>
                <a:latin typeface="Open Sans"/>
              </a:rPr>
              <a:t>  ·  2024-10-01</a:t>
            </a:r>
          </a:p>
        </p:txBody>
      </p:sp>
      <p:sp>
        <p:nvSpPr>
          <p:cNvPr id="33" name="TextBox 32"/>
          <p:cNvSpPr txBox="1"/>
          <p:nvPr/>
        </p:nvSpPr>
        <p:spPr>
          <a:xfrm>
            <a:off x="7790688"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Luis Rosendo Gutiérrez Romano is Mexico's Undersecretary for Foreign Trade and lead trade negotiator, appointed to the Secretaría de Economía in October 2024. Holding a PhD from the University of Essex, he leads tariff and trade-treaty negotiations, including the USMCA review.</a:t>
            </a:r>
          </a:p>
        </p:txBody>
      </p:sp>
      <p:cxnSp>
        <p:nvCxnSpPr>
          <p:cNvPr id="34" name="Connector 33"/>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6" name="TextBox 35"/>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7" name="TextBox 36"/>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12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land.png"/>
          <p:cNvPicPr>
            <a:picLocks noChangeAspect="1"/>
          </p:cNvPicPr>
          <p:nvPr/>
        </p:nvPicPr>
        <p:blipFill>
          <a:blip r:embed="rId2"/>
          <a:stretch>
            <a:fillRect/>
          </a:stretch>
        </p:blipFill>
        <p:spPr>
          <a:xfrm>
            <a:off x="548640" y="329184"/>
            <a:ext cx="877824" cy="548640"/>
          </a:xfrm>
          <a:prstGeom prst="rect">
            <a:avLst/>
          </a:prstGeom>
        </p:spPr>
      </p:pic>
      <p:sp>
        <p:nvSpPr>
          <p:cNvPr id="4" name="Rectangle 3"/>
          <p:cNvSpPr/>
          <p:nvPr/>
        </p:nvSpPr>
        <p:spPr>
          <a:xfrm>
            <a:off x="548640" y="329184"/>
            <a:ext cx="877824"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Poland</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$1,040.0B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−$8.7B</a:t>
            </a:r>
            <a:r>
              <a:rPr sz="950" b="0" i="0">
                <a:solidFill>
                  <a:srgbClr val="54606C"/>
                </a:solidFill>
                <a:latin typeface="Open Sans"/>
              </a:rPr>
              <a:t>  deficit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$14.1B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$14.5B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D46127"/>
                </a:solidFill>
                <a:latin typeface="Open Sans"/>
              </a:rPr>
              <a:t>−$0.4B</a:t>
            </a:r>
            <a:r>
              <a:rPr sz="950" b="0" i="0">
                <a:solidFill>
                  <a:srgbClr val="54606C"/>
                </a:solidFill>
                <a:latin typeface="Open Sans"/>
              </a:rPr>
              <a:t>  deficit</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a:t>
            </a:r>
          </a:p>
        </p:txBody>
      </p:sp>
      <p:pic>
        <p:nvPicPr>
          <p:cNvPr id="16" name="Picture 15" descr="poland-gawkowski.png"/>
          <p:cNvPicPr>
            <a:picLocks noChangeAspect="1"/>
          </p:cNvPicPr>
          <p:nvPr/>
        </p:nvPicPr>
        <p:blipFill>
          <a:blip r:embed="rId3"/>
          <a:stretch>
            <a:fillRect/>
          </a:stretch>
        </p:blipFill>
        <p:spPr>
          <a:xfrm>
            <a:off x="3611880" y="1408176"/>
            <a:ext cx="729673" cy="914400"/>
          </a:xfrm>
          <a:prstGeom prst="rect">
            <a:avLst/>
          </a:prstGeom>
        </p:spPr>
      </p:pic>
      <p:sp>
        <p:nvSpPr>
          <p:cNvPr id="17" name="Rectangle 16"/>
          <p:cNvSpPr/>
          <p:nvPr/>
        </p:nvSpPr>
        <p:spPr>
          <a:xfrm>
            <a:off x="3611880" y="1408176"/>
            <a:ext cx="729672"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6144" y="1408176"/>
            <a:ext cx="7134167" cy="256032"/>
          </a:xfrm>
          <a:prstGeom prst="rect">
            <a:avLst/>
          </a:prstGeom>
          <a:noFill/>
        </p:spPr>
        <p:txBody>
          <a:bodyPr wrap="square" anchor="t" lIns="0" rIns="0" tIns="0" bIns="0">
            <a:spAutoFit/>
          </a:bodyPr>
          <a:lstStyle/>
          <a:p>
            <a:r>
              <a:rPr sz="1400" b="1" i="0">
                <a:solidFill>
                  <a:srgbClr val="0A314D"/>
                </a:solidFill>
                <a:latin typeface="Open Sans"/>
              </a:rPr>
              <a:t>Krzysztof Gawkowski</a:t>
            </a:r>
          </a:p>
        </p:txBody>
      </p:sp>
      <p:sp>
        <p:nvSpPr>
          <p:cNvPr id="19" name="TextBox 18"/>
          <p:cNvSpPr txBox="1"/>
          <p:nvPr/>
        </p:nvSpPr>
        <p:spPr>
          <a:xfrm>
            <a:off x="4506144" y="1682495"/>
            <a:ext cx="7134167"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Deputy Prime Minister and Minister of Digital Affairs</a:t>
            </a:r>
          </a:p>
        </p:txBody>
      </p:sp>
      <p:sp>
        <p:nvSpPr>
          <p:cNvPr id="20" name="TextBox 19"/>
          <p:cNvSpPr txBox="1"/>
          <p:nvPr/>
        </p:nvSpPr>
        <p:spPr>
          <a:xfrm>
            <a:off x="4506144" y="2048256"/>
            <a:ext cx="7134167"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Ministry of Digital Affairs (Ministerstwo Cyfryzacji)</a:t>
            </a:r>
            <a:r>
              <a:rPr sz="950" b="0" i="0">
                <a:solidFill>
                  <a:srgbClr val="757D87"/>
                </a:solidFill>
                <a:latin typeface="Open Sans"/>
              </a:rPr>
              <a:t>   ·   Assumed office: 2023-12-13</a:t>
            </a:r>
          </a:p>
        </p:txBody>
      </p:sp>
      <p:sp>
        <p:nvSpPr>
          <p:cNvPr id="21" name="TextBox 20"/>
          <p:cNvSpPr txBox="1"/>
          <p:nvPr/>
        </p:nvSpPr>
        <p:spPr>
          <a:xfrm>
            <a:off x="3611880" y="2377440"/>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Krzysztof Gawkowski (b. 1980) is a Polish political scientist and New Left (Nowa Lewica) politician, serving as the party's deputy chairman.</a:t>
            </a:r>
          </a:p>
          <a:p>
            <a:pPr>
              <a:spcBef>
                <a:spcPts val="500"/>
              </a:spcBef>
            </a:pPr>
            <a:r>
              <a:rPr sz="900" b="0" i="1">
                <a:solidFill>
                  <a:srgbClr val="54606C"/>
                </a:solidFill>
                <a:latin typeface="Open Sans"/>
              </a:rPr>
              <a:t>Digital portfolio unchanged by the July 2025 reshuffle: the Ministry of Digital Affairs (Ministerstwo Cyfryzacji) is led by Krzysztof Gawkowski (Nowa Lewica), who is simultaneously Deputy Prime Minister and Government Plenipotentiary for Cybersecurity — Poland's counterpart for digital economy, AI, and cyber issues.</a:t>
            </a:r>
          </a:p>
        </p:txBody>
      </p:sp>
      <p:cxnSp>
        <p:nvCxnSpPr>
          <p:cNvPr id="22" name="Connector 21"/>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  ·  SPLIT PORTFOLIO</a:t>
            </a:r>
          </a:p>
        </p:txBody>
      </p:sp>
      <p:pic>
        <p:nvPicPr>
          <p:cNvPr id="24" name="Picture 23" descr="poland-domanski.png"/>
          <p:cNvPicPr>
            <a:picLocks noChangeAspect="1"/>
          </p:cNvPicPr>
          <p:nvPr/>
        </p:nvPicPr>
        <p:blipFill>
          <a:blip r:embed="rId4"/>
          <a:stretch>
            <a:fillRect/>
          </a:stretch>
        </p:blipFill>
        <p:spPr>
          <a:xfrm>
            <a:off x="3611880" y="4023359"/>
            <a:ext cx="585216" cy="731520"/>
          </a:xfrm>
          <a:prstGeom prst="rect">
            <a:avLst/>
          </a:prstGeom>
        </p:spPr>
      </p:pic>
      <p:sp>
        <p:nvSpPr>
          <p:cNvPr id="25" name="Rectangle 24"/>
          <p:cNvSpPr/>
          <p:nvPr/>
        </p:nvSpPr>
        <p:spPr>
          <a:xfrm>
            <a:off x="3611880" y="4023359"/>
            <a:ext cx="585216"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25112" y="4023359"/>
            <a:ext cx="3136391" cy="914400"/>
          </a:xfrm>
          <a:prstGeom prst="rect">
            <a:avLst/>
          </a:prstGeom>
          <a:noFill/>
        </p:spPr>
        <p:txBody>
          <a:bodyPr wrap="square" anchor="t" lIns="0" rIns="0" tIns="0" bIns="0">
            <a:spAutoFit/>
          </a:bodyPr>
          <a:lstStyle/>
          <a:p>
            <a:r>
              <a:rPr sz="750" b="1" i="0" spc="80">
                <a:solidFill>
                  <a:srgbClr val="007582"/>
                </a:solidFill>
                <a:latin typeface="Open Sans"/>
              </a:rPr>
              <a:t>FINANCE &amp; ECONOMY MINISTER</a:t>
            </a:r>
          </a:p>
          <a:p>
            <a:pPr>
              <a:spcBef>
                <a:spcPts val="200"/>
              </a:spcBef>
            </a:pPr>
            <a:r>
              <a:rPr sz="1200" b="1" i="0">
                <a:solidFill>
                  <a:srgbClr val="0A314D"/>
                </a:solidFill>
                <a:latin typeface="Open Sans"/>
              </a:rPr>
              <a:t>Andrzej Domański</a:t>
            </a:r>
          </a:p>
          <a:p>
            <a:pPr>
              <a:lnSpc>
                <a:spcPct val="104000"/>
              </a:lnSpc>
              <a:spcBef>
                <a:spcPts val="200"/>
              </a:spcBef>
            </a:pPr>
            <a:r>
              <a:rPr sz="900" b="0" i="1">
                <a:solidFill>
                  <a:srgbClr val="54606C"/>
                </a:solidFill>
                <a:latin typeface="Open Sans"/>
              </a:rPr>
              <a:t>Minister of Finance and Economy</a:t>
            </a:r>
          </a:p>
        </p:txBody>
      </p:sp>
      <p:sp>
        <p:nvSpPr>
          <p:cNvPr id="27" name="TextBox 26"/>
          <p:cNvSpPr txBox="1"/>
          <p:nvPr/>
        </p:nvSpPr>
        <p:spPr>
          <a:xfrm>
            <a:off x="3611880"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Finance and Economy (Ministerstwo Finansów i Gospodarki)</a:t>
            </a:r>
            <a:r>
              <a:rPr sz="850" b="0" i="0">
                <a:solidFill>
                  <a:srgbClr val="757D87"/>
                </a:solidFill>
                <a:latin typeface="Open Sans"/>
              </a:rPr>
              <a:t>  ·  2025-07-24</a:t>
            </a:r>
          </a:p>
        </p:txBody>
      </p:sp>
      <p:sp>
        <p:nvSpPr>
          <p:cNvPr id="28" name="TextBox 27"/>
          <p:cNvSpPr txBox="1"/>
          <p:nvPr/>
        </p:nvSpPr>
        <p:spPr>
          <a:xfrm>
            <a:off x="3611880"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Andrzej Domański, a Polish economist and Civic Coalition politician, became Minister of Finance on 13 December 2023. Since a July 2025 reshuffle merged that ministry with the Ministry of Development and Technology, he has served as Minister of Finance and Economy.</a:t>
            </a:r>
          </a:p>
        </p:txBody>
      </p:sp>
      <p:pic>
        <p:nvPicPr>
          <p:cNvPr id="29" name="Picture 28" descr="poland-baranowski.png"/>
          <p:cNvPicPr>
            <a:picLocks noChangeAspect="1"/>
          </p:cNvPicPr>
          <p:nvPr/>
        </p:nvPicPr>
        <p:blipFill>
          <a:blip r:embed="rId5"/>
          <a:stretch>
            <a:fillRect/>
          </a:stretch>
        </p:blipFill>
        <p:spPr>
          <a:xfrm>
            <a:off x="7790688" y="4023359"/>
            <a:ext cx="583738" cy="731520"/>
          </a:xfrm>
          <a:prstGeom prst="rect">
            <a:avLst/>
          </a:prstGeom>
        </p:spPr>
      </p:pic>
      <p:sp>
        <p:nvSpPr>
          <p:cNvPr id="30" name="Rectangle 29"/>
          <p:cNvSpPr/>
          <p:nvPr/>
        </p:nvSpPr>
        <p:spPr>
          <a:xfrm>
            <a:off x="7790688" y="4023359"/>
            <a:ext cx="583738"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2442" y="4023359"/>
            <a:ext cx="3137869" cy="914400"/>
          </a:xfrm>
          <a:prstGeom prst="rect">
            <a:avLst/>
          </a:prstGeom>
          <a:noFill/>
        </p:spPr>
        <p:txBody>
          <a:bodyPr wrap="square" anchor="t" lIns="0" rIns="0" tIns="0" bIns="0">
            <a:spAutoFit/>
          </a:bodyPr>
          <a:lstStyle/>
          <a:p>
            <a:r>
              <a:rPr sz="750" b="1" i="0" spc="80">
                <a:solidFill>
                  <a:srgbClr val="007582"/>
                </a:solidFill>
                <a:latin typeface="Open Sans"/>
              </a:rPr>
              <a:t>TRADE &amp; ECONOMIC SECURITY</a:t>
            </a:r>
          </a:p>
          <a:p>
            <a:pPr>
              <a:spcBef>
                <a:spcPts val="200"/>
              </a:spcBef>
            </a:pPr>
            <a:r>
              <a:rPr sz="1200" b="1" i="0">
                <a:solidFill>
                  <a:srgbClr val="0A314D"/>
                </a:solidFill>
                <a:latin typeface="Open Sans"/>
              </a:rPr>
              <a:t>Michał Baranowski</a:t>
            </a:r>
          </a:p>
          <a:p>
            <a:pPr>
              <a:lnSpc>
                <a:spcPct val="104000"/>
              </a:lnSpc>
              <a:spcBef>
                <a:spcPts val="200"/>
              </a:spcBef>
            </a:pPr>
            <a:r>
              <a:rPr sz="900" b="0" i="1">
                <a:solidFill>
                  <a:srgbClr val="54606C"/>
                </a:solidFill>
                <a:latin typeface="Open Sans"/>
              </a:rPr>
              <a:t>Undersecretary of State (deputy minister) responsible for trade</a:t>
            </a:r>
          </a:p>
        </p:txBody>
      </p:sp>
      <p:sp>
        <p:nvSpPr>
          <p:cNvPr id="32" name="TextBox 31"/>
          <p:cNvSpPr txBox="1"/>
          <p:nvPr/>
        </p:nvSpPr>
        <p:spPr>
          <a:xfrm>
            <a:off x="7790688"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Finance and Economy (Ministerstwo Finansów i Gospodarki)</a:t>
            </a:r>
            <a:r>
              <a:rPr sz="850" b="0" i="0">
                <a:solidFill>
                  <a:srgbClr val="757D87"/>
                </a:solidFill>
                <a:latin typeface="Open Sans"/>
              </a:rPr>
              <a:t>  ·  2024-12-30</a:t>
            </a:r>
          </a:p>
        </p:txBody>
      </p:sp>
      <p:sp>
        <p:nvSpPr>
          <p:cNvPr id="33" name="TextBox 32"/>
          <p:cNvSpPr txBox="1"/>
          <p:nvPr/>
        </p:nvSpPr>
        <p:spPr>
          <a:xfrm>
            <a:off x="7790688"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Michał Baranowski spent nearly two decades at the German Marshall Fund, founding its Warsaw office in 2011. Appointed Poland's Undersecretary of State responsible for trade on 30 December 2024, he represents Poland at the EU Foreign Affairs Council (Trade).</a:t>
            </a:r>
          </a:p>
        </p:txBody>
      </p:sp>
      <p:cxnSp>
        <p:nvCxnSpPr>
          <p:cNvPr id="34" name="Connector 33"/>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6" name="TextBox 35"/>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7" name="TextBox 36"/>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13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ussia.png"/>
          <p:cNvPicPr>
            <a:picLocks noChangeAspect="1"/>
          </p:cNvPicPr>
          <p:nvPr/>
        </p:nvPicPr>
        <p:blipFill>
          <a:blip r:embed="rId2"/>
          <a:stretch>
            <a:fillRect/>
          </a:stretch>
        </p:blipFill>
        <p:spPr>
          <a:xfrm>
            <a:off x="548640" y="329184"/>
            <a:ext cx="822960" cy="548640"/>
          </a:xfrm>
          <a:prstGeom prst="rect">
            <a:avLst/>
          </a:prstGeom>
        </p:spPr>
      </p:pic>
      <p:sp>
        <p:nvSpPr>
          <p:cNvPr id="4" name="Rectangle 3"/>
          <p:cNvSpPr/>
          <p:nvPr/>
        </p:nvSpPr>
        <p:spPr>
          <a:xfrm>
            <a:off x="548640" y="329184"/>
            <a:ext cx="822959"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Russia</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$2,541.0B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+$139.3B</a:t>
            </a:r>
            <a:r>
              <a:rPr sz="950" b="0" i="0">
                <a:solidFill>
                  <a:srgbClr val="54606C"/>
                </a:solidFill>
                <a:latin typeface="Open Sans"/>
              </a:rPr>
              <a:t>  surplus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$0.6B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$3.8B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D46127"/>
                </a:solidFill>
                <a:latin typeface="Open Sans"/>
              </a:rPr>
              <a:t>−$3.2B</a:t>
            </a:r>
            <a:r>
              <a:rPr sz="950" b="0" i="0">
                <a:solidFill>
                  <a:srgbClr val="54606C"/>
                </a:solidFill>
                <a:latin typeface="Open Sans"/>
              </a:rPr>
              <a:t>  deficit</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a:t>
            </a:r>
          </a:p>
        </p:txBody>
      </p:sp>
      <p:pic>
        <p:nvPicPr>
          <p:cNvPr id="16" name="Picture 15" descr="russia-shadayev.png"/>
          <p:cNvPicPr>
            <a:picLocks noChangeAspect="1"/>
          </p:cNvPicPr>
          <p:nvPr/>
        </p:nvPicPr>
        <p:blipFill>
          <a:blip r:embed="rId3"/>
          <a:stretch>
            <a:fillRect/>
          </a:stretch>
        </p:blipFill>
        <p:spPr>
          <a:xfrm>
            <a:off x="3611880" y="1408176"/>
            <a:ext cx="731520" cy="914400"/>
          </a:xfrm>
          <a:prstGeom prst="rect">
            <a:avLst/>
          </a:prstGeom>
        </p:spPr>
      </p:pic>
      <p:sp>
        <p:nvSpPr>
          <p:cNvPr id="17" name="Rectangle 16"/>
          <p:cNvSpPr/>
          <p:nvPr/>
        </p:nvSpPr>
        <p:spPr>
          <a:xfrm>
            <a:off x="3611880" y="1408176"/>
            <a:ext cx="731520"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7992" y="1408176"/>
            <a:ext cx="7132320" cy="256032"/>
          </a:xfrm>
          <a:prstGeom prst="rect">
            <a:avLst/>
          </a:prstGeom>
          <a:noFill/>
        </p:spPr>
        <p:txBody>
          <a:bodyPr wrap="square" anchor="t" lIns="0" rIns="0" tIns="0" bIns="0">
            <a:spAutoFit/>
          </a:bodyPr>
          <a:lstStyle/>
          <a:p>
            <a:r>
              <a:rPr sz="1400" b="1" i="0">
                <a:solidFill>
                  <a:srgbClr val="0A314D"/>
                </a:solidFill>
                <a:latin typeface="Open Sans"/>
              </a:rPr>
              <a:t>Maksut Shadayev</a:t>
            </a:r>
          </a:p>
        </p:txBody>
      </p:sp>
      <p:sp>
        <p:nvSpPr>
          <p:cNvPr id="19" name="TextBox 18"/>
          <p:cNvSpPr txBox="1"/>
          <p:nvPr/>
        </p:nvSpPr>
        <p:spPr>
          <a:xfrm>
            <a:off x="4507992" y="1682495"/>
            <a:ext cx="7132320"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Minister of Digital Development, Communications and Mass Media</a:t>
            </a:r>
          </a:p>
        </p:txBody>
      </p:sp>
      <p:sp>
        <p:nvSpPr>
          <p:cNvPr id="20" name="TextBox 19"/>
          <p:cNvSpPr txBox="1"/>
          <p:nvPr/>
        </p:nvSpPr>
        <p:spPr>
          <a:xfrm>
            <a:off x="4507992" y="2048256"/>
            <a:ext cx="7132320"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Ministry of Digital Development, Communications and Mass Media of the Russian Federation (Mintsifry)</a:t>
            </a:r>
            <a:r>
              <a:rPr sz="950" b="0" i="0">
                <a:solidFill>
                  <a:srgbClr val="757D87"/>
                </a:solidFill>
                <a:latin typeface="Open Sans"/>
              </a:rPr>
              <a:t>   ·   Assumed office: 2020-01-21</a:t>
            </a:r>
          </a:p>
        </p:txBody>
      </p:sp>
      <p:sp>
        <p:nvSpPr>
          <p:cNvPr id="21" name="TextBox 20"/>
          <p:cNvSpPr txBox="1"/>
          <p:nvPr/>
        </p:nvSpPr>
        <p:spPr>
          <a:xfrm>
            <a:off x="3611880" y="2377440"/>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Maksut Igorevich Shadayev (born 11 November 1979) has led Russia's digital ministry since 21 January 2020 and was reappointed on 14 May 2024. Trained at the Russian State Social University, he built his career in ICT and public administration: department director at the communications ministry, aide to Sergey Naryshkin, IT minister of Moscow Oblast (2014-2018), then Rostelecom vice-president.</a:t>
            </a:r>
          </a:p>
          <a:p>
            <a:pPr>
              <a:spcBef>
                <a:spcPts val="500"/>
              </a:spcBef>
            </a:pPr>
            <a:r>
              <a:rPr sz="900" b="0" i="1">
                <a:solidFill>
                  <a:srgbClr val="54606C"/>
                </a:solidFill>
                <a:latin typeface="Open Sans"/>
              </a:rPr>
              <a:t>Digital government, telecommunications, IT-sector policy, and internet/media regulation are consolidated under the Ministry of Digital Development, Communications and Mass Media (Shadayev).</a:t>
            </a:r>
          </a:p>
        </p:txBody>
      </p:sp>
      <p:cxnSp>
        <p:nvCxnSpPr>
          <p:cNvPr id="22" name="Connector 21"/>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  ·  SPLIT PORTFOLIO</a:t>
            </a:r>
          </a:p>
        </p:txBody>
      </p:sp>
      <p:pic>
        <p:nvPicPr>
          <p:cNvPr id="24" name="Picture 23" descr="russia-alikhanov.png"/>
          <p:cNvPicPr>
            <a:picLocks noChangeAspect="1"/>
          </p:cNvPicPr>
          <p:nvPr/>
        </p:nvPicPr>
        <p:blipFill>
          <a:blip r:embed="rId4"/>
          <a:stretch>
            <a:fillRect/>
          </a:stretch>
        </p:blipFill>
        <p:spPr>
          <a:xfrm>
            <a:off x="3611880" y="4023359"/>
            <a:ext cx="585216" cy="731520"/>
          </a:xfrm>
          <a:prstGeom prst="rect">
            <a:avLst/>
          </a:prstGeom>
        </p:spPr>
      </p:pic>
      <p:sp>
        <p:nvSpPr>
          <p:cNvPr id="25" name="Rectangle 24"/>
          <p:cNvSpPr/>
          <p:nvPr/>
        </p:nvSpPr>
        <p:spPr>
          <a:xfrm>
            <a:off x="3611880" y="4023359"/>
            <a:ext cx="585216"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25112" y="4023359"/>
            <a:ext cx="3136391" cy="914400"/>
          </a:xfrm>
          <a:prstGeom prst="rect">
            <a:avLst/>
          </a:prstGeom>
          <a:noFill/>
        </p:spPr>
        <p:txBody>
          <a:bodyPr wrap="square" anchor="t" lIns="0" rIns="0" tIns="0" bIns="0">
            <a:spAutoFit/>
          </a:bodyPr>
          <a:lstStyle/>
          <a:p>
            <a:r>
              <a:rPr sz="750" b="1" i="0" spc="80">
                <a:solidFill>
                  <a:srgbClr val="007582"/>
                </a:solidFill>
                <a:latin typeface="Open Sans"/>
              </a:rPr>
              <a:t>INDUSTRY &amp; TRADE MINISTER</a:t>
            </a:r>
          </a:p>
          <a:p>
            <a:pPr>
              <a:spcBef>
                <a:spcPts val="200"/>
              </a:spcBef>
            </a:pPr>
            <a:r>
              <a:rPr sz="1200" b="1" i="0">
                <a:solidFill>
                  <a:srgbClr val="0A314D"/>
                </a:solidFill>
                <a:latin typeface="Open Sans"/>
              </a:rPr>
              <a:t>Anton Alikhanov</a:t>
            </a:r>
          </a:p>
          <a:p>
            <a:pPr>
              <a:lnSpc>
                <a:spcPct val="104000"/>
              </a:lnSpc>
              <a:spcBef>
                <a:spcPts val="200"/>
              </a:spcBef>
            </a:pPr>
            <a:r>
              <a:rPr sz="900" b="0" i="1">
                <a:solidFill>
                  <a:srgbClr val="54606C"/>
                </a:solidFill>
                <a:latin typeface="Open Sans"/>
              </a:rPr>
              <a:t>Minister of Industry and Trade</a:t>
            </a:r>
          </a:p>
        </p:txBody>
      </p:sp>
      <p:sp>
        <p:nvSpPr>
          <p:cNvPr id="27" name="TextBox 26"/>
          <p:cNvSpPr txBox="1"/>
          <p:nvPr/>
        </p:nvSpPr>
        <p:spPr>
          <a:xfrm>
            <a:off x="3611880"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Industry and Trade of the Russian Federation (Minpromtorg)</a:t>
            </a:r>
            <a:r>
              <a:rPr sz="850" b="0" i="0">
                <a:solidFill>
                  <a:srgbClr val="757D87"/>
                </a:solidFill>
                <a:latin typeface="Open Sans"/>
              </a:rPr>
              <a:t>  ·  2024-05-14</a:t>
            </a:r>
          </a:p>
        </p:txBody>
      </p:sp>
      <p:sp>
        <p:nvSpPr>
          <p:cNvPr id="28" name="TextBox 27"/>
          <p:cNvSpPr txBox="1"/>
          <p:nvPr/>
        </p:nvSpPr>
        <p:spPr>
          <a:xfrm>
            <a:off x="3611880"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Anton Alikhanov has been Russia's Minister of Industry and Trade since 14 May 2024, overseeing industrial policy, trade in goods, export support and import substitution. Previously governor of Kaliningrad Oblast (2016-2024), he holds degrees in finance and law.</a:t>
            </a:r>
          </a:p>
        </p:txBody>
      </p:sp>
      <p:pic>
        <p:nvPicPr>
          <p:cNvPr id="29" name="Picture 28" descr="russia-reshetnikov.png"/>
          <p:cNvPicPr>
            <a:picLocks noChangeAspect="1"/>
          </p:cNvPicPr>
          <p:nvPr/>
        </p:nvPicPr>
        <p:blipFill>
          <a:blip r:embed="rId5"/>
          <a:stretch>
            <a:fillRect/>
          </a:stretch>
        </p:blipFill>
        <p:spPr>
          <a:xfrm>
            <a:off x="7790688" y="4023359"/>
            <a:ext cx="585216" cy="731520"/>
          </a:xfrm>
          <a:prstGeom prst="rect">
            <a:avLst/>
          </a:prstGeom>
        </p:spPr>
      </p:pic>
      <p:sp>
        <p:nvSpPr>
          <p:cNvPr id="30" name="Rectangle 29"/>
          <p:cNvSpPr/>
          <p:nvPr/>
        </p:nvSpPr>
        <p:spPr>
          <a:xfrm>
            <a:off x="7790688" y="4023359"/>
            <a:ext cx="585216"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3920" y="4023359"/>
            <a:ext cx="3136391" cy="914400"/>
          </a:xfrm>
          <a:prstGeom prst="rect">
            <a:avLst/>
          </a:prstGeom>
          <a:noFill/>
        </p:spPr>
        <p:txBody>
          <a:bodyPr wrap="square" anchor="t" lIns="0" rIns="0" tIns="0" bIns="0">
            <a:spAutoFit/>
          </a:bodyPr>
          <a:lstStyle/>
          <a:p>
            <a:r>
              <a:rPr sz="750" b="1" i="0" spc="80">
                <a:solidFill>
                  <a:srgbClr val="007582"/>
                </a:solidFill>
                <a:latin typeface="Open Sans"/>
              </a:rPr>
              <a:t>TRADE POLICY &amp; NEGOTIATIONS</a:t>
            </a:r>
          </a:p>
          <a:p>
            <a:pPr>
              <a:spcBef>
                <a:spcPts val="200"/>
              </a:spcBef>
            </a:pPr>
            <a:r>
              <a:rPr sz="1200" b="1" i="0">
                <a:solidFill>
                  <a:srgbClr val="0A314D"/>
                </a:solidFill>
                <a:latin typeface="Open Sans"/>
              </a:rPr>
              <a:t>Maxim Reshetnikov</a:t>
            </a:r>
          </a:p>
          <a:p>
            <a:pPr>
              <a:lnSpc>
                <a:spcPct val="104000"/>
              </a:lnSpc>
              <a:spcBef>
                <a:spcPts val="200"/>
              </a:spcBef>
            </a:pPr>
            <a:r>
              <a:rPr sz="900" b="0" i="1">
                <a:solidFill>
                  <a:srgbClr val="54606C"/>
                </a:solidFill>
                <a:latin typeface="Open Sans"/>
              </a:rPr>
              <a:t>Minister of Economic Development</a:t>
            </a:r>
          </a:p>
        </p:txBody>
      </p:sp>
      <p:sp>
        <p:nvSpPr>
          <p:cNvPr id="32" name="TextBox 31"/>
          <p:cNvSpPr txBox="1"/>
          <p:nvPr/>
        </p:nvSpPr>
        <p:spPr>
          <a:xfrm>
            <a:off x="7790688"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Economic Development of the Russian Federation (Minekonomrazvitiya)</a:t>
            </a:r>
            <a:r>
              <a:rPr sz="850" b="0" i="0">
                <a:solidFill>
                  <a:srgbClr val="757D87"/>
                </a:solidFill>
                <a:latin typeface="Open Sans"/>
              </a:rPr>
              <a:t>  ·  2020-01-21</a:t>
            </a:r>
          </a:p>
        </p:txBody>
      </p:sp>
      <p:sp>
        <p:nvSpPr>
          <p:cNvPr id="33" name="TextBox 32"/>
          <p:cNvSpPr txBox="1"/>
          <p:nvPr/>
        </p:nvSpPr>
        <p:spPr>
          <a:xfrm>
            <a:off x="7790688"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Maxim Reshetnikov has served as Russia's Minister of Economic Development since 21 January 2020 and was reappointed in May 2024. He previously headed Moscow's economic-policy department (2012-2017) and governed Perm Krai (2017-2020). His ministry directs macroeconomic policy and international trade negotiations.</a:t>
            </a:r>
          </a:p>
        </p:txBody>
      </p:sp>
      <p:cxnSp>
        <p:nvCxnSpPr>
          <p:cNvPr id="34" name="Connector 33"/>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6" name="TextBox 35"/>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7" name="TextBox 36"/>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14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audi-arabia.png"/>
          <p:cNvPicPr>
            <a:picLocks noChangeAspect="1"/>
          </p:cNvPicPr>
          <p:nvPr/>
        </p:nvPicPr>
        <p:blipFill>
          <a:blip r:embed="rId2"/>
          <a:stretch>
            <a:fillRect/>
          </a:stretch>
        </p:blipFill>
        <p:spPr>
          <a:xfrm>
            <a:off x="548640" y="329184"/>
            <a:ext cx="822960" cy="548640"/>
          </a:xfrm>
          <a:prstGeom prst="rect">
            <a:avLst/>
          </a:prstGeom>
        </p:spPr>
      </p:pic>
      <p:sp>
        <p:nvSpPr>
          <p:cNvPr id="4" name="Rectangle 3"/>
          <p:cNvSpPr/>
          <p:nvPr/>
        </p:nvSpPr>
        <p:spPr>
          <a:xfrm>
            <a:off x="548640" y="329184"/>
            <a:ext cx="822959"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Saudi Arabia</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$1,277.0B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+$59.9B</a:t>
            </a:r>
            <a:r>
              <a:rPr sz="950" b="0" i="0">
                <a:solidFill>
                  <a:srgbClr val="54606C"/>
                </a:solidFill>
                <a:latin typeface="Open Sans"/>
              </a:rPr>
              <a:t>  surplus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$14.1B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$10.5B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00833E"/>
                </a:solidFill>
                <a:latin typeface="Open Sans"/>
              </a:rPr>
              <a:t>+$3.6B</a:t>
            </a:r>
            <a:r>
              <a:rPr sz="950" b="0" i="0">
                <a:solidFill>
                  <a:srgbClr val="54606C"/>
                </a:solidFill>
                <a:latin typeface="Open Sans"/>
              </a:rPr>
              <a:t>  surplus</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a:t>
            </a:r>
          </a:p>
        </p:txBody>
      </p:sp>
      <p:pic>
        <p:nvPicPr>
          <p:cNvPr id="16" name="Picture 15" descr="saudi-alswaha.png"/>
          <p:cNvPicPr>
            <a:picLocks noChangeAspect="1"/>
          </p:cNvPicPr>
          <p:nvPr/>
        </p:nvPicPr>
        <p:blipFill>
          <a:blip r:embed="rId3"/>
          <a:stretch>
            <a:fillRect/>
          </a:stretch>
        </p:blipFill>
        <p:spPr>
          <a:xfrm>
            <a:off x="3611880" y="1408176"/>
            <a:ext cx="731520" cy="914400"/>
          </a:xfrm>
          <a:prstGeom prst="rect">
            <a:avLst/>
          </a:prstGeom>
        </p:spPr>
      </p:pic>
      <p:sp>
        <p:nvSpPr>
          <p:cNvPr id="17" name="Rectangle 16"/>
          <p:cNvSpPr/>
          <p:nvPr/>
        </p:nvSpPr>
        <p:spPr>
          <a:xfrm>
            <a:off x="3611880" y="1408176"/>
            <a:ext cx="731520"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7992" y="1408176"/>
            <a:ext cx="7132320" cy="256032"/>
          </a:xfrm>
          <a:prstGeom prst="rect">
            <a:avLst/>
          </a:prstGeom>
          <a:noFill/>
        </p:spPr>
        <p:txBody>
          <a:bodyPr wrap="square" anchor="t" lIns="0" rIns="0" tIns="0" bIns="0">
            <a:spAutoFit/>
          </a:bodyPr>
          <a:lstStyle/>
          <a:p>
            <a:r>
              <a:rPr sz="1400" b="1" i="0">
                <a:solidFill>
                  <a:srgbClr val="0A314D"/>
                </a:solidFill>
                <a:latin typeface="Open Sans"/>
              </a:rPr>
              <a:t>Abdullah bin Amer Alswaha</a:t>
            </a:r>
          </a:p>
        </p:txBody>
      </p:sp>
      <p:sp>
        <p:nvSpPr>
          <p:cNvPr id="19" name="TextBox 18"/>
          <p:cNvSpPr txBox="1"/>
          <p:nvPr/>
        </p:nvSpPr>
        <p:spPr>
          <a:xfrm>
            <a:off x="4507992" y="1682495"/>
            <a:ext cx="7132320"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Minister of Communications and Information Technology</a:t>
            </a:r>
          </a:p>
        </p:txBody>
      </p:sp>
      <p:sp>
        <p:nvSpPr>
          <p:cNvPr id="20" name="TextBox 19"/>
          <p:cNvSpPr txBox="1"/>
          <p:nvPr/>
        </p:nvSpPr>
        <p:spPr>
          <a:xfrm>
            <a:off x="4507992" y="2048256"/>
            <a:ext cx="7132320"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Ministry of Communications and Information Technology (MCIT)</a:t>
            </a:r>
            <a:r>
              <a:rPr sz="950" b="0" i="0">
                <a:solidFill>
                  <a:srgbClr val="757D87"/>
                </a:solidFill>
                <a:latin typeface="Open Sans"/>
              </a:rPr>
              <a:t>   ·   Assumed office: 2017-04-24</a:t>
            </a:r>
          </a:p>
        </p:txBody>
      </p:sp>
      <p:sp>
        <p:nvSpPr>
          <p:cNvPr id="21" name="TextBox 20"/>
          <p:cNvSpPr txBox="1"/>
          <p:nvPr/>
        </p:nvSpPr>
        <p:spPr>
          <a:xfrm>
            <a:off x="3611880" y="2377440"/>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Abdullah bin Amer Alswaha, a Saudi engineer, has been Minister of Communications and Information Technology since 24 April 2017 and remains in office in 2026 (the ministry publicly welcomed the 2026 budget under his name). He holds electrical-engineering and computer-science degrees from KFUPM and the University of Washington plus Harvard executive education. Before government he led Cisco Saudi Arabia as managing director, then served as the Kingdom's Chief Digital Officer.</a:t>
            </a:r>
          </a:p>
        </p:txBody>
      </p:sp>
      <p:cxnSp>
        <p:nvCxnSpPr>
          <p:cNvPr id="22" name="Connector 21"/>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  ·  SPLIT PORTFOLIO</a:t>
            </a:r>
          </a:p>
        </p:txBody>
      </p:sp>
      <p:pic>
        <p:nvPicPr>
          <p:cNvPr id="24" name="Picture 23" descr="_ph-saudi-alqasabi.png"/>
          <p:cNvPicPr>
            <a:picLocks noChangeAspect="1"/>
          </p:cNvPicPr>
          <p:nvPr/>
        </p:nvPicPr>
        <p:blipFill>
          <a:blip r:embed="rId4"/>
          <a:stretch>
            <a:fillRect/>
          </a:stretch>
        </p:blipFill>
        <p:spPr>
          <a:xfrm>
            <a:off x="3611880" y="4023359"/>
            <a:ext cx="585216" cy="731520"/>
          </a:xfrm>
          <a:prstGeom prst="rect">
            <a:avLst/>
          </a:prstGeom>
        </p:spPr>
      </p:pic>
      <p:sp>
        <p:nvSpPr>
          <p:cNvPr id="25" name="Rectangle 24"/>
          <p:cNvSpPr/>
          <p:nvPr/>
        </p:nvSpPr>
        <p:spPr>
          <a:xfrm>
            <a:off x="3611880" y="4023359"/>
            <a:ext cx="585216"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25112" y="4023359"/>
            <a:ext cx="3136391" cy="914400"/>
          </a:xfrm>
          <a:prstGeom prst="rect">
            <a:avLst/>
          </a:prstGeom>
          <a:noFill/>
        </p:spPr>
        <p:txBody>
          <a:bodyPr wrap="square" anchor="t" lIns="0" rIns="0" tIns="0" bIns="0">
            <a:spAutoFit/>
          </a:bodyPr>
          <a:lstStyle/>
          <a:p>
            <a:r>
              <a:rPr sz="750" b="1" i="0" spc="80">
                <a:solidFill>
                  <a:srgbClr val="007582"/>
                </a:solidFill>
                <a:latin typeface="Open Sans"/>
              </a:rPr>
              <a:t>COMMERCE MINISTER</a:t>
            </a:r>
          </a:p>
          <a:p>
            <a:pPr>
              <a:spcBef>
                <a:spcPts val="200"/>
              </a:spcBef>
            </a:pPr>
            <a:r>
              <a:rPr sz="1200" b="1" i="0">
                <a:solidFill>
                  <a:srgbClr val="0A314D"/>
                </a:solidFill>
                <a:latin typeface="Open Sans"/>
              </a:rPr>
              <a:t>Majid bin Abdullah Al-Qasabi</a:t>
            </a:r>
          </a:p>
          <a:p>
            <a:pPr>
              <a:lnSpc>
                <a:spcPct val="104000"/>
              </a:lnSpc>
              <a:spcBef>
                <a:spcPts val="200"/>
              </a:spcBef>
            </a:pPr>
            <a:r>
              <a:rPr sz="900" b="0" i="1">
                <a:solidFill>
                  <a:srgbClr val="54606C"/>
                </a:solidFill>
                <a:latin typeface="Open Sans"/>
              </a:rPr>
              <a:t>Minister of Commerce</a:t>
            </a:r>
          </a:p>
        </p:txBody>
      </p:sp>
      <p:sp>
        <p:nvSpPr>
          <p:cNvPr id="27" name="TextBox 26"/>
          <p:cNvSpPr txBox="1"/>
          <p:nvPr/>
        </p:nvSpPr>
        <p:spPr>
          <a:xfrm>
            <a:off x="3611880"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Commerce</a:t>
            </a:r>
            <a:r>
              <a:rPr sz="850" b="0" i="0">
                <a:solidFill>
                  <a:srgbClr val="757D87"/>
                </a:solidFill>
                <a:latin typeface="Open Sans"/>
              </a:rPr>
              <a:t>  ·  2016-05-07</a:t>
            </a:r>
          </a:p>
        </p:txBody>
      </p:sp>
      <p:sp>
        <p:nvSpPr>
          <p:cNvPr id="28" name="TextBox 27"/>
          <p:cNvSpPr txBox="1"/>
          <p:nvPr/>
        </p:nvSpPr>
        <p:spPr>
          <a:xfrm>
            <a:off x="3611880"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Majid bin Abdullah Al-Qasabi has been Saudi Arabia's Minister of Commerce since May 2016 and chairs the board of the General Authority for Foreign Trade, which handles WTO representation and trade negotiations. He previously served as acting Minister of Media (2020-2023).</a:t>
            </a:r>
          </a:p>
        </p:txBody>
      </p:sp>
      <p:pic>
        <p:nvPicPr>
          <p:cNvPr id="29" name="Picture 28" descr="saudi-abduljabbar.png"/>
          <p:cNvPicPr>
            <a:picLocks noChangeAspect="1"/>
          </p:cNvPicPr>
          <p:nvPr/>
        </p:nvPicPr>
        <p:blipFill>
          <a:blip r:embed="rId5"/>
          <a:stretch>
            <a:fillRect/>
          </a:stretch>
        </p:blipFill>
        <p:spPr>
          <a:xfrm>
            <a:off x="7790688" y="4023359"/>
            <a:ext cx="583738" cy="731520"/>
          </a:xfrm>
          <a:prstGeom prst="rect">
            <a:avLst/>
          </a:prstGeom>
        </p:spPr>
      </p:pic>
      <p:sp>
        <p:nvSpPr>
          <p:cNvPr id="30" name="Rectangle 29"/>
          <p:cNvSpPr/>
          <p:nvPr/>
        </p:nvSpPr>
        <p:spPr>
          <a:xfrm>
            <a:off x="7790688" y="4023359"/>
            <a:ext cx="583738"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2442" y="4023359"/>
            <a:ext cx="3137869" cy="914400"/>
          </a:xfrm>
          <a:prstGeom prst="rect">
            <a:avLst/>
          </a:prstGeom>
          <a:noFill/>
        </p:spPr>
        <p:txBody>
          <a:bodyPr wrap="square" anchor="t" lIns="0" rIns="0" tIns="0" bIns="0">
            <a:spAutoFit/>
          </a:bodyPr>
          <a:lstStyle/>
          <a:p>
            <a:r>
              <a:rPr sz="750" b="1" i="0" spc="80">
                <a:solidFill>
                  <a:srgbClr val="007582"/>
                </a:solidFill>
                <a:latin typeface="Open Sans"/>
              </a:rPr>
              <a:t>FOREIGN TRADE AUTHORITY (GAFT)</a:t>
            </a:r>
          </a:p>
          <a:p>
            <a:pPr>
              <a:spcBef>
                <a:spcPts val="200"/>
              </a:spcBef>
            </a:pPr>
            <a:r>
              <a:rPr sz="1200" b="1" i="0">
                <a:solidFill>
                  <a:srgbClr val="0A314D"/>
                </a:solidFill>
                <a:latin typeface="Open Sans"/>
              </a:rPr>
              <a:t>Mohammed bin Abdulaziz Al-Abduljabbar</a:t>
            </a:r>
            <a:r>
              <a:rPr sz="936" b="1" i="1">
                <a:solidFill>
                  <a:srgbClr val="D46127"/>
                </a:solidFill>
                <a:latin typeface="Open Sans"/>
              </a:rPr>
              <a:t>  · acting</a:t>
            </a:r>
          </a:p>
          <a:p>
            <a:pPr>
              <a:lnSpc>
                <a:spcPct val="104000"/>
              </a:lnSpc>
              <a:spcBef>
                <a:spcPts val="200"/>
              </a:spcBef>
            </a:pPr>
            <a:r>
              <a:rPr sz="900" b="0" i="1">
                <a:solidFill>
                  <a:srgbClr val="54606C"/>
                </a:solidFill>
                <a:latin typeface="Open Sans"/>
              </a:rPr>
              <a:t>Acting Governor, General Authority for Foreign Trade (GAFT)</a:t>
            </a:r>
          </a:p>
        </p:txBody>
      </p:sp>
      <p:sp>
        <p:nvSpPr>
          <p:cNvPr id="32" name="TextBox 31"/>
          <p:cNvSpPr txBox="1"/>
          <p:nvPr/>
        </p:nvSpPr>
        <p:spPr>
          <a:xfrm>
            <a:off x="7790688"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General Authority for Foreign Trade (GAFT)</a:t>
            </a:r>
          </a:p>
        </p:txBody>
      </p:sp>
      <p:sp>
        <p:nvSpPr>
          <p:cNvPr id="33" name="TextBox 32"/>
          <p:cNvSpPr txBox="1"/>
          <p:nvPr/>
        </p:nvSpPr>
        <p:spPr>
          <a:xfrm>
            <a:off x="7790688"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Mohammed bin Abdulaziz Al-Abduljabbar serves as Acting Governor of Saudi Arabia's General Authority for Foreign Trade (GAFT), which represents the Kingdom at the WTO, supervises the negotiating team and leads free-trade-agreement negotiations. GAFT's 2025-2026 communications list him in an acting capacity.</a:t>
            </a:r>
          </a:p>
        </p:txBody>
      </p:sp>
      <p:cxnSp>
        <p:nvCxnSpPr>
          <p:cNvPr id="34" name="Connector 33"/>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6" name="TextBox 35"/>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7" name="TextBox 36"/>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15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outh-korea.png"/>
          <p:cNvPicPr>
            <a:picLocks noChangeAspect="1"/>
          </p:cNvPicPr>
          <p:nvPr/>
        </p:nvPicPr>
        <p:blipFill>
          <a:blip r:embed="rId2"/>
          <a:stretch>
            <a:fillRect/>
          </a:stretch>
        </p:blipFill>
        <p:spPr>
          <a:xfrm>
            <a:off x="548640" y="329184"/>
            <a:ext cx="822960" cy="548640"/>
          </a:xfrm>
          <a:prstGeom prst="rect">
            <a:avLst/>
          </a:prstGeom>
        </p:spPr>
      </p:pic>
      <p:sp>
        <p:nvSpPr>
          <p:cNvPr id="4" name="Rectangle 3"/>
          <p:cNvSpPr/>
          <p:nvPr/>
        </p:nvSpPr>
        <p:spPr>
          <a:xfrm>
            <a:off x="548640" y="329184"/>
            <a:ext cx="822959"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South Korea</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$1,859.0B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+$78.0B</a:t>
            </a:r>
            <a:r>
              <a:rPr sz="950" b="0" i="0">
                <a:solidFill>
                  <a:srgbClr val="54606C"/>
                </a:solidFill>
                <a:latin typeface="Open Sans"/>
              </a:rPr>
              <a:t>  surplus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$68.8B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$125.2B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D46127"/>
                </a:solidFill>
                <a:latin typeface="Open Sans"/>
              </a:rPr>
              <a:t>−$56.4B</a:t>
            </a:r>
            <a:r>
              <a:rPr sz="950" b="0" i="0">
                <a:solidFill>
                  <a:srgbClr val="54606C"/>
                </a:solidFill>
                <a:latin typeface="Open Sans"/>
              </a:rPr>
              <a:t>  deficit</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a:t>
            </a:r>
          </a:p>
        </p:txBody>
      </p:sp>
      <p:pic>
        <p:nvPicPr>
          <p:cNvPr id="16" name="Picture 15" descr="korea-bae.png"/>
          <p:cNvPicPr>
            <a:picLocks noChangeAspect="1"/>
          </p:cNvPicPr>
          <p:nvPr/>
        </p:nvPicPr>
        <p:blipFill>
          <a:blip r:embed="rId3"/>
          <a:stretch>
            <a:fillRect/>
          </a:stretch>
        </p:blipFill>
        <p:spPr>
          <a:xfrm>
            <a:off x="3611880" y="1408176"/>
            <a:ext cx="733530" cy="914400"/>
          </a:xfrm>
          <a:prstGeom prst="rect">
            <a:avLst/>
          </a:prstGeom>
        </p:spPr>
      </p:pic>
      <p:sp>
        <p:nvSpPr>
          <p:cNvPr id="17" name="Rectangle 16"/>
          <p:cNvSpPr/>
          <p:nvPr/>
        </p:nvSpPr>
        <p:spPr>
          <a:xfrm>
            <a:off x="3611880" y="1408176"/>
            <a:ext cx="733529"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10001" y="1408176"/>
            <a:ext cx="7130310" cy="256032"/>
          </a:xfrm>
          <a:prstGeom prst="rect">
            <a:avLst/>
          </a:prstGeom>
          <a:noFill/>
        </p:spPr>
        <p:txBody>
          <a:bodyPr wrap="square" anchor="t" lIns="0" rIns="0" tIns="0" bIns="0">
            <a:spAutoFit/>
          </a:bodyPr>
          <a:lstStyle/>
          <a:p>
            <a:r>
              <a:rPr sz="1400" b="1" i="0">
                <a:solidFill>
                  <a:srgbClr val="0A314D"/>
                </a:solidFill>
                <a:latin typeface="Open Sans"/>
              </a:rPr>
              <a:t>Bae Kyung-hoon</a:t>
            </a:r>
          </a:p>
        </p:txBody>
      </p:sp>
      <p:sp>
        <p:nvSpPr>
          <p:cNvPr id="19" name="TextBox 18"/>
          <p:cNvSpPr txBox="1"/>
          <p:nvPr/>
        </p:nvSpPr>
        <p:spPr>
          <a:xfrm>
            <a:off x="4510001" y="1682495"/>
            <a:ext cx="7130310"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Deputy Prime Minister and Minister of Science and ICT</a:t>
            </a:r>
          </a:p>
        </p:txBody>
      </p:sp>
      <p:sp>
        <p:nvSpPr>
          <p:cNvPr id="20" name="TextBox 19"/>
          <p:cNvSpPr txBox="1"/>
          <p:nvPr/>
        </p:nvSpPr>
        <p:spPr>
          <a:xfrm>
            <a:off x="4510001" y="2048256"/>
            <a:ext cx="7130310"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Ministry of Science and ICT (MSIT)</a:t>
            </a:r>
            <a:r>
              <a:rPr sz="950" b="0" i="0">
                <a:solidFill>
                  <a:srgbClr val="757D87"/>
                </a:solidFill>
                <a:latin typeface="Open Sans"/>
              </a:rPr>
              <a:t>   ·   Assumed office: 2025-07-16</a:t>
            </a:r>
          </a:p>
        </p:txBody>
      </p:sp>
      <p:sp>
        <p:nvSpPr>
          <p:cNvPr id="21" name="TextBox 20"/>
          <p:cNvSpPr txBox="1"/>
          <p:nvPr/>
        </p:nvSpPr>
        <p:spPr>
          <a:xfrm>
            <a:off x="3611880" y="2377440"/>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Bae Kyung-hoon is an AI specialist who holds a PhD in computer vision (Kwangwoon University, 2006) and led LG AI Research, where he developed the Exaone large language model. President Lee Jae-myung appointed him Minister of Science and ICT on 16 July 2025; the post was later elevated to Deputy Prime Minister rank.</a:t>
            </a:r>
          </a:p>
        </p:txBody>
      </p:sp>
      <p:cxnSp>
        <p:nvCxnSpPr>
          <p:cNvPr id="22" name="Connector 21"/>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  ·  SPLIT PORTFOLIO</a:t>
            </a:r>
          </a:p>
        </p:txBody>
      </p:sp>
      <p:pic>
        <p:nvPicPr>
          <p:cNvPr id="24" name="Picture 23" descr="korea-kim.png"/>
          <p:cNvPicPr>
            <a:picLocks noChangeAspect="1"/>
          </p:cNvPicPr>
          <p:nvPr/>
        </p:nvPicPr>
        <p:blipFill>
          <a:blip r:embed="rId4"/>
          <a:stretch>
            <a:fillRect/>
          </a:stretch>
        </p:blipFill>
        <p:spPr>
          <a:xfrm>
            <a:off x="3611880" y="4023359"/>
            <a:ext cx="585216" cy="731520"/>
          </a:xfrm>
          <a:prstGeom prst="rect">
            <a:avLst/>
          </a:prstGeom>
        </p:spPr>
      </p:pic>
      <p:sp>
        <p:nvSpPr>
          <p:cNvPr id="25" name="Rectangle 24"/>
          <p:cNvSpPr/>
          <p:nvPr/>
        </p:nvSpPr>
        <p:spPr>
          <a:xfrm>
            <a:off x="3611880" y="4023359"/>
            <a:ext cx="585216"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25112" y="4023359"/>
            <a:ext cx="3136391" cy="914400"/>
          </a:xfrm>
          <a:prstGeom prst="rect">
            <a:avLst/>
          </a:prstGeom>
          <a:noFill/>
        </p:spPr>
        <p:txBody>
          <a:bodyPr wrap="square" anchor="t" lIns="0" rIns="0" tIns="0" bIns="0">
            <a:spAutoFit/>
          </a:bodyPr>
          <a:lstStyle/>
          <a:p>
            <a:r>
              <a:rPr sz="750" b="1" i="0" spc="80">
                <a:solidFill>
                  <a:srgbClr val="007582"/>
                </a:solidFill>
                <a:latin typeface="Open Sans"/>
              </a:rPr>
              <a:t>TRADE, INDUSTRY &amp; RESOURCES</a:t>
            </a:r>
          </a:p>
          <a:p>
            <a:pPr>
              <a:spcBef>
                <a:spcPts val="200"/>
              </a:spcBef>
            </a:pPr>
            <a:r>
              <a:rPr sz="1200" b="1" i="0">
                <a:solidFill>
                  <a:srgbClr val="0A314D"/>
                </a:solidFill>
                <a:latin typeface="Open Sans"/>
              </a:rPr>
              <a:t>Kim Jung-kwan</a:t>
            </a:r>
          </a:p>
          <a:p>
            <a:pPr>
              <a:lnSpc>
                <a:spcPct val="104000"/>
              </a:lnSpc>
              <a:spcBef>
                <a:spcPts val="200"/>
              </a:spcBef>
            </a:pPr>
            <a:r>
              <a:rPr sz="900" b="0" i="1">
                <a:solidFill>
                  <a:srgbClr val="54606C"/>
                </a:solidFill>
                <a:latin typeface="Open Sans"/>
              </a:rPr>
              <a:t>Minister of Trade, Industry and Resources</a:t>
            </a:r>
          </a:p>
        </p:txBody>
      </p:sp>
      <p:sp>
        <p:nvSpPr>
          <p:cNvPr id="27" name="TextBox 26"/>
          <p:cNvSpPr txBox="1"/>
          <p:nvPr/>
        </p:nvSpPr>
        <p:spPr>
          <a:xfrm>
            <a:off x="3611880"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Trade, Industry and Resources (MOTIR)</a:t>
            </a:r>
            <a:r>
              <a:rPr sz="850" b="0" i="0">
                <a:solidFill>
                  <a:srgbClr val="757D87"/>
                </a:solidFill>
                <a:latin typeface="Open Sans"/>
              </a:rPr>
              <a:t>  ·  2025-07</a:t>
            </a:r>
          </a:p>
        </p:txBody>
      </p:sp>
      <p:sp>
        <p:nvSpPr>
          <p:cNvPr id="28" name="TextBox 27"/>
          <p:cNvSpPr txBox="1"/>
          <p:nvPr/>
        </p:nvSpPr>
        <p:spPr>
          <a:xfrm>
            <a:off x="3611880"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Kim Jung-kwan, a finance technocrat who served at Korea's Ministry of Economy and Finance, the Bank of Korea and the World Bank and led Doosan Enerbility, was nominated by President Lee and took office in July 2025 heading the renamed MOTIR.</a:t>
            </a:r>
          </a:p>
        </p:txBody>
      </p:sp>
      <p:pic>
        <p:nvPicPr>
          <p:cNvPr id="29" name="Picture 28" descr="korea-yeo.png"/>
          <p:cNvPicPr>
            <a:picLocks noChangeAspect="1"/>
          </p:cNvPicPr>
          <p:nvPr/>
        </p:nvPicPr>
        <p:blipFill>
          <a:blip r:embed="rId5"/>
          <a:stretch>
            <a:fillRect/>
          </a:stretch>
        </p:blipFill>
        <p:spPr>
          <a:xfrm>
            <a:off x="7790688" y="4023359"/>
            <a:ext cx="585216" cy="731520"/>
          </a:xfrm>
          <a:prstGeom prst="rect">
            <a:avLst/>
          </a:prstGeom>
        </p:spPr>
      </p:pic>
      <p:sp>
        <p:nvSpPr>
          <p:cNvPr id="30" name="Rectangle 29"/>
          <p:cNvSpPr/>
          <p:nvPr/>
        </p:nvSpPr>
        <p:spPr>
          <a:xfrm>
            <a:off x="7790688" y="4023359"/>
            <a:ext cx="585216"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3920" y="4023359"/>
            <a:ext cx="3136391" cy="914400"/>
          </a:xfrm>
          <a:prstGeom prst="rect">
            <a:avLst/>
          </a:prstGeom>
          <a:noFill/>
        </p:spPr>
        <p:txBody>
          <a:bodyPr wrap="square" anchor="t" lIns="0" rIns="0" tIns="0" bIns="0">
            <a:spAutoFit/>
          </a:bodyPr>
          <a:lstStyle/>
          <a:p>
            <a:r>
              <a:rPr sz="750" b="1" i="0" spc="80">
                <a:solidFill>
                  <a:srgbClr val="007582"/>
                </a:solidFill>
                <a:latin typeface="Open Sans"/>
              </a:rPr>
              <a:t>TRADE NEGOTIATIONS</a:t>
            </a:r>
          </a:p>
          <a:p>
            <a:pPr>
              <a:spcBef>
                <a:spcPts val="200"/>
              </a:spcBef>
            </a:pPr>
            <a:r>
              <a:rPr sz="1200" b="1" i="0">
                <a:solidFill>
                  <a:srgbClr val="0A314D"/>
                </a:solidFill>
                <a:latin typeface="Open Sans"/>
              </a:rPr>
              <a:t>Yeo Han-koo</a:t>
            </a:r>
          </a:p>
          <a:p>
            <a:pPr>
              <a:lnSpc>
                <a:spcPct val="104000"/>
              </a:lnSpc>
              <a:spcBef>
                <a:spcPts val="200"/>
              </a:spcBef>
            </a:pPr>
            <a:r>
              <a:rPr sz="900" b="0" i="1">
                <a:solidFill>
                  <a:srgbClr val="54606C"/>
                </a:solidFill>
                <a:latin typeface="Open Sans"/>
              </a:rPr>
              <a:t>Minister for Trade (Head of the Office of Trade Negotiations)</a:t>
            </a:r>
          </a:p>
        </p:txBody>
      </p:sp>
      <p:sp>
        <p:nvSpPr>
          <p:cNvPr id="32" name="TextBox 31"/>
          <p:cNvSpPr txBox="1"/>
          <p:nvPr/>
        </p:nvSpPr>
        <p:spPr>
          <a:xfrm>
            <a:off x="7790688"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Ministry of Trade, Industry and Resources (MOTIR)</a:t>
            </a:r>
            <a:r>
              <a:rPr sz="850" b="0" i="0">
                <a:solidFill>
                  <a:srgbClr val="757D87"/>
                </a:solidFill>
                <a:latin typeface="Open Sans"/>
              </a:rPr>
              <a:t>  ·  2025-06</a:t>
            </a:r>
          </a:p>
        </p:txBody>
      </p:sp>
      <p:sp>
        <p:nvSpPr>
          <p:cNvPr id="33" name="TextBox 32"/>
          <p:cNvSpPr txBox="1"/>
          <p:nvPr/>
        </p:nvSpPr>
        <p:spPr>
          <a:xfrm>
            <a:off x="7790688"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Yeo Han-koo, with nearly three decades of public service, was appointed South Korea's Minister for Trade in mid-2025 under President Lee. Previously chief trade negotiator in 2021-2022 and a Peterson Institute senior fellow, he leads tariff talks with the United States.</a:t>
            </a:r>
          </a:p>
        </p:txBody>
      </p:sp>
      <p:cxnSp>
        <p:nvCxnSpPr>
          <p:cNvPr id="34" name="Connector 33"/>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6" name="TextBox 35"/>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7" name="TextBox 36"/>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16 / 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urkiye.png"/>
          <p:cNvPicPr>
            <a:picLocks noChangeAspect="1"/>
          </p:cNvPicPr>
          <p:nvPr/>
        </p:nvPicPr>
        <p:blipFill>
          <a:blip r:embed="rId2"/>
          <a:stretch>
            <a:fillRect/>
          </a:stretch>
        </p:blipFill>
        <p:spPr>
          <a:xfrm>
            <a:off x="548640" y="329184"/>
            <a:ext cx="822960" cy="548640"/>
          </a:xfrm>
          <a:prstGeom prst="rect">
            <a:avLst/>
          </a:prstGeom>
        </p:spPr>
      </p:pic>
      <p:sp>
        <p:nvSpPr>
          <p:cNvPr id="4" name="Rectangle 3"/>
          <p:cNvSpPr/>
          <p:nvPr/>
        </p:nvSpPr>
        <p:spPr>
          <a:xfrm>
            <a:off x="548640" y="329184"/>
            <a:ext cx="822959"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Türkiye</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$1,565.0B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−$92.0B</a:t>
            </a:r>
            <a:r>
              <a:rPr sz="950" b="0" i="0">
                <a:solidFill>
                  <a:srgbClr val="54606C"/>
                </a:solidFill>
                <a:latin typeface="Open Sans"/>
              </a:rPr>
              <a:t>  deficit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$20.4B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$16.4B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00833E"/>
                </a:solidFill>
                <a:latin typeface="Open Sans"/>
              </a:rPr>
              <a:t>+$4.0B</a:t>
            </a:r>
            <a:r>
              <a:rPr sz="950" b="0" i="0">
                <a:solidFill>
                  <a:srgbClr val="54606C"/>
                </a:solidFill>
                <a:latin typeface="Open Sans"/>
              </a:rPr>
              <a:t>  surplus</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a:t>
            </a:r>
          </a:p>
        </p:txBody>
      </p:sp>
      <p:pic>
        <p:nvPicPr>
          <p:cNvPr id="16" name="Picture 15" descr="turkiye-kacir.png"/>
          <p:cNvPicPr>
            <a:picLocks noChangeAspect="1"/>
          </p:cNvPicPr>
          <p:nvPr/>
        </p:nvPicPr>
        <p:blipFill>
          <a:blip r:embed="rId3"/>
          <a:stretch>
            <a:fillRect/>
          </a:stretch>
        </p:blipFill>
        <p:spPr>
          <a:xfrm>
            <a:off x="3611880" y="1408176"/>
            <a:ext cx="731520" cy="914400"/>
          </a:xfrm>
          <a:prstGeom prst="rect">
            <a:avLst/>
          </a:prstGeom>
        </p:spPr>
      </p:pic>
      <p:sp>
        <p:nvSpPr>
          <p:cNvPr id="17" name="Rectangle 16"/>
          <p:cNvSpPr/>
          <p:nvPr/>
        </p:nvSpPr>
        <p:spPr>
          <a:xfrm>
            <a:off x="3611880" y="1408176"/>
            <a:ext cx="731520"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7992" y="1408176"/>
            <a:ext cx="7132320" cy="256032"/>
          </a:xfrm>
          <a:prstGeom prst="rect">
            <a:avLst/>
          </a:prstGeom>
          <a:noFill/>
        </p:spPr>
        <p:txBody>
          <a:bodyPr wrap="square" anchor="t" lIns="0" rIns="0" tIns="0" bIns="0">
            <a:spAutoFit/>
          </a:bodyPr>
          <a:lstStyle/>
          <a:p>
            <a:r>
              <a:rPr sz="1400" b="1" i="0">
                <a:solidFill>
                  <a:srgbClr val="0A314D"/>
                </a:solidFill>
                <a:latin typeface="Open Sans"/>
              </a:rPr>
              <a:t>Mehmet Fatih Kacır</a:t>
            </a:r>
          </a:p>
        </p:txBody>
      </p:sp>
      <p:sp>
        <p:nvSpPr>
          <p:cNvPr id="19" name="TextBox 18"/>
          <p:cNvSpPr txBox="1"/>
          <p:nvPr/>
        </p:nvSpPr>
        <p:spPr>
          <a:xfrm>
            <a:off x="4507992" y="1682495"/>
            <a:ext cx="7132320"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Minister of Industry and Technology</a:t>
            </a:r>
          </a:p>
        </p:txBody>
      </p:sp>
      <p:sp>
        <p:nvSpPr>
          <p:cNvPr id="20" name="TextBox 19"/>
          <p:cNvSpPr txBox="1"/>
          <p:nvPr/>
        </p:nvSpPr>
        <p:spPr>
          <a:xfrm>
            <a:off x="4507992" y="2048256"/>
            <a:ext cx="7132320"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Ministry of Industry and Technology (Sanayi ve Teknoloji Bakanlığı)</a:t>
            </a:r>
            <a:r>
              <a:rPr sz="950" b="0" i="0">
                <a:solidFill>
                  <a:srgbClr val="757D87"/>
                </a:solidFill>
                <a:latin typeface="Open Sans"/>
              </a:rPr>
              <a:t>   ·   Assumed office: 2023-06-03</a:t>
            </a:r>
          </a:p>
        </p:txBody>
      </p:sp>
      <p:sp>
        <p:nvSpPr>
          <p:cNvPr id="21" name="TextBox 20"/>
          <p:cNvSpPr txBox="1"/>
          <p:nvPr/>
        </p:nvSpPr>
        <p:spPr>
          <a:xfrm>
            <a:off x="3611880" y="2377440"/>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Mehmet Fatih Kacır (born 16 October 1984) became Minister of Industry and Technology on 3 June 2023, having previously served as a deputy minister in the same ministry. An industrial engineering graduate of Boğaziçi University (2008), he co-founded and chaired the T3 Foundation until 2018 and helped launch TEKNOFEST and the DENEYAP technology workshops.</a:t>
            </a:r>
          </a:p>
          <a:p>
            <a:pPr>
              <a:spcBef>
                <a:spcPts val="500"/>
              </a:spcBef>
            </a:pPr>
            <a:r>
              <a:rPr sz="900" b="0" i="1">
                <a:solidFill>
                  <a:srgbClr val="54606C"/>
                </a:solidFill>
                <a:latin typeface="Open Sans"/>
              </a:rPr>
              <a:t>No standalone digital ministry: cybersecurity (Önal, Cybersecurity Presidency) and telecom/digital infrastructure (Uraloğlu, Transport &amp; Infrastructure) sit outside the Industry &amp; Technology Ministry.</a:t>
            </a:r>
          </a:p>
        </p:txBody>
      </p:sp>
      <p:cxnSp>
        <p:nvCxnSpPr>
          <p:cNvPr id="22" name="Connector 21"/>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a:t>
            </a:r>
          </a:p>
        </p:txBody>
      </p:sp>
      <p:pic>
        <p:nvPicPr>
          <p:cNvPr id="24" name="Picture 23" descr="turkiye-bolat.png"/>
          <p:cNvPicPr>
            <a:picLocks noChangeAspect="1"/>
          </p:cNvPicPr>
          <p:nvPr/>
        </p:nvPicPr>
        <p:blipFill>
          <a:blip r:embed="rId4"/>
          <a:stretch>
            <a:fillRect/>
          </a:stretch>
        </p:blipFill>
        <p:spPr>
          <a:xfrm>
            <a:off x="3611880" y="4041648"/>
            <a:ext cx="731520" cy="914400"/>
          </a:xfrm>
          <a:prstGeom prst="rect">
            <a:avLst/>
          </a:prstGeom>
        </p:spPr>
      </p:pic>
      <p:sp>
        <p:nvSpPr>
          <p:cNvPr id="25" name="Rectangle 24"/>
          <p:cNvSpPr/>
          <p:nvPr/>
        </p:nvSpPr>
        <p:spPr>
          <a:xfrm>
            <a:off x="3611880" y="4041648"/>
            <a:ext cx="731520"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07992" y="4041648"/>
            <a:ext cx="7132320" cy="256032"/>
          </a:xfrm>
          <a:prstGeom prst="rect">
            <a:avLst/>
          </a:prstGeom>
          <a:noFill/>
        </p:spPr>
        <p:txBody>
          <a:bodyPr wrap="square" anchor="t" lIns="0" rIns="0" tIns="0" bIns="0">
            <a:spAutoFit/>
          </a:bodyPr>
          <a:lstStyle/>
          <a:p>
            <a:r>
              <a:rPr sz="1400" b="1" i="0">
                <a:solidFill>
                  <a:srgbClr val="0A314D"/>
                </a:solidFill>
                <a:latin typeface="Open Sans"/>
              </a:rPr>
              <a:t>Ömer Bolat</a:t>
            </a:r>
          </a:p>
        </p:txBody>
      </p:sp>
      <p:sp>
        <p:nvSpPr>
          <p:cNvPr id="27" name="TextBox 26"/>
          <p:cNvSpPr txBox="1"/>
          <p:nvPr/>
        </p:nvSpPr>
        <p:spPr>
          <a:xfrm>
            <a:off x="4507992" y="4315968"/>
            <a:ext cx="7132320"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Minister of Trade</a:t>
            </a:r>
          </a:p>
        </p:txBody>
      </p:sp>
      <p:sp>
        <p:nvSpPr>
          <p:cNvPr id="28" name="TextBox 27"/>
          <p:cNvSpPr txBox="1"/>
          <p:nvPr/>
        </p:nvSpPr>
        <p:spPr>
          <a:xfrm>
            <a:off x="4507992" y="4681727"/>
            <a:ext cx="7132320"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Ministry of Trade (Ticaret Bakanlığı)</a:t>
            </a:r>
            <a:r>
              <a:rPr sz="950" b="0" i="0">
                <a:solidFill>
                  <a:srgbClr val="757D87"/>
                </a:solidFill>
                <a:latin typeface="Open Sans"/>
              </a:rPr>
              <a:t>   ·   Assumed office: 2023-06-03</a:t>
            </a:r>
          </a:p>
        </p:txBody>
      </p:sp>
      <p:sp>
        <p:nvSpPr>
          <p:cNvPr id="29" name="TextBox 28"/>
          <p:cNvSpPr txBox="1"/>
          <p:nvPr/>
        </p:nvSpPr>
        <p:spPr>
          <a:xfrm>
            <a:off x="3611880" y="5010912"/>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Prof. Dr. Ömer Bolat (born 30 August 1963, Istanbul) has been Minister of Trade since the cabinet formed after Türkiye's May 2023 elections. He graduated from Marmara University's Faculty of Economics and Administrative Sciences in international economic relations, becoming associate professor in 2014 and professor in 2019. Before politics he was General Coordinator/CEO of the Albayrak Group for about 23 years and chaired the MÜSİAD business association.</a:t>
            </a:r>
          </a:p>
        </p:txBody>
      </p:sp>
      <p:cxnSp>
        <p:nvCxnSpPr>
          <p:cNvPr id="30" name="Connector 29"/>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2" name="TextBox 31"/>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3" name="TextBox 32"/>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17 / 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ted-kingdom.png"/>
          <p:cNvPicPr>
            <a:picLocks noChangeAspect="1"/>
          </p:cNvPicPr>
          <p:nvPr/>
        </p:nvPicPr>
        <p:blipFill>
          <a:blip r:embed="rId2"/>
          <a:stretch>
            <a:fillRect/>
          </a:stretch>
        </p:blipFill>
        <p:spPr>
          <a:xfrm>
            <a:off x="548640" y="329184"/>
            <a:ext cx="1097280" cy="548640"/>
          </a:xfrm>
          <a:prstGeom prst="rect">
            <a:avLst/>
          </a:prstGeom>
        </p:spPr>
      </p:pic>
      <p:sp>
        <p:nvSpPr>
          <p:cNvPr id="4" name="Rectangle 3"/>
          <p:cNvSpPr/>
          <p:nvPr/>
        </p:nvSpPr>
        <p:spPr>
          <a:xfrm>
            <a:off x="548640" y="329184"/>
            <a:ext cx="1097280"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United Kingdom</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$3,959.0B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−$319.2B</a:t>
            </a:r>
            <a:r>
              <a:rPr sz="950" b="0" i="0">
                <a:solidFill>
                  <a:srgbClr val="54606C"/>
                </a:solidFill>
                <a:latin typeface="Open Sans"/>
              </a:rPr>
              <a:t>  deficit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$97.0B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$64.8B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00833E"/>
                </a:solidFill>
                <a:latin typeface="Open Sans"/>
              </a:rPr>
              <a:t>+$32.2B</a:t>
            </a:r>
            <a:r>
              <a:rPr sz="950" b="0" i="0">
                <a:solidFill>
                  <a:srgbClr val="54606C"/>
                </a:solidFill>
                <a:latin typeface="Open Sans"/>
              </a:rPr>
              <a:t>  surplus</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a:t>
            </a:r>
          </a:p>
        </p:txBody>
      </p:sp>
      <p:pic>
        <p:nvPicPr>
          <p:cNvPr id="16" name="Picture 15" descr="uk-kendall.png"/>
          <p:cNvPicPr>
            <a:picLocks noChangeAspect="1"/>
          </p:cNvPicPr>
          <p:nvPr/>
        </p:nvPicPr>
        <p:blipFill>
          <a:blip r:embed="rId3"/>
          <a:stretch>
            <a:fillRect/>
          </a:stretch>
        </p:blipFill>
        <p:spPr>
          <a:xfrm>
            <a:off x="3611880" y="1408176"/>
            <a:ext cx="731520" cy="914400"/>
          </a:xfrm>
          <a:prstGeom prst="rect">
            <a:avLst/>
          </a:prstGeom>
        </p:spPr>
      </p:pic>
      <p:sp>
        <p:nvSpPr>
          <p:cNvPr id="17" name="Rectangle 16"/>
          <p:cNvSpPr/>
          <p:nvPr/>
        </p:nvSpPr>
        <p:spPr>
          <a:xfrm>
            <a:off x="3611880" y="1408176"/>
            <a:ext cx="731520"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7992" y="1408176"/>
            <a:ext cx="7132320" cy="256032"/>
          </a:xfrm>
          <a:prstGeom prst="rect">
            <a:avLst/>
          </a:prstGeom>
          <a:noFill/>
        </p:spPr>
        <p:txBody>
          <a:bodyPr wrap="square" anchor="t" lIns="0" rIns="0" tIns="0" bIns="0">
            <a:spAutoFit/>
          </a:bodyPr>
          <a:lstStyle/>
          <a:p>
            <a:r>
              <a:rPr sz="1400" b="1" i="0">
                <a:solidFill>
                  <a:srgbClr val="0A314D"/>
                </a:solidFill>
                <a:latin typeface="Open Sans"/>
              </a:rPr>
              <a:t>Liz Kendall</a:t>
            </a:r>
          </a:p>
        </p:txBody>
      </p:sp>
      <p:sp>
        <p:nvSpPr>
          <p:cNvPr id="19" name="TextBox 18"/>
          <p:cNvSpPr txBox="1"/>
          <p:nvPr/>
        </p:nvSpPr>
        <p:spPr>
          <a:xfrm>
            <a:off x="4507992" y="1682495"/>
            <a:ext cx="7132320"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Secretary of State for Science, Innovation and Technology</a:t>
            </a:r>
          </a:p>
        </p:txBody>
      </p:sp>
      <p:sp>
        <p:nvSpPr>
          <p:cNvPr id="20" name="TextBox 19"/>
          <p:cNvSpPr txBox="1"/>
          <p:nvPr/>
        </p:nvSpPr>
        <p:spPr>
          <a:xfrm>
            <a:off x="4507992" y="2048256"/>
            <a:ext cx="7132320"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Department for Science, Innovation and Technology (DSIT)</a:t>
            </a:r>
            <a:r>
              <a:rPr sz="950" b="0" i="0">
                <a:solidFill>
                  <a:srgbClr val="757D87"/>
                </a:solidFill>
                <a:latin typeface="Open Sans"/>
              </a:rPr>
              <a:t>   ·   Assumed office: 2025-09-05</a:t>
            </a:r>
          </a:p>
        </p:txBody>
      </p:sp>
      <p:sp>
        <p:nvSpPr>
          <p:cNvPr id="21" name="TextBox 20"/>
          <p:cNvSpPr txBox="1"/>
          <p:nvPr/>
        </p:nvSpPr>
        <p:spPr>
          <a:xfrm>
            <a:off x="3611880" y="2377440"/>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Liz Kendall is the Labour MP for Leicester West, first elected in 2010. She contested the 2015 Labour leadership election and held several shadow ministerial roles. After Labour's 2024 general election win she served as Secretary of State for Work and Pensions (July 2024 to September 2025).</a:t>
            </a:r>
          </a:p>
          <a:p>
            <a:pPr>
              <a:spcBef>
                <a:spcPts val="500"/>
              </a:spcBef>
            </a:pPr>
            <a:r>
              <a:rPr sz="900" b="0" i="1">
                <a:solidFill>
                  <a:srgbClr val="54606C"/>
                </a:solidFill>
                <a:latin typeface="Open Sans"/>
              </a:rPr>
              <a:t>Also: Ian Murray (Minister of State (Minister for Digital Government and Data)); Kanishka Narayan (Parliamentary Under-Secretary of State (Minister for AI and Online Safety))</a:t>
            </a:r>
          </a:p>
        </p:txBody>
      </p:sp>
      <p:cxnSp>
        <p:nvCxnSpPr>
          <p:cNvPr id="22" name="Connector 21"/>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  ·  SPLIT PORTFOLIO</a:t>
            </a:r>
          </a:p>
        </p:txBody>
      </p:sp>
      <p:pic>
        <p:nvPicPr>
          <p:cNvPr id="24" name="Picture 23" descr="uk-kyle.png"/>
          <p:cNvPicPr>
            <a:picLocks noChangeAspect="1"/>
          </p:cNvPicPr>
          <p:nvPr/>
        </p:nvPicPr>
        <p:blipFill>
          <a:blip r:embed="rId4"/>
          <a:stretch>
            <a:fillRect/>
          </a:stretch>
        </p:blipFill>
        <p:spPr>
          <a:xfrm>
            <a:off x="3611880" y="4023359"/>
            <a:ext cx="585216" cy="731520"/>
          </a:xfrm>
          <a:prstGeom prst="rect">
            <a:avLst/>
          </a:prstGeom>
        </p:spPr>
      </p:pic>
      <p:sp>
        <p:nvSpPr>
          <p:cNvPr id="25" name="Rectangle 24"/>
          <p:cNvSpPr/>
          <p:nvPr/>
        </p:nvSpPr>
        <p:spPr>
          <a:xfrm>
            <a:off x="3611880" y="4023359"/>
            <a:ext cx="585216"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25112" y="4023359"/>
            <a:ext cx="3136391" cy="914400"/>
          </a:xfrm>
          <a:prstGeom prst="rect">
            <a:avLst/>
          </a:prstGeom>
          <a:noFill/>
        </p:spPr>
        <p:txBody>
          <a:bodyPr wrap="square" anchor="t" lIns="0" rIns="0" tIns="0" bIns="0">
            <a:spAutoFit/>
          </a:bodyPr>
          <a:lstStyle/>
          <a:p>
            <a:r>
              <a:rPr sz="750" b="1" i="0" spc="80">
                <a:solidFill>
                  <a:srgbClr val="007582"/>
                </a:solidFill>
                <a:latin typeface="Open Sans"/>
              </a:rPr>
              <a:t>SECRETARY OF STATE · BOARD OF TRADE</a:t>
            </a:r>
          </a:p>
          <a:p>
            <a:pPr>
              <a:spcBef>
                <a:spcPts val="200"/>
              </a:spcBef>
            </a:pPr>
            <a:r>
              <a:rPr sz="1200" b="1" i="0">
                <a:solidFill>
                  <a:srgbClr val="0A314D"/>
                </a:solidFill>
                <a:latin typeface="Open Sans"/>
              </a:rPr>
              <a:t>Peter Kyle</a:t>
            </a:r>
          </a:p>
          <a:p>
            <a:pPr>
              <a:lnSpc>
                <a:spcPct val="104000"/>
              </a:lnSpc>
              <a:spcBef>
                <a:spcPts val="200"/>
              </a:spcBef>
            </a:pPr>
            <a:r>
              <a:rPr sz="900" b="0" i="1">
                <a:solidFill>
                  <a:srgbClr val="54606C"/>
                </a:solidFill>
                <a:latin typeface="Open Sans"/>
              </a:rPr>
              <a:t>Secretary of State for Business and Trade, and President of the Board of Trade</a:t>
            </a:r>
          </a:p>
        </p:txBody>
      </p:sp>
      <p:sp>
        <p:nvSpPr>
          <p:cNvPr id="27" name="TextBox 26"/>
          <p:cNvSpPr txBox="1"/>
          <p:nvPr/>
        </p:nvSpPr>
        <p:spPr>
          <a:xfrm>
            <a:off x="3611880"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Department for Business and Trade (DBT)</a:t>
            </a:r>
            <a:r>
              <a:rPr sz="850" b="0" i="0">
                <a:solidFill>
                  <a:srgbClr val="757D87"/>
                </a:solidFill>
                <a:latin typeface="Open Sans"/>
              </a:rPr>
              <a:t>  ·  2025-09-05</a:t>
            </a:r>
          </a:p>
        </p:txBody>
      </p:sp>
      <p:sp>
        <p:nvSpPr>
          <p:cNvPr id="28" name="TextBox 27"/>
          <p:cNvSpPr txBox="1"/>
          <p:nvPr/>
        </p:nvSpPr>
        <p:spPr>
          <a:xfrm>
            <a:off x="3611880"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Peter Kyle, Labour MP for Hove and Portslade since 2015, became Secretary of State for Business and Trade and President of the Board of Trade in the September 2025 reshuffle. He was previously Science, Innovation and Technology Secretary (2024-2025).</a:t>
            </a:r>
          </a:p>
        </p:txBody>
      </p:sp>
      <p:pic>
        <p:nvPicPr>
          <p:cNvPr id="29" name="Picture 28" descr="uk-bryant.png"/>
          <p:cNvPicPr>
            <a:picLocks noChangeAspect="1"/>
          </p:cNvPicPr>
          <p:nvPr/>
        </p:nvPicPr>
        <p:blipFill>
          <a:blip r:embed="rId5"/>
          <a:stretch>
            <a:fillRect/>
          </a:stretch>
        </p:blipFill>
        <p:spPr>
          <a:xfrm>
            <a:off x="7790688" y="4023359"/>
            <a:ext cx="585216" cy="731520"/>
          </a:xfrm>
          <a:prstGeom prst="rect">
            <a:avLst/>
          </a:prstGeom>
        </p:spPr>
      </p:pic>
      <p:sp>
        <p:nvSpPr>
          <p:cNvPr id="30" name="Rectangle 29"/>
          <p:cNvSpPr/>
          <p:nvPr/>
        </p:nvSpPr>
        <p:spPr>
          <a:xfrm>
            <a:off x="7790688" y="4023359"/>
            <a:ext cx="585216"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3920" y="4023359"/>
            <a:ext cx="3136391" cy="914400"/>
          </a:xfrm>
          <a:prstGeom prst="rect">
            <a:avLst/>
          </a:prstGeom>
          <a:noFill/>
        </p:spPr>
        <p:txBody>
          <a:bodyPr wrap="square" anchor="t" lIns="0" rIns="0" tIns="0" bIns="0">
            <a:spAutoFit/>
          </a:bodyPr>
          <a:lstStyle/>
          <a:p>
            <a:r>
              <a:rPr sz="750" b="1" i="0" spc="80">
                <a:solidFill>
                  <a:srgbClr val="007582"/>
                </a:solidFill>
                <a:latin typeface="Open Sans"/>
              </a:rPr>
              <a:t>TRADE POLICY &amp; ECONOMIC SECURITY</a:t>
            </a:r>
          </a:p>
          <a:p>
            <a:pPr>
              <a:spcBef>
                <a:spcPts val="200"/>
              </a:spcBef>
            </a:pPr>
            <a:r>
              <a:rPr sz="1200" b="1" i="0">
                <a:solidFill>
                  <a:srgbClr val="0A314D"/>
                </a:solidFill>
                <a:latin typeface="Open Sans"/>
              </a:rPr>
              <a:t>Chris Bryant</a:t>
            </a:r>
          </a:p>
          <a:p>
            <a:pPr>
              <a:lnSpc>
                <a:spcPct val="104000"/>
              </a:lnSpc>
              <a:spcBef>
                <a:spcPts val="200"/>
              </a:spcBef>
            </a:pPr>
            <a:r>
              <a:rPr sz="900" b="0" i="1">
                <a:solidFill>
                  <a:srgbClr val="54606C"/>
                </a:solidFill>
                <a:latin typeface="Open Sans"/>
              </a:rPr>
              <a:t>Minister of State (Minister for Trade Policy and Economic Security)</a:t>
            </a:r>
          </a:p>
        </p:txBody>
      </p:sp>
      <p:sp>
        <p:nvSpPr>
          <p:cNvPr id="32" name="TextBox 31"/>
          <p:cNvSpPr txBox="1"/>
          <p:nvPr/>
        </p:nvSpPr>
        <p:spPr>
          <a:xfrm>
            <a:off x="7790688"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Department for Business and Trade (DBT)</a:t>
            </a:r>
            <a:r>
              <a:rPr sz="850" b="0" i="0">
                <a:solidFill>
                  <a:srgbClr val="757D87"/>
                </a:solidFill>
                <a:latin typeface="Open Sans"/>
              </a:rPr>
              <a:t>  ·  2025-09-06</a:t>
            </a:r>
          </a:p>
        </p:txBody>
      </p:sp>
      <p:sp>
        <p:nvSpPr>
          <p:cNvPr id="33" name="TextBox 32"/>
          <p:cNvSpPr txBox="1"/>
          <p:nvPr/>
        </p:nvSpPr>
        <p:spPr>
          <a:xfrm>
            <a:off x="7790688"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Sir Chris Bryant, a former Anglican priest and Labour MP since 2001, now for Rhondda and Ogmore, was appointed Minister of State for Trade Policy and Economic Security at DBT on 6 September 2025, succeeding Douglas Alexander.</a:t>
            </a:r>
          </a:p>
        </p:txBody>
      </p:sp>
      <p:cxnSp>
        <p:nvCxnSpPr>
          <p:cNvPr id="34" name="Connector 33"/>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6" name="TextBox 35"/>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7" name="TextBox 36"/>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18 / 19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ted-states.png"/>
          <p:cNvPicPr>
            <a:picLocks noChangeAspect="1"/>
          </p:cNvPicPr>
          <p:nvPr/>
        </p:nvPicPr>
        <p:blipFill>
          <a:blip r:embed="rId2"/>
          <a:stretch>
            <a:fillRect/>
          </a:stretch>
        </p:blipFill>
        <p:spPr>
          <a:xfrm>
            <a:off x="548640" y="329184"/>
            <a:ext cx="1042416" cy="548640"/>
          </a:xfrm>
          <a:prstGeom prst="rect">
            <a:avLst/>
          </a:prstGeom>
        </p:spPr>
      </p:pic>
      <p:sp>
        <p:nvSpPr>
          <p:cNvPr id="4" name="Rectangle 3"/>
          <p:cNvSpPr/>
          <p:nvPr/>
        </p:nvSpPr>
        <p:spPr>
          <a:xfrm>
            <a:off x="548640" y="329184"/>
            <a:ext cx="1042415"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65176"/>
            <a:ext cx="8229600" cy="685800"/>
          </a:xfrm>
          <a:prstGeom prst="rect">
            <a:avLst/>
          </a:prstGeom>
          <a:noFill/>
        </p:spPr>
        <p:txBody>
          <a:bodyPr wrap="square" anchor="ctr" lIns="0" rIns="0" tIns="0" bIns="0">
            <a:spAutoFit/>
          </a:bodyPr>
          <a:lstStyle/>
          <a:p>
            <a:r>
              <a:rPr sz="2700" b="1" i="0">
                <a:solidFill>
                  <a:srgbClr val="0A314D"/>
                </a:solidFill>
                <a:latin typeface="Open Sans"/>
              </a:rPr>
              <a:t>United States</a:t>
            </a:r>
          </a:p>
        </p:txBody>
      </p:sp>
      <p:sp>
        <p:nvSpPr>
          <p:cNvPr id="6" name="Rectangle 5"/>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0" name="TextBox 9"/>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$30,620.0B</a:t>
            </a:r>
          </a:p>
        </p:txBody>
      </p:sp>
      <p:sp>
        <p:nvSpPr>
          <p:cNvPr id="11" name="TextBox 10"/>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−$1,240.9B</a:t>
            </a:r>
            <a:r>
              <a:rPr sz="950" b="0" i="0">
                <a:solidFill>
                  <a:srgbClr val="54606C"/>
                </a:solidFill>
                <a:latin typeface="Open Sans"/>
              </a:rPr>
              <a:t>  deficit · goods</a:t>
            </a:r>
          </a:p>
        </p:txBody>
      </p:sp>
      <p:sp>
        <p:nvSpPr>
          <p:cNvPr id="12" name="TextBox 11"/>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GOODS EXPORTS — WORLD (2025)</a:t>
            </a:r>
          </a:p>
          <a:p>
            <a:pPr>
              <a:spcBef>
                <a:spcPts val="100"/>
              </a:spcBef>
            </a:pPr>
            <a:r>
              <a:rPr sz="1450" b="1" i="0">
                <a:solidFill>
                  <a:srgbClr val="0A314D"/>
                </a:solidFill>
                <a:latin typeface="Open Sans"/>
              </a:rPr>
              <a:t>$2,197.5B</a:t>
            </a:r>
          </a:p>
        </p:txBody>
      </p:sp>
      <p:sp>
        <p:nvSpPr>
          <p:cNvPr id="13" name="TextBox 12"/>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GOODS IMPORTS — WORLD (2025)</a:t>
            </a:r>
          </a:p>
          <a:p>
            <a:pPr>
              <a:spcBef>
                <a:spcPts val="100"/>
              </a:spcBef>
            </a:pPr>
            <a:r>
              <a:rPr sz="1450" b="1" i="0">
                <a:solidFill>
                  <a:srgbClr val="0A314D"/>
                </a:solidFill>
                <a:latin typeface="Open Sans"/>
              </a:rPr>
              <a:t>$3,438.4B</a:t>
            </a:r>
          </a:p>
        </p:txBody>
      </p:sp>
      <p:sp>
        <p:nvSpPr>
          <p:cNvPr id="14" name="TextBox 13"/>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GOODS BALANCE — WORLD (2025)</a:t>
            </a:r>
          </a:p>
          <a:p>
            <a:pPr>
              <a:spcBef>
                <a:spcPts val="100"/>
              </a:spcBef>
            </a:pPr>
            <a:r>
              <a:rPr sz="1450" b="1" i="0">
                <a:solidFill>
                  <a:srgbClr val="D46127"/>
                </a:solidFill>
                <a:latin typeface="Open Sans"/>
              </a:rPr>
              <a:t>−$1,240.9B</a:t>
            </a:r>
            <a:r>
              <a:rPr sz="950" b="0" i="0">
                <a:solidFill>
                  <a:srgbClr val="54606C"/>
                </a:solidFill>
                <a:latin typeface="Open Sans"/>
              </a:rPr>
              <a:t>  deficit</a:t>
            </a:r>
          </a:p>
        </p:txBody>
      </p:sp>
      <p:sp>
        <p:nvSpPr>
          <p:cNvPr id="15" name="TextBox 14"/>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  ·  SPLIT PORTFOLIO</a:t>
            </a:r>
          </a:p>
        </p:txBody>
      </p:sp>
      <p:pic>
        <p:nvPicPr>
          <p:cNvPr id="16" name="Picture 15" descr="us-kratsios.png"/>
          <p:cNvPicPr>
            <a:picLocks noChangeAspect="1"/>
          </p:cNvPicPr>
          <p:nvPr/>
        </p:nvPicPr>
        <p:blipFill>
          <a:blip r:embed="rId3"/>
          <a:stretch>
            <a:fillRect/>
          </a:stretch>
        </p:blipFill>
        <p:spPr>
          <a:xfrm>
            <a:off x="3611880" y="1389888"/>
            <a:ext cx="586824" cy="731520"/>
          </a:xfrm>
          <a:prstGeom prst="rect">
            <a:avLst/>
          </a:prstGeom>
        </p:spPr>
      </p:pic>
      <p:sp>
        <p:nvSpPr>
          <p:cNvPr id="17" name="Rectangle 16"/>
          <p:cNvSpPr/>
          <p:nvPr/>
        </p:nvSpPr>
        <p:spPr>
          <a:xfrm>
            <a:off x="3611880" y="1389888"/>
            <a:ext cx="586823"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6719" y="1389888"/>
            <a:ext cx="3134784" cy="914400"/>
          </a:xfrm>
          <a:prstGeom prst="rect">
            <a:avLst/>
          </a:prstGeom>
          <a:noFill/>
        </p:spPr>
        <p:txBody>
          <a:bodyPr wrap="square" anchor="t" lIns="0" rIns="0" tIns="0" bIns="0">
            <a:spAutoFit/>
          </a:bodyPr>
          <a:lstStyle/>
          <a:p>
            <a:r>
              <a:rPr sz="750" b="1" i="0" spc="80">
                <a:solidFill>
                  <a:srgbClr val="007582"/>
                </a:solidFill>
                <a:latin typeface="Open Sans"/>
              </a:rPr>
              <a:t>WHITE HOUSE OSTP · S&amp;T POLICY</a:t>
            </a:r>
          </a:p>
          <a:p>
            <a:pPr>
              <a:spcBef>
                <a:spcPts val="200"/>
              </a:spcBef>
            </a:pPr>
            <a:r>
              <a:rPr sz="1200" b="1" i="0">
                <a:solidFill>
                  <a:srgbClr val="0A314D"/>
                </a:solidFill>
                <a:latin typeface="Open Sans"/>
              </a:rPr>
              <a:t>Michael Kratsios</a:t>
            </a:r>
          </a:p>
          <a:p>
            <a:pPr>
              <a:lnSpc>
                <a:spcPct val="104000"/>
              </a:lnSpc>
              <a:spcBef>
                <a:spcPts val="200"/>
              </a:spcBef>
            </a:pPr>
            <a:r>
              <a:rPr sz="900" b="0" i="1">
                <a:solidFill>
                  <a:srgbClr val="54606C"/>
                </a:solidFill>
                <a:latin typeface="Open Sans"/>
              </a:rPr>
              <a:t>Director of the Office of Science and Technology Policy (OSTP) and Assistant to the President for Science and Technology</a:t>
            </a:r>
          </a:p>
        </p:txBody>
      </p:sp>
      <p:sp>
        <p:nvSpPr>
          <p:cNvPr id="19" name="TextBox 18"/>
          <p:cNvSpPr txBox="1"/>
          <p:nvPr/>
        </p:nvSpPr>
        <p:spPr>
          <a:xfrm>
            <a:off x="3611880" y="2322576"/>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Executive Office of the President / White House Office of Science and Technology Policy</a:t>
            </a:r>
            <a:r>
              <a:rPr sz="850" b="0" i="0">
                <a:solidFill>
                  <a:srgbClr val="757D87"/>
                </a:solidFill>
                <a:latin typeface="Open Sans"/>
              </a:rPr>
              <a:t>  ·  2025-03-25</a:t>
            </a:r>
          </a:p>
        </p:txBody>
      </p:sp>
      <p:sp>
        <p:nvSpPr>
          <p:cNvPr id="20" name="TextBox 19"/>
          <p:cNvSpPr txBox="1"/>
          <p:nvPr/>
        </p:nvSpPr>
        <p:spPr>
          <a:xfrm>
            <a:off x="3611880" y="2633472"/>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Michael Kratsios, confirmed March 25, 2025, is the 13th Director of the White House Office of Science and Technology Policy. Previously U.S. Chief Technology Officer and Under Secretary of Defense for Research and Engineering, he leads the administration's AI Action Plan.</a:t>
            </a:r>
          </a:p>
        </p:txBody>
      </p:sp>
      <p:pic>
        <p:nvPicPr>
          <p:cNvPr id="21" name="Picture 20" descr="us-roth.png"/>
          <p:cNvPicPr>
            <a:picLocks noChangeAspect="1"/>
          </p:cNvPicPr>
          <p:nvPr/>
        </p:nvPicPr>
        <p:blipFill>
          <a:blip r:embed="rId4"/>
          <a:stretch>
            <a:fillRect/>
          </a:stretch>
        </p:blipFill>
        <p:spPr>
          <a:xfrm>
            <a:off x="7790688" y="1389888"/>
            <a:ext cx="585216" cy="731520"/>
          </a:xfrm>
          <a:prstGeom prst="rect">
            <a:avLst/>
          </a:prstGeom>
        </p:spPr>
      </p:pic>
      <p:sp>
        <p:nvSpPr>
          <p:cNvPr id="22" name="Rectangle 21"/>
          <p:cNvSpPr/>
          <p:nvPr/>
        </p:nvSpPr>
        <p:spPr>
          <a:xfrm>
            <a:off x="7790688" y="1389888"/>
            <a:ext cx="585216"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0" y="1389888"/>
            <a:ext cx="3136391" cy="914400"/>
          </a:xfrm>
          <a:prstGeom prst="rect">
            <a:avLst/>
          </a:prstGeom>
          <a:noFill/>
        </p:spPr>
        <p:txBody>
          <a:bodyPr wrap="square" anchor="t" lIns="0" rIns="0" tIns="0" bIns="0">
            <a:spAutoFit/>
          </a:bodyPr>
          <a:lstStyle/>
          <a:p>
            <a:r>
              <a:rPr sz="750" b="1" i="0" spc="80">
                <a:solidFill>
                  <a:srgbClr val="007582"/>
                </a:solidFill>
                <a:latin typeface="Open Sans"/>
              </a:rPr>
              <a:t>NTIA · TELECOM &amp; BROADBAND</a:t>
            </a:r>
          </a:p>
          <a:p>
            <a:pPr>
              <a:spcBef>
                <a:spcPts val="200"/>
              </a:spcBef>
            </a:pPr>
            <a:r>
              <a:rPr sz="1200" b="1" i="0">
                <a:solidFill>
                  <a:srgbClr val="0A314D"/>
                </a:solidFill>
                <a:latin typeface="Open Sans"/>
              </a:rPr>
              <a:t>Arielle Roth</a:t>
            </a:r>
          </a:p>
          <a:p>
            <a:pPr>
              <a:lnSpc>
                <a:spcPct val="104000"/>
              </a:lnSpc>
              <a:spcBef>
                <a:spcPts val="200"/>
              </a:spcBef>
            </a:pPr>
            <a:r>
              <a:rPr sz="900" b="0" i="1">
                <a:solidFill>
                  <a:srgbClr val="54606C"/>
                </a:solidFill>
                <a:latin typeface="Open Sans"/>
              </a:rPr>
              <a:t>Assistant Secretary of Commerce for Communications and Information and Administrator, National Telecommunications and Information Administration (NTIA)</a:t>
            </a:r>
          </a:p>
        </p:txBody>
      </p:sp>
      <p:sp>
        <p:nvSpPr>
          <p:cNvPr id="24" name="TextBox 23"/>
          <p:cNvSpPr txBox="1"/>
          <p:nvPr/>
        </p:nvSpPr>
        <p:spPr>
          <a:xfrm>
            <a:off x="7790688" y="2322576"/>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U.S. Department of Commerce (NTIA)</a:t>
            </a:r>
            <a:r>
              <a:rPr sz="850" b="0" i="0">
                <a:solidFill>
                  <a:srgbClr val="757D87"/>
                </a:solidFill>
                <a:latin typeface="Open Sans"/>
              </a:rPr>
              <a:t>  ·  2025-07-30</a:t>
            </a:r>
          </a:p>
        </p:txBody>
      </p:sp>
      <p:sp>
        <p:nvSpPr>
          <p:cNvPr id="25" name="TextBox 24"/>
          <p:cNvSpPr txBox="1"/>
          <p:nvPr/>
        </p:nvSpPr>
        <p:spPr>
          <a:xfrm>
            <a:off x="7790688" y="2633472"/>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Arielle Roth is Assistant Secretary of Commerce for Communications and Information and NTIA Administrator, confirmed July 23, 2025. Formerly telecommunications policy director for the Senate Commerce Committee's Republican staff, she oversees federal spectrum management and broadband programs including BEAD.</a:t>
            </a:r>
          </a:p>
        </p:txBody>
      </p:sp>
      <p:cxnSp>
        <p:nvCxnSpPr>
          <p:cNvPr id="26" name="Connector 25"/>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  ·  SPLIT PORTFOLIO</a:t>
            </a:r>
          </a:p>
        </p:txBody>
      </p:sp>
      <p:pic>
        <p:nvPicPr>
          <p:cNvPr id="28" name="Picture 27" descr="us-lutnick.png"/>
          <p:cNvPicPr>
            <a:picLocks noChangeAspect="1"/>
          </p:cNvPicPr>
          <p:nvPr/>
        </p:nvPicPr>
        <p:blipFill>
          <a:blip r:embed="rId5"/>
          <a:stretch>
            <a:fillRect/>
          </a:stretch>
        </p:blipFill>
        <p:spPr>
          <a:xfrm>
            <a:off x="3611880" y="4023359"/>
            <a:ext cx="585216" cy="731520"/>
          </a:xfrm>
          <a:prstGeom prst="rect">
            <a:avLst/>
          </a:prstGeom>
        </p:spPr>
      </p:pic>
      <p:sp>
        <p:nvSpPr>
          <p:cNvPr id="29" name="Rectangle 28"/>
          <p:cNvSpPr/>
          <p:nvPr/>
        </p:nvSpPr>
        <p:spPr>
          <a:xfrm>
            <a:off x="3611880" y="4023359"/>
            <a:ext cx="585216"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25112" y="4023359"/>
            <a:ext cx="3136391" cy="914400"/>
          </a:xfrm>
          <a:prstGeom prst="rect">
            <a:avLst/>
          </a:prstGeom>
          <a:noFill/>
        </p:spPr>
        <p:txBody>
          <a:bodyPr wrap="square" anchor="t" lIns="0" rIns="0" tIns="0" bIns="0">
            <a:spAutoFit/>
          </a:bodyPr>
          <a:lstStyle/>
          <a:p>
            <a:r>
              <a:rPr sz="750" b="1" i="0" spc="80">
                <a:solidFill>
                  <a:srgbClr val="007582"/>
                </a:solidFill>
                <a:latin typeface="Open Sans"/>
              </a:rPr>
              <a:t>SECRETARY OF COMMERCE</a:t>
            </a:r>
          </a:p>
          <a:p>
            <a:pPr>
              <a:spcBef>
                <a:spcPts val="200"/>
              </a:spcBef>
            </a:pPr>
            <a:r>
              <a:rPr sz="1200" b="1" i="0">
                <a:solidFill>
                  <a:srgbClr val="0A314D"/>
                </a:solidFill>
                <a:latin typeface="Open Sans"/>
              </a:rPr>
              <a:t>Howard Lutnick</a:t>
            </a:r>
          </a:p>
          <a:p>
            <a:pPr>
              <a:lnSpc>
                <a:spcPct val="104000"/>
              </a:lnSpc>
              <a:spcBef>
                <a:spcPts val="200"/>
              </a:spcBef>
            </a:pPr>
            <a:r>
              <a:rPr sz="900" b="0" i="1">
                <a:solidFill>
                  <a:srgbClr val="54606C"/>
                </a:solidFill>
                <a:latin typeface="Open Sans"/>
              </a:rPr>
              <a:t>United States Secretary of Commerce</a:t>
            </a:r>
          </a:p>
        </p:txBody>
      </p:sp>
      <p:sp>
        <p:nvSpPr>
          <p:cNvPr id="31" name="TextBox 30"/>
          <p:cNvSpPr txBox="1"/>
          <p:nvPr/>
        </p:nvSpPr>
        <p:spPr>
          <a:xfrm>
            <a:off x="3611880"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U.S. Department of Commerce</a:t>
            </a:r>
            <a:r>
              <a:rPr sz="850" b="0" i="0">
                <a:solidFill>
                  <a:srgbClr val="757D87"/>
                </a:solidFill>
                <a:latin typeface="Open Sans"/>
              </a:rPr>
              <a:t>  ·  2025-02-21</a:t>
            </a:r>
          </a:p>
        </p:txBody>
      </p:sp>
      <p:sp>
        <p:nvSpPr>
          <p:cNvPr id="32" name="TextBox 31"/>
          <p:cNvSpPr txBox="1"/>
          <p:nvPr/>
        </p:nvSpPr>
        <p:spPr>
          <a:xfrm>
            <a:off x="3611880"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Howard Lutnick, the 41st U.S. Secretary of Commerce, was confirmed February 18, 2025. Longtime chairman and CEO of Cantor Fitzgerald, which he rebuilt after 9/11, he oversees trade policy, tariffs and export controls, and co-chaired Trump's 2024-25 transition.</a:t>
            </a:r>
          </a:p>
        </p:txBody>
      </p:sp>
      <p:pic>
        <p:nvPicPr>
          <p:cNvPr id="33" name="Picture 32" descr="us-greer.png"/>
          <p:cNvPicPr>
            <a:picLocks noChangeAspect="1"/>
          </p:cNvPicPr>
          <p:nvPr/>
        </p:nvPicPr>
        <p:blipFill>
          <a:blip r:embed="rId6"/>
          <a:stretch>
            <a:fillRect/>
          </a:stretch>
        </p:blipFill>
        <p:spPr>
          <a:xfrm>
            <a:off x="7790688" y="4023359"/>
            <a:ext cx="585216" cy="731520"/>
          </a:xfrm>
          <a:prstGeom prst="rect">
            <a:avLst/>
          </a:prstGeom>
        </p:spPr>
      </p:pic>
      <p:sp>
        <p:nvSpPr>
          <p:cNvPr id="34" name="Rectangle 33"/>
          <p:cNvSpPr/>
          <p:nvPr/>
        </p:nvSpPr>
        <p:spPr>
          <a:xfrm>
            <a:off x="7790688" y="4023359"/>
            <a:ext cx="585216" cy="73152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03920" y="4023359"/>
            <a:ext cx="3136391" cy="914400"/>
          </a:xfrm>
          <a:prstGeom prst="rect">
            <a:avLst/>
          </a:prstGeom>
          <a:noFill/>
        </p:spPr>
        <p:txBody>
          <a:bodyPr wrap="square" anchor="t" lIns="0" rIns="0" tIns="0" bIns="0">
            <a:spAutoFit/>
          </a:bodyPr>
          <a:lstStyle/>
          <a:p>
            <a:r>
              <a:rPr sz="750" b="1" i="0" spc="80">
                <a:solidFill>
                  <a:srgbClr val="007582"/>
                </a:solidFill>
                <a:latin typeface="Open Sans"/>
              </a:rPr>
              <a:t>U.S. TRADE REPRESENTATIVE</a:t>
            </a:r>
          </a:p>
          <a:p>
            <a:pPr>
              <a:spcBef>
                <a:spcPts val="200"/>
              </a:spcBef>
            </a:pPr>
            <a:r>
              <a:rPr sz="1200" b="1" i="0">
                <a:solidFill>
                  <a:srgbClr val="0A314D"/>
                </a:solidFill>
                <a:latin typeface="Open Sans"/>
              </a:rPr>
              <a:t>Jamieson Greer</a:t>
            </a:r>
          </a:p>
          <a:p>
            <a:pPr>
              <a:lnSpc>
                <a:spcPct val="104000"/>
              </a:lnSpc>
              <a:spcBef>
                <a:spcPts val="200"/>
              </a:spcBef>
            </a:pPr>
            <a:r>
              <a:rPr sz="900" b="0" i="1">
                <a:solidFill>
                  <a:srgbClr val="54606C"/>
                </a:solidFill>
                <a:latin typeface="Open Sans"/>
              </a:rPr>
              <a:t>United States Trade Representative (USTR), with rank of Ambassador</a:t>
            </a:r>
          </a:p>
        </p:txBody>
      </p:sp>
      <p:sp>
        <p:nvSpPr>
          <p:cNvPr id="36" name="TextBox 35"/>
          <p:cNvSpPr txBox="1"/>
          <p:nvPr/>
        </p:nvSpPr>
        <p:spPr>
          <a:xfrm>
            <a:off x="7790688" y="4956048"/>
            <a:ext cx="3849624" cy="292608"/>
          </a:xfrm>
          <a:prstGeom prst="rect">
            <a:avLst/>
          </a:prstGeom>
          <a:noFill/>
        </p:spPr>
        <p:txBody>
          <a:bodyPr wrap="square" anchor="t" lIns="0" rIns="0" tIns="0" bIns="0">
            <a:spAutoFit/>
          </a:bodyPr>
          <a:lstStyle/>
          <a:p>
            <a:pPr>
              <a:lnSpc>
                <a:spcPct val="104000"/>
              </a:lnSpc>
            </a:pPr>
            <a:r>
              <a:rPr sz="850" b="0" i="0">
                <a:solidFill>
                  <a:srgbClr val="2C2C2C"/>
                </a:solidFill>
                <a:latin typeface="Open Sans"/>
              </a:rPr>
              <a:t>Office of the United States Trade Representative (Executive Office of the President)</a:t>
            </a:r>
            <a:r>
              <a:rPr sz="850" b="0" i="0">
                <a:solidFill>
                  <a:srgbClr val="757D87"/>
                </a:solidFill>
                <a:latin typeface="Open Sans"/>
              </a:rPr>
              <a:t>  ·  2025-02-27</a:t>
            </a:r>
          </a:p>
        </p:txBody>
      </p:sp>
      <p:sp>
        <p:nvSpPr>
          <p:cNvPr id="37" name="TextBox 36"/>
          <p:cNvSpPr txBox="1"/>
          <p:nvPr/>
        </p:nvSpPr>
        <p:spPr>
          <a:xfrm>
            <a:off x="7790688" y="5266944"/>
            <a:ext cx="3849624" cy="1097279"/>
          </a:xfrm>
          <a:prstGeom prst="rect">
            <a:avLst/>
          </a:prstGeom>
          <a:noFill/>
        </p:spPr>
        <p:txBody>
          <a:bodyPr wrap="square" anchor="t" lIns="0" rIns="0" tIns="0" bIns="0">
            <a:spAutoFit/>
          </a:bodyPr>
          <a:lstStyle/>
          <a:p>
            <a:pPr>
              <a:lnSpc>
                <a:spcPct val="112000"/>
              </a:lnSpc>
            </a:pPr>
            <a:r>
              <a:rPr sz="950" b="0" i="0">
                <a:solidFill>
                  <a:srgbClr val="2C2C2C"/>
                </a:solidFill>
                <a:latin typeface="Merriweather"/>
              </a:rPr>
              <a:t>Jamieson Greer is the 20th U.S. Trade Representative, confirmed February 27, 2025. A trade attorney and former Air Force JAG officer, he was chief of staff to USTR Robert Lighthizer and leads U.S. trade negotiations, tariff strategy and enforcement.</a:t>
            </a:r>
          </a:p>
        </p:txBody>
      </p:sp>
      <p:cxnSp>
        <p:nvCxnSpPr>
          <p:cNvPr id="38" name="Connector 37"/>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40" name="TextBox 39"/>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41" name="TextBox 40"/>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19 / 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uropean-union.png"/>
          <p:cNvPicPr>
            <a:picLocks noChangeAspect="1"/>
          </p:cNvPicPr>
          <p:nvPr/>
        </p:nvPicPr>
        <p:blipFill>
          <a:blip r:embed="rId2"/>
          <a:stretch>
            <a:fillRect/>
          </a:stretch>
        </p:blipFill>
        <p:spPr>
          <a:xfrm>
            <a:off x="548640" y="329184"/>
            <a:ext cx="822960" cy="548640"/>
          </a:xfrm>
          <a:prstGeom prst="rect">
            <a:avLst/>
          </a:prstGeom>
        </p:spPr>
      </p:pic>
      <p:sp>
        <p:nvSpPr>
          <p:cNvPr id="4" name="Rectangle 3"/>
          <p:cNvSpPr/>
          <p:nvPr/>
        </p:nvSpPr>
        <p:spPr>
          <a:xfrm>
            <a:off x="548640" y="329184"/>
            <a:ext cx="822959"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182880"/>
            <a:ext cx="9692640" cy="548640"/>
          </a:xfrm>
          <a:prstGeom prst="rect">
            <a:avLst/>
          </a:prstGeom>
          <a:noFill/>
        </p:spPr>
        <p:txBody>
          <a:bodyPr wrap="square" anchor="ctr" lIns="0" rIns="0" tIns="0" bIns="0">
            <a:spAutoFit/>
          </a:bodyPr>
          <a:lstStyle/>
          <a:p>
            <a:r>
              <a:rPr sz="2600" b="1" i="0">
                <a:solidFill>
                  <a:srgbClr val="0A314D"/>
                </a:solidFill>
                <a:latin typeface="Open Sans"/>
              </a:rPr>
              <a:t>European Union</a:t>
            </a:r>
            <a:r>
              <a:rPr sz="1050" b="1" i="0" spc="100">
                <a:solidFill>
                  <a:srgbClr val="007582"/>
                </a:solidFill>
                <a:latin typeface="Open Sans"/>
              </a:rPr>
              <a:t>   ·   G20 BLOC MEMBER</a:t>
            </a:r>
          </a:p>
        </p:txBody>
      </p:sp>
      <p:sp>
        <p:nvSpPr>
          <p:cNvPr id="6" name="TextBox 5"/>
          <p:cNvSpPr txBox="1"/>
          <p:nvPr/>
        </p:nvSpPr>
        <p:spPr>
          <a:xfrm>
            <a:off x="1920240" y="731520"/>
            <a:ext cx="9692640" cy="274320"/>
          </a:xfrm>
          <a:prstGeom prst="rect">
            <a:avLst/>
          </a:prstGeom>
          <a:noFill/>
        </p:spPr>
        <p:txBody>
          <a:bodyPr wrap="square" anchor="t" lIns="0" rIns="0" tIns="0" bIns="0">
            <a:spAutoFit/>
          </a:bodyPr>
          <a:lstStyle/>
          <a:p>
            <a:r>
              <a:rPr sz="950" b="0" i="0">
                <a:solidFill>
                  <a:srgbClr val="54606C"/>
                </a:solidFill>
                <a:latin typeface="Open Sans"/>
              </a:rPr>
              <a:t>Members: 27    ·    G20: Founding member since 1999    ·    HQ: Brussels    ·    Commission President: Ursula von der Leyen</a:t>
            </a:r>
          </a:p>
        </p:txBody>
      </p:sp>
      <p:sp>
        <p:nvSpPr>
          <p:cNvPr id="7" name="Rectangle 6"/>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1" name="TextBox 10"/>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a:t>
            </a:r>
          </a:p>
          <a:p>
            <a:pPr>
              <a:spcBef>
                <a:spcPts val="100"/>
              </a:spcBef>
            </a:pPr>
            <a:r>
              <a:rPr sz="1450" b="1" i="0">
                <a:solidFill>
                  <a:srgbClr val="0A314D"/>
                </a:solidFill>
                <a:latin typeface="Open Sans"/>
              </a:rPr>
              <a:t>$21,230.0B</a:t>
            </a:r>
          </a:p>
        </p:txBody>
      </p:sp>
      <p:sp>
        <p:nvSpPr>
          <p:cNvPr id="12" name="TextBox 11"/>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(2025)</a:t>
            </a:r>
          </a:p>
          <a:p>
            <a:pPr>
              <a:spcBef>
                <a:spcPts val="100"/>
              </a:spcBef>
            </a:pPr>
            <a:r>
              <a:rPr sz="1450" b="1" i="0">
                <a:solidFill>
                  <a:srgbClr val="2C2C2C"/>
                </a:solidFill>
                <a:latin typeface="Open Sans"/>
              </a:rPr>
              <a:t>+$144.7B</a:t>
            </a:r>
            <a:r>
              <a:rPr sz="950" b="0" i="0">
                <a:solidFill>
                  <a:srgbClr val="54606C"/>
                </a:solidFill>
                <a:latin typeface="Open Sans"/>
              </a:rPr>
              <a:t>  surplus · goods</a:t>
            </a:r>
          </a:p>
        </p:txBody>
      </p:sp>
      <p:sp>
        <p:nvSpPr>
          <p:cNvPr id="13" name="TextBox 12"/>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$414.4B</a:t>
            </a:r>
          </a:p>
        </p:txBody>
      </p:sp>
      <p:sp>
        <p:nvSpPr>
          <p:cNvPr id="14" name="TextBox 13"/>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$633.2B</a:t>
            </a:r>
          </a:p>
        </p:txBody>
      </p:sp>
      <p:sp>
        <p:nvSpPr>
          <p:cNvPr id="15" name="TextBox 14"/>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D46127"/>
                </a:solidFill>
                <a:latin typeface="Open Sans"/>
              </a:rPr>
              <a:t>−$218.8B</a:t>
            </a:r>
            <a:r>
              <a:rPr sz="950" b="0" i="0">
                <a:solidFill>
                  <a:srgbClr val="54606C"/>
                </a:solidFill>
                <a:latin typeface="Open Sans"/>
              </a:rPr>
              <a:t>  deficit</a:t>
            </a:r>
          </a:p>
        </p:txBody>
      </p:sp>
      <p:sp>
        <p:nvSpPr>
          <p:cNvPr id="16" name="TextBox 15"/>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a:t>
            </a:r>
          </a:p>
        </p:txBody>
      </p:sp>
      <p:pic>
        <p:nvPicPr>
          <p:cNvPr id="17" name="Picture 16" descr="_ph-bloc-virkkunen.png"/>
          <p:cNvPicPr>
            <a:picLocks noChangeAspect="1"/>
          </p:cNvPicPr>
          <p:nvPr/>
        </p:nvPicPr>
        <p:blipFill>
          <a:blip r:embed="rId3"/>
          <a:stretch>
            <a:fillRect/>
          </a:stretch>
        </p:blipFill>
        <p:spPr>
          <a:xfrm>
            <a:off x="3611880" y="1408176"/>
            <a:ext cx="731520" cy="914400"/>
          </a:xfrm>
          <a:prstGeom prst="rect">
            <a:avLst/>
          </a:prstGeom>
        </p:spPr>
      </p:pic>
      <p:sp>
        <p:nvSpPr>
          <p:cNvPr id="18" name="Rectangle 17"/>
          <p:cNvSpPr/>
          <p:nvPr/>
        </p:nvSpPr>
        <p:spPr>
          <a:xfrm>
            <a:off x="3611880" y="1408176"/>
            <a:ext cx="731520"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7992" y="1408176"/>
            <a:ext cx="7132320" cy="256032"/>
          </a:xfrm>
          <a:prstGeom prst="rect">
            <a:avLst/>
          </a:prstGeom>
          <a:noFill/>
        </p:spPr>
        <p:txBody>
          <a:bodyPr wrap="square" anchor="t" lIns="0" rIns="0" tIns="0" bIns="0">
            <a:spAutoFit/>
          </a:bodyPr>
          <a:lstStyle/>
          <a:p>
            <a:r>
              <a:rPr sz="1400" b="1" i="0">
                <a:solidFill>
                  <a:srgbClr val="0A314D"/>
                </a:solidFill>
                <a:latin typeface="Open Sans"/>
              </a:rPr>
              <a:t>Henna Virkkunen</a:t>
            </a:r>
          </a:p>
        </p:txBody>
      </p:sp>
      <p:sp>
        <p:nvSpPr>
          <p:cNvPr id="20" name="TextBox 19"/>
          <p:cNvSpPr txBox="1"/>
          <p:nvPr/>
        </p:nvSpPr>
        <p:spPr>
          <a:xfrm>
            <a:off x="4507992" y="1682495"/>
            <a:ext cx="7132320"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Executive Vice-President for Tech Sovereignty, Security and Democracy</a:t>
            </a:r>
          </a:p>
        </p:txBody>
      </p:sp>
      <p:sp>
        <p:nvSpPr>
          <p:cNvPr id="21" name="TextBox 20"/>
          <p:cNvSpPr txBox="1"/>
          <p:nvPr/>
        </p:nvSpPr>
        <p:spPr>
          <a:xfrm>
            <a:off x="4507992" y="2048256"/>
            <a:ext cx="7132320"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European Commission — Tech Sovereignty, Security and Democracy (Digital and Frontier Technologies portfolio)</a:t>
            </a:r>
            <a:r>
              <a:rPr sz="950" b="0" i="0">
                <a:solidFill>
                  <a:srgbClr val="757D87"/>
                </a:solidFill>
                <a:latin typeface="Open Sans"/>
              </a:rPr>
              <a:t>   ·   Assumed office: 2024-12-01</a:t>
            </a:r>
          </a:p>
        </p:txBody>
      </p:sp>
      <p:sp>
        <p:nvSpPr>
          <p:cNvPr id="22" name="TextBox 21"/>
          <p:cNvSpPr txBox="1"/>
          <p:nvPr/>
        </p:nvSpPr>
        <p:spPr>
          <a:xfrm>
            <a:off x="3611880" y="2377440"/>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Finnish politician of the National Coalition Party (EPP), born 1972 in Joutsa. A former journalist, she sat in Finland's Parliament from 2007 to 2014, serving as Minister of Education (2008-2011), of Public Administration and Local Government (2011-2014), and of Transport and Local Government (2014). An MEP from 2014 to 2024, she became Executive Vice-President on 1 December 2024, leading EU digital, AI, cybersecurity, platform-regulation and democracy policy.</a:t>
            </a:r>
          </a:p>
        </p:txBody>
      </p:sp>
      <p:cxnSp>
        <p:nvCxnSpPr>
          <p:cNvPr id="23" name="Connector 22"/>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a:t>
            </a:r>
          </a:p>
        </p:txBody>
      </p:sp>
      <p:pic>
        <p:nvPicPr>
          <p:cNvPr id="25" name="Picture 24" descr="_ph-bloc-sefcovic.png"/>
          <p:cNvPicPr>
            <a:picLocks noChangeAspect="1"/>
          </p:cNvPicPr>
          <p:nvPr/>
        </p:nvPicPr>
        <p:blipFill>
          <a:blip r:embed="rId4"/>
          <a:stretch>
            <a:fillRect/>
          </a:stretch>
        </p:blipFill>
        <p:spPr>
          <a:xfrm>
            <a:off x="3611880" y="4041648"/>
            <a:ext cx="731520" cy="914400"/>
          </a:xfrm>
          <a:prstGeom prst="rect">
            <a:avLst/>
          </a:prstGeom>
        </p:spPr>
      </p:pic>
      <p:sp>
        <p:nvSpPr>
          <p:cNvPr id="26" name="Rectangle 25"/>
          <p:cNvSpPr/>
          <p:nvPr/>
        </p:nvSpPr>
        <p:spPr>
          <a:xfrm>
            <a:off x="3611880" y="4041648"/>
            <a:ext cx="731520"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07992" y="4041648"/>
            <a:ext cx="7132320" cy="256032"/>
          </a:xfrm>
          <a:prstGeom prst="rect">
            <a:avLst/>
          </a:prstGeom>
          <a:noFill/>
        </p:spPr>
        <p:txBody>
          <a:bodyPr wrap="square" anchor="t" lIns="0" rIns="0" tIns="0" bIns="0">
            <a:spAutoFit/>
          </a:bodyPr>
          <a:lstStyle/>
          <a:p>
            <a:r>
              <a:rPr sz="1400" b="1" i="0">
                <a:solidFill>
                  <a:srgbClr val="0A314D"/>
                </a:solidFill>
                <a:latin typeface="Open Sans"/>
              </a:rPr>
              <a:t>Maroš Šefčovič</a:t>
            </a:r>
          </a:p>
        </p:txBody>
      </p:sp>
      <p:sp>
        <p:nvSpPr>
          <p:cNvPr id="28" name="TextBox 27"/>
          <p:cNvSpPr txBox="1"/>
          <p:nvPr/>
        </p:nvSpPr>
        <p:spPr>
          <a:xfrm>
            <a:off x="4507992" y="4315968"/>
            <a:ext cx="7132320"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Commissioner for Trade and Economic Security; Interinstitutional Relations and Transparency</a:t>
            </a:r>
          </a:p>
        </p:txBody>
      </p:sp>
      <p:sp>
        <p:nvSpPr>
          <p:cNvPr id="29" name="TextBox 28"/>
          <p:cNvSpPr txBox="1"/>
          <p:nvPr/>
        </p:nvSpPr>
        <p:spPr>
          <a:xfrm>
            <a:off x="4507992" y="4681727"/>
            <a:ext cx="7132320"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European Commission — Trade and Economic Security</a:t>
            </a:r>
            <a:r>
              <a:rPr sz="950" b="0" i="0">
                <a:solidFill>
                  <a:srgbClr val="757D87"/>
                </a:solidFill>
                <a:latin typeface="Open Sans"/>
              </a:rPr>
              <a:t>   ·   Assumed office: 2024-12-01</a:t>
            </a:r>
          </a:p>
        </p:txBody>
      </p:sp>
      <p:sp>
        <p:nvSpPr>
          <p:cNvPr id="30" name="TextBox 29"/>
          <p:cNvSpPr txBox="1"/>
          <p:nvPr/>
        </p:nvSpPr>
        <p:spPr>
          <a:xfrm>
            <a:off x="3611880" y="5010912"/>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Slovak diplomat and politician, born 1966. A career diplomat and Slovakia's Permanent Representative to the EU (2004-2009), he has served in every European Commission since 2009, including as Vice-President for the Energy Union and Executive Vice-President for the European Green Deal. A veteran Brexit negotiator, he took the trade portfolio on 1 December 2024 and led the EU side of the 2025 U.S.-EU tariff framework agreed at Turnberry.</a:t>
            </a:r>
          </a:p>
        </p:txBody>
      </p:sp>
      <p:cxnSp>
        <p:nvCxnSpPr>
          <p:cNvPr id="31" name="Connector 30"/>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3" name="TextBox 32"/>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4" name="TextBox 33"/>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Bloc annex</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frican-union.png"/>
          <p:cNvPicPr>
            <a:picLocks noChangeAspect="1"/>
          </p:cNvPicPr>
          <p:nvPr/>
        </p:nvPicPr>
        <p:blipFill>
          <a:blip r:embed="rId2"/>
          <a:stretch>
            <a:fillRect/>
          </a:stretch>
        </p:blipFill>
        <p:spPr>
          <a:xfrm>
            <a:off x="548640" y="329184"/>
            <a:ext cx="822960" cy="548640"/>
          </a:xfrm>
          <a:prstGeom prst="rect">
            <a:avLst/>
          </a:prstGeom>
        </p:spPr>
      </p:pic>
      <p:sp>
        <p:nvSpPr>
          <p:cNvPr id="4" name="Rectangle 3"/>
          <p:cNvSpPr/>
          <p:nvPr/>
        </p:nvSpPr>
        <p:spPr>
          <a:xfrm>
            <a:off x="548640" y="329184"/>
            <a:ext cx="822959" cy="54864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182880"/>
            <a:ext cx="9692640" cy="548640"/>
          </a:xfrm>
          <a:prstGeom prst="rect">
            <a:avLst/>
          </a:prstGeom>
          <a:noFill/>
        </p:spPr>
        <p:txBody>
          <a:bodyPr wrap="square" anchor="ctr" lIns="0" rIns="0" tIns="0" bIns="0">
            <a:spAutoFit/>
          </a:bodyPr>
          <a:lstStyle/>
          <a:p>
            <a:r>
              <a:rPr sz="2600" b="1" i="0">
                <a:solidFill>
                  <a:srgbClr val="0A314D"/>
                </a:solidFill>
                <a:latin typeface="Open Sans"/>
              </a:rPr>
              <a:t>African Union</a:t>
            </a:r>
            <a:r>
              <a:rPr sz="1050" b="1" i="0" spc="100">
                <a:solidFill>
                  <a:srgbClr val="007582"/>
                </a:solidFill>
                <a:latin typeface="Open Sans"/>
              </a:rPr>
              <a:t>   ·   G20 BLOC MEMBER</a:t>
            </a:r>
          </a:p>
        </p:txBody>
      </p:sp>
      <p:sp>
        <p:nvSpPr>
          <p:cNvPr id="6" name="TextBox 5"/>
          <p:cNvSpPr txBox="1"/>
          <p:nvPr/>
        </p:nvSpPr>
        <p:spPr>
          <a:xfrm>
            <a:off x="1920240" y="731520"/>
            <a:ext cx="9692640" cy="274320"/>
          </a:xfrm>
          <a:prstGeom prst="rect">
            <a:avLst/>
          </a:prstGeom>
          <a:noFill/>
        </p:spPr>
        <p:txBody>
          <a:bodyPr wrap="square" anchor="t" lIns="0" rIns="0" tIns="0" bIns="0">
            <a:spAutoFit/>
          </a:bodyPr>
          <a:lstStyle/>
          <a:p>
            <a:r>
              <a:rPr sz="950" b="0" i="0">
                <a:solidFill>
                  <a:srgbClr val="54606C"/>
                </a:solidFill>
                <a:latin typeface="Open Sans"/>
              </a:rPr>
              <a:t>Members: 55    ·    G20: Permanent member since Sept 2023    ·    HQ: Addis Ababa    ·    AUC Chair: Mahmoud Ali Youssouf</a:t>
            </a:r>
          </a:p>
        </p:txBody>
      </p:sp>
      <p:sp>
        <p:nvSpPr>
          <p:cNvPr id="7" name="Rectangle 6"/>
          <p:cNvSpPr/>
          <p:nvPr/>
        </p:nvSpPr>
        <p:spPr>
          <a:xfrm>
            <a:off x="548640" y="1033271"/>
            <a:ext cx="11091672"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98448"/>
            <a:ext cx="2834640" cy="489204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98448"/>
            <a:ext cx="2834640" cy="41148"/>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444752"/>
            <a:ext cx="2468880" cy="274320"/>
          </a:xfrm>
          <a:prstGeom prst="rect">
            <a:avLst/>
          </a:prstGeom>
          <a:noFill/>
        </p:spPr>
        <p:txBody>
          <a:bodyPr wrap="square" anchor="t" lIns="0" rIns="0" tIns="0" bIns="0">
            <a:spAutoFit/>
          </a:bodyPr>
          <a:lstStyle/>
          <a:p>
            <a:r>
              <a:rPr sz="1050" b="1" i="0" spc="100">
                <a:solidFill>
                  <a:srgbClr val="00558C"/>
                </a:solidFill>
                <a:latin typeface="Open Sans"/>
              </a:rPr>
              <a:t>TRADE &amp; ECONOMY</a:t>
            </a:r>
          </a:p>
        </p:txBody>
      </p:sp>
      <p:sp>
        <p:nvSpPr>
          <p:cNvPr id="11" name="TextBox 10"/>
          <p:cNvSpPr txBox="1"/>
          <p:nvPr/>
        </p:nvSpPr>
        <p:spPr>
          <a:xfrm>
            <a:off x="731520" y="1810512"/>
            <a:ext cx="2468880" cy="731520"/>
          </a:xfrm>
          <a:prstGeom prst="rect">
            <a:avLst/>
          </a:prstGeom>
          <a:noFill/>
        </p:spPr>
        <p:txBody>
          <a:bodyPr wrap="square" anchor="t" lIns="0" rIns="0" tIns="0" bIns="0">
            <a:spAutoFit/>
          </a:bodyPr>
          <a:lstStyle/>
          <a:p>
            <a:r>
              <a:rPr sz="850" b="0" i="0" spc="30">
                <a:solidFill>
                  <a:srgbClr val="54606C"/>
                </a:solidFill>
                <a:latin typeface="Open Sans"/>
              </a:rPr>
              <a:t>NOMINAL GDP (2025 (IMF projection))</a:t>
            </a:r>
          </a:p>
          <a:p>
            <a:pPr>
              <a:spcBef>
                <a:spcPts val="100"/>
              </a:spcBef>
            </a:pPr>
            <a:r>
              <a:rPr sz="1450" b="1" i="0">
                <a:solidFill>
                  <a:srgbClr val="0A314D"/>
                </a:solidFill>
                <a:latin typeface="Open Sans"/>
              </a:rPr>
              <a:t>$2,810.0B</a:t>
            </a:r>
          </a:p>
        </p:txBody>
      </p:sp>
      <p:sp>
        <p:nvSpPr>
          <p:cNvPr id="12" name="TextBox 11"/>
          <p:cNvSpPr txBox="1"/>
          <p:nvPr/>
        </p:nvSpPr>
        <p:spPr>
          <a:xfrm>
            <a:off x="731520" y="2688336"/>
            <a:ext cx="2468880" cy="731520"/>
          </a:xfrm>
          <a:prstGeom prst="rect">
            <a:avLst/>
          </a:prstGeom>
          <a:noFill/>
        </p:spPr>
        <p:txBody>
          <a:bodyPr wrap="square" anchor="t" lIns="0" rIns="0" tIns="0" bIns="0">
            <a:spAutoFit/>
          </a:bodyPr>
          <a:lstStyle/>
          <a:p>
            <a:r>
              <a:rPr sz="850" b="0" i="0" spc="30">
                <a:solidFill>
                  <a:srgbClr val="54606C"/>
                </a:solidFill>
                <a:latin typeface="Open Sans"/>
              </a:rPr>
              <a:t>OVERALL TRADE BALANCE (2024)</a:t>
            </a:r>
          </a:p>
          <a:p>
            <a:pPr>
              <a:spcBef>
                <a:spcPts val="100"/>
              </a:spcBef>
            </a:pPr>
            <a:r>
              <a:rPr sz="1450" b="1" i="0">
                <a:solidFill>
                  <a:srgbClr val="2C2C2C"/>
                </a:solidFill>
                <a:latin typeface="Open Sans"/>
              </a:rPr>
              <a:t>N/A</a:t>
            </a:r>
          </a:p>
        </p:txBody>
      </p:sp>
      <p:sp>
        <p:nvSpPr>
          <p:cNvPr id="13" name="TextBox 12"/>
          <p:cNvSpPr txBox="1"/>
          <p:nvPr/>
        </p:nvSpPr>
        <p:spPr>
          <a:xfrm>
            <a:off x="731520" y="3566160"/>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EXPORTS TO (2025)</a:t>
            </a:r>
          </a:p>
          <a:p>
            <a:pPr>
              <a:spcBef>
                <a:spcPts val="100"/>
              </a:spcBef>
            </a:pPr>
            <a:r>
              <a:rPr sz="1450" b="1" i="0">
                <a:solidFill>
                  <a:srgbClr val="0A314D"/>
                </a:solidFill>
                <a:latin typeface="Open Sans"/>
              </a:rPr>
              <a:t>$40.4B</a:t>
            </a:r>
          </a:p>
        </p:txBody>
      </p:sp>
      <p:sp>
        <p:nvSpPr>
          <p:cNvPr id="14" name="TextBox 13"/>
          <p:cNvSpPr txBox="1"/>
          <p:nvPr/>
        </p:nvSpPr>
        <p:spPr>
          <a:xfrm>
            <a:off x="731520" y="4443983"/>
            <a:ext cx="2468880" cy="731520"/>
          </a:xfrm>
          <a:prstGeom prst="rect">
            <a:avLst/>
          </a:prstGeom>
          <a:noFill/>
        </p:spPr>
        <p:txBody>
          <a:bodyPr wrap="square" anchor="t" lIns="0" rIns="0" tIns="0" bIns="0">
            <a:spAutoFit/>
          </a:bodyPr>
          <a:lstStyle/>
          <a:p>
            <a:r>
              <a:rPr sz="850" b="0" i="0" spc="30">
                <a:solidFill>
                  <a:srgbClr val="54606C"/>
                </a:solidFill>
                <a:latin typeface="Open Sans"/>
              </a:rPr>
              <a:t>U.S. GOODS IMPORTS FROM (2025)</a:t>
            </a:r>
          </a:p>
          <a:p>
            <a:pPr>
              <a:spcBef>
                <a:spcPts val="100"/>
              </a:spcBef>
            </a:pPr>
            <a:r>
              <a:rPr sz="1450" b="1" i="0">
                <a:solidFill>
                  <a:srgbClr val="0A314D"/>
                </a:solidFill>
                <a:latin typeface="Open Sans"/>
              </a:rPr>
              <a:t>$43.0B</a:t>
            </a:r>
          </a:p>
        </p:txBody>
      </p:sp>
      <p:sp>
        <p:nvSpPr>
          <p:cNvPr id="15" name="TextBox 14"/>
          <p:cNvSpPr txBox="1"/>
          <p:nvPr/>
        </p:nvSpPr>
        <p:spPr>
          <a:xfrm>
            <a:off x="731520" y="5321808"/>
            <a:ext cx="2468880" cy="731520"/>
          </a:xfrm>
          <a:prstGeom prst="rect">
            <a:avLst/>
          </a:prstGeom>
          <a:noFill/>
        </p:spPr>
        <p:txBody>
          <a:bodyPr wrap="square" anchor="t" lIns="0" rIns="0" tIns="0" bIns="0">
            <a:spAutoFit/>
          </a:bodyPr>
          <a:lstStyle/>
          <a:p>
            <a:r>
              <a:rPr sz="850" b="0" i="0" spc="30">
                <a:solidFill>
                  <a:srgbClr val="54606C"/>
                </a:solidFill>
                <a:latin typeface="Open Sans"/>
              </a:rPr>
              <a:t>U.S. BILATERAL BALANCE (2025)</a:t>
            </a:r>
          </a:p>
          <a:p>
            <a:pPr>
              <a:spcBef>
                <a:spcPts val="100"/>
              </a:spcBef>
            </a:pPr>
            <a:r>
              <a:rPr sz="1450" b="1" i="0">
                <a:solidFill>
                  <a:srgbClr val="D46127"/>
                </a:solidFill>
                <a:latin typeface="Open Sans"/>
              </a:rPr>
              <a:t>−$2.6B</a:t>
            </a:r>
            <a:r>
              <a:rPr sz="950" b="0" i="0">
                <a:solidFill>
                  <a:srgbClr val="54606C"/>
                </a:solidFill>
                <a:latin typeface="Open Sans"/>
              </a:rPr>
              <a:t>  deficit</a:t>
            </a:r>
          </a:p>
        </p:txBody>
      </p:sp>
      <p:sp>
        <p:nvSpPr>
          <p:cNvPr id="16" name="TextBox 15"/>
          <p:cNvSpPr txBox="1"/>
          <p:nvPr/>
        </p:nvSpPr>
        <p:spPr>
          <a:xfrm>
            <a:off x="731520" y="5870448"/>
            <a:ext cx="2468880" cy="292608"/>
          </a:xfrm>
          <a:prstGeom prst="rect">
            <a:avLst/>
          </a:prstGeom>
          <a:noFill/>
        </p:spPr>
        <p:txBody>
          <a:bodyPr wrap="square" anchor="t" lIns="0" rIns="0" tIns="0" bIns="0">
            <a:spAutoFit/>
          </a:bodyPr>
          <a:lstStyle/>
          <a:p>
            <a:pPr>
              <a:lnSpc>
                <a:spcPct val="100000"/>
              </a:lnSpc>
            </a:pPr>
            <a:r>
              <a:rPr sz="750" b="0" i="1">
                <a:solidFill>
                  <a:srgbClr val="54606C"/>
                </a:solidFill>
                <a:latin typeface="Open Sans"/>
              </a:rPr>
              <a:t>* U.S. trade figures are U.S.–Africa goods totals (proxy for the AU).</a:t>
            </a:r>
          </a:p>
        </p:txBody>
      </p:sp>
      <p:sp>
        <p:nvSpPr>
          <p:cNvPr id="17" name="TextBox 16"/>
          <p:cNvSpPr txBox="1"/>
          <p:nvPr/>
        </p:nvSpPr>
        <p:spPr>
          <a:xfrm>
            <a:off x="3611880" y="1152144"/>
            <a:ext cx="8028431" cy="219456"/>
          </a:xfrm>
          <a:prstGeom prst="rect">
            <a:avLst/>
          </a:prstGeom>
          <a:noFill/>
        </p:spPr>
        <p:txBody>
          <a:bodyPr wrap="square" anchor="t" lIns="0" rIns="0" tIns="0" bIns="0">
            <a:spAutoFit/>
          </a:bodyPr>
          <a:lstStyle/>
          <a:p>
            <a:r>
              <a:rPr sz="1050" b="1" i="0" spc="120">
                <a:solidFill>
                  <a:srgbClr val="00558C"/>
                </a:solidFill>
                <a:latin typeface="Open Sans"/>
              </a:rPr>
              <a:t>DIGITAL / TECHNOLOGY</a:t>
            </a:r>
          </a:p>
        </p:txBody>
      </p:sp>
      <p:pic>
        <p:nvPicPr>
          <p:cNvPr id="18" name="Picture 17" descr="_ph-bloc-mataboge.png"/>
          <p:cNvPicPr>
            <a:picLocks noChangeAspect="1"/>
          </p:cNvPicPr>
          <p:nvPr/>
        </p:nvPicPr>
        <p:blipFill>
          <a:blip r:embed="rId3"/>
          <a:stretch>
            <a:fillRect/>
          </a:stretch>
        </p:blipFill>
        <p:spPr>
          <a:xfrm>
            <a:off x="3611880" y="1408176"/>
            <a:ext cx="731520" cy="914400"/>
          </a:xfrm>
          <a:prstGeom prst="rect">
            <a:avLst/>
          </a:prstGeom>
        </p:spPr>
      </p:pic>
      <p:sp>
        <p:nvSpPr>
          <p:cNvPr id="19" name="Rectangle 18"/>
          <p:cNvSpPr/>
          <p:nvPr/>
        </p:nvSpPr>
        <p:spPr>
          <a:xfrm>
            <a:off x="3611880" y="1408176"/>
            <a:ext cx="731520"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07992" y="1408176"/>
            <a:ext cx="7132320" cy="256032"/>
          </a:xfrm>
          <a:prstGeom prst="rect">
            <a:avLst/>
          </a:prstGeom>
          <a:noFill/>
        </p:spPr>
        <p:txBody>
          <a:bodyPr wrap="square" anchor="t" lIns="0" rIns="0" tIns="0" bIns="0">
            <a:spAutoFit/>
          </a:bodyPr>
          <a:lstStyle/>
          <a:p>
            <a:r>
              <a:rPr sz="1400" b="1" i="0">
                <a:solidFill>
                  <a:srgbClr val="0A314D"/>
                </a:solidFill>
                <a:latin typeface="Open Sans"/>
              </a:rPr>
              <a:t>Lerato Dorothy Mataboge</a:t>
            </a:r>
          </a:p>
        </p:txBody>
      </p:sp>
      <p:sp>
        <p:nvSpPr>
          <p:cNvPr id="21" name="TextBox 20"/>
          <p:cNvSpPr txBox="1"/>
          <p:nvPr/>
        </p:nvSpPr>
        <p:spPr>
          <a:xfrm>
            <a:off x="4507992" y="1682495"/>
            <a:ext cx="7132320"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Commissioner for Infrastructure and Energy (portfolio covers transport, energy and ICT/digital transformation)</a:t>
            </a:r>
          </a:p>
        </p:txBody>
      </p:sp>
      <p:sp>
        <p:nvSpPr>
          <p:cNvPr id="22" name="TextBox 21"/>
          <p:cNvSpPr txBox="1"/>
          <p:nvPr/>
        </p:nvSpPr>
        <p:spPr>
          <a:xfrm>
            <a:off x="4507992" y="2048256"/>
            <a:ext cx="7132320"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African Union Commission — Department of Infrastructure and Energy</a:t>
            </a:r>
            <a:r>
              <a:rPr sz="950" b="0" i="0">
                <a:solidFill>
                  <a:srgbClr val="757D87"/>
                </a:solidFill>
                <a:latin typeface="Open Sans"/>
              </a:rPr>
              <a:t>   ·   Assumed office: 2025-03-13</a:t>
            </a:r>
          </a:p>
        </p:txBody>
      </p:sp>
      <p:sp>
        <p:nvSpPr>
          <p:cNvPr id="23" name="TextBox 22"/>
          <p:cNvSpPr txBox="1"/>
          <p:nvPr/>
        </p:nvSpPr>
        <p:spPr>
          <a:xfrm>
            <a:off x="3611880" y="2377440"/>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A South African trade-and-investment specialist with over 23 years' experience, Mataboge leads the AU portfolio spanning transport, energy and ICT/digital transformation. She was previously Deputy Director-General at South Africa's Department of Trade, Industry and Competition, founded and led Trade Invest Africa, and served as South Africa's chief trade and investment representative in Washington, D.C. Elected in the February 2025 AUC elections, she was sworn in with the new Commission on 13 March 2025.</a:t>
            </a:r>
          </a:p>
        </p:txBody>
      </p:sp>
      <p:cxnSp>
        <p:nvCxnSpPr>
          <p:cNvPr id="24" name="Connector 23"/>
          <p:cNvCxnSpPr/>
          <p:nvPr/>
        </p:nvCxnSpPr>
        <p:spPr>
          <a:xfrm>
            <a:off x="3611880" y="3730752"/>
            <a:ext cx="802843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11880" y="3785615"/>
            <a:ext cx="8028431" cy="219456"/>
          </a:xfrm>
          <a:prstGeom prst="rect">
            <a:avLst/>
          </a:prstGeom>
          <a:noFill/>
        </p:spPr>
        <p:txBody>
          <a:bodyPr wrap="square" anchor="t" lIns="0" rIns="0" tIns="0" bIns="0">
            <a:spAutoFit/>
          </a:bodyPr>
          <a:lstStyle/>
          <a:p>
            <a:r>
              <a:rPr sz="1050" b="1" i="0" spc="120">
                <a:solidFill>
                  <a:srgbClr val="00558C"/>
                </a:solidFill>
                <a:latin typeface="Open Sans"/>
              </a:rPr>
              <a:t>TRADE / COMMERCE</a:t>
            </a:r>
          </a:p>
        </p:txBody>
      </p:sp>
      <p:pic>
        <p:nvPicPr>
          <p:cNvPr id="26" name="Picture 25" descr="_ph-bloc-belobe.png"/>
          <p:cNvPicPr>
            <a:picLocks noChangeAspect="1"/>
          </p:cNvPicPr>
          <p:nvPr/>
        </p:nvPicPr>
        <p:blipFill>
          <a:blip r:embed="rId4"/>
          <a:stretch>
            <a:fillRect/>
          </a:stretch>
        </p:blipFill>
        <p:spPr>
          <a:xfrm>
            <a:off x="3611880" y="4041648"/>
            <a:ext cx="731520" cy="914400"/>
          </a:xfrm>
          <a:prstGeom prst="rect">
            <a:avLst/>
          </a:prstGeom>
        </p:spPr>
      </p:pic>
      <p:sp>
        <p:nvSpPr>
          <p:cNvPr id="27" name="Rectangle 26"/>
          <p:cNvSpPr/>
          <p:nvPr/>
        </p:nvSpPr>
        <p:spPr>
          <a:xfrm>
            <a:off x="3611880" y="4041648"/>
            <a:ext cx="731520" cy="914400"/>
          </a:xfrm>
          <a:prstGeom prst="rect">
            <a:avLst/>
          </a:prstGeom>
          <a:noFill/>
          <a:ln w="12700">
            <a:solidFill>
              <a:srgbClr val="B1BB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07992" y="4041648"/>
            <a:ext cx="7132320" cy="256032"/>
          </a:xfrm>
          <a:prstGeom prst="rect">
            <a:avLst/>
          </a:prstGeom>
          <a:noFill/>
        </p:spPr>
        <p:txBody>
          <a:bodyPr wrap="square" anchor="t" lIns="0" rIns="0" tIns="0" bIns="0">
            <a:spAutoFit/>
          </a:bodyPr>
          <a:lstStyle/>
          <a:p>
            <a:r>
              <a:rPr sz="1400" b="1" i="0">
                <a:solidFill>
                  <a:srgbClr val="0A314D"/>
                </a:solidFill>
                <a:latin typeface="Open Sans"/>
              </a:rPr>
              <a:t>Francisca Tatchouop Belobe</a:t>
            </a:r>
          </a:p>
        </p:txBody>
      </p:sp>
      <p:sp>
        <p:nvSpPr>
          <p:cNvPr id="29" name="TextBox 28"/>
          <p:cNvSpPr txBox="1"/>
          <p:nvPr/>
        </p:nvSpPr>
        <p:spPr>
          <a:xfrm>
            <a:off x="4507992" y="4315968"/>
            <a:ext cx="7132320" cy="347472"/>
          </a:xfrm>
          <a:prstGeom prst="rect">
            <a:avLst/>
          </a:prstGeom>
          <a:noFill/>
        </p:spPr>
        <p:txBody>
          <a:bodyPr wrap="square" anchor="t" lIns="0" rIns="0" tIns="0" bIns="0">
            <a:spAutoFit/>
          </a:bodyPr>
          <a:lstStyle/>
          <a:p>
            <a:pPr>
              <a:lnSpc>
                <a:spcPct val="105000"/>
              </a:lnSpc>
            </a:pPr>
            <a:r>
              <a:rPr sz="1100" b="0" i="1">
                <a:solidFill>
                  <a:srgbClr val="54606C"/>
                </a:solidFill>
                <a:latin typeface="Open Sans"/>
              </a:rPr>
              <a:t>Commissioner for Economic Development, Trade, Tourism, Industry and Minerals (ETTIM)</a:t>
            </a:r>
          </a:p>
        </p:txBody>
      </p:sp>
      <p:sp>
        <p:nvSpPr>
          <p:cNvPr id="30" name="TextBox 29"/>
          <p:cNvSpPr txBox="1"/>
          <p:nvPr/>
        </p:nvSpPr>
        <p:spPr>
          <a:xfrm>
            <a:off x="4507992" y="4681727"/>
            <a:ext cx="7132320" cy="292608"/>
          </a:xfrm>
          <a:prstGeom prst="rect">
            <a:avLst/>
          </a:prstGeom>
          <a:noFill/>
        </p:spPr>
        <p:txBody>
          <a:bodyPr wrap="square" anchor="t" lIns="0" rIns="0" tIns="0" bIns="0">
            <a:spAutoFit/>
          </a:bodyPr>
          <a:lstStyle/>
          <a:p>
            <a:pPr>
              <a:lnSpc>
                <a:spcPct val="105000"/>
              </a:lnSpc>
            </a:pPr>
            <a:r>
              <a:rPr sz="950" b="0" i="0">
                <a:solidFill>
                  <a:srgbClr val="2C2C2C"/>
                </a:solidFill>
                <a:latin typeface="Open Sans"/>
              </a:rPr>
              <a:t>African Union Commission — Department of Economic Development, Trade, Tourism, Industry and Minerals</a:t>
            </a:r>
            <a:r>
              <a:rPr sz="950" b="0" i="0">
                <a:solidFill>
                  <a:srgbClr val="757D87"/>
                </a:solidFill>
                <a:latin typeface="Open Sans"/>
              </a:rPr>
              <a:t>   ·   Assumed office: September 2025</a:t>
            </a:r>
          </a:p>
        </p:txBody>
      </p:sp>
      <p:sp>
        <p:nvSpPr>
          <p:cNvPr id="31" name="TextBox 30"/>
          <p:cNvSpPr txBox="1"/>
          <p:nvPr/>
        </p:nvSpPr>
        <p:spPr>
          <a:xfrm>
            <a:off x="3611880" y="5010912"/>
            <a:ext cx="8028431" cy="1353311"/>
          </a:xfrm>
          <a:prstGeom prst="rect">
            <a:avLst/>
          </a:prstGeom>
          <a:noFill/>
        </p:spPr>
        <p:txBody>
          <a:bodyPr wrap="square" anchor="t" lIns="0" rIns="0" tIns="0" bIns="0">
            <a:spAutoFit/>
          </a:bodyPr>
          <a:lstStyle/>
          <a:p>
            <a:pPr>
              <a:lnSpc>
                <a:spcPct val="112000"/>
              </a:lnSpc>
            </a:pPr>
            <a:r>
              <a:rPr sz="1050" b="0" i="0">
                <a:solidFill>
                  <a:srgbClr val="2C2C2C"/>
                </a:solidFill>
                <a:latin typeface="Merriweather"/>
              </a:rPr>
              <a:t>An Equatoguinean economist and politician, Tatchouop Belobe heads the AU's economic integration, trade, industry and minerals portfolio. She previously served as Vice-President of the ECCAS Commission (Economic Community of Central African States), Second Vice-President of Equatorial Guinea's National Assembly, and Minister and Deputy Minister of Economy, Trade and SME Promotion.</a:t>
            </a:r>
          </a:p>
          <a:p>
            <a:pPr>
              <a:spcBef>
                <a:spcPts val="500"/>
              </a:spcBef>
            </a:pPr>
            <a:r>
              <a:rPr sz="900" b="0" i="1">
                <a:solidFill>
                  <a:srgbClr val="54606C"/>
                </a:solidFill>
                <a:latin typeface="Open Sans"/>
              </a:rPr>
              <a:t>Also: Wamkele Mene (Secretary-General, African Continental Free Trade Area (AfCFTA) Secretariat)</a:t>
            </a:r>
          </a:p>
        </p:txBody>
      </p:sp>
      <p:cxnSp>
        <p:nvCxnSpPr>
          <p:cNvPr id="32" name="Connector 31"/>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34" name="TextBox 33"/>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35" name="TextBox 34"/>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r>
              <a:rPr sz="800" b="0" i="0">
                <a:solidFill>
                  <a:srgbClr val="757D87"/>
                </a:solidFill>
                <a:latin typeface="Open Sans"/>
              </a:rPr>
              <a:t>    Bloc annex</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91672" cy="411480"/>
          </a:xfrm>
          <a:prstGeom prst="rect">
            <a:avLst/>
          </a:prstGeom>
          <a:noFill/>
        </p:spPr>
        <p:txBody>
          <a:bodyPr wrap="square" anchor="t" lIns="0" rIns="0" tIns="0" bIns="0">
            <a:spAutoFit/>
          </a:bodyPr>
          <a:lstStyle/>
          <a:p>
            <a:r>
              <a:rPr sz="2200" b="1" i="0">
                <a:solidFill>
                  <a:srgbClr val="0A314D"/>
                </a:solidFill>
                <a:latin typeface="Open Sans"/>
              </a:rPr>
              <a:t>Sources &amp; Data Caveats</a:t>
            </a:r>
          </a:p>
        </p:txBody>
      </p:sp>
      <p:sp>
        <p:nvSpPr>
          <p:cNvPr id="4" name="TextBox 3"/>
          <p:cNvSpPr txBox="1"/>
          <p:nvPr/>
        </p:nvSpPr>
        <p:spPr>
          <a:xfrm>
            <a:off x="548640" y="694944"/>
            <a:ext cx="11091672" cy="256032"/>
          </a:xfrm>
          <a:prstGeom prst="rect">
            <a:avLst/>
          </a:prstGeom>
          <a:noFill/>
        </p:spPr>
        <p:txBody>
          <a:bodyPr wrap="square" anchor="t" lIns="0" rIns="0" tIns="0" bIns="0">
            <a:spAutoFit/>
          </a:bodyPr>
          <a:lstStyle/>
          <a:p>
            <a:r>
              <a:rPr sz="1050" b="0" i="0">
                <a:solidFill>
                  <a:srgbClr val="54606C"/>
                </a:solidFill>
                <a:latin typeface="Open Sans"/>
              </a:rPr>
              <a:t>datasets, vintages, and measurement caveats</a:t>
            </a:r>
          </a:p>
        </p:txBody>
      </p:sp>
      <p:sp>
        <p:nvSpPr>
          <p:cNvPr id="5" name="Rectangle 4"/>
          <p:cNvSpPr/>
          <p:nvPr/>
        </p:nvSpPr>
        <p:spPr>
          <a:xfrm>
            <a:off x="548640" y="1005840"/>
            <a:ext cx="2011680" cy="32004"/>
          </a:xfrm>
          <a:prstGeom prst="rect">
            <a:avLst/>
          </a:prstGeom>
          <a:solidFill>
            <a:srgbClr val="B486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394960" cy="4754880"/>
          </a:xfrm>
          <a:prstGeom prst="rect">
            <a:avLst/>
          </a:prstGeom>
          <a:noFill/>
        </p:spPr>
        <p:txBody>
          <a:bodyPr wrap="square" anchor="t" lIns="0" rIns="0" tIns="0" bIns="0">
            <a:spAutoFit/>
          </a:bodyPr>
          <a:lstStyle/>
          <a:p>
            <a:pPr>
              <a:spcBef>
                <a:spcPts val="0"/>
              </a:spcBef>
              <a:spcAft>
                <a:spcPts val="400"/>
              </a:spcAft>
            </a:pPr>
            <a:r>
              <a:rPr sz="1150" b="1" i="0" spc="60">
                <a:solidFill>
                  <a:srgbClr val="0A314D"/>
                </a:solidFill>
                <a:latin typeface="Open Sans"/>
              </a:rPr>
              <a:t>DATASETS &amp; VINTAGES</a:t>
            </a:r>
          </a:p>
          <a:p>
            <a:pPr>
              <a:spcAft>
                <a:spcPts val="400"/>
              </a:spcAft>
            </a:pPr>
            <a:r>
              <a:rPr sz="1100" b="1" i="0">
                <a:solidFill>
                  <a:srgbClr val="B4862D"/>
                </a:solidFill>
                <a:latin typeface="Open Sans"/>
              </a:rPr>
              <a:t>•  </a:t>
            </a:r>
            <a:r>
              <a:rPr sz="1100" b="0" i="0">
                <a:solidFill>
                  <a:srgbClr val="2C2C2C"/>
                </a:solidFill>
                <a:latin typeface="Open Sans"/>
              </a:rPr>
              <a:t>GDP (nominal, current USD): IMF World Economic Outlook, Oct 2025 (2025 estimates), via StatisticsTimes tabulation.</a:t>
            </a:r>
          </a:p>
          <a:p>
            <a:pPr>
              <a:spcAft>
                <a:spcPts val="400"/>
              </a:spcAft>
            </a:pPr>
            <a:r>
              <a:rPr sz="1100" b="1" i="0">
                <a:solidFill>
                  <a:srgbClr val="B4862D"/>
                </a:solidFill>
                <a:latin typeface="Open Sans"/>
              </a:rPr>
              <a:t>•  </a:t>
            </a:r>
            <a:r>
              <a:rPr sz="1100" b="0" i="0">
                <a:solidFill>
                  <a:srgbClr val="2C2C2C"/>
                </a:solidFill>
                <a:latin typeface="Open Sans"/>
              </a:rPr>
              <a:t>U.S. bilateral goods trade: U.S. Census Bureau, full-year 2025, via USTR country fact sheets and the Census/UN-COMTRADE series (Trading Economics mirror).</a:t>
            </a:r>
          </a:p>
          <a:p>
            <a:pPr>
              <a:spcAft>
                <a:spcPts val="400"/>
              </a:spcAft>
            </a:pPr>
            <a:r>
              <a:rPr sz="1100" b="1" i="0">
                <a:solidFill>
                  <a:srgbClr val="B4862D"/>
                </a:solidFill>
                <a:latin typeface="Open Sans"/>
              </a:rPr>
              <a:t>•  </a:t>
            </a:r>
            <a:r>
              <a:rPr sz="1100" b="0" i="0">
                <a:solidFill>
                  <a:srgbClr val="2C2C2C"/>
                </a:solidFill>
                <a:latin typeface="Open Sans"/>
              </a:rPr>
              <a:t>U.S. world totals: Census/BEA FT-900, December &amp; Annual 2025 release.</a:t>
            </a:r>
          </a:p>
          <a:p>
            <a:pPr>
              <a:spcAft>
                <a:spcPts val="400"/>
              </a:spcAft>
            </a:pPr>
            <a:r>
              <a:rPr sz="1100" b="1" i="0">
                <a:solidFill>
                  <a:srgbClr val="B4862D"/>
                </a:solidFill>
                <a:latin typeface="Open Sans"/>
              </a:rPr>
              <a:t>•  </a:t>
            </a:r>
            <a:r>
              <a:rPr sz="1100" b="0" i="0">
                <a:solidFill>
                  <a:srgbClr val="2C2C2C"/>
                </a:solidFill>
                <a:latin typeface="Open Sans"/>
              </a:rPr>
              <a:t>Overall trade balances: national statistics offices / IMF, latest full year, goods basis unless noted.</a:t>
            </a:r>
          </a:p>
          <a:p>
            <a:pPr>
              <a:spcAft>
                <a:spcPts val="400"/>
              </a:spcAft>
            </a:pPr>
            <a:r>
              <a:rPr sz="1100" b="1" i="0">
                <a:solidFill>
                  <a:srgbClr val="B4862D"/>
                </a:solidFill>
                <a:latin typeface="Open Sans"/>
              </a:rPr>
              <a:t>•  </a:t>
            </a:r>
            <a:r>
              <a:rPr sz="1100" b="0" i="0">
                <a:solidFill>
                  <a:srgbClr val="2C2C2C"/>
                </a:solidFill>
                <a:latin typeface="Open Sans"/>
              </a:rPr>
              <a:t>EU &amp; African Union annex: IMF WEO, Eurostat, USTR, and official EU/AU sources, verified 2026-07-16.</a:t>
            </a:r>
          </a:p>
          <a:p>
            <a:pPr>
              <a:spcAft>
                <a:spcPts val="400"/>
              </a:spcAft>
            </a:pPr>
            <a:r>
              <a:rPr sz="1100" b="1" i="0">
                <a:solidFill>
                  <a:srgbClr val="B4862D"/>
                </a:solidFill>
                <a:latin typeface="Open Sans"/>
              </a:rPr>
              <a:t>•  </a:t>
            </a:r>
            <a:r>
              <a:rPr sz="1100" b="0" i="0">
                <a:solidFill>
                  <a:srgbClr val="2C2C2C"/>
                </a:solidFill>
                <a:latin typeface="Open Sans"/>
              </a:rPr>
              <a:t>Officeholders: official government sources and 2026-dated press, verified 2026-07-16 with an independent second pass.</a:t>
            </a:r>
          </a:p>
        </p:txBody>
      </p:sp>
      <p:sp>
        <p:nvSpPr>
          <p:cNvPr id="7" name="TextBox 6"/>
          <p:cNvSpPr txBox="1"/>
          <p:nvPr/>
        </p:nvSpPr>
        <p:spPr>
          <a:xfrm>
            <a:off x="6309360" y="1371600"/>
            <a:ext cx="5349240" cy="4754880"/>
          </a:xfrm>
          <a:prstGeom prst="rect">
            <a:avLst/>
          </a:prstGeom>
          <a:noFill/>
        </p:spPr>
        <p:txBody>
          <a:bodyPr wrap="square" anchor="t" lIns="0" rIns="0" tIns="0" bIns="0">
            <a:spAutoFit/>
          </a:bodyPr>
          <a:lstStyle/>
          <a:p>
            <a:pPr>
              <a:spcBef>
                <a:spcPts val="0"/>
              </a:spcBef>
              <a:spcAft>
                <a:spcPts val="400"/>
              </a:spcAft>
            </a:pPr>
            <a:r>
              <a:rPr sz="1150" b="1" i="0" spc="60">
                <a:solidFill>
                  <a:srgbClr val="0A314D"/>
                </a:solidFill>
                <a:latin typeface="Open Sans"/>
              </a:rPr>
              <a:t>DATA CAVEATS</a:t>
            </a:r>
          </a:p>
          <a:p>
            <a:pPr>
              <a:spcAft>
                <a:spcPts val="400"/>
              </a:spcAft>
            </a:pPr>
            <a:r>
              <a:rPr sz="1100" b="1" i="0">
                <a:solidFill>
                  <a:srgbClr val="B4862D"/>
                </a:solidFill>
                <a:latin typeface="Open Sans"/>
              </a:rPr>
              <a:t>•  </a:t>
            </a:r>
            <a:r>
              <a:rPr sz="1100" b="0" i="0">
                <a:solidFill>
                  <a:srgbClr val="2C2C2C"/>
                </a:solidFill>
                <a:latin typeface="Open Sans"/>
              </a:rPr>
              <a:t>Basis exceptions: Australia's overall balance is goods+services; India's is fiscal year 2025-26. All others goods-only, calendar 2025.</a:t>
            </a:r>
          </a:p>
          <a:p>
            <a:pPr>
              <a:spcAft>
                <a:spcPts val="400"/>
              </a:spcAft>
            </a:pPr>
            <a:r>
              <a:rPr sz="1100" b="1" i="0">
                <a:solidFill>
                  <a:srgbClr val="B4862D"/>
                </a:solidFill>
                <a:latin typeface="Open Sans"/>
              </a:rPr>
              <a:t>•  </a:t>
            </a:r>
            <a:r>
              <a:rPr sz="1100" b="0" i="0">
                <a:solidFill>
                  <a:srgbClr val="2C2C2C"/>
                </a:solidFill>
                <a:latin typeface="Open Sans"/>
              </a:rPr>
              <a:t>Several overall balances are converted from local currency (EUR/GBP/CAD/AUD/JPY/SAR) at ~2025 average rates; USD values carry exchange-rate uncertainty.</a:t>
            </a:r>
          </a:p>
          <a:p>
            <a:pPr>
              <a:spcAft>
                <a:spcPts val="400"/>
              </a:spcAft>
            </a:pPr>
            <a:r>
              <a:rPr sz="1100" b="1" i="0">
                <a:solidFill>
                  <a:srgbClr val="B4862D"/>
                </a:solidFill>
                <a:latin typeface="Open Sans"/>
              </a:rPr>
              <a:t>•  </a:t>
            </a:r>
            <a:r>
              <a:rPr sz="1100" b="0" i="0">
                <a:solidFill>
                  <a:srgbClr val="2C2C2C"/>
                </a:solidFill>
                <a:latin typeface="Open Sans"/>
              </a:rPr>
              <a:t>census.gov and imf.org were not directly reachable from the build environment; figures come from official-data-derived channels.</a:t>
            </a:r>
          </a:p>
          <a:p>
            <a:pPr>
              <a:spcAft>
                <a:spcPts val="400"/>
              </a:spcAft>
            </a:pPr>
            <a:r>
              <a:rPr sz="1100" b="1" i="0">
                <a:solidFill>
                  <a:srgbClr val="B4862D"/>
                </a:solidFill>
                <a:latin typeface="Open Sans"/>
              </a:rPr>
              <a:t>•  </a:t>
            </a:r>
            <a:r>
              <a:rPr sz="1100" b="0" i="0">
                <a:solidFill>
                  <a:srgbClr val="2C2C2C"/>
                </a:solidFill>
                <a:latin typeface="Open Sans"/>
              </a:rPr>
              <a:t>African Union: U.S. trade figures are U.S.–Africa goods totals (proxy); no clean continental goods balance is published (shown N/A).</a:t>
            </a:r>
          </a:p>
          <a:p>
            <a:pPr>
              <a:spcAft>
                <a:spcPts val="400"/>
              </a:spcAft>
            </a:pPr>
            <a:r>
              <a:rPr sz="1100" b="1" i="0">
                <a:solidFill>
                  <a:srgbClr val="B4862D"/>
                </a:solidFill>
                <a:latin typeface="Open Sans"/>
              </a:rPr>
              <a:t>•  </a:t>
            </a:r>
            <a:r>
              <a:rPr sz="1100" b="0" i="0">
                <a:solidFill>
                  <a:srgbClr val="2C2C2C"/>
                </a:solidFill>
                <a:latin typeface="Open Sans"/>
              </a:rPr>
              <a:t>Acting officials: Argentina's domestic commerce portfolio (Lavigne) and Saudi Arabia's GAFT governorship are held on an acting basis.</a:t>
            </a:r>
          </a:p>
          <a:p>
            <a:pPr>
              <a:spcAft>
                <a:spcPts val="400"/>
              </a:spcAft>
            </a:pPr>
            <a:r>
              <a:rPr sz="1100" b="1" i="0">
                <a:solidFill>
                  <a:srgbClr val="B4862D"/>
                </a:solidFill>
                <a:latin typeface="Open Sans"/>
              </a:rPr>
              <a:t>•  </a:t>
            </a:r>
            <a:r>
              <a:rPr sz="1100" b="0" i="0">
                <a:solidFill>
                  <a:srgbClr val="2C2C2C"/>
                </a:solidFill>
                <a:latin typeface="Open Sans"/>
              </a:rPr>
              <a:t>Full uncertainty register (confidence flags, items to re-verify): output/GAPS.md.</a:t>
            </a:r>
          </a:p>
        </p:txBody>
      </p:sp>
      <p:cxnSp>
        <p:nvCxnSpPr>
          <p:cNvPr id="8" name="Connector 7"/>
          <p:cNvCxnSpPr/>
          <p:nvPr/>
        </p:nvCxnSpPr>
        <p:spPr>
          <a:xfrm>
            <a:off x="548640" y="6419088"/>
            <a:ext cx="11091672" cy="0"/>
          </a:xfrm>
          <a:prstGeom prst="bentConnector3">
            <a:avLst/>
          </a:prstGeom>
          <a:ln w="12700">
            <a:solidFill>
              <a:srgbClr val="E5E5E5"/>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8640" y="6492240"/>
            <a:ext cx="7863840" cy="274320"/>
          </a:xfrm>
          <a:prstGeom prst="rect">
            <a:avLst/>
          </a:prstGeom>
          <a:noFill/>
        </p:spPr>
        <p:txBody>
          <a:bodyPr wrap="square" anchor="t" lIns="0" rIns="0" tIns="0" bIns="0">
            <a:spAutoFit/>
          </a:bodyPr>
          <a:lstStyle/>
          <a:p>
            <a:r>
              <a:rPr sz="800" b="1" i="0">
                <a:solidFill>
                  <a:srgbClr val="00558C"/>
                </a:solidFill>
                <a:latin typeface="Open Sans"/>
              </a:rPr>
              <a:t>U.S. Department of Commerce  |  International Trade Administration</a:t>
            </a:r>
          </a:p>
        </p:txBody>
      </p:sp>
      <p:sp>
        <p:nvSpPr>
          <p:cNvPr id="10" name="TextBox 9"/>
          <p:cNvSpPr txBox="1"/>
          <p:nvPr/>
        </p:nvSpPr>
        <p:spPr>
          <a:xfrm>
            <a:off x="548640" y="6656832"/>
            <a:ext cx="7863840" cy="182880"/>
          </a:xfrm>
          <a:prstGeom prst="rect">
            <a:avLst/>
          </a:prstGeom>
          <a:noFill/>
        </p:spPr>
        <p:txBody>
          <a:bodyPr wrap="square" anchor="t" lIns="0" rIns="0" tIns="0" bIns="0">
            <a:spAutoFit/>
          </a:bodyPr>
          <a:lstStyle/>
          <a:p>
            <a:r>
              <a:rPr sz="700" b="0" i="0">
                <a:solidFill>
                  <a:srgbClr val="757D87"/>
                </a:solidFill>
                <a:latin typeface="Open Sans"/>
              </a:rPr>
              <a:t>GDP: IMF WEO 2025 · U.S. goods trade: U.S. Census 2025 · officeholders verified 2026-07-16</a:t>
            </a:r>
          </a:p>
        </p:txBody>
      </p:sp>
      <p:sp>
        <p:nvSpPr>
          <p:cNvPr id="11" name="TextBox 10"/>
          <p:cNvSpPr txBox="1"/>
          <p:nvPr/>
        </p:nvSpPr>
        <p:spPr>
          <a:xfrm>
            <a:off x="9326880" y="6492240"/>
            <a:ext cx="2313432" cy="274320"/>
          </a:xfrm>
          <a:prstGeom prst="rect">
            <a:avLst/>
          </a:prstGeom>
          <a:noFill/>
        </p:spPr>
        <p:txBody>
          <a:bodyPr wrap="square" anchor="t" lIns="0" rIns="0" tIns="0" bIns="0">
            <a:spAutoFit/>
          </a:bodyPr>
          <a:lstStyle/>
          <a:p>
            <a:pPr algn="r"/>
            <a:r>
              <a:rPr sz="850" b="1" i="0">
                <a:solidFill>
                  <a:srgbClr val="00558C"/>
                </a:solidFill>
                <a:latin typeface="Open Sans"/>
              </a:rPr>
              <a:t>trade.gov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