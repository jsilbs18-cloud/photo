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1033272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argentina-genua.png"/>
          <p:cNvPicPr>
            <a:picLocks noChangeAspect="1"/>
          </p:cNvPicPr>
          <p:nvPr/>
        </p:nvPicPr>
        <p:blipFill>
          <a:blip r:embed="rId3"/>
          <a:stretch>
            <a:fillRect/>
          </a:stretch>
        </p:blipFill>
        <p:spPr>
          <a:xfrm>
            <a:off x="3611880" y="1408176"/>
            <a:ext cx="730332" cy="914400"/>
          </a:xfrm>
          <a:prstGeom prst="rect">
            <a:avLst/>
          </a:prstGeom>
        </p:spPr>
      </p:pic>
      <p:sp>
        <p:nvSpPr>
          <p:cNvPr id="17" name="Rectangle 16"/>
          <p:cNvSpPr/>
          <p:nvPr/>
        </p:nvSpPr>
        <p:spPr>
          <a:xfrm>
            <a:off x="3611880" y="1408176"/>
            <a:ext cx="730332"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6804" y="1408176"/>
            <a:ext cx="7133507"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9" name="TextBox 18"/>
          <p:cNvSpPr txBox="1"/>
          <p:nvPr/>
        </p:nvSpPr>
        <p:spPr>
          <a:xfrm>
            <a:off x="4506804" y="1682495"/>
            <a:ext cx="7133507"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20" name="TextBox 19"/>
          <p:cNvSpPr txBox="1"/>
          <p:nvPr/>
        </p:nvSpPr>
        <p:spPr>
          <a:xfrm>
            <a:off x="4506804" y="2048256"/>
            <a:ext cx="7133507"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argentina-quirno.png"/>
          <p:cNvPicPr>
            <a:picLocks noChangeAspect="1"/>
          </p:cNvPicPr>
          <p:nvPr/>
        </p:nvPicPr>
        <p:blipFill>
          <a:blip r:embed="rId4"/>
          <a:stretch>
            <a:fillRect/>
          </a:stretch>
        </p:blipFill>
        <p:spPr>
          <a:xfrm>
            <a:off x="3611880" y="4023359"/>
            <a:ext cx="587433" cy="731520"/>
          </a:xfrm>
          <a:prstGeom prst="rect">
            <a:avLst/>
          </a:prstGeom>
        </p:spPr>
      </p:pic>
      <p:sp>
        <p:nvSpPr>
          <p:cNvPr id="25" name="Rectangle 24"/>
          <p:cNvSpPr/>
          <p:nvPr/>
        </p:nvSpPr>
        <p:spPr>
          <a:xfrm>
            <a:off x="3611880" y="4023359"/>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7328" y="4023359"/>
            <a:ext cx="3134175"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pic>
        <p:nvPicPr>
          <p:cNvPr id="29" name="Picture 28" descr="argentina-lavigne.png"/>
          <p:cNvPicPr>
            <a:picLocks noChangeAspect="1"/>
          </p:cNvPicPr>
          <p:nvPr/>
        </p:nvPicPr>
        <p:blipFill>
          <a:blip r:embed="rId5"/>
          <a:stretch>
            <a:fillRect/>
          </a:stretch>
        </p:blipFill>
        <p:spPr>
          <a:xfrm>
            <a:off x="7790688" y="4023359"/>
            <a:ext cx="584082" cy="731520"/>
          </a:xfrm>
          <a:prstGeom prst="rect">
            <a:avLst/>
          </a:prstGeom>
        </p:spPr>
      </p:pic>
      <p:sp>
        <p:nvSpPr>
          <p:cNvPr id="30" name="Rectangle 29"/>
          <p:cNvSpPr/>
          <p:nvPr/>
        </p:nvSpPr>
        <p:spPr>
          <a:xfrm>
            <a:off x="7790688" y="4023359"/>
            <a:ext cx="58408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2785" y="4023359"/>
            <a:ext cx="3137526"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australia-charlton.png"/>
          <p:cNvPicPr>
            <a:picLocks noChangeAspect="1"/>
          </p:cNvPicPr>
          <p:nvPr/>
        </p:nvPicPr>
        <p:blipFill>
          <a:blip r:embed="rId3"/>
          <a:stretch>
            <a:fillRect/>
          </a:stretch>
        </p:blipFill>
        <p:spPr>
          <a:xfrm>
            <a:off x="3611880" y="1389888"/>
            <a:ext cx="581691" cy="731520"/>
          </a:xfrm>
          <a:prstGeom prst="rect">
            <a:avLst/>
          </a:prstGeom>
        </p:spPr>
      </p:pic>
      <p:sp>
        <p:nvSpPr>
          <p:cNvPr id="17" name="Rectangle 16"/>
          <p:cNvSpPr/>
          <p:nvPr/>
        </p:nvSpPr>
        <p:spPr>
          <a:xfrm>
            <a:off x="3611880" y="1389888"/>
            <a:ext cx="58169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1586" y="1389888"/>
            <a:ext cx="3139917"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Cabinet Secretary and Assistant Minister for Science, Technology and the Digital Economy since 13 May 2025; Labor MP for Parramatta since 2022.</a:t>
            </a:r>
          </a:p>
        </p:txBody>
      </p:sp>
      <p:pic>
        <p:nvPicPr>
          <p:cNvPr id="21" name="Picture 20" descr="australia-ayres.png"/>
          <p:cNvPicPr>
            <a:picLocks noChangeAspect="1"/>
          </p:cNvPicPr>
          <p:nvPr/>
        </p:nvPicPr>
        <p:blipFill>
          <a:blip r:embed="rId4"/>
          <a:stretch>
            <a:fillRect/>
          </a:stretch>
        </p:blipFill>
        <p:spPr>
          <a:xfrm>
            <a:off x="7790688" y="1389888"/>
            <a:ext cx="587433" cy="731520"/>
          </a:xfrm>
          <a:prstGeom prst="rect">
            <a:avLst/>
          </a:prstGeom>
        </p:spPr>
      </p:pic>
      <p:sp>
        <p:nvSpPr>
          <p:cNvPr id="22" name="Rectangle 21"/>
          <p:cNvSpPr/>
          <p:nvPr/>
        </p:nvSpPr>
        <p:spPr>
          <a:xfrm>
            <a:off x="7790688" y="1389888"/>
            <a:ext cx="58743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136" y="1389888"/>
            <a:ext cx="3134175"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for Industry and Innovation and Minister for Science since 13 May 2025; Labor Senator for New South Wales since 2019.</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australia-farrell.png"/>
          <p:cNvPicPr>
            <a:picLocks noChangeAspect="1"/>
          </p:cNvPicPr>
          <p:nvPr/>
        </p:nvPicPr>
        <p:blipFill>
          <a:blip r:embed="rId5"/>
          <a:stretch>
            <a:fillRect/>
          </a:stretch>
        </p:blipFill>
        <p:spPr>
          <a:xfrm>
            <a:off x="3611880" y="4041648"/>
            <a:ext cx="730015" cy="914400"/>
          </a:xfrm>
          <a:prstGeom prst="rect">
            <a:avLst/>
          </a:prstGeom>
        </p:spPr>
      </p:pic>
      <p:sp>
        <p:nvSpPr>
          <p:cNvPr id="29" name="Rectangle 28"/>
          <p:cNvSpPr/>
          <p:nvPr/>
        </p:nvSpPr>
        <p:spPr>
          <a:xfrm>
            <a:off x="3611880" y="4041648"/>
            <a:ext cx="730014"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6486" y="4041648"/>
            <a:ext cx="7133825"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31" name="TextBox 30"/>
          <p:cNvSpPr txBox="1"/>
          <p:nvPr/>
        </p:nvSpPr>
        <p:spPr>
          <a:xfrm>
            <a:off x="4506486" y="4315968"/>
            <a:ext cx="7133825"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32" name="TextBox 31"/>
          <p:cNvSpPr txBox="1"/>
          <p:nvPr/>
        </p:nvSpPr>
        <p:spPr>
          <a:xfrm>
            <a:off x="4506486" y="4681727"/>
            <a:ext cx="7133825"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Senator Donald Edward Farrell (born 1954) is a Labor Senator for South Australia and a former trade unionist who was state secretary of the Shop, Distributive and Allied Employees Association (SDA) from 1993 to 2008.</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brazil-siqueira.png"/>
          <p:cNvPicPr>
            <a:picLocks noChangeAspect="1"/>
          </p:cNvPicPr>
          <p:nvPr/>
        </p:nvPicPr>
        <p:blipFill>
          <a:blip r:embed="rId3"/>
          <a:stretch>
            <a:fillRect/>
          </a:stretch>
        </p:blipFill>
        <p:spPr>
          <a:xfrm>
            <a:off x="3611880" y="1389888"/>
            <a:ext cx="582930" cy="731520"/>
          </a:xfrm>
          <a:prstGeom prst="rect">
            <a:avLst/>
          </a:prstGeom>
        </p:spPr>
      </p:pic>
      <p:sp>
        <p:nvSpPr>
          <p:cNvPr id="17" name="Rectangle 16"/>
          <p:cNvSpPr/>
          <p:nvPr/>
        </p:nvSpPr>
        <p:spPr>
          <a:xfrm>
            <a:off x="3611880" y="1389888"/>
            <a:ext cx="58293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2826" y="1389888"/>
            <a:ext cx="3138677"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pic>
        <p:nvPicPr>
          <p:cNvPr id="21" name="Picture 20" descr="brazil-santo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brazil-rosa.png"/>
          <p:cNvPicPr>
            <a:picLocks noChangeAspect="1"/>
          </p:cNvPicPr>
          <p:nvPr/>
        </p:nvPicPr>
        <p:blipFill>
          <a:blip r:embed="rId5"/>
          <a:stretch>
            <a:fillRect/>
          </a:stretch>
        </p:blipFill>
        <p:spPr>
          <a:xfrm>
            <a:off x="3611880" y="4041648"/>
            <a:ext cx="734291" cy="914400"/>
          </a:xfrm>
          <a:prstGeom prst="rect">
            <a:avLst/>
          </a:prstGeom>
        </p:spPr>
      </p:pic>
      <p:sp>
        <p:nvSpPr>
          <p:cNvPr id="29" name="Rectangle 28"/>
          <p:cNvSpPr/>
          <p:nvPr/>
        </p:nvSpPr>
        <p:spPr>
          <a:xfrm>
            <a:off x="3611880" y="4041648"/>
            <a:ext cx="73429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0762" y="4041648"/>
            <a:ext cx="7129549"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31" name="TextBox 30"/>
          <p:cNvSpPr txBox="1"/>
          <p:nvPr/>
        </p:nvSpPr>
        <p:spPr>
          <a:xfrm>
            <a:off x="4510762" y="4315968"/>
            <a:ext cx="712954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32" name="TextBox 31"/>
          <p:cNvSpPr txBox="1"/>
          <p:nvPr/>
        </p:nvSpPr>
        <p:spPr>
          <a:xfrm>
            <a:off x="4510762" y="4681727"/>
            <a:ext cx="712954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2026-04-06</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canada-solomon.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canada-sidhu.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pic>
        <p:nvPicPr>
          <p:cNvPr id="29" name="Picture 28" descr="canada-leblanc.png"/>
          <p:cNvPicPr>
            <a:picLocks noChangeAspect="1"/>
          </p:cNvPicPr>
          <p:nvPr/>
        </p:nvPicPr>
        <p:blipFill>
          <a:blip r:embed="rId5"/>
          <a:stretch>
            <a:fillRect/>
          </a:stretch>
        </p:blipFill>
        <p:spPr>
          <a:xfrm>
            <a:off x="7790688" y="4023359"/>
            <a:ext cx="581691" cy="731520"/>
          </a:xfrm>
          <a:prstGeom prst="rect">
            <a:avLst/>
          </a:prstGeom>
        </p:spPr>
      </p:pic>
      <p:sp>
        <p:nvSpPr>
          <p:cNvPr id="30" name="Rectangle 29"/>
          <p:cNvSpPr/>
          <p:nvPr/>
        </p:nvSpPr>
        <p:spPr>
          <a:xfrm>
            <a:off x="7790688" y="4023359"/>
            <a:ext cx="58169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0394" y="4023359"/>
            <a:ext cx="3139917"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china-lilecheng.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pic>
        <p:nvPicPr>
          <p:cNvPr id="21" name="Picture 20" descr="china-hejun.png"/>
          <p:cNvPicPr>
            <a:picLocks noChangeAspect="1"/>
          </p:cNvPicPr>
          <p:nvPr/>
        </p:nvPicPr>
        <p:blipFill>
          <a:blip r:embed="rId4"/>
          <a:stretch>
            <a:fillRect/>
          </a:stretch>
        </p:blipFill>
        <p:spPr>
          <a:xfrm>
            <a:off x="7790688" y="1389888"/>
            <a:ext cx="586824" cy="731520"/>
          </a:xfrm>
          <a:prstGeom prst="rect">
            <a:avLst/>
          </a:prstGeom>
        </p:spPr>
      </p:pic>
      <p:sp>
        <p:nvSpPr>
          <p:cNvPr id="22" name="Rectangle 21"/>
          <p:cNvSpPr/>
          <p:nvPr/>
        </p:nvSpPr>
        <p:spPr>
          <a:xfrm>
            <a:off x="7790688" y="1389888"/>
            <a:ext cx="586823"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5527" y="1389888"/>
            <a:ext cx="3134784"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Science and Technology since October 24, 2023, and MOST Party Secretary since October 7, 2023.</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china-wangwentao.png"/>
          <p:cNvPicPr>
            <a:picLocks noChangeAspect="1"/>
          </p:cNvPicPr>
          <p:nvPr/>
        </p:nvPicPr>
        <p:blipFill>
          <a:blip r:embed="rId5"/>
          <a:stretch>
            <a:fillRect/>
          </a:stretch>
        </p:blipFill>
        <p:spPr>
          <a:xfrm>
            <a:off x="3611880" y="4023359"/>
            <a:ext cx="586701" cy="731520"/>
          </a:xfrm>
          <a:prstGeom prst="rect">
            <a:avLst/>
          </a:prstGeom>
        </p:spPr>
      </p:pic>
      <p:sp>
        <p:nvSpPr>
          <p:cNvPr id="29" name="Rectangle 28"/>
          <p:cNvSpPr/>
          <p:nvPr/>
        </p:nvSpPr>
        <p:spPr>
          <a:xfrm>
            <a:off x="3611880" y="4023359"/>
            <a:ext cx="58670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6597" y="4023359"/>
            <a:ext cx="3134906"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pic>
        <p:nvPicPr>
          <p:cNvPr id="33" name="Picture 32" descr="china-lichenggang.png"/>
          <p:cNvPicPr>
            <a:picLocks noChangeAspect="1"/>
          </p:cNvPicPr>
          <p:nvPr/>
        </p:nvPicPr>
        <p:blipFill>
          <a:blip r:embed="rId6"/>
          <a:stretch>
            <a:fillRect/>
          </a:stretch>
        </p:blipFill>
        <p:spPr>
          <a:xfrm>
            <a:off x="7790688" y="4023359"/>
            <a:ext cx="583738" cy="731520"/>
          </a:xfrm>
          <a:prstGeom prst="rect">
            <a:avLst/>
          </a:prstGeom>
        </p:spPr>
      </p:pic>
      <p:sp>
        <p:nvSpPr>
          <p:cNvPr id="34" name="Rectangle 33"/>
          <p:cNvSpPr/>
          <p:nvPr/>
        </p:nvSpPr>
        <p:spPr>
          <a:xfrm>
            <a:off x="7790688" y="4023359"/>
            <a:ext cx="58373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2442" y="4023359"/>
            <a:ext cx="3137869"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france-lehenanff.png"/>
          <p:cNvPicPr>
            <a:picLocks noChangeAspect="1"/>
          </p:cNvPicPr>
          <p:nvPr/>
        </p:nvPicPr>
        <p:blipFill>
          <a:blip r:embed="rId3"/>
          <a:stretch>
            <a:fillRect/>
          </a:stretch>
        </p:blipFill>
        <p:spPr>
          <a:xfrm>
            <a:off x="3611880" y="1408176"/>
            <a:ext cx="729673" cy="914400"/>
          </a:xfrm>
          <a:prstGeom prst="rect">
            <a:avLst/>
          </a:prstGeom>
        </p:spPr>
      </p:pic>
      <p:sp>
        <p:nvSpPr>
          <p:cNvPr id="17" name="Rectangle 16"/>
          <p:cNvSpPr/>
          <p:nvPr/>
        </p:nvSpPr>
        <p:spPr>
          <a:xfrm>
            <a:off x="3611880" y="1408176"/>
            <a:ext cx="729672"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6144" y="1408176"/>
            <a:ext cx="7134167"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9" name="TextBox 18"/>
          <p:cNvSpPr txBox="1"/>
          <p:nvPr/>
        </p:nvSpPr>
        <p:spPr>
          <a:xfrm>
            <a:off x="4506144" y="1682495"/>
            <a:ext cx="7134167"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20" name="TextBox 19"/>
          <p:cNvSpPr txBox="1"/>
          <p:nvPr/>
        </p:nvSpPr>
        <p:spPr>
          <a:xfrm>
            <a:off x="4506144" y="2048256"/>
            <a:ext cx="7134167"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france-forissier.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germany-wildberger.png"/>
          <p:cNvPicPr>
            <a:picLocks noChangeAspect="1"/>
          </p:cNvPicPr>
          <p:nvPr/>
        </p:nvPicPr>
        <p:blipFill>
          <a:blip r:embed="rId3"/>
          <a:stretch>
            <a:fillRect/>
          </a:stretch>
        </p:blipFill>
        <p:spPr>
          <a:xfrm>
            <a:off x="3611880" y="1408176"/>
            <a:ext cx="729673" cy="914400"/>
          </a:xfrm>
          <a:prstGeom prst="rect">
            <a:avLst/>
          </a:prstGeom>
        </p:spPr>
      </p:pic>
      <p:sp>
        <p:nvSpPr>
          <p:cNvPr id="17" name="Rectangle 16"/>
          <p:cNvSpPr/>
          <p:nvPr/>
        </p:nvSpPr>
        <p:spPr>
          <a:xfrm>
            <a:off x="3611880" y="1408176"/>
            <a:ext cx="729672"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6144" y="1408176"/>
            <a:ext cx="7134167"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9" name="TextBox 18"/>
          <p:cNvSpPr txBox="1"/>
          <p:nvPr/>
        </p:nvSpPr>
        <p:spPr>
          <a:xfrm>
            <a:off x="4506144" y="1682495"/>
            <a:ext cx="7134167"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20" name="TextBox 19"/>
          <p:cNvSpPr txBox="1"/>
          <p:nvPr/>
        </p:nvSpPr>
        <p:spPr>
          <a:xfrm>
            <a:off x="4506144" y="2048256"/>
            <a:ext cx="7134167"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germany-reiche.png"/>
          <p:cNvPicPr>
            <a:picLocks noChangeAspect="1"/>
          </p:cNvPicPr>
          <p:nvPr/>
        </p:nvPicPr>
        <p:blipFill>
          <a:blip r:embed="rId4"/>
          <a:stretch>
            <a:fillRect/>
          </a:stretch>
        </p:blipFill>
        <p:spPr>
          <a:xfrm>
            <a:off x="3611880" y="4041648"/>
            <a:ext cx="729673" cy="914400"/>
          </a:xfrm>
          <a:prstGeom prst="rect">
            <a:avLst/>
          </a:prstGeom>
        </p:spPr>
      </p:pic>
      <p:sp>
        <p:nvSpPr>
          <p:cNvPr id="25" name="Rectangle 24"/>
          <p:cNvSpPr/>
          <p:nvPr/>
        </p:nvSpPr>
        <p:spPr>
          <a:xfrm>
            <a:off x="3611880" y="4041648"/>
            <a:ext cx="729672"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6144" y="4041648"/>
            <a:ext cx="7134167"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7" name="TextBox 26"/>
          <p:cNvSpPr txBox="1"/>
          <p:nvPr/>
        </p:nvSpPr>
        <p:spPr>
          <a:xfrm>
            <a:off x="4506144" y="4315968"/>
            <a:ext cx="7134167"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8" name="TextBox 27"/>
          <p:cNvSpPr txBox="1"/>
          <p:nvPr/>
        </p:nvSpPr>
        <p:spPr>
          <a:xfrm>
            <a:off x="4506144" y="4681727"/>
            <a:ext cx="7134167"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ia-vaishnaw.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ia-goyal.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pic>
        <p:nvPicPr>
          <p:cNvPr id="29" name="Picture 28" descr="india-agrawal.png"/>
          <p:cNvPicPr>
            <a:picLocks noChangeAspect="1"/>
          </p:cNvPicPr>
          <p:nvPr/>
        </p:nvPicPr>
        <p:blipFill>
          <a:blip r:embed="rId5"/>
          <a:stretch>
            <a:fillRect/>
          </a:stretch>
        </p:blipFill>
        <p:spPr>
          <a:xfrm>
            <a:off x="7790688" y="4023359"/>
            <a:ext cx="583738" cy="731520"/>
          </a:xfrm>
          <a:prstGeom prst="rect">
            <a:avLst/>
          </a:prstGeom>
        </p:spPr>
      </p:pic>
      <p:sp>
        <p:nvSpPr>
          <p:cNvPr id="30" name="Rectangle 29"/>
          <p:cNvSpPr/>
          <p:nvPr/>
        </p:nvSpPr>
        <p:spPr>
          <a:xfrm>
            <a:off x="7790688" y="4023359"/>
            <a:ext cx="58373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2442" y="4023359"/>
            <a:ext cx="3137869"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onesia-hafid.png"/>
          <p:cNvPicPr>
            <a:picLocks noChangeAspect="1"/>
          </p:cNvPicPr>
          <p:nvPr/>
        </p:nvPicPr>
        <p:blipFill>
          <a:blip r:embed="rId3"/>
          <a:stretch>
            <a:fillRect/>
          </a:stretch>
        </p:blipFill>
        <p:spPr>
          <a:xfrm>
            <a:off x="3611880" y="1408176"/>
            <a:ext cx="729673" cy="914400"/>
          </a:xfrm>
          <a:prstGeom prst="rect">
            <a:avLst/>
          </a:prstGeom>
        </p:spPr>
      </p:pic>
      <p:sp>
        <p:nvSpPr>
          <p:cNvPr id="17" name="Rectangle 16"/>
          <p:cNvSpPr/>
          <p:nvPr/>
        </p:nvSpPr>
        <p:spPr>
          <a:xfrm>
            <a:off x="3611880" y="1408176"/>
            <a:ext cx="729672"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6144" y="1408176"/>
            <a:ext cx="7134167"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9" name="TextBox 18"/>
          <p:cNvSpPr txBox="1"/>
          <p:nvPr/>
        </p:nvSpPr>
        <p:spPr>
          <a:xfrm>
            <a:off x="4506144" y="1682495"/>
            <a:ext cx="7134167"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20" name="TextBox 19"/>
          <p:cNvSpPr txBox="1"/>
          <p:nvPr/>
        </p:nvSpPr>
        <p:spPr>
          <a:xfrm>
            <a:off x="4506144" y="2048256"/>
            <a:ext cx="7134167"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onesia-santoso.png"/>
          <p:cNvPicPr>
            <a:picLocks noChangeAspect="1"/>
          </p:cNvPicPr>
          <p:nvPr/>
        </p:nvPicPr>
        <p:blipFill>
          <a:blip r:embed="rId4"/>
          <a:stretch>
            <a:fillRect/>
          </a:stretch>
        </p:blipFill>
        <p:spPr>
          <a:xfrm>
            <a:off x="3611880" y="4023359"/>
            <a:ext cx="586701" cy="731520"/>
          </a:xfrm>
          <a:prstGeom prst="rect">
            <a:avLst/>
          </a:prstGeom>
        </p:spPr>
      </p:pic>
      <p:sp>
        <p:nvSpPr>
          <p:cNvPr id="25" name="Rectangle 24"/>
          <p:cNvSpPr/>
          <p:nvPr/>
        </p:nvSpPr>
        <p:spPr>
          <a:xfrm>
            <a:off x="3611880" y="4023359"/>
            <a:ext cx="58670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6597" y="4023359"/>
            <a:ext cx="3134906"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pic>
        <p:nvPicPr>
          <p:cNvPr id="29" name="Picture 28" descr="indonesia-airlangga.png"/>
          <p:cNvPicPr>
            <a:picLocks noChangeAspect="1"/>
          </p:cNvPicPr>
          <p:nvPr/>
        </p:nvPicPr>
        <p:blipFill>
          <a:blip r:embed="rId5"/>
          <a:stretch>
            <a:fillRect/>
          </a:stretch>
        </p:blipFill>
        <p:spPr>
          <a:xfrm>
            <a:off x="7790688" y="4023359"/>
            <a:ext cx="583738" cy="731520"/>
          </a:xfrm>
          <a:prstGeom prst="rect">
            <a:avLst/>
          </a:prstGeom>
        </p:spPr>
      </p:pic>
      <p:sp>
        <p:nvSpPr>
          <p:cNvPr id="30" name="Rectangle 29"/>
          <p:cNvSpPr/>
          <p:nvPr/>
        </p:nvSpPr>
        <p:spPr>
          <a:xfrm>
            <a:off x="7790688" y="4023359"/>
            <a:ext cx="58373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2442" y="4023359"/>
            <a:ext cx="3137869"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taly-butti.png"/>
          <p:cNvPicPr>
            <a:picLocks noChangeAspect="1"/>
          </p:cNvPicPr>
          <p:nvPr/>
        </p:nvPicPr>
        <p:blipFill>
          <a:blip r:embed="rId3"/>
          <a:stretch>
            <a:fillRect/>
          </a:stretch>
        </p:blipFill>
        <p:spPr>
          <a:xfrm>
            <a:off x="3611880" y="1408176"/>
            <a:ext cx="729673" cy="914400"/>
          </a:xfrm>
          <a:prstGeom prst="rect">
            <a:avLst/>
          </a:prstGeom>
        </p:spPr>
      </p:pic>
      <p:sp>
        <p:nvSpPr>
          <p:cNvPr id="17" name="Rectangle 16"/>
          <p:cNvSpPr/>
          <p:nvPr/>
        </p:nvSpPr>
        <p:spPr>
          <a:xfrm>
            <a:off x="3611880" y="1408176"/>
            <a:ext cx="729672"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6144" y="1408176"/>
            <a:ext cx="7134167"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9" name="TextBox 18"/>
          <p:cNvSpPr txBox="1"/>
          <p:nvPr/>
        </p:nvSpPr>
        <p:spPr>
          <a:xfrm>
            <a:off x="4506144" y="1682495"/>
            <a:ext cx="7134167"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20" name="TextBox 19"/>
          <p:cNvSpPr txBox="1"/>
          <p:nvPr/>
        </p:nvSpPr>
        <p:spPr>
          <a:xfrm>
            <a:off x="4506144" y="2048256"/>
            <a:ext cx="7134167"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taly-tajani.png"/>
          <p:cNvPicPr>
            <a:picLocks noChangeAspect="1"/>
          </p:cNvPicPr>
          <p:nvPr/>
        </p:nvPicPr>
        <p:blipFill>
          <a:blip r:embed="rId4"/>
          <a:stretch>
            <a:fillRect/>
          </a:stretch>
        </p:blipFill>
        <p:spPr>
          <a:xfrm>
            <a:off x="3611880" y="4023359"/>
            <a:ext cx="583738" cy="731520"/>
          </a:xfrm>
          <a:prstGeom prst="rect">
            <a:avLst/>
          </a:prstGeom>
        </p:spPr>
      </p:pic>
      <p:sp>
        <p:nvSpPr>
          <p:cNvPr id="25" name="Rectangle 24"/>
          <p:cNvSpPr/>
          <p:nvPr/>
        </p:nvSpPr>
        <p:spPr>
          <a:xfrm>
            <a:off x="3611880" y="4023359"/>
            <a:ext cx="58373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3634" y="4023359"/>
            <a:ext cx="3137869"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pic>
        <p:nvPicPr>
          <p:cNvPr id="29" name="Picture 28" descr="italy-urso.png"/>
          <p:cNvPicPr>
            <a:picLocks noChangeAspect="1"/>
          </p:cNvPicPr>
          <p:nvPr/>
        </p:nvPicPr>
        <p:blipFill>
          <a:blip r:embed="rId5"/>
          <a:stretch>
            <a:fillRect/>
          </a:stretch>
        </p:blipFill>
        <p:spPr>
          <a:xfrm>
            <a:off x="7790688" y="4023359"/>
            <a:ext cx="585982" cy="731520"/>
          </a:xfrm>
          <a:prstGeom prst="rect">
            <a:avLst/>
          </a:prstGeom>
        </p:spPr>
      </p:pic>
      <p:sp>
        <p:nvSpPr>
          <p:cNvPr id="30" name="Rectangle 29"/>
          <p:cNvSpPr/>
          <p:nvPr/>
        </p:nvSpPr>
        <p:spPr>
          <a:xfrm>
            <a:off x="7790688" y="4023359"/>
            <a:ext cx="58598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4685" y="4023359"/>
            <a:ext cx="3135626"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japan-matsumoto.png"/>
          <p:cNvPicPr>
            <a:picLocks noChangeAspect="1"/>
          </p:cNvPicPr>
          <p:nvPr/>
        </p:nvPicPr>
        <p:blipFill>
          <a:blip r:embed="rId3"/>
          <a:stretch>
            <a:fillRect/>
          </a:stretch>
        </p:blipFill>
        <p:spPr>
          <a:xfrm>
            <a:off x="3611880" y="1408176"/>
            <a:ext cx="732622" cy="914400"/>
          </a:xfrm>
          <a:prstGeom prst="rect">
            <a:avLst/>
          </a:prstGeom>
        </p:spPr>
      </p:pic>
      <p:sp>
        <p:nvSpPr>
          <p:cNvPr id="17" name="Rectangle 16"/>
          <p:cNvSpPr/>
          <p:nvPr/>
        </p:nvSpPr>
        <p:spPr>
          <a:xfrm>
            <a:off x="3611880" y="1408176"/>
            <a:ext cx="73262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9093" y="1408176"/>
            <a:ext cx="7131218"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9" name="TextBox 18"/>
          <p:cNvSpPr txBox="1"/>
          <p:nvPr/>
        </p:nvSpPr>
        <p:spPr>
          <a:xfrm>
            <a:off x="4509093" y="1682495"/>
            <a:ext cx="713121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20" name="TextBox 19"/>
          <p:cNvSpPr txBox="1"/>
          <p:nvPr/>
        </p:nvSpPr>
        <p:spPr>
          <a:xfrm>
            <a:off x="4509093" y="2048256"/>
            <a:ext cx="713121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japan-akazawa.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Akazawa Ryosei is a Liberal Democratic Party member of the House of Representatives for Tottori's 2nd district, first elected in 2005. A University of Tokyo Law graduate with a Cornell MBA, he spent about two decades as an MLIT-lineage bureaucrat.</a:t>
            </a:r>
          </a:p>
          <a:p>
            <a:pPr>
              <a:spcBef>
                <a:spcPts val="500"/>
              </a:spcBef>
            </a:pPr>
            <a:r>
              <a:rPr sz="900" b="0" i="1">
                <a:solidFill>
                  <a:srgbClr val="54606C"/>
                </a:solidFill>
                <a:latin typeface="Open Sans"/>
              </a:rPr>
              <a:t>Also: Motegi Toshimitsu (Minister for Foreign Affairs)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mexico-pena.png"/>
          <p:cNvPicPr>
            <a:picLocks noChangeAspect="1"/>
          </p:cNvPicPr>
          <p:nvPr/>
        </p:nvPicPr>
        <p:blipFill>
          <a:blip r:embed="rId3"/>
          <a:stretch>
            <a:fillRect/>
          </a:stretch>
        </p:blipFill>
        <p:spPr>
          <a:xfrm>
            <a:off x="3611880" y="1408176"/>
            <a:ext cx="733377" cy="914400"/>
          </a:xfrm>
          <a:prstGeom prst="rect">
            <a:avLst/>
          </a:prstGeom>
        </p:spPr>
      </p:pic>
      <p:sp>
        <p:nvSpPr>
          <p:cNvPr id="17" name="Rectangle 16"/>
          <p:cNvSpPr/>
          <p:nvPr/>
        </p:nvSpPr>
        <p:spPr>
          <a:xfrm>
            <a:off x="3611880" y="1408176"/>
            <a:ext cx="733376"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9848" y="1408176"/>
            <a:ext cx="7130463"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9" name="TextBox 18"/>
          <p:cNvSpPr txBox="1"/>
          <p:nvPr/>
        </p:nvSpPr>
        <p:spPr>
          <a:xfrm>
            <a:off x="4509848" y="1682495"/>
            <a:ext cx="7130463"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20" name="TextBox 19"/>
          <p:cNvSpPr txBox="1"/>
          <p:nvPr/>
        </p:nvSpPr>
        <p:spPr>
          <a:xfrm>
            <a:off x="4509848" y="2048256"/>
            <a:ext cx="7130463"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mexico-ebrard.png"/>
          <p:cNvPicPr>
            <a:picLocks noChangeAspect="1"/>
          </p:cNvPicPr>
          <p:nvPr/>
        </p:nvPicPr>
        <p:blipFill>
          <a:blip r:embed="rId4"/>
          <a:stretch>
            <a:fillRect/>
          </a:stretch>
        </p:blipFill>
        <p:spPr>
          <a:xfrm>
            <a:off x="3611880" y="4023359"/>
            <a:ext cx="586701" cy="731520"/>
          </a:xfrm>
          <a:prstGeom prst="rect">
            <a:avLst/>
          </a:prstGeom>
        </p:spPr>
      </p:pic>
      <p:sp>
        <p:nvSpPr>
          <p:cNvPr id="25" name="Rectangle 24"/>
          <p:cNvSpPr/>
          <p:nvPr/>
        </p:nvSpPr>
        <p:spPr>
          <a:xfrm>
            <a:off x="3611880" y="4023359"/>
            <a:ext cx="58670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6597" y="4023359"/>
            <a:ext cx="3134906"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pic>
        <p:nvPicPr>
          <p:cNvPr id="29" name="Picture 28" descr="mexico-gutierrez.png"/>
          <p:cNvPicPr>
            <a:picLocks noChangeAspect="1"/>
          </p:cNvPicPr>
          <p:nvPr/>
        </p:nvPicPr>
        <p:blipFill>
          <a:blip r:embed="rId5"/>
          <a:stretch>
            <a:fillRect/>
          </a:stretch>
        </p:blipFill>
        <p:spPr>
          <a:xfrm>
            <a:off x="7790688" y="4023359"/>
            <a:ext cx="583738" cy="731520"/>
          </a:xfrm>
          <a:prstGeom prst="rect">
            <a:avLst/>
          </a:prstGeom>
        </p:spPr>
      </p:pic>
      <p:sp>
        <p:nvSpPr>
          <p:cNvPr id="30" name="Rectangle 29"/>
          <p:cNvSpPr/>
          <p:nvPr/>
        </p:nvSpPr>
        <p:spPr>
          <a:xfrm>
            <a:off x="7790688" y="4023359"/>
            <a:ext cx="58373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2442" y="4023359"/>
            <a:ext cx="3137869"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poland-gawkowski.png"/>
          <p:cNvPicPr>
            <a:picLocks noChangeAspect="1"/>
          </p:cNvPicPr>
          <p:nvPr/>
        </p:nvPicPr>
        <p:blipFill>
          <a:blip r:embed="rId3"/>
          <a:stretch>
            <a:fillRect/>
          </a:stretch>
        </p:blipFill>
        <p:spPr>
          <a:xfrm>
            <a:off x="3611880" y="1408176"/>
            <a:ext cx="733377" cy="914400"/>
          </a:xfrm>
          <a:prstGeom prst="rect">
            <a:avLst/>
          </a:prstGeom>
        </p:spPr>
      </p:pic>
      <p:sp>
        <p:nvSpPr>
          <p:cNvPr id="17" name="Rectangle 16"/>
          <p:cNvSpPr/>
          <p:nvPr/>
        </p:nvSpPr>
        <p:spPr>
          <a:xfrm>
            <a:off x="3611880" y="1408176"/>
            <a:ext cx="733376"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9848" y="1408176"/>
            <a:ext cx="7130463"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9" name="TextBox 18"/>
          <p:cNvSpPr txBox="1"/>
          <p:nvPr/>
        </p:nvSpPr>
        <p:spPr>
          <a:xfrm>
            <a:off x="4509848" y="1682495"/>
            <a:ext cx="7130463"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20" name="TextBox 19"/>
          <p:cNvSpPr txBox="1"/>
          <p:nvPr/>
        </p:nvSpPr>
        <p:spPr>
          <a:xfrm>
            <a:off x="4509848" y="2048256"/>
            <a:ext cx="7130463"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Krzysztof Gawkowski (b. 1980) is a Polish political scientist and New Left (Nowa Lewica) politician, serving as the party's deputy chairman.</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poland-domansk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pic>
        <p:nvPicPr>
          <p:cNvPr id="29" name="Picture 28" descr="poland-baranowski.png"/>
          <p:cNvPicPr>
            <a:picLocks noChangeAspect="1"/>
          </p:cNvPicPr>
          <p:nvPr/>
        </p:nvPicPr>
        <p:blipFill>
          <a:blip r:embed="rId5"/>
          <a:stretch>
            <a:fillRect/>
          </a:stretch>
        </p:blipFill>
        <p:spPr>
          <a:xfrm>
            <a:off x="7790688" y="4023359"/>
            <a:ext cx="586701" cy="731520"/>
          </a:xfrm>
          <a:prstGeom prst="rect">
            <a:avLst/>
          </a:prstGeom>
        </p:spPr>
      </p:pic>
      <p:sp>
        <p:nvSpPr>
          <p:cNvPr id="30" name="Rectangle 29"/>
          <p:cNvSpPr/>
          <p:nvPr/>
        </p:nvSpPr>
        <p:spPr>
          <a:xfrm>
            <a:off x="7790688" y="4023359"/>
            <a:ext cx="58670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5405" y="4023359"/>
            <a:ext cx="3134906"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russia-shadayev.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russia-alikhanov.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pic>
        <p:nvPicPr>
          <p:cNvPr id="29" name="Picture 28" descr="russia-reshetnikov.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saudi-alswah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saudi-alqasab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pic>
        <p:nvPicPr>
          <p:cNvPr id="29" name="Picture 28" descr="saudi-abduljabbar.png"/>
          <p:cNvPicPr>
            <a:picLocks noChangeAspect="1"/>
          </p:cNvPicPr>
          <p:nvPr/>
        </p:nvPicPr>
        <p:blipFill>
          <a:blip r:embed="rId5"/>
          <a:stretch>
            <a:fillRect/>
          </a:stretch>
        </p:blipFill>
        <p:spPr>
          <a:xfrm>
            <a:off x="7790688" y="4023359"/>
            <a:ext cx="586701" cy="731520"/>
          </a:xfrm>
          <a:prstGeom prst="rect">
            <a:avLst/>
          </a:prstGeom>
        </p:spPr>
      </p:pic>
      <p:sp>
        <p:nvSpPr>
          <p:cNvPr id="30" name="Rectangle 29"/>
          <p:cNvSpPr/>
          <p:nvPr/>
        </p:nvSpPr>
        <p:spPr>
          <a:xfrm>
            <a:off x="7790688" y="4023359"/>
            <a:ext cx="586701"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5405" y="4023359"/>
            <a:ext cx="3134906"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korea-bae.png"/>
          <p:cNvPicPr>
            <a:picLocks noChangeAspect="1"/>
          </p:cNvPicPr>
          <p:nvPr/>
        </p:nvPicPr>
        <p:blipFill>
          <a:blip r:embed="rId3"/>
          <a:stretch>
            <a:fillRect/>
          </a:stretch>
        </p:blipFill>
        <p:spPr>
          <a:xfrm>
            <a:off x="3611880" y="1408176"/>
            <a:ext cx="723481" cy="914400"/>
          </a:xfrm>
          <a:prstGeom prst="rect">
            <a:avLst/>
          </a:prstGeom>
        </p:spPr>
      </p:pic>
      <p:sp>
        <p:nvSpPr>
          <p:cNvPr id="17" name="Rectangle 16"/>
          <p:cNvSpPr/>
          <p:nvPr/>
        </p:nvSpPr>
        <p:spPr>
          <a:xfrm>
            <a:off x="3611880" y="1408176"/>
            <a:ext cx="72348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9953" y="1408176"/>
            <a:ext cx="7140358"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9" name="TextBox 18"/>
          <p:cNvSpPr txBox="1"/>
          <p:nvPr/>
        </p:nvSpPr>
        <p:spPr>
          <a:xfrm>
            <a:off x="4499953" y="1682495"/>
            <a:ext cx="714035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20" name="TextBox 19"/>
          <p:cNvSpPr txBox="1"/>
          <p:nvPr/>
        </p:nvSpPr>
        <p:spPr>
          <a:xfrm>
            <a:off x="4499953" y="2048256"/>
            <a:ext cx="714035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korea-kim.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Kim Jung-kwan, a finance technocrat who served at Korea's Ministry of Economy and Finance, the Bank of Korea and the World Bank and led Doosan Enerbility, was nominated by President Lee and took office in July 2025 heading the renamed MOTIR.</a:t>
            </a:r>
          </a:p>
        </p:txBody>
      </p:sp>
      <p:pic>
        <p:nvPicPr>
          <p:cNvPr id="29" name="Picture 28" descr="korea-yeo.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turkiye-kacir.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turkiye-bolat.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uk-kendall.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uk-kyle.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Peter Kyle, Labour MP for Hove and Portslade since 2015, became Secretary of State for Business and Trade and President of the Board of Trade in the September 2025 reshuffle. He was previously Science, Innovation and Technology Secretary (2024-2025).</a:t>
            </a:r>
          </a:p>
        </p:txBody>
      </p:sp>
      <p:pic>
        <p:nvPicPr>
          <p:cNvPr id="29" name="Picture 28" descr="uk-bryant.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Sir Chris Bryant, a former Anglican priest and Labour MP since 2001, now for Rhondda and Ogmore, was appointed Minister of State for Trade Policy and Economic Security at DBT on 6 September 2025, succeeding Douglas Alexander.</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us-kratsios.png"/>
          <p:cNvPicPr>
            <a:picLocks noChangeAspect="1"/>
          </p:cNvPicPr>
          <p:nvPr/>
        </p:nvPicPr>
        <p:blipFill>
          <a:blip r:embed="rId3"/>
          <a:stretch>
            <a:fillRect/>
          </a:stretch>
        </p:blipFill>
        <p:spPr>
          <a:xfrm>
            <a:off x="3611880" y="1389888"/>
            <a:ext cx="578785" cy="731520"/>
          </a:xfrm>
          <a:prstGeom prst="rect">
            <a:avLst/>
          </a:prstGeom>
        </p:spPr>
      </p:pic>
      <p:sp>
        <p:nvSpPr>
          <p:cNvPr id="17" name="Rectangle 16"/>
          <p:cNvSpPr/>
          <p:nvPr/>
        </p:nvSpPr>
        <p:spPr>
          <a:xfrm>
            <a:off x="3611880" y="1389888"/>
            <a:ext cx="578785"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8681" y="1389888"/>
            <a:ext cx="3142822"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pic>
        <p:nvPicPr>
          <p:cNvPr id="21" name="Picture 20" descr="us-roth.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us-lutnick.png"/>
          <p:cNvPicPr>
            <a:picLocks noChangeAspect="1"/>
          </p:cNvPicPr>
          <p:nvPr/>
        </p:nvPicPr>
        <p:blipFill>
          <a:blip r:embed="rId5"/>
          <a:stretch>
            <a:fillRect/>
          </a:stretch>
        </p:blipFill>
        <p:spPr>
          <a:xfrm>
            <a:off x="3611880" y="4023359"/>
            <a:ext cx="585216" cy="731520"/>
          </a:xfrm>
          <a:prstGeom prst="rect">
            <a:avLst/>
          </a:prstGeom>
        </p:spPr>
      </p:pic>
      <p:sp>
        <p:nvSpPr>
          <p:cNvPr id="29" name="Rectangle 28"/>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Howard Lutnick, the 41st U.S. Secretary of Commerce, was confirmed February 18, 2025. Longtime chairman and CEO of Cantor Fitzgerald, which he rebuilt after 9/11, he oversees trade policy, tariffs and export controls, and co-chaired Trump's 2024-25 transition.</a:t>
            </a:r>
          </a:p>
        </p:txBody>
      </p:sp>
      <p:pic>
        <p:nvPicPr>
          <p:cNvPr id="33" name="Picture 32" descr="us-greer.png"/>
          <p:cNvPicPr>
            <a:picLocks noChangeAspect="1"/>
          </p:cNvPicPr>
          <p:nvPr/>
        </p:nvPicPr>
        <p:blipFill>
          <a:blip r:embed="rId6"/>
          <a:stretch>
            <a:fillRect/>
          </a:stretch>
        </p:blipFill>
        <p:spPr>
          <a:xfrm>
            <a:off x="7790688" y="4023359"/>
            <a:ext cx="585216" cy="731520"/>
          </a:xfrm>
          <a:prstGeom prst="rect">
            <a:avLst/>
          </a:prstGeom>
        </p:spPr>
      </p:pic>
      <p:sp>
        <p:nvSpPr>
          <p:cNvPr id="34" name="Rectangle 33"/>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7" name="Picture 16" descr="bloc-virkkunen.png"/>
          <p:cNvPicPr>
            <a:picLocks noChangeAspect="1"/>
          </p:cNvPicPr>
          <p:nvPr/>
        </p:nvPicPr>
        <p:blipFill>
          <a:blip r:embed="rId3"/>
          <a:stretch>
            <a:fillRect/>
          </a:stretch>
        </p:blipFill>
        <p:spPr>
          <a:xfrm>
            <a:off x="3611880" y="1408176"/>
            <a:ext cx="731520" cy="914400"/>
          </a:xfrm>
          <a:prstGeom prst="rect">
            <a:avLst/>
          </a:prstGeom>
        </p:spPr>
      </p:pic>
      <p:sp>
        <p:nvSpPr>
          <p:cNvPr id="18" name="Rectangle 17"/>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20" name="TextBox 19"/>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21" name="TextBox 20"/>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2" name="TextBox 21"/>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3" name="Connector 22"/>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5" name="Picture 24" descr="bloc-sefcovic.png"/>
          <p:cNvPicPr>
            <a:picLocks noChangeAspect="1"/>
          </p:cNvPicPr>
          <p:nvPr/>
        </p:nvPicPr>
        <p:blipFill>
          <a:blip r:embed="rId4"/>
          <a:stretch>
            <a:fillRect/>
          </a:stretch>
        </p:blipFill>
        <p:spPr>
          <a:xfrm>
            <a:off x="3611880" y="4041648"/>
            <a:ext cx="731520" cy="914400"/>
          </a:xfrm>
          <a:prstGeom prst="rect">
            <a:avLst/>
          </a:prstGeom>
        </p:spPr>
      </p:pic>
      <p:sp>
        <p:nvSpPr>
          <p:cNvPr id="26" name="Rectangle 25"/>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8" name="TextBox 27"/>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9" name="TextBox 28"/>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30" name="TextBox 29"/>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31" name="Connector 30"/>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3" name="TextBox 32"/>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4" name="TextBox 33"/>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8" name="Picture 17" descr="bloc-mataboge.png"/>
          <p:cNvPicPr>
            <a:picLocks noChangeAspect="1"/>
          </p:cNvPicPr>
          <p:nvPr/>
        </p:nvPicPr>
        <p:blipFill>
          <a:blip r:embed="rId3"/>
          <a:stretch>
            <a:fillRect/>
          </a:stretch>
        </p:blipFill>
        <p:spPr>
          <a:xfrm>
            <a:off x="3611880" y="1408176"/>
            <a:ext cx="731520" cy="914400"/>
          </a:xfrm>
          <a:prstGeom prst="rect">
            <a:avLst/>
          </a:prstGeom>
        </p:spPr>
      </p:pic>
      <p:sp>
        <p:nvSpPr>
          <p:cNvPr id="19" name="Rectangle 18"/>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21" name="TextBox 20"/>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2" name="TextBox 21"/>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3" name="TextBox 22"/>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4" name="Connector 23"/>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6" name="Picture 25" descr="bloc-belobe.png"/>
          <p:cNvPicPr>
            <a:picLocks noChangeAspect="1"/>
          </p:cNvPicPr>
          <p:nvPr/>
        </p:nvPicPr>
        <p:blipFill>
          <a:blip r:embed="rId4"/>
          <a:stretch>
            <a:fillRect/>
          </a:stretch>
        </p:blipFill>
        <p:spPr>
          <a:xfrm>
            <a:off x="3611880" y="4041648"/>
            <a:ext cx="731520" cy="914400"/>
          </a:xfrm>
          <a:prstGeom prst="rect">
            <a:avLst/>
          </a:prstGeom>
        </p:spPr>
      </p:pic>
      <p:sp>
        <p:nvSpPr>
          <p:cNvPr id="27" name="Rectangle 26"/>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9" name="TextBox 28"/>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30" name="TextBox 29"/>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31" name="TextBox 30"/>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32" name="Connector 31"/>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4" name="TextBox 33"/>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5" name="TextBox 34"/>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Data Caveats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caveats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539496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DATASETS &amp; VINTAGES</a:t>
            </a:r>
          </a:p>
          <a:p>
            <a:pPr>
              <a:spcAft>
                <a:spcPts val="400"/>
              </a:spcAft>
            </a:pPr>
            <a:r>
              <a:rPr sz="1100" b="1" i="0">
                <a:solidFill>
                  <a:srgbClr val="B4862D"/>
                </a:solidFill>
                <a:latin typeface="Open Sans"/>
              </a:rPr>
              <a:t>•  </a:t>
            </a:r>
            <a:r>
              <a:rPr sz="1100" b="0" i="0">
                <a:solidFill>
                  <a:srgbClr val="2C2C2C"/>
                </a:solidFill>
                <a:latin typeface="Open Sans"/>
              </a:rPr>
              <a:t>GDP (nominal, current USD): IMF World Economic Outlook, Oct 2025 (2025 estimates), via StatisticsTimes tabulation.</a:t>
            </a:r>
          </a:p>
          <a:p>
            <a:pPr>
              <a:spcAft>
                <a:spcPts val="400"/>
              </a:spcAft>
            </a:pPr>
            <a:r>
              <a:rPr sz="1100" b="1" i="0">
                <a:solidFill>
                  <a:srgbClr val="B4862D"/>
                </a:solidFill>
                <a:latin typeface="Open Sans"/>
              </a:rPr>
              <a:t>•  </a:t>
            </a:r>
            <a:r>
              <a:rPr sz="1100" b="0" i="0">
                <a:solidFill>
                  <a:srgbClr val="2C2C2C"/>
                </a:solidFill>
                <a:latin typeface="Open Sans"/>
              </a:rPr>
              <a:t>U.S. bilateral goods trade: U.S. Census Bureau, full-year 2025, via USTR country fact sheets and the Census/UN-COMTRADE series (Trading Economics mirror).</a:t>
            </a:r>
          </a:p>
          <a:p>
            <a:pPr>
              <a:spcAft>
                <a:spcPts val="4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spcAft>
                <a:spcPts val="400"/>
              </a:spcAft>
            </a:pPr>
            <a:r>
              <a:rPr sz="1100" b="1" i="0">
                <a:solidFill>
                  <a:srgbClr val="B4862D"/>
                </a:solidFill>
                <a:latin typeface="Open Sans"/>
              </a:rPr>
              <a:t>•  </a:t>
            </a:r>
            <a:r>
              <a:rPr sz="1100" b="0" i="0">
                <a:solidFill>
                  <a:srgbClr val="2C2C2C"/>
                </a:solidFill>
                <a:latin typeface="Open Sans"/>
              </a:rPr>
              <a:t>Overall trade balances: national statistics offices / IMF, latest full year, goods basis unless noted.</a:t>
            </a:r>
          </a:p>
          <a:p>
            <a:pPr>
              <a:spcAft>
                <a:spcPts val="400"/>
              </a:spcAft>
            </a:pPr>
            <a:r>
              <a:rPr sz="1100" b="1" i="0">
                <a:solidFill>
                  <a:srgbClr val="B4862D"/>
                </a:solidFill>
                <a:latin typeface="Open Sans"/>
              </a:rPr>
              <a:t>•  </a:t>
            </a:r>
            <a:r>
              <a:rPr sz="1100" b="0" i="0">
                <a:solidFill>
                  <a:srgbClr val="2C2C2C"/>
                </a:solidFill>
                <a:latin typeface="Open Sans"/>
              </a:rPr>
              <a:t>EU &amp; African Union annex: IMF WEO, Eurostat, USTR, and official EU/AU sources, verified 2026-07-16.</a:t>
            </a:r>
          </a:p>
          <a:p>
            <a:pPr>
              <a:spcAft>
                <a:spcPts val="400"/>
              </a:spcAft>
            </a:pPr>
            <a:r>
              <a:rPr sz="1100" b="1" i="0">
                <a:solidFill>
                  <a:srgbClr val="B4862D"/>
                </a:solidFill>
                <a:latin typeface="Open Sans"/>
              </a:rPr>
              <a:t>•  </a:t>
            </a:r>
            <a:r>
              <a:rPr sz="110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09360" y="1371600"/>
            <a:ext cx="534924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 CAVEATS</a:t>
            </a:r>
          </a:p>
          <a:p>
            <a:pPr>
              <a:spcAft>
                <a:spcPts val="400"/>
              </a:spcAft>
            </a:pPr>
            <a:r>
              <a:rPr sz="1100" b="1" i="0">
                <a:solidFill>
                  <a:srgbClr val="B4862D"/>
                </a:solidFill>
                <a:latin typeface="Open Sans"/>
              </a:rPr>
              <a:t>•  </a:t>
            </a:r>
            <a:r>
              <a:rPr sz="1100" b="0" i="0">
                <a:solidFill>
                  <a:srgbClr val="2C2C2C"/>
                </a:solidFill>
                <a:latin typeface="Open Sans"/>
              </a:rPr>
              <a:t>Basis exceptions: Australia's overall balance is goods+services; India's is fiscal year 2025-26. All others goods-only, calendar 2025.</a:t>
            </a:r>
          </a:p>
          <a:p>
            <a:pPr>
              <a:spcAft>
                <a:spcPts val="400"/>
              </a:spcAft>
            </a:pPr>
            <a:r>
              <a:rPr sz="1100" b="1" i="0">
                <a:solidFill>
                  <a:srgbClr val="B4862D"/>
                </a:solidFill>
                <a:latin typeface="Open Sans"/>
              </a:rPr>
              <a:t>•  </a:t>
            </a:r>
            <a:r>
              <a:rPr sz="1100" b="0" i="0">
                <a:solidFill>
                  <a:srgbClr val="2C2C2C"/>
                </a:solidFill>
                <a:latin typeface="Open Sans"/>
              </a:rPr>
              <a:t>Several overall balances are converted from local currency (EUR/GBP/CAD/AUD/JPY/SAR) at ~2025 average rates; USD values carry exchange-rate uncertainty.</a:t>
            </a:r>
          </a:p>
          <a:p>
            <a:pPr>
              <a:spcAft>
                <a:spcPts val="400"/>
              </a:spcAft>
            </a:pPr>
            <a:r>
              <a:rPr sz="1100" b="1" i="0">
                <a:solidFill>
                  <a:srgbClr val="B4862D"/>
                </a:solidFill>
                <a:latin typeface="Open Sans"/>
              </a:rPr>
              <a:t>•  </a:t>
            </a:r>
            <a:r>
              <a:rPr sz="1100" b="0" i="0">
                <a:solidFill>
                  <a:srgbClr val="2C2C2C"/>
                </a:solidFill>
                <a:latin typeface="Open Sans"/>
              </a:rPr>
              <a:t>census.gov and imf.org were not directly reachable from the build environment; figures come from official-data-derived channels.</a:t>
            </a:r>
          </a:p>
          <a:p>
            <a:pPr>
              <a:spcAft>
                <a:spcPts val="400"/>
              </a:spcAft>
            </a:pPr>
            <a:r>
              <a:rPr sz="1100" b="1" i="0">
                <a:solidFill>
                  <a:srgbClr val="B4862D"/>
                </a:solidFill>
                <a:latin typeface="Open Sans"/>
              </a:rPr>
              <a:t>•  </a:t>
            </a:r>
            <a:r>
              <a:rPr sz="1100" b="0" i="0">
                <a:solidFill>
                  <a:srgbClr val="2C2C2C"/>
                </a:solidFill>
                <a:latin typeface="Open Sans"/>
              </a:rPr>
              <a:t>African Union: U.S. trade figures are U.S.–Africa goods totals (proxy); no clean continental goods balance is published (shown N/A).</a:t>
            </a:r>
          </a:p>
          <a:p>
            <a:pPr>
              <a:spcAft>
                <a:spcPts val="400"/>
              </a:spcAft>
            </a:pPr>
            <a:r>
              <a:rPr sz="1100" b="1" i="0">
                <a:solidFill>
                  <a:srgbClr val="B4862D"/>
                </a:solidFill>
                <a:latin typeface="Open Sans"/>
              </a:rPr>
              <a:t>•  </a:t>
            </a:r>
            <a:r>
              <a:rPr sz="1100" b="0" i="0">
                <a:solidFill>
                  <a:srgbClr val="2C2C2C"/>
                </a:solidFill>
                <a:latin typeface="Open Sans"/>
              </a:rPr>
              <a:t>Acting officials: Argentina's domestic commerce portfolio (Lavigne) and Saudi Arabia's GAFT governorship are held on an acting basis.</a:t>
            </a:r>
          </a:p>
          <a:p>
            <a:pPr>
              <a:spcAft>
                <a:spcPts val="400"/>
              </a:spcAft>
            </a:pPr>
            <a:r>
              <a:rPr sz="1100" b="1" i="0">
                <a:solidFill>
                  <a:srgbClr val="B4862D"/>
                </a:solidFill>
                <a:latin typeface="Open Sans"/>
              </a:rPr>
              <a:t>•  </a:t>
            </a:r>
            <a:r>
              <a:rPr sz="1100" b="0" i="0">
                <a:solidFill>
                  <a:srgbClr val="2C2C2C"/>
                </a:solidFill>
                <a:latin typeface="Open Sans"/>
              </a:rPr>
              <a:t>Full uncertainty register (confidence flags, items to re-verify):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