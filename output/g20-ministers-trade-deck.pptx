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1033272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Cabinet Secretary and Assistant Minister for Science, Technology and the Digital Economy since 13 May 2025; Labor MP for Parramatta since 2022.</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for Industry and Innovation and Minister for Science since 13 May 2025; Labor Senator for New South Wales since 2019.</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25" name="TextBox 24"/>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26" name="TextBox 25"/>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27" name="TextBox 26"/>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Senator Donald Edward Farrell (born 1954) is a Labor Senator for South Australia and a former trade unionist who was state secretary of the Shop, Distributive and Allied Employees Association (SDA) from 1993 to 2008.</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25" name="TextBox 24"/>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26" name="TextBox 25"/>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2026-04-06</a:t>
            </a:r>
          </a:p>
        </p:txBody>
      </p:sp>
      <p:sp>
        <p:nvSpPr>
          <p:cNvPr id="27" name="TextBox 26"/>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Science and Technology since October 24, 2023, and MOST Party Secretary since October 7, 2023.</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25" name="TextBox 24"/>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26" name="TextBox 25"/>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sp>
        <p:nvSpPr>
          <p:cNvPr id="27" name="TextBox 26"/>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28" name="TextBox 27"/>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29" name="TextBox 28"/>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Akazawa Ryosei is a Liberal Democratic Party member of the House of Representatives for Tottori's 2nd district, first elected in 2005. A University of Tokyo Law graduate with a Cornell MBA, he spent about two decades as an MLIT-lineage bureaucrat.</a:t>
            </a:r>
          </a:p>
          <a:p>
            <a:pPr>
              <a:spcBef>
                <a:spcPts val="500"/>
              </a:spcBef>
            </a:pPr>
            <a:r>
              <a:rPr sz="900" b="0" i="1">
                <a:solidFill>
                  <a:srgbClr val="54606C"/>
                </a:solidFill>
                <a:latin typeface="Open Sans"/>
              </a:rPr>
              <a:t>Also: Motegi Toshimitsu (Minister for Foreign Affairs)</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Krzysztof Gawkowski (b. 1980) is a Polish political scientist and New Left (Nowa Lewica) politician, serving as the party's deputy chairman.</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Kim Jung-kwan, a finance technocrat who served at Korea's Ministry of Economy and Finance, the Bank of Korea and the World Bank and led Doosan Enerbility, was nominated by President Lee and took office in July 2025 heading the renamed MOTIR.</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Peter Kyle, Labour MP for Hove and Portslade since 2015, became Secretary of State for Business and Trade and President of the Board of Trade in the September 2025 reshuffle. He was previously Science, Innovation and Technology Secretary (2024-2025).</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Sir Chris Bryant, a former Anglican priest and Labour MP since 2001, now for Rhondda and Ogmore, was appointed Minister of State for Trade Policy and Economic Security at DBT on 6 September 2025, succeeding Douglas Alexander.</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25" name="TextBox 24"/>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26" name="TextBox 25"/>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Howard Lutnick, the 41st U.S. Secretary of Commerce, was confirmed February 18, 2025. Longtime chairman and CEO of Cantor Fitzgerald, which he rebuilt after 9/11, he oversees trade policy, tariffs and export controls, and co-chaired Trump's 2024-25 transition.</a:t>
            </a:r>
          </a:p>
        </p:txBody>
      </p:sp>
      <p:sp>
        <p:nvSpPr>
          <p:cNvPr id="27" name="TextBox 26"/>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28" name="TextBox 27"/>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29" name="TextBox 28"/>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7" name="TextBox 16"/>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18" name="TextBox 17"/>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19" name="TextBox 18"/>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0" name="TextBox 19"/>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1" name="Connector 20"/>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3" name="TextBox 22"/>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4" name="TextBox 23"/>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5" name="TextBox 24"/>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26" name="TextBox 25"/>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27" name="Connector 2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9" name="TextBox 2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0" name="TextBox 2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8" name="TextBox 17"/>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19" name="TextBox 18"/>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0" name="TextBox 19"/>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5" name="TextBox 24"/>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26" name="TextBox 25"/>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27" name="TextBox 26"/>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Data Caveats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caveats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539496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DATASETS &amp; VINTAGES</a:t>
            </a:r>
          </a:p>
          <a:p>
            <a:pPr>
              <a:spcAft>
                <a:spcPts val="400"/>
              </a:spcAft>
            </a:pPr>
            <a:r>
              <a:rPr sz="1100" b="1" i="0">
                <a:solidFill>
                  <a:srgbClr val="B4862D"/>
                </a:solidFill>
                <a:latin typeface="Open Sans"/>
              </a:rPr>
              <a:t>•  </a:t>
            </a:r>
            <a:r>
              <a:rPr sz="1100" b="0" i="0">
                <a:solidFill>
                  <a:srgbClr val="2C2C2C"/>
                </a:solidFill>
                <a:latin typeface="Open Sans"/>
              </a:rPr>
              <a:t>GDP (nominal, current USD): IMF World Economic Outlook, Oct 2025 (2025 estimates), via StatisticsTimes tabulation.</a:t>
            </a:r>
          </a:p>
          <a:p>
            <a:pPr>
              <a:spcAft>
                <a:spcPts val="400"/>
              </a:spcAft>
            </a:pPr>
            <a:r>
              <a:rPr sz="1100" b="1" i="0">
                <a:solidFill>
                  <a:srgbClr val="B4862D"/>
                </a:solidFill>
                <a:latin typeface="Open Sans"/>
              </a:rPr>
              <a:t>•  </a:t>
            </a:r>
            <a:r>
              <a:rPr sz="1100" b="0" i="0">
                <a:solidFill>
                  <a:srgbClr val="2C2C2C"/>
                </a:solidFill>
                <a:latin typeface="Open Sans"/>
              </a:rPr>
              <a:t>U.S. bilateral goods trade: U.S. Census Bureau, full-year 2025, via USTR country fact sheets and the Census/UN-COMTRADE series (Trading Economics mirror).</a:t>
            </a:r>
          </a:p>
          <a:p>
            <a:pPr>
              <a:spcAft>
                <a:spcPts val="4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spcAft>
                <a:spcPts val="400"/>
              </a:spcAft>
            </a:pPr>
            <a:r>
              <a:rPr sz="1100" b="1" i="0">
                <a:solidFill>
                  <a:srgbClr val="B4862D"/>
                </a:solidFill>
                <a:latin typeface="Open Sans"/>
              </a:rPr>
              <a:t>•  </a:t>
            </a:r>
            <a:r>
              <a:rPr sz="1100" b="0" i="0">
                <a:solidFill>
                  <a:srgbClr val="2C2C2C"/>
                </a:solidFill>
                <a:latin typeface="Open Sans"/>
              </a:rPr>
              <a:t>Overall trade balances: national statistics offices / IMF, latest full year, goods basis unless noted.</a:t>
            </a:r>
          </a:p>
          <a:p>
            <a:pPr>
              <a:spcAft>
                <a:spcPts val="400"/>
              </a:spcAft>
            </a:pPr>
            <a:r>
              <a:rPr sz="1100" b="1" i="0">
                <a:solidFill>
                  <a:srgbClr val="B4862D"/>
                </a:solidFill>
                <a:latin typeface="Open Sans"/>
              </a:rPr>
              <a:t>•  </a:t>
            </a:r>
            <a:r>
              <a:rPr sz="1100" b="0" i="0">
                <a:solidFill>
                  <a:srgbClr val="2C2C2C"/>
                </a:solidFill>
                <a:latin typeface="Open Sans"/>
              </a:rPr>
              <a:t>EU &amp; African Union annex: IMF WEO, Eurostat, USTR, and official EU/AU sources, verified 2026-07-16.</a:t>
            </a:r>
          </a:p>
          <a:p>
            <a:pPr>
              <a:spcAft>
                <a:spcPts val="400"/>
              </a:spcAft>
            </a:pPr>
            <a:r>
              <a:rPr sz="1100" b="1" i="0">
                <a:solidFill>
                  <a:srgbClr val="B4862D"/>
                </a:solidFill>
                <a:latin typeface="Open Sans"/>
              </a:rPr>
              <a:t>•  </a:t>
            </a:r>
            <a:r>
              <a:rPr sz="110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09360" y="1371600"/>
            <a:ext cx="534924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 CAVEATS</a:t>
            </a:r>
          </a:p>
          <a:p>
            <a:pPr>
              <a:spcAft>
                <a:spcPts val="400"/>
              </a:spcAft>
            </a:pPr>
            <a:r>
              <a:rPr sz="1100" b="1" i="0">
                <a:solidFill>
                  <a:srgbClr val="B4862D"/>
                </a:solidFill>
                <a:latin typeface="Open Sans"/>
              </a:rPr>
              <a:t>•  </a:t>
            </a:r>
            <a:r>
              <a:rPr sz="1100" b="0" i="0">
                <a:solidFill>
                  <a:srgbClr val="2C2C2C"/>
                </a:solidFill>
                <a:latin typeface="Open Sans"/>
              </a:rPr>
              <a:t>Basis exceptions: Australia's overall balance is goods+services; India's is fiscal year 2025-26. All others goods-only, calendar 2025.</a:t>
            </a:r>
          </a:p>
          <a:p>
            <a:pPr>
              <a:spcAft>
                <a:spcPts val="400"/>
              </a:spcAft>
            </a:pPr>
            <a:r>
              <a:rPr sz="1100" b="1" i="0">
                <a:solidFill>
                  <a:srgbClr val="B4862D"/>
                </a:solidFill>
                <a:latin typeface="Open Sans"/>
              </a:rPr>
              <a:t>•  </a:t>
            </a:r>
            <a:r>
              <a:rPr sz="1100" b="0" i="0">
                <a:solidFill>
                  <a:srgbClr val="2C2C2C"/>
                </a:solidFill>
                <a:latin typeface="Open Sans"/>
              </a:rPr>
              <a:t>Several overall balances are converted from local currency (EUR/GBP/CAD/AUD/JPY/SAR) at ~2025 average rates; USD values carry exchange-rate uncertainty.</a:t>
            </a:r>
          </a:p>
          <a:p>
            <a:pPr>
              <a:spcAft>
                <a:spcPts val="400"/>
              </a:spcAft>
            </a:pPr>
            <a:r>
              <a:rPr sz="1100" b="1" i="0">
                <a:solidFill>
                  <a:srgbClr val="B4862D"/>
                </a:solidFill>
                <a:latin typeface="Open Sans"/>
              </a:rPr>
              <a:t>•  </a:t>
            </a:r>
            <a:r>
              <a:rPr sz="1100" b="0" i="0">
                <a:solidFill>
                  <a:srgbClr val="2C2C2C"/>
                </a:solidFill>
                <a:latin typeface="Open Sans"/>
              </a:rPr>
              <a:t>census.gov and imf.org were not directly reachable from the build environment; figures come from official-data-derived channels.</a:t>
            </a:r>
          </a:p>
          <a:p>
            <a:pPr>
              <a:spcAft>
                <a:spcPts val="400"/>
              </a:spcAft>
            </a:pPr>
            <a:r>
              <a:rPr sz="1100" b="1" i="0">
                <a:solidFill>
                  <a:srgbClr val="B4862D"/>
                </a:solidFill>
                <a:latin typeface="Open Sans"/>
              </a:rPr>
              <a:t>•  </a:t>
            </a:r>
            <a:r>
              <a:rPr sz="1100" b="0" i="0">
                <a:solidFill>
                  <a:srgbClr val="2C2C2C"/>
                </a:solidFill>
                <a:latin typeface="Open Sans"/>
              </a:rPr>
              <a:t>African Union: U.S. trade figures are U.S.–Africa goods totals (proxy); no clean continental goods balance is published (shown N/A).</a:t>
            </a:r>
          </a:p>
          <a:p>
            <a:pPr>
              <a:spcAft>
                <a:spcPts val="400"/>
              </a:spcAft>
            </a:pPr>
            <a:r>
              <a:rPr sz="1100" b="1" i="0">
                <a:solidFill>
                  <a:srgbClr val="B4862D"/>
                </a:solidFill>
                <a:latin typeface="Open Sans"/>
              </a:rPr>
              <a:t>•  </a:t>
            </a:r>
            <a:r>
              <a:rPr sz="1100" b="0" i="0">
                <a:solidFill>
                  <a:srgbClr val="2C2C2C"/>
                </a:solidFill>
                <a:latin typeface="Open Sans"/>
              </a:rPr>
              <a:t>Acting officials: Argentina's domestic commerce portfolio (Lavigne) and Saudi Arabia's GAFT governorship are held on an acting basis.</a:t>
            </a:r>
          </a:p>
          <a:p>
            <a:pPr>
              <a:spcAft>
                <a:spcPts val="400"/>
              </a:spcAft>
            </a:pPr>
            <a:r>
              <a:rPr sz="1100" b="1" i="0">
                <a:solidFill>
                  <a:srgbClr val="B4862D"/>
                </a:solidFill>
                <a:latin typeface="Open Sans"/>
              </a:rPr>
              <a:t>•  </a:t>
            </a:r>
            <a:r>
              <a:rPr sz="1100" b="0" i="0">
                <a:solidFill>
                  <a:srgbClr val="2C2C2C"/>
                </a:solidFill>
                <a:latin typeface="Open Sans"/>
              </a:rPr>
              <a:t>Full uncertainty register (confidence flags, items to re-verify):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