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19500000">
            <a:off x="8229600" y="-1463040"/>
            <a:ext cx="6858000" cy="777240"/>
          </a:xfrm>
          <a:prstGeom prst="rect">
            <a:avLst/>
          </a:prstGeom>
          <a:solidFill>
            <a:srgbClr val="0055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9500000">
            <a:off x="9418320" y="-1737360"/>
            <a:ext cx="6858000" cy="502920"/>
          </a:xfrm>
          <a:prstGeom prst="rect">
            <a:avLst/>
          </a:prstGeom>
          <a:solidFill>
            <a:srgbClr val="B1B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9500000">
            <a:off x="7406640" y="-1097280"/>
            <a:ext cx="6858000" cy="274320"/>
          </a:xfrm>
          <a:prstGeom prst="rect">
            <a:avLst/>
          </a:prstGeom>
          <a:solidFill>
            <a:srgbClr val="00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seal-white.png"/>
          <p:cNvPicPr>
            <a:picLocks noChangeAspect="1"/>
          </p:cNvPicPr>
          <p:nvPr/>
        </p:nvPicPr>
        <p:blipFill>
          <a:blip r:embed="rId2"/>
          <a:stretch>
            <a:fillRect/>
          </a:stretch>
        </p:blipFill>
        <p:spPr>
          <a:xfrm>
            <a:off x="548640" y="438912"/>
            <a:ext cx="658368" cy="658368"/>
          </a:xfrm>
          <a:prstGeom prst="rect">
            <a:avLst/>
          </a:prstGeom>
        </p:spPr>
      </p:pic>
      <p:sp>
        <p:nvSpPr>
          <p:cNvPr id="7" name="TextBox 6"/>
          <p:cNvSpPr txBox="1"/>
          <p:nvPr/>
        </p:nvSpPr>
        <p:spPr>
          <a:xfrm>
            <a:off x="1408175" y="502920"/>
            <a:ext cx="6400800" cy="603504"/>
          </a:xfrm>
          <a:prstGeom prst="rect">
            <a:avLst/>
          </a:prstGeom>
          <a:noFill/>
        </p:spPr>
        <p:txBody>
          <a:bodyPr wrap="square" anchor="ctr" lIns="0" rIns="0" tIns="0" bIns="0">
            <a:spAutoFit/>
          </a:bodyPr>
          <a:lstStyle/>
          <a:p>
            <a:r>
              <a:rPr sz="1050" b="1" i="0" spc="160">
                <a:solidFill>
                  <a:srgbClr val="FFFFFF"/>
                </a:solidFill>
                <a:latin typeface="Open Sans"/>
              </a:rPr>
              <a:t>U.S. DEPARTMENT OF COMMERCE</a:t>
            </a:r>
          </a:p>
          <a:p>
            <a:pPr>
              <a:spcBef>
                <a:spcPts val="300"/>
              </a:spcBef>
            </a:pPr>
            <a:r>
              <a:rPr sz="1050" b="0" i="0" spc="160">
                <a:solidFill>
                  <a:srgbClr val="B9C9D9"/>
                </a:solidFill>
                <a:latin typeface="Open Sans"/>
              </a:rPr>
              <a:t>INTERNATIONAL TRADE ADMINISTRATION</a:t>
            </a:r>
          </a:p>
        </p:txBody>
      </p:sp>
      <p:sp>
        <p:nvSpPr>
          <p:cNvPr id="8" name="TextBox 7"/>
          <p:cNvSpPr txBox="1"/>
          <p:nvPr/>
        </p:nvSpPr>
        <p:spPr>
          <a:xfrm>
            <a:off x="914400" y="2606040"/>
            <a:ext cx="9601200" cy="1463040"/>
          </a:xfrm>
          <a:prstGeom prst="rect">
            <a:avLst/>
          </a:prstGeom>
          <a:noFill/>
        </p:spPr>
        <p:txBody>
          <a:bodyPr wrap="square" anchor="t" lIns="0" rIns="0" tIns="0" bIns="0">
            <a:spAutoFit/>
          </a:bodyPr>
          <a:lstStyle/>
          <a:p>
            <a:r>
              <a:rPr sz="3600" b="1" i="0">
                <a:solidFill>
                  <a:srgbClr val="FFFFFF"/>
                </a:solidFill>
                <a:latin typeface="Open Sans"/>
              </a:rPr>
              <a:t>G20 Digital &amp; Trade Ministers</a:t>
            </a:r>
          </a:p>
          <a:p>
            <a:pPr>
              <a:spcBef>
                <a:spcPts val="800"/>
              </a:spcBef>
            </a:pPr>
            <a:r>
              <a:rPr sz="2000" b="0" i="0">
                <a:solidFill>
                  <a:srgbClr val="B1BBCA"/>
                </a:solidFill>
                <a:latin typeface="Open Sans"/>
              </a:rPr>
              <a:t>GDP and U.S. Bilateral Trade Profiles</a:t>
            </a:r>
          </a:p>
        </p:txBody>
      </p:sp>
      <p:sp>
        <p:nvSpPr>
          <p:cNvPr id="9" name="Rectangle 8"/>
          <p:cNvSpPr/>
          <p:nvPr/>
        </p:nvSpPr>
        <p:spPr>
          <a:xfrm>
            <a:off x="932688" y="4041648"/>
            <a:ext cx="210312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4434840"/>
            <a:ext cx="7863840" cy="475488"/>
          </a:xfrm>
          <a:prstGeom prst="rect">
            <a:avLst/>
          </a:prstGeom>
          <a:noFill/>
          <a:ln w="12700">
            <a:solidFill>
              <a:srgbClr val="5B77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4434840"/>
            <a:ext cx="7498079" cy="475488"/>
          </a:xfrm>
          <a:prstGeom prst="rect">
            <a:avLst/>
          </a:prstGeom>
          <a:noFill/>
        </p:spPr>
        <p:txBody>
          <a:bodyPr wrap="square" anchor="ctr" lIns="0" rIns="0" tIns="0" bIns="0">
            <a:spAutoFit/>
          </a:bodyPr>
          <a:lstStyle/>
          <a:p>
            <a:r>
              <a:rPr sz="1200" b="0" i="0">
                <a:solidFill>
                  <a:srgbClr val="FFFFFF"/>
                </a:solidFill>
                <a:latin typeface="Open Sans"/>
              </a:rPr>
              <a:t>Internal Reference  |  Trade data: 2025 full year (goods basis)  |  July 16, 2026</a:t>
            </a:r>
          </a:p>
        </p:txBody>
      </p:sp>
      <p:sp>
        <p:nvSpPr>
          <p:cNvPr id="12" name="TextBox 11"/>
          <p:cNvSpPr txBox="1"/>
          <p:nvPr/>
        </p:nvSpPr>
        <p:spPr>
          <a:xfrm>
            <a:off x="548640" y="6355080"/>
            <a:ext cx="7863840" cy="274320"/>
          </a:xfrm>
          <a:prstGeom prst="rect">
            <a:avLst/>
          </a:prstGeom>
          <a:noFill/>
        </p:spPr>
        <p:txBody>
          <a:bodyPr wrap="square" anchor="t" lIns="0" rIns="0" tIns="0" bIns="0">
            <a:spAutoFit/>
          </a:bodyPr>
          <a:lstStyle/>
          <a:p>
            <a:r>
              <a:rPr sz="900" b="1" i="0">
                <a:solidFill>
                  <a:srgbClr val="FFFFFF"/>
                </a:solidFill>
                <a:latin typeface="Open Sans"/>
              </a:rPr>
              <a:t>U.S. Department of Commerce  |  International Trade Administration</a:t>
            </a:r>
          </a:p>
        </p:txBody>
      </p:sp>
      <p:sp>
        <p:nvSpPr>
          <p:cNvPr id="13" name="TextBox 12"/>
          <p:cNvSpPr txBox="1"/>
          <p:nvPr/>
        </p:nvSpPr>
        <p:spPr>
          <a:xfrm>
            <a:off x="9326880" y="6355080"/>
            <a:ext cx="2313432" cy="274320"/>
          </a:xfrm>
          <a:prstGeom prst="rect">
            <a:avLst/>
          </a:prstGeom>
          <a:noFill/>
        </p:spPr>
        <p:txBody>
          <a:bodyPr wrap="square" anchor="t" lIns="0" rIns="0" tIns="0" bIns="0">
            <a:spAutoFit/>
          </a:bodyPr>
          <a:lstStyle/>
          <a:p>
            <a:pPr algn="r"/>
            <a:r>
              <a:rPr sz="900" b="1" i="0">
                <a:solidFill>
                  <a:srgbClr val="FFFFFF"/>
                </a:solidFill>
                <a:latin typeface="Open Sans"/>
              </a:rPr>
              <a:t>trade.gov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Methodology &amp; Scope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19 sovereign members · EU &amp; African Union annex · compiled 2026-07-16</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98448"/>
            <a:ext cx="10332720" cy="4846320"/>
          </a:xfrm>
          <a:prstGeom prst="rect">
            <a:avLst/>
          </a:prstGeom>
          <a:noFill/>
        </p:spPr>
        <p:txBody>
          <a:bodyPr wrap="square" anchor="t" lIns="0" rIns="0" tIns="0" bIns="0">
            <a:spAutoFit/>
          </a:bodyPr>
          <a:lstStyle/>
          <a:p>
            <a:pPr>
              <a:spcAft>
                <a:spcPts val="700"/>
              </a:spcAft>
            </a:pPr>
            <a:r>
              <a:rPr sz="1200" b="1" i="0">
                <a:solidFill>
                  <a:srgbClr val="0A314D"/>
                </a:solidFill>
                <a:latin typeface="Open Sans"/>
              </a:rPr>
              <a:t>Countries (19):  </a:t>
            </a:r>
            <a:r>
              <a:rPr sz="1200" b="0" i="0">
                <a:solidFill>
                  <a:srgbClr val="2C2C2C"/>
                </a:solidFill>
                <a:latin typeface="Open Sans"/>
              </a:rPr>
              <a:t>Argentina, Australia, Brazil, Canada, China, France, Germany, India, Indonesia, Italy, Japan, Mexico, Poland, Russia, Saudi Arabia, South Korea, Türkiye, United Kingdom, United States.</a:t>
            </a:r>
          </a:p>
          <a:p>
            <a:pPr>
              <a:spcAft>
                <a:spcPts val="700"/>
              </a:spcAft>
            </a:pPr>
            <a:r>
              <a:rPr sz="1200" b="1" i="0">
                <a:solidFill>
                  <a:srgbClr val="0A314D"/>
                </a:solidFill>
                <a:latin typeface="Open Sans"/>
              </a:rPr>
              <a:t>Substitution:  </a:t>
            </a:r>
            <a:r>
              <a:rPr sz="1200" b="0" i="0">
                <a:solidFill>
                  <a:srgbClr val="2C2C2C"/>
                </a:solidFill>
                <a:latin typeface="Open Sans"/>
              </a:rPr>
              <a:t>Poland is covered in place of South Africa — a deliberate substitution, not an omission.</a:t>
            </a:r>
          </a:p>
          <a:p>
            <a:pPr>
              <a:spcAft>
                <a:spcPts val="700"/>
              </a:spcAft>
            </a:pPr>
            <a:r>
              <a:rPr sz="1200" b="1" i="0">
                <a:solidFill>
                  <a:srgbClr val="0A314D"/>
                </a:solidFill>
                <a:latin typeface="Open Sans"/>
              </a:rPr>
              <a:t>Bloc members:  </a:t>
            </a:r>
            <a:r>
              <a:rPr sz="1200" b="0" i="0">
                <a:solidFill>
                  <a:srgbClr val="2C2C2C"/>
                </a:solidFill>
                <a:latin typeface="Open Sans"/>
              </a:rPr>
              <a:t>The European Union and African Union hold G20 seats as supranational blocs; they are profiled in the bloc annex following the country pages.</a:t>
            </a:r>
          </a:p>
          <a:p>
            <a:pPr>
              <a:spcAft>
                <a:spcPts val="700"/>
              </a:spcAft>
            </a:pPr>
            <a:r>
              <a:rPr sz="1200" b="1" i="0">
                <a:solidFill>
                  <a:srgbClr val="0A314D"/>
                </a:solidFill>
                <a:latin typeface="Open Sans"/>
              </a:rPr>
              <a:t>GDP:  </a:t>
            </a:r>
            <a:r>
              <a:rPr sz="1200" b="0" i="0">
                <a:solidFill>
                  <a:srgbClr val="2C2C2C"/>
                </a:solidFill>
                <a:latin typeface="Open Sans"/>
              </a:rPr>
              <a:t>Nominal (current USD), IMF World Economic Outlook 2025, single vintage across all 19.</a:t>
            </a:r>
          </a:p>
          <a:p>
            <a:pPr>
              <a:spcAft>
                <a:spcPts val="700"/>
              </a:spcAft>
            </a:pPr>
            <a:r>
              <a:rPr sz="1200" b="1" i="0">
                <a:solidFill>
                  <a:srgbClr val="0A314D"/>
                </a:solidFill>
                <a:latin typeface="Open Sans"/>
              </a:rPr>
              <a:t>U.S. bilateral trade:  </a:t>
            </a:r>
            <a:r>
              <a:rPr sz="1200" b="0" i="0">
                <a:solidFill>
                  <a:srgbClr val="2C2C2C"/>
                </a:solidFill>
                <a:latin typeface="Open Sans"/>
              </a:rPr>
              <a:t>U.S. Census Bureau goods trade, 2025 full year (goods basis), via Census-derived channels (see Sources).</a:t>
            </a:r>
          </a:p>
          <a:p>
            <a:pPr>
              <a:spcAft>
                <a:spcPts val="700"/>
              </a:spcAft>
            </a:pPr>
            <a:r>
              <a:rPr sz="1200" b="1" i="0">
                <a:solidFill>
                  <a:srgbClr val="0A314D"/>
                </a:solidFill>
                <a:latin typeface="Open Sans"/>
              </a:rPr>
              <a:t>Ministers:  </a:t>
            </a:r>
            <a:r>
              <a:rPr sz="1200" b="0" i="0">
                <a:solidFill>
                  <a:srgbClr val="2C2C2C"/>
                </a:solidFill>
                <a:latin typeface="Open Sans"/>
              </a:rPr>
              <a:t>Each officeholder confirmed current on 2026-07-16 by live search plus an independent verification pass. Where a portfolio is split, both responsible officials are profiled.</a:t>
            </a:r>
          </a:p>
        </p:txBody>
      </p:sp>
      <p:cxnSp>
        <p:nvCxnSpPr>
          <p:cNvPr id="7" name="Connector 6"/>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9" name="TextBox 8"/>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0" name="TextBox 9"/>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1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Argentina</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$681.5B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$9.9B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$8.3B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+$1.6B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Australia</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$1,840.0B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$33.7B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$29.1B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+$4.6B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Brazil</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$54.4B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$39.9B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+$14.5B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Canada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$2,284.0B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$336.5B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$383.0B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−$46.5B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China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$19,399.0B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$106.3B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$308.4B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−$202.1B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France</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$3,362.0B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$44.4B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$61.1B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−$16.7B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Germany</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$5,014.0B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$82.7B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$159.0B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−$76.3B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India</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$4,125.0B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$45.6B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$103.8B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−$58.2B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Indonesia</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$1,443.0B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$11.0B</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$34.7B</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−$23.7B</a:t>
            </a:r>
          </a:p>
        </p:txBody>
      </p:sp>
      <p:sp>
        <p:nvSpPr>
          <p:cNvPr id="62" name="TextBox 61"/>
          <p:cNvSpPr txBox="1"/>
          <p:nvPr/>
        </p:nvSpPr>
        <p:spPr>
          <a:xfrm>
            <a:off x="548640" y="56875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Italy</a:t>
            </a:r>
          </a:p>
        </p:txBody>
      </p:sp>
      <p:sp>
        <p:nvSpPr>
          <p:cNvPr id="63" name="TextBox 62"/>
          <p:cNvSpPr txBox="1"/>
          <p:nvPr/>
        </p:nvSpPr>
        <p:spPr>
          <a:xfrm>
            <a:off x="3657600" y="56875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$2,544.0B</a:t>
            </a:r>
          </a:p>
        </p:txBody>
      </p:sp>
      <p:sp>
        <p:nvSpPr>
          <p:cNvPr id="64" name="TextBox 63"/>
          <p:cNvSpPr txBox="1"/>
          <p:nvPr/>
        </p:nvSpPr>
        <p:spPr>
          <a:xfrm>
            <a:off x="5532120" y="56875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$43.7B</a:t>
            </a:r>
          </a:p>
        </p:txBody>
      </p:sp>
      <p:sp>
        <p:nvSpPr>
          <p:cNvPr id="65" name="TextBox 64"/>
          <p:cNvSpPr txBox="1"/>
          <p:nvPr/>
        </p:nvSpPr>
        <p:spPr>
          <a:xfrm>
            <a:off x="7589520" y="56875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$78.7B</a:t>
            </a:r>
          </a:p>
        </p:txBody>
      </p:sp>
      <p:sp>
        <p:nvSpPr>
          <p:cNvPr id="66" name="TextBox 65"/>
          <p:cNvSpPr txBox="1"/>
          <p:nvPr/>
        </p:nvSpPr>
        <p:spPr>
          <a:xfrm>
            <a:off x="9738360" y="56875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−$35.0B</a:t>
            </a:r>
          </a:p>
        </p:txBody>
      </p:sp>
      <p:sp>
        <p:nvSpPr>
          <p:cNvPr id="67" name="TextBox 66"/>
          <p:cNvSpPr txBox="1"/>
          <p:nvPr/>
        </p:nvSpPr>
        <p:spPr>
          <a:xfrm>
            <a:off x="457200" y="614934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8" name="Connector 6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70" name="TextBox 6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71" name="TextBox 7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2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Japan</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$4,280.0B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$82.1B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$146.0B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−$63.9B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Mexico</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$1,830.0B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$338.0B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$534.9B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−$196.9B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Poland</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$1,040.0B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$14.5B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−$0.4B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Russia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$2,541.0B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$0.6B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−$3.2B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Saudi Arabia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$1,277.0B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$10.5B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+$3.6B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South Korea</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$1,859.0B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$68.8B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$125.2B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−$56.4B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Türkiye</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$1,565.0B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$20.4B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$16.4B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+$4.0B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Kingdom</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$3,959.0B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$97.0B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$64.8B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+$32.2B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States</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$30,620.0B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54606C"/>
                </a:solidFill>
                <a:latin typeface="Open Sans"/>
              </a:rPr>
              <a:t>N/A</a:t>
            </a:r>
          </a:p>
        </p:txBody>
      </p:sp>
      <p:sp>
        <p:nvSpPr>
          <p:cNvPr id="62" name="TextBox 61"/>
          <p:cNvSpPr txBox="1"/>
          <p:nvPr/>
        </p:nvSpPr>
        <p:spPr>
          <a:xfrm>
            <a:off x="457200" y="571500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3" name="Connector 62"/>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65" name="TextBox 64"/>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66" name="TextBox 65"/>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gentina.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Argentina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$681.5B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$9.9B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$8.3B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Darío Leandro Genua</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Innovation, Science and Technology</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Jefatura de Gabinete de Ministros (Chief of Cabinet's Office)</a:t>
            </a:r>
            <a:r>
              <a:rPr sz="950" b="0" i="0">
                <a:solidFill>
                  <a:srgbClr val="757D87"/>
                </a:solidFill>
                <a:latin typeface="Open Sans"/>
              </a:rPr>
              <a:t>   ·   Assumed office: 2024-06</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Darío Leandro Genua, a business-administration graduate of the Universidad Catolica Argentina with a postgraduate degree in information systems and administrative processes, became Secretary of Innovation, Science and Technology in June 2024, succeeding Alejandro Cosentino. He previously served as executive coordinator of the intervention of ENACOM, Argentina's telecommunications regulator, working on the repeal of DNU 690 and satellite-internet opening. His secretariat leads state digitalization, digital public services, connectivity and telecommunications policy under the Chief of Cabinet.</a:t>
            </a:r>
          </a:p>
          <a:p>
            <a:pPr>
              <a:spcBef>
                <a:spcPts val="500"/>
              </a:spcBef>
            </a:pPr>
            <a:r>
              <a:rPr sz="900" b="0" i="1">
                <a:solidFill>
                  <a:srgbClr val="54606C"/>
                </a:solidFill>
                <a:latin typeface="Open Sans"/>
              </a:rPr>
              <a:t>Digital and tech policy is led from the Chief of Cabinet's Office via the Secretariat of Innovation, Science and Technology (Darío Genua) — there is no standalone digital ministry.</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FOREIGN AFFAIRS &amp; INTERNATIONAL TRADE</a:t>
            </a:r>
          </a:p>
          <a:p>
            <a:pPr>
              <a:spcBef>
                <a:spcPts val="200"/>
              </a:spcBef>
            </a:pPr>
            <a:r>
              <a:rPr sz="1200" b="1" i="0">
                <a:solidFill>
                  <a:srgbClr val="0A314D"/>
                </a:solidFill>
                <a:latin typeface="Open Sans"/>
              </a:rPr>
              <a:t>Pablo Quirno</a:t>
            </a:r>
          </a:p>
          <a:p>
            <a:pPr>
              <a:lnSpc>
                <a:spcPct val="104000"/>
              </a:lnSpc>
              <a:spcBef>
                <a:spcPts val="200"/>
              </a:spcBef>
            </a:pPr>
            <a:r>
              <a:rPr sz="900" b="0" i="1">
                <a:solidFill>
                  <a:srgbClr val="54606C"/>
                </a:solidFill>
                <a:latin typeface="Open Sans"/>
              </a:rPr>
              <a:t>Minister of Foreign Affairs, International Trade and Worship (Canciller)</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Relaciones Exteriores, Comercio Internacional y Culto</a:t>
            </a:r>
            <a:r>
              <a:rPr sz="850" b="0" i="0">
                <a:solidFill>
                  <a:srgbClr val="757D87"/>
                </a:solidFill>
                <a:latin typeface="Open Sans"/>
              </a:rPr>
              <a:t>  ·  2025-10-27</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Minister of Foreign Affairs, International Trade and Worship since October 27, 2025, succeeding Gerardo Werthein. Economist (born August 24, 1966) and former longtime JPMorgan executive; served as Secretary of Finance under Economy Minister Luis Caputo from December 2023, leading Argentina's debt operations.</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DOMESTIC COMMERCE &amp; INDUSTRY</a:t>
            </a:r>
          </a:p>
          <a:p>
            <a:pPr>
              <a:spcBef>
                <a:spcPts val="200"/>
              </a:spcBef>
            </a:pPr>
            <a:r>
              <a:rPr sz="1200" b="1" i="0">
                <a:solidFill>
                  <a:srgbClr val="0A314D"/>
                </a:solidFill>
                <a:latin typeface="Open Sans"/>
              </a:rPr>
              <a:t>Pablo Lavigne</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Secretary of Production Coordination (also exercising Industry &amp; Commerce functions, acting)</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Economía</a:t>
            </a:r>
            <a:r>
              <a:rPr sz="850" b="0" i="0">
                <a:solidFill>
                  <a:srgbClr val="757D87"/>
                </a:solidFill>
                <a:latin typeface="Open Sans"/>
              </a:rPr>
              <a:t>  ·  2024-12-11</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Pablo Lavigne has been Secretary of Production Coordination in Argentina's Economy Ministry since December 2024. He led the Secretariat of Industry and Commerce; a March 2026 decree merged those functions into his secretariat, and he exercises them on an acting basis.</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ustrali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Australia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+$4.5B</a:t>
            </a:r>
            <a:r>
              <a:rPr sz="950" b="0" i="0">
                <a:solidFill>
                  <a:srgbClr val="54606C"/>
                </a:solidFill>
                <a:latin typeface="Open Sans"/>
              </a:rPr>
              <a:t>  surplus · g+s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$29.1B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sp>
        <p:nvSpPr>
          <p:cNvPr id="16" name="TextBox 15"/>
          <p:cNvSpPr txBox="1"/>
          <p:nvPr/>
        </p:nvSpPr>
        <p:spPr>
          <a:xfrm>
            <a:off x="3611880"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SCIENCE, TECH &amp; THE DIGITAL ECONOMY</a:t>
            </a:r>
          </a:p>
          <a:p>
            <a:pPr>
              <a:spcBef>
                <a:spcPts val="200"/>
              </a:spcBef>
            </a:pPr>
            <a:r>
              <a:rPr sz="1200" b="1" i="0">
                <a:solidFill>
                  <a:srgbClr val="0A314D"/>
                </a:solidFill>
                <a:latin typeface="Open Sans"/>
              </a:rPr>
              <a:t>Andrew Charlton</a:t>
            </a:r>
          </a:p>
          <a:p>
            <a:pPr>
              <a:lnSpc>
                <a:spcPct val="104000"/>
              </a:lnSpc>
              <a:spcBef>
                <a:spcPts val="200"/>
              </a:spcBef>
            </a:pPr>
            <a:r>
              <a:rPr sz="900" b="0" i="1">
                <a:solidFill>
                  <a:srgbClr val="54606C"/>
                </a:solidFill>
                <a:latin typeface="Open Sans"/>
              </a:rPr>
              <a:t>Cabinet Secretary; Assistant Minister for Science, Technology and the Digital Economy</a:t>
            </a:r>
          </a:p>
        </p:txBody>
      </p:sp>
      <p:sp>
        <p:nvSpPr>
          <p:cNvPr id="17" name="TextBox 16"/>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 (also Department of the Prime Minister and Cabinet as Cabinet Secretary)</a:t>
            </a:r>
            <a:r>
              <a:rPr sz="850" b="0" i="0">
                <a:solidFill>
                  <a:srgbClr val="757D87"/>
                </a:solidFill>
                <a:latin typeface="Open Sans"/>
              </a:rPr>
              <a:t>  ·  2025-05-13</a:t>
            </a:r>
          </a:p>
        </p:txBody>
      </p:sp>
      <p:sp>
        <p:nvSpPr>
          <p:cNvPr id="18" name="TextBox 17"/>
          <p:cNvSpPr txBox="1"/>
          <p:nvPr/>
        </p:nvSpPr>
        <p:spPr>
          <a:xfrm>
            <a:off x="3611880" y="2633472"/>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Cabinet Secretary and Assistant Minister for Science, Technology and the Digital Economy since 13 May 2025; Labor MP for Parramatta since 2022.</a:t>
            </a:r>
          </a:p>
        </p:txBody>
      </p:sp>
      <p:sp>
        <p:nvSpPr>
          <p:cNvPr id="19" name="TextBox 18"/>
          <p:cNvSpPr txBox="1"/>
          <p:nvPr/>
        </p:nvSpPr>
        <p:spPr>
          <a:xfrm>
            <a:off x="7790688"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INDUSTRY, INNOVATION &amp; SCIENCE</a:t>
            </a:r>
          </a:p>
          <a:p>
            <a:pPr>
              <a:spcBef>
                <a:spcPts val="200"/>
              </a:spcBef>
            </a:pPr>
            <a:r>
              <a:rPr sz="1200" b="1" i="0">
                <a:solidFill>
                  <a:srgbClr val="0A314D"/>
                </a:solidFill>
                <a:latin typeface="Open Sans"/>
              </a:rPr>
              <a:t>Tim Ayres</a:t>
            </a:r>
          </a:p>
          <a:p>
            <a:pPr>
              <a:lnSpc>
                <a:spcPct val="104000"/>
              </a:lnSpc>
              <a:spcBef>
                <a:spcPts val="200"/>
              </a:spcBef>
            </a:pPr>
            <a:r>
              <a:rPr sz="900" b="0" i="1">
                <a:solidFill>
                  <a:srgbClr val="54606C"/>
                </a:solidFill>
                <a:latin typeface="Open Sans"/>
              </a:rPr>
              <a:t>Minister for Industry and Innovation; Minister for Science</a:t>
            </a:r>
          </a:p>
        </p:txBody>
      </p:sp>
      <p:sp>
        <p:nvSpPr>
          <p:cNvPr id="20" name="TextBox 19"/>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a:t>
            </a:r>
            <a:r>
              <a:rPr sz="850" b="0" i="0">
                <a:solidFill>
                  <a:srgbClr val="757D87"/>
                </a:solidFill>
                <a:latin typeface="Open Sans"/>
              </a:rPr>
              <a:t>  ·  2025-05-13</a:t>
            </a:r>
          </a:p>
        </p:txBody>
      </p:sp>
      <p:sp>
        <p:nvSpPr>
          <p:cNvPr id="21" name="TextBox 20"/>
          <p:cNvSpPr txBox="1"/>
          <p:nvPr/>
        </p:nvSpPr>
        <p:spPr>
          <a:xfrm>
            <a:off x="7790688" y="2633472"/>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Minister for Industry and Innovation and Minister for Science since 13 May 2025; Labor Senator for New South Wales since 2019.</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4" name="TextBox 23"/>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Don Farrell</a:t>
            </a:r>
          </a:p>
        </p:txBody>
      </p:sp>
      <p:sp>
        <p:nvSpPr>
          <p:cNvPr id="25" name="TextBox 24"/>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Trade and Tourism; Special Minister of State</a:t>
            </a:r>
          </a:p>
        </p:txBody>
      </p:sp>
      <p:sp>
        <p:nvSpPr>
          <p:cNvPr id="26" name="TextBox 25"/>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of Foreign Affairs and Trade</a:t>
            </a:r>
            <a:r>
              <a:rPr sz="950" b="0" i="0">
                <a:solidFill>
                  <a:srgbClr val="757D87"/>
                </a:solidFill>
                <a:latin typeface="Open Sans"/>
              </a:rPr>
              <a:t>   ·   Assumed office: 2022-06-01</a:t>
            </a:r>
          </a:p>
        </p:txBody>
      </p:sp>
      <p:sp>
        <p:nvSpPr>
          <p:cNvPr id="27" name="TextBox 26"/>
          <p:cNvSpPr txBox="1"/>
          <p:nvPr/>
        </p:nvSpPr>
        <p:spPr>
          <a:xfrm>
            <a:off x="3611880" y="5010912"/>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Senator Donald Edward Farrell (born 1954) is a Labor Senator for South Australia and a former trade unionist who was state secretary of the Shop, Distributive and Allied Employees Association (SDA) from 1993 to 2008. A University of Adelaide law graduate, he served in the Senate from 2008-2014 and again from 2016, holding ministries under the Rudd and Gillard governments.</a:t>
            </a:r>
          </a:p>
          <a:p>
            <a:pPr>
              <a:spcBef>
                <a:spcPts val="500"/>
              </a:spcBef>
            </a:pPr>
            <a:r>
              <a:rPr sz="900" b="0" i="1">
                <a:solidFill>
                  <a:srgbClr val="54606C"/>
                </a:solidFill>
                <a:latin typeface="Open Sans"/>
              </a:rPr>
              <a:t>Farrell is the sole senior minister for trade and tourism within the Department of Foreign Affairs and Trade; Ayres, formerly his Assistant Minister for Trade, moved up to the industry portfolio in May 2025.</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2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zil.png"/>
          <p:cNvPicPr>
            <a:picLocks noChangeAspect="1"/>
          </p:cNvPicPr>
          <p:nvPr/>
        </p:nvPicPr>
        <p:blipFill>
          <a:blip r:embed="rId2"/>
          <a:stretch>
            <a:fillRect/>
          </a:stretch>
        </p:blipFill>
        <p:spPr>
          <a:xfrm>
            <a:off x="548640" y="329184"/>
            <a:ext cx="783184" cy="548640"/>
          </a:xfrm>
          <a:prstGeom prst="rect">
            <a:avLst/>
          </a:prstGeom>
        </p:spPr>
      </p:pic>
      <p:sp>
        <p:nvSpPr>
          <p:cNvPr id="4" name="Rectangle 3"/>
          <p:cNvSpPr/>
          <p:nvPr/>
        </p:nvSpPr>
        <p:spPr>
          <a:xfrm>
            <a:off x="548640" y="329184"/>
            <a:ext cx="783183"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Brazil</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+$68.3B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$54.4B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$39.9B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+$14.5B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sp>
        <p:nvSpPr>
          <p:cNvPr id="16" name="TextBox 15"/>
          <p:cNvSpPr txBox="1"/>
          <p:nvPr/>
        </p:nvSpPr>
        <p:spPr>
          <a:xfrm>
            <a:off x="3611880"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COMMUNICATIONS &amp; TELECOM</a:t>
            </a:r>
          </a:p>
          <a:p>
            <a:pPr>
              <a:spcBef>
                <a:spcPts val="200"/>
              </a:spcBef>
            </a:pPr>
            <a:r>
              <a:rPr sz="1200" b="1" i="0">
                <a:solidFill>
                  <a:srgbClr val="0A314D"/>
                </a:solidFill>
                <a:latin typeface="Open Sans"/>
              </a:rPr>
              <a:t>Frederico de Siqueira Filho</a:t>
            </a:r>
          </a:p>
          <a:p>
            <a:pPr>
              <a:lnSpc>
                <a:spcPct val="104000"/>
              </a:lnSpc>
              <a:spcBef>
                <a:spcPts val="200"/>
              </a:spcBef>
            </a:pPr>
            <a:r>
              <a:rPr sz="900" b="0" i="1">
                <a:solidFill>
                  <a:srgbClr val="54606C"/>
                </a:solidFill>
                <a:latin typeface="Open Sans"/>
              </a:rPr>
              <a:t>Minister of Communications</a:t>
            </a:r>
          </a:p>
        </p:txBody>
      </p:sp>
      <p:sp>
        <p:nvSpPr>
          <p:cNvPr id="17" name="TextBox 16"/>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Communications (Ministério das Comunicações)</a:t>
            </a:r>
            <a:r>
              <a:rPr sz="850" b="0" i="0">
                <a:solidFill>
                  <a:srgbClr val="757D87"/>
                </a:solidFill>
                <a:latin typeface="Open Sans"/>
              </a:rPr>
              <a:t>  ·  2025-05</a:t>
            </a:r>
          </a:p>
        </p:txBody>
      </p:sp>
      <p:sp>
        <p:nvSpPr>
          <p:cNvPr id="18" name="TextBox 17"/>
          <p:cNvSpPr txBox="1"/>
          <p:nvPr/>
        </p:nvSpPr>
        <p:spPr>
          <a:xfrm>
            <a:off x="3611880" y="2633472"/>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Frederico de Siqueira Filho, a Brazilian engineer with over 26 years in telecommunications, including some 21 years at operator Oi, led state-owned Telebras from 2023 to 2025. President Lula appointed him Minister of Communications in April 2025, succeeding Juscelino Filho.</a:t>
            </a:r>
          </a:p>
        </p:txBody>
      </p:sp>
      <p:sp>
        <p:nvSpPr>
          <p:cNvPr id="19" name="TextBox 18"/>
          <p:cNvSpPr txBox="1"/>
          <p:nvPr/>
        </p:nvSpPr>
        <p:spPr>
          <a:xfrm>
            <a:off x="7790688"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SCIENCE, TECHNOLOGY &amp; INNOVATION</a:t>
            </a:r>
          </a:p>
          <a:p>
            <a:pPr>
              <a:spcBef>
                <a:spcPts val="200"/>
              </a:spcBef>
            </a:pPr>
            <a:r>
              <a:rPr sz="1200" b="1" i="0">
                <a:solidFill>
                  <a:srgbClr val="0A314D"/>
                </a:solidFill>
                <a:latin typeface="Open Sans"/>
              </a:rPr>
              <a:t>Luciana Santos</a:t>
            </a:r>
          </a:p>
          <a:p>
            <a:pPr>
              <a:lnSpc>
                <a:spcPct val="104000"/>
              </a:lnSpc>
              <a:spcBef>
                <a:spcPts val="200"/>
              </a:spcBef>
            </a:pPr>
            <a:r>
              <a:rPr sz="900" b="0" i="1">
                <a:solidFill>
                  <a:srgbClr val="54606C"/>
                </a:solidFill>
                <a:latin typeface="Open Sans"/>
              </a:rPr>
              <a:t>Minister of Science, Technology and Innovation</a:t>
            </a:r>
          </a:p>
        </p:txBody>
      </p:sp>
      <p:sp>
        <p:nvSpPr>
          <p:cNvPr id="20" name="TextBox 19"/>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Technology and Innovation (Ministério da Ciência, Tecnologia e Inovação, MCTI)</a:t>
            </a:r>
            <a:r>
              <a:rPr sz="850" b="0" i="0">
                <a:solidFill>
                  <a:srgbClr val="757D87"/>
                </a:solidFill>
                <a:latin typeface="Open Sans"/>
              </a:rPr>
              <a:t>  ·  2023-01-01</a:t>
            </a:r>
          </a:p>
        </p:txBody>
      </p:sp>
      <p:sp>
        <p:nvSpPr>
          <p:cNvPr id="21" name="TextBox 20"/>
          <p:cNvSpPr txBox="1"/>
          <p:nvPr/>
        </p:nvSpPr>
        <p:spPr>
          <a:xfrm>
            <a:off x="7790688" y="2633472"/>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Luciana Santos, an electrical engineer and national president of the Communist Party of Brazil, has been Minister of Science, Technology and Innovation since 1 January 2023. She previously served as mayor of Olinda, federal deputy and vice-governor of Pernambuco.</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4" name="TextBox 23"/>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Márcio Fernando Elias Rosa</a:t>
            </a:r>
          </a:p>
        </p:txBody>
      </p:sp>
      <p:sp>
        <p:nvSpPr>
          <p:cNvPr id="25" name="TextBox 24"/>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Development, Industry, Trade and Services</a:t>
            </a:r>
          </a:p>
        </p:txBody>
      </p:sp>
      <p:sp>
        <p:nvSpPr>
          <p:cNvPr id="26" name="TextBox 25"/>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Development, Industry, Trade and Services (Ministério do Desenvolvimento, Indústria, Comércio e Serviços, MDIC)</a:t>
            </a:r>
            <a:r>
              <a:rPr sz="950" b="0" i="0">
                <a:solidFill>
                  <a:srgbClr val="757D87"/>
                </a:solidFill>
                <a:latin typeface="Open Sans"/>
              </a:rPr>
              <a:t>   ·   Assumed office: 2026-04-06</a:t>
            </a:r>
          </a:p>
        </p:txBody>
      </p:sp>
      <p:sp>
        <p:nvSpPr>
          <p:cNvPr id="27" name="TextBox 26"/>
          <p:cNvSpPr txBox="1"/>
          <p:nvPr/>
        </p:nvSpPr>
        <p:spPr>
          <a:xfrm>
            <a:off x="3611880" y="5010912"/>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Retired public prosecutor, lawyer and law professor, born in Ibiúna, São Paulo, in 1962. He spent his career in the São Paulo Public Prosecutor's Office, serving twice as Attorney General of Justice (2012-2016) and as São Paulo State Secretary of Justice. He joined MDIC as Executive Secretary in January 2023, and was sworn in as Minister on 6 April 2026, succeeding Vice President Geraldo Alckmin, who left the post to run for re-election as Lula's running mate. His agenda centers on the Nova Indústria Brasil program, expanding investment and foreign trade.</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3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anad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Canada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−$22.4B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$336.5B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$383.0B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−$46.5B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Evan Solomon</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Artificial Intelligence and Digital Innovation</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Innovation, Science and Economic Development Canada (ISED)</a:t>
            </a:r>
            <a:r>
              <a:rPr sz="950" b="0" i="0">
                <a:solidFill>
                  <a:srgbClr val="757D87"/>
                </a:solidFill>
                <a:latin typeface="Open Sans"/>
              </a:rPr>
              <a:t>   ·   Assumed office: 2025-05-13</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Solomon, a longtime Canadian broadcaster and author, was elected Liberal MP for Toronto Centre in April 2025 and sworn in May 13, 2025 as Canada's first Minister of Artificial Intelligence and Digital Innovation, a portfolio created by PM Mark Carney. Before politics he hosted CTV's Power Play and Question Period and a CFRB talk-radio show, wrote for Maclean's, and co-founded Shift magazine. He studied at McGill University and now leads federal AI, quantum and digital policy within ISED.</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INTERNATIONAL TRADE</a:t>
            </a:r>
          </a:p>
          <a:p>
            <a:pPr>
              <a:spcBef>
                <a:spcPts val="200"/>
              </a:spcBef>
            </a:pPr>
            <a:r>
              <a:rPr sz="1200" b="1" i="0">
                <a:solidFill>
                  <a:srgbClr val="0A314D"/>
                </a:solidFill>
                <a:latin typeface="Open Sans"/>
              </a:rPr>
              <a:t>Maninder Sidhu</a:t>
            </a:r>
          </a:p>
          <a:p>
            <a:pPr>
              <a:lnSpc>
                <a:spcPct val="104000"/>
              </a:lnSpc>
              <a:spcBef>
                <a:spcPts val="200"/>
              </a:spcBef>
            </a:pPr>
            <a:r>
              <a:rPr sz="900" b="0" i="1">
                <a:solidFill>
                  <a:srgbClr val="54606C"/>
                </a:solidFill>
                <a:latin typeface="Open Sans"/>
              </a:rPr>
              <a:t>Minister of International Trade</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Global Affairs Canada</a:t>
            </a:r>
            <a:r>
              <a:rPr sz="850" b="0" i="0">
                <a:solidFill>
                  <a:srgbClr val="757D87"/>
                </a:solidFill>
                <a:latin typeface="Open Sans"/>
              </a:rPr>
              <a:t>  ·  2025-05-13</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Maninder Sidhu, a businessman and Liberal MP for Brampton East since 2019, was sworn into Mark Carney's cabinet on May 13, 2025, as Minister of International Trade. He was previously Parliamentary Secretary to the Ministers of Foreign Affairs and International Development.</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CANADA–U.S. TRADE</a:t>
            </a:r>
          </a:p>
          <a:p>
            <a:pPr>
              <a:spcBef>
                <a:spcPts val="200"/>
              </a:spcBef>
            </a:pPr>
            <a:r>
              <a:rPr sz="1200" b="1" i="0">
                <a:solidFill>
                  <a:srgbClr val="0A314D"/>
                </a:solidFill>
                <a:latin typeface="Open Sans"/>
              </a:rPr>
              <a:t>Dominic LeBlanc</a:t>
            </a:r>
          </a:p>
          <a:p>
            <a:pPr>
              <a:lnSpc>
                <a:spcPct val="104000"/>
              </a:lnSpc>
              <a:spcBef>
                <a:spcPts val="200"/>
              </a:spcBef>
            </a:pPr>
            <a:r>
              <a:rPr sz="900" b="0" i="1">
                <a:solidFill>
                  <a:srgbClr val="54606C"/>
                </a:solidFill>
                <a:latin typeface="Open Sans"/>
              </a:rPr>
              <a:t>President of the King's Privy Council for Canada and Minister responsible for Canada-U.S. Trade, Intergovernmental Affairs, Internal Trade and One Canadian Economy</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Privy Council Office / Global Affairs Canada (Canada-U.S. trade file)</a:t>
            </a:r>
            <a:r>
              <a:rPr sz="850" b="0" i="0">
                <a:solidFill>
                  <a:srgbClr val="757D87"/>
                </a:solidFill>
                <a:latin typeface="Open Sans"/>
              </a:rPr>
              <a:t>  ·  2025-05-13</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Dominic LeBlanc, a lawyer and Liberal MP for Beausejour since 2000, is a veteran minister who has held Fisheries, Intergovernmental Affairs, Public Safety and Finance. Since May 13, 2025 he has led the Canada-U.S. trade file as Privy Council President.</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4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hin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China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$19,399.0B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+$1,190.0B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$106.3B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$308.4B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−$202.1B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sp>
        <p:nvSpPr>
          <p:cNvPr id="16" name="TextBox 15"/>
          <p:cNvSpPr txBox="1"/>
          <p:nvPr/>
        </p:nvSpPr>
        <p:spPr>
          <a:xfrm>
            <a:off x="3611880"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INDUSTRY &amp; INFORMATION TECHNOLOGY (MIIT)</a:t>
            </a:r>
          </a:p>
          <a:p>
            <a:pPr>
              <a:spcBef>
                <a:spcPts val="200"/>
              </a:spcBef>
            </a:pPr>
            <a:r>
              <a:rPr sz="1200" b="1" i="0">
                <a:solidFill>
                  <a:srgbClr val="0A314D"/>
                </a:solidFill>
                <a:latin typeface="Open Sans"/>
              </a:rPr>
              <a:t>Li Lecheng</a:t>
            </a:r>
          </a:p>
          <a:p>
            <a:pPr>
              <a:lnSpc>
                <a:spcPct val="104000"/>
              </a:lnSpc>
              <a:spcBef>
                <a:spcPts val="200"/>
              </a:spcBef>
            </a:pPr>
            <a:r>
              <a:rPr sz="900" b="0" i="1">
                <a:solidFill>
                  <a:srgbClr val="54606C"/>
                </a:solidFill>
                <a:latin typeface="Open Sans"/>
              </a:rPr>
              <a:t>Minister of Industry and Information Technology</a:t>
            </a:r>
          </a:p>
        </p:txBody>
      </p:sp>
      <p:sp>
        <p:nvSpPr>
          <p:cNvPr id="17" name="TextBox 16"/>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Information Technology (MIIT)</a:t>
            </a:r>
            <a:r>
              <a:rPr sz="850" b="0" i="0">
                <a:solidFill>
                  <a:srgbClr val="757D87"/>
                </a:solidFill>
                <a:latin typeface="Open Sans"/>
              </a:rPr>
              <a:t>  ·  2025-04-30</a:t>
            </a:r>
          </a:p>
        </p:txBody>
      </p:sp>
      <p:sp>
        <p:nvSpPr>
          <p:cNvPr id="18" name="TextBox 17"/>
          <p:cNvSpPr txBox="1"/>
          <p:nvPr/>
        </p:nvSpPr>
        <p:spPr>
          <a:xfrm>
            <a:off x="3611880" y="2633472"/>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Li Lecheng was appointed China's Minister of Industry and Information Technology on 30 April 2025, replacing Jin Zhuanglong, after becoming MIIT party secretary in February 2025. He previously served as Governor of Liaoning (2021-2025) and executive vice governor of Hubei.</a:t>
            </a:r>
          </a:p>
        </p:txBody>
      </p:sp>
      <p:sp>
        <p:nvSpPr>
          <p:cNvPr id="19" name="TextBox 18"/>
          <p:cNvSpPr txBox="1"/>
          <p:nvPr/>
        </p:nvSpPr>
        <p:spPr>
          <a:xfrm>
            <a:off x="7790688"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SCIENCE &amp; TECHNOLOGY (MOST)</a:t>
            </a:r>
          </a:p>
          <a:p>
            <a:pPr>
              <a:spcBef>
                <a:spcPts val="200"/>
              </a:spcBef>
            </a:pPr>
            <a:r>
              <a:rPr sz="1200" b="1" i="0">
                <a:solidFill>
                  <a:srgbClr val="0A314D"/>
                </a:solidFill>
                <a:latin typeface="Open Sans"/>
              </a:rPr>
              <a:t>Yin Hejun</a:t>
            </a:r>
          </a:p>
          <a:p>
            <a:pPr>
              <a:lnSpc>
                <a:spcPct val="104000"/>
              </a:lnSpc>
              <a:spcBef>
                <a:spcPts val="200"/>
              </a:spcBef>
            </a:pPr>
            <a:r>
              <a:rPr sz="900" b="0" i="1">
                <a:solidFill>
                  <a:srgbClr val="54606C"/>
                </a:solidFill>
                <a:latin typeface="Open Sans"/>
              </a:rPr>
              <a:t>Minister of Science and Technology</a:t>
            </a:r>
          </a:p>
        </p:txBody>
      </p:sp>
      <p:sp>
        <p:nvSpPr>
          <p:cNvPr id="20" name="TextBox 19"/>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and Technology (MOST)</a:t>
            </a:r>
            <a:r>
              <a:rPr sz="850" b="0" i="0">
                <a:solidFill>
                  <a:srgbClr val="757D87"/>
                </a:solidFill>
                <a:latin typeface="Open Sans"/>
              </a:rPr>
              <a:t>  ·  2023-10-24</a:t>
            </a:r>
          </a:p>
        </p:txBody>
      </p:sp>
      <p:sp>
        <p:nvSpPr>
          <p:cNvPr id="21" name="TextBox 20"/>
          <p:cNvSpPr txBox="1"/>
          <p:nvPr/>
        </p:nvSpPr>
        <p:spPr>
          <a:xfrm>
            <a:off x="7790688" y="2633472"/>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Minister of Science and Technology since October 24, 2023, and MOST Party Secretary since October 7, 2023.</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4" name="TextBox 23"/>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COMMERCE MINISTER (MOFCOM)</a:t>
            </a:r>
          </a:p>
          <a:p>
            <a:pPr>
              <a:spcBef>
                <a:spcPts val="200"/>
              </a:spcBef>
            </a:pPr>
            <a:r>
              <a:rPr sz="1200" b="1" i="0">
                <a:solidFill>
                  <a:srgbClr val="0A314D"/>
                </a:solidFill>
                <a:latin typeface="Open Sans"/>
              </a:rPr>
              <a:t>Wang Wentao</a:t>
            </a:r>
          </a:p>
          <a:p>
            <a:pPr>
              <a:lnSpc>
                <a:spcPct val="104000"/>
              </a:lnSpc>
              <a:spcBef>
                <a:spcPts val="200"/>
              </a:spcBef>
            </a:pPr>
            <a:r>
              <a:rPr sz="900" b="0" i="1">
                <a:solidFill>
                  <a:srgbClr val="54606C"/>
                </a:solidFill>
                <a:latin typeface="Open Sans"/>
              </a:rPr>
              <a:t>Minister of Commerce</a:t>
            </a:r>
          </a:p>
        </p:txBody>
      </p:sp>
      <p:sp>
        <p:nvSpPr>
          <p:cNvPr id="25" name="TextBox 24"/>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2020-12</a:t>
            </a:r>
          </a:p>
        </p:txBody>
      </p:sp>
      <p:sp>
        <p:nvSpPr>
          <p:cNvPr id="26" name="TextBox 25"/>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Wang Wentao has served as China's Minister of Commerce since December 2020, leading trade, investment and market-access policy. He was previously mayor of Nanchang and Governor of Heilongjiang (2018-2020). In 2026 he co-chaired the first China-EU Trade and Investment Consultations.</a:t>
            </a:r>
          </a:p>
        </p:txBody>
      </p:sp>
      <p:sp>
        <p:nvSpPr>
          <p:cNvPr id="27" name="TextBox 26"/>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CHIEF TRADE NEGOTIATOR</a:t>
            </a:r>
          </a:p>
          <a:p>
            <a:pPr>
              <a:spcBef>
                <a:spcPts val="200"/>
              </a:spcBef>
            </a:pPr>
            <a:r>
              <a:rPr sz="1200" b="1" i="0">
                <a:solidFill>
                  <a:srgbClr val="0A314D"/>
                </a:solidFill>
                <a:latin typeface="Open Sans"/>
              </a:rPr>
              <a:t>Li Chenggang</a:t>
            </a:r>
          </a:p>
          <a:p>
            <a:pPr>
              <a:lnSpc>
                <a:spcPct val="104000"/>
              </a:lnSpc>
              <a:spcBef>
                <a:spcPts val="200"/>
              </a:spcBef>
            </a:pPr>
            <a:r>
              <a:rPr sz="900" b="0" i="1">
                <a:solidFill>
                  <a:srgbClr val="54606C"/>
                </a:solidFill>
                <a:latin typeface="Open Sans"/>
              </a:rPr>
              <a:t>China International Trade Representative (full ministerial rank) and Vice Minister of Commerce</a:t>
            </a:r>
          </a:p>
        </p:txBody>
      </p:sp>
      <p:sp>
        <p:nvSpPr>
          <p:cNvPr id="28" name="TextBox 27"/>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2025-04-16</a:t>
            </a:r>
          </a:p>
        </p:txBody>
      </p:sp>
      <p:sp>
        <p:nvSpPr>
          <p:cNvPr id="29" name="TextBox 28"/>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Li Chenggang, a career MOFCOM official who served as China's Ambassador to the WTO from February 2021, was appointed China International Trade Representative and Vice Minister of Commerce on 16 April 2025, replacing Wang Shouwen as Beijing's chief trade negotiator.</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5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ranc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France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$3,362.0B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−$76.1B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(2024)</a:t>
            </a:r>
          </a:p>
          <a:p>
            <a:pPr>
              <a:spcBef>
                <a:spcPts val="100"/>
              </a:spcBef>
            </a:pPr>
            <a:r>
              <a:rPr sz="1450" b="1" i="0">
                <a:solidFill>
                  <a:srgbClr val="0A314D"/>
                </a:solidFill>
                <a:latin typeface="Open Sans"/>
              </a:rPr>
              <a:t>$44.4B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(2024)</a:t>
            </a:r>
          </a:p>
          <a:p>
            <a:pPr>
              <a:spcBef>
                <a:spcPts val="100"/>
              </a:spcBef>
            </a:pPr>
            <a:r>
              <a:rPr sz="1450" b="1" i="0">
                <a:solidFill>
                  <a:srgbClr val="0A314D"/>
                </a:solidFill>
                <a:latin typeface="Open Sans"/>
              </a:rPr>
              <a:t>$61.1B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(2024)</a:t>
            </a:r>
          </a:p>
          <a:p>
            <a:pPr>
              <a:spcBef>
                <a:spcPts val="100"/>
              </a:spcBef>
            </a:pPr>
            <a:r>
              <a:rPr sz="1450" b="1" i="0">
                <a:solidFill>
                  <a:srgbClr val="D46127"/>
                </a:solidFill>
                <a:latin typeface="Open Sans"/>
              </a:rPr>
              <a:t>−$16.7B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Anne Le Hénanff</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Artificial Intelligence and Digital Affairs</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the Economy, Finance and Industrial, Energy and Digital Sovereignty (attached to Minister Roland Lescure)</a:t>
            </a:r>
            <a:r>
              <a:rPr sz="950" b="0" i="0">
                <a:solidFill>
                  <a:srgbClr val="757D87"/>
                </a:solidFill>
                <a:latin typeface="Open Sans"/>
              </a:rPr>
              <a:t>   ·   Assumed office: 2026-02-26</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Anne Le Hénanff (born 22 July 1969 in Vannes) is a Horizons-party politician and, since the Lecornu II government, France's Minister Delegate for Artificial Intelligence and Digital Affairs, attached to the Economy ministry. With a background in cybersecurity (she held a cyber chair at Université Bretagne-Sud), she was a deputy mayor of Vannes for digital affairs and was elected deputy for Morbihan's 1st constituency in 2022, re-elected in 2024, sitting on the Defence Committee. She succeeded Clara Chappaz in the digital portfolio.</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2" name="TextBox 21"/>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Nicolas Forissier</a:t>
            </a:r>
          </a:p>
        </p:txBody>
      </p:sp>
      <p:sp>
        <p:nvSpPr>
          <p:cNvPr id="23" name="TextBox 22"/>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Foreign Trade and Attractiveness</a:t>
            </a:r>
          </a:p>
        </p:txBody>
      </p:sp>
      <p:sp>
        <p:nvSpPr>
          <p:cNvPr id="24" name="TextBox 23"/>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Europe and Foreign Affairs (Minister Delegate attached to the Minister for Europe and Foreign Affairs)</a:t>
            </a:r>
            <a:r>
              <a:rPr sz="950" b="0" i="0">
                <a:solidFill>
                  <a:srgbClr val="757D87"/>
                </a:solidFill>
                <a:latin typeface="Open Sans"/>
              </a:rPr>
              <a:t>   ·   Assumed office: 2025-10-12</a:t>
            </a:r>
          </a:p>
        </p:txBody>
      </p:sp>
      <p:sp>
        <p:nvSpPr>
          <p:cNvPr id="25" name="TextBox 24"/>
          <p:cNvSpPr txBox="1"/>
          <p:nvPr/>
        </p:nvSpPr>
        <p:spPr>
          <a:xfrm>
            <a:off x="3611880" y="5010912"/>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Nicolas Forissier (born 17 February 1961) is a Les Républicains politician and, since October 2025 (retained in the Lecornu II government), France's Minister Delegate for Foreign Trade and Attractiveness, attached to the Minister for Europe and Foreign Affairs. A Sciences Po Paris graduate with a Sorbonne history degree, he was mayor of La Châtre (1995-2017) and has represented Indre's 2nd constituency in the National Assembly across several terms since 1993. He earlier served as Secretary of State for Agriculture (2004-2005).</a:t>
            </a:r>
          </a:p>
        </p:txBody>
      </p:sp>
      <p:cxnSp>
        <p:nvCxnSpPr>
          <p:cNvPr id="26" name="Connector 25"/>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8" name="TextBox 27"/>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9" name="TextBox 28"/>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6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ermany.png"/>
          <p:cNvPicPr>
            <a:picLocks noChangeAspect="1"/>
          </p:cNvPicPr>
          <p:nvPr/>
        </p:nvPicPr>
        <p:blipFill>
          <a:blip r:embed="rId2"/>
          <a:stretch>
            <a:fillRect/>
          </a:stretch>
        </p:blipFill>
        <p:spPr>
          <a:xfrm>
            <a:off x="548640" y="329184"/>
            <a:ext cx="914857" cy="548640"/>
          </a:xfrm>
          <a:prstGeom prst="rect">
            <a:avLst/>
          </a:prstGeom>
        </p:spPr>
      </p:pic>
      <p:sp>
        <p:nvSpPr>
          <p:cNvPr id="4" name="Rectangle 3"/>
          <p:cNvSpPr/>
          <p:nvPr/>
        </p:nvSpPr>
        <p:spPr>
          <a:xfrm>
            <a:off x="548640" y="329184"/>
            <a:ext cx="914857"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Germany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$5,014.0B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+$226.0B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$159.0B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−$76.3B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Karsten Wildberger</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Digital Transformation and Government Modernisation</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Digital Transformation and Government Modernisation (BMDS)</a:t>
            </a:r>
            <a:r>
              <a:rPr sz="950" b="0" i="0">
                <a:solidFill>
                  <a:srgbClr val="757D87"/>
                </a:solidFill>
                <a:latin typeface="Open Sans"/>
              </a:rPr>
              <a:t>   ·   Assumed office: 2025-05-06</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Karsten Wildberger (born 5 September 1969, Gießen) holds a doctorate in solid-state physics from RWTH Aachen and an INSEAD MBA. After Boston Consulting Group he held senior roles at T-Mobile, Vodafone and Telstra, sat on E.ON's management board (2016-2021), then led Ceconomy AG (parent of MediaMarktSaturn) from 2021 to 2025. On 6 May 2025 he became Germany's first federal digital minister under Chancellor Friedrich Merz, heading a new ministry consolidating digital responsibilities previously spread across several ministries.</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2" name="TextBox 21"/>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Katherina Reiche</a:t>
            </a:r>
          </a:p>
        </p:txBody>
      </p:sp>
      <p:sp>
        <p:nvSpPr>
          <p:cNvPr id="23" name="TextBox 22"/>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Economic Affairs and Energy</a:t>
            </a:r>
          </a:p>
        </p:txBody>
      </p:sp>
      <p:sp>
        <p:nvSpPr>
          <p:cNvPr id="24" name="TextBox 23"/>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Economic Affairs and Energy (BMWE)</a:t>
            </a:r>
            <a:r>
              <a:rPr sz="950" b="0" i="0">
                <a:solidFill>
                  <a:srgbClr val="757D87"/>
                </a:solidFill>
                <a:latin typeface="Open Sans"/>
              </a:rPr>
              <a:t>   ·   Assumed office: 2025-05-06</a:t>
            </a:r>
          </a:p>
        </p:txBody>
      </p:sp>
      <p:sp>
        <p:nvSpPr>
          <p:cNvPr id="25" name="TextBox 24"/>
          <p:cNvSpPr txBox="1"/>
          <p:nvPr/>
        </p:nvSpPr>
        <p:spPr>
          <a:xfrm>
            <a:off x="3611880" y="5010912"/>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Katherina Reiche (born 16 July 1973, Luckenwalde) is a CDU politician and former energy executive, a trained chemist. She was a Bundestag member 1998-2015, including deputy chair of the CDU/CSU parliamentary group and parliamentary state secretary roles. She then led the municipal-utilities association VKU (2015-2019) and chaired the board of E.ON subsidiary Westenergie AG (2020-2025).</a:t>
            </a:r>
          </a:p>
          <a:p>
            <a:pPr>
              <a:spcBef>
                <a:spcPts val="500"/>
              </a:spcBef>
            </a:pPr>
            <a:r>
              <a:rPr sz="900" b="0" i="1">
                <a:solidFill>
                  <a:srgbClr val="54606C"/>
                </a:solidFill>
                <a:latin typeface="Open Sans"/>
              </a:rPr>
              <a:t>Also: Maroš Šefčovič (European Commissioner for Trade and Economic Security)</a:t>
            </a:r>
          </a:p>
        </p:txBody>
      </p:sp>
      <p:cxnSp>
        <p:nvCxnSpPr>
          <p:cNvPr id="26" name="Connector 25"/>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8" name="TextBox 27"/>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9" name="TextBox 28"/>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7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$4,125.0B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(FY 2025-26)</a:t>
            </a:r>
          </a:p>
          <a:p>
            <a:pPr>
              <a:spcBef>
                <a:spcPts val="100"/>
              </a:spcBef>
            </a:pPr>
            <a:r>
              <a:rPr sz="1450" b="1" i="0">
                <a:solidFill>
                  <a:srgbClr val="2C2C2C"/>
                </a:solidFill>
                <a:latin typeface="Open Sans"/>
              </a:rPr>
              <a:t>−$333.2B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$45.6B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−$58.2B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Ashwini Vaishnaw</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Union Minister of Electronics and Information Technology (concurrently Minister of Railways and Minister of Information &amp; Broadcasting)</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Electronics and Information Technology (MeitY)</a:t>
            </a:r>
            <a:r>
              <a:rPr sz="950" b="0" i="0">
                <a:solidFill>
                  <a:srgbClr val="757D87"/>
                </a:solidFill>
                <a:latin typeface="Open Sans"/>
              </a:rPr>
              <a:t>   ·   Assumed office: 2024-06-10</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Ashwini Vaishnaw (born 18 July 1970), a 1994-batch former IAS officer of the Odisha cadre, holds engineering degrees from MBM Jodhpur and IIT Kanpur and an MBA from Wharton. After district-collector postings and corporate roles at GE Transportation and Siemens, he entered the Rajya Sabha from Odisha in 2019.</a:t>
            </a:r>
          </a:p>
          <a:p>
            <a:pPr>
              <a:spcBef>
                <a:spcPts val="500"/>
              </a:spcBef>
            </a:pPr>
            <a:r>
              <a:rPr sz="900" b="0" i="1">
                <a:solidFill>
                  <a:srgbClr val="54606C"/>
                </a:solidFill>
                <a:latin typeface="Open Sans"/>
              </a:rPr>
              <a:t>Also: Jitin Prasada (Union Minister of State for Electronics and Information Technology (also Minister of State for Commerce and Industry))</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CABINET MINISTER</a:t>
            </a:r>
          </a:p>
          <a:p>
            <a:pPr>
              <a:spcBef>
                <a:spcPts val="200"/>
              </a:spcBef>
            </a:pPr>
            <a:r>
              <a:rPr sz="1200" b="1" i="0">
                <a:solidFill>
                  <a:srgbClr val="0A314D"/>
                </a:solidFill>
                <a:latin typeface="Open Sans"/>
              </a:rPr>
              <a:t>Piyush Goyal</a:t>
            </a:r>
          </a:p>
          <a:p>
            <a:pPr>
              <a:lnSpc>
                <a:spcPct val="104000"/>
              </a:lnSpc>
              <a:spcBef>
                <a:spcPts val="200"/>
              </a:spcBef>
            </a:pPr>
            <a:r>
              <a:rPr sz="900" b="0" i="1">
                <a:solidFill>
                  <a:srgbClr val="54606C"/>
                </a:solidFill>
                <a:latin typeface="Open Sans"/>
              </a:rPr>
              <a:t>Union Minister of Commerce and Industry</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a:t>
            </a:r>
            <a:r>
              <a:rPr sz="850" b="0" i="0">
                <a:solidFill>
                  <a:srgbClr val="757D87"/>
                </a:solidFill>
                <a:latin typeface="Open Sans"/>
              </a:rPr>
              <a:t>  ·  2019-05-31</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Piyush Goyal, a chartered accountant, lawyer and BJP parliamentarian, has served as India's Union Minister of Commerce and Industry since 2019, leading trade policy and free-trade-agreement strategy including India-US talks. He previously held the Railways, Power and Textiles portfolios.</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COMMERCE SECRETARY · CHIEF US NEGOTIATOR</a:t>
            </a:r>
          </a:p>
          <a:p>
            <a:pPr>
              <a:spcBef>
                <a:spcPts val="200"/>
              </a:spcBef>
            </a:pPr>
            <a:r>
              <a:rPr sz="1200" b="1" i="0">
                <a:solidFill>
                  <a:srgbClr val="0A314D"/>
                </a:solidFill>
                <a:latin typeface="Open Sans"/>
              </a:rPr>
              <a:t>Rajesh Agrawal</a:t>
            </a:r>
          </a:p>
          <a:p>
            <a:pPr>
              <a:lnSpc>
                <a:spcPct val="104000"/>
              </a:lnSpc>
              <a:spcBef>
                <a:spcPts val="200"/>
              </a:spcBef>
            </a:pPr>
            <a:r>
              <a:rPr sz="900" b="0" i="1">
                <a:solidFill>
                  <a:srgbClr val="54606C"/>
                </a:solidFill>
                <a:latin typeface="Open Sans"/>
              </a:rPr>
              <a:t>Commerce Secretary (Secretary, Department of Commerce) and India's Chief Negotiator for the India-US Bilateral Trade Agreement</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 Department of Commerce</a:t>
            </a:r>
            <a:r>
              <a:rPr sz="850" b="0" i="0">
                <a:solidFill>
                  <a:srgbClr val="757D87"/>
                </a:solidFill>
                <a:latin typeface="Open Sans"/>
              </a:rPr>
              <a:t>  ·  2025-10-01</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Rajesh Agrawal, a senior IAS officer, became India's Commerce Secretary on 1 October 2025 after serving as Special Secretary and Additional Secretary in the Department of Commerce. He is chief negotiator for major trade deals, including the India-US Bilateral Trade Agreement.</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8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one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Indonesia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$1,443.0B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+$41.0B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$11.0B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$34.7B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−$23.7B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Meutya Viada Hafid</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 and Digital Affairs</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 and Digital Affairs (Kementerian Komunikasi dan Digital, 'Komdigi')</a:t>
            </a:r>
            <a:r>
              <a:rPr sz="950" b="0" i="0">
                <a:solidFill>
                  <a:srgbClr val="757D87"/>
                </a:solidFill>
                <a:latin typeface="Open Sans"/>
              </a:rPr>
              <a:t>   ·   Assumed office: 2024-10-21</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Meutya Viada Hafid (born 3 May 1978, Bandung) is an Indonesian former television journalist and Golkar politician who became Minister of Communication and Digital Affairs on 21 October 2024 in President Prabowo Subianto's Red and White Cabinet, the first woman to lead the ministry. A former Metro TV newscaster, she previously served multiple terms in the House of Representatives (DPR), chairing Commission I on defense, foreign affairs and information. As minister she has prioritized child protection online, combating online gambling and illegal lending, and digital-economy value retention.</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TRADE MINISTER</a:t>
            </a:r>
          </a:p>
          <a:p>
            <a:pPr>
              <a:spcBef>
                <a:spcPts val="200"/>
              </a:spcBef>
            </a:pPr>
            <a:r>
              <a:rPr sz="1200" b="1" i="0">
                <a:solidFill>
                  <a:srgbClr val="0A314D"/>
                </a:solidFill>
                <a:latin typeface="Open Sans"/>
              </a:rPr>
              <a:t>Budi Santoso</a:t>
            </a:r>
          </a:p>
          <a:p>
            <a:pPr>
              <a:lnSpc>
                <a:spcPct val="104000"/>
              </a:lnSpc>
              <a:spcBef>
                <a:spcPts val="200"/>
              </a:spcBef>
            </a:pPr>
            <a:r>
              <a:rPr sz="900" b="0" i="1">
                <a:solidFill>
                  <a:srgbClr val="54606C"/>
                </a:solidFill>
                <a:latin typeface="Open Sans"/>
              </a:rPr>
              <a:t>Minister of Trade</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(Kementerian Perdagangan)</a:t>
            </a:r>
            <a:r>
              <a:rPr sz="850" b="0" i="0">
                <a:solidFill>
                  <a:srgbClr val="757D87"/>
                </a:solidFill>
                <a:latin typeface="Open Sans"/>
              </a:rPr>
              <a:t>  ·  2024-10-21</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Budi Santoso, a career Ministry of Trade civil servant, has served as Indonesia's Minister of Trade since October 2024 in President Prabowo Subianto's cabinet. He was Director General of Foreign Trade (2022-2024) and emphasizes expanding exports through trade agreements.</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ECONOMIC COORDINATION &amp; NEGOTIATIONS</a:t>
            </a:r>
          </a:p>
          <a:p>
            <a:pPr>
              <a:spcBef>
                <a:spcPts val="200"/>
              </a:spcBef>
            </a:pPr>
            <a:r>
              <a:rPr sz="1200" b="1" i="0">
                <a:solidFill>
                  <a:srgbClr val="0A314D"/>
                </a:solidFill>
                <a:latin typeface="Open Sans"/>
              </a:rPr>
              <a:t>Airlangga Hartarto</a:t>
            </a:r>
          </a:p>
          <a:p>
            <a:pPr>
              <a:lnSpc>
                <a:spcPct val="104000"/>
              </a:lnSpc>
              <a:spcBef>
                <a:spcPts val="200"/>
              </a:spcBef>
            </a:pPr>
            <a:r>
              <a:rPr sz="900" b="0" i="1">
                <a:solidFill>
                  <a:srgbClr val="54606C"/>
                </a:solidFill>
                <a:latin typeface="Open Sans"/>
              </a:rPr>
              <a:t>Coordinating Minister for Economic Affairs</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Coordinating Ministry for Economic Affairs (Kementerian Koordinator Bidang Perekonomian)</a:t>
            </a:r>
            <a:r>
              <a:rPr sz="850" b="0" i="0">
                <a:solidFill>
                  <a:srgbClr val="757D87"/>
                </a:solidFill>
                <a:latin typeface="Open Sans"/>
              </a:rPr>
              <a:t>  ·  2019-10-23</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Airlangga Hartarto has served as Indonesia's Coordinating Minister for Economic Affairs since 2019, retained under President Prabowo Subianto, and acts as chief negotiator in trade talks with the United States. He was Minister of Industry (2016-2019) and Golkar Party chairman (2017-2024).</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9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aly.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Italy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+$56.8B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$78.7B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−$35.0B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Alessio Butti</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Undersecretary of State to the Presidency of the Council of Ministers with responsibility for Technological Innovation</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Presidency of the Council of Ministers (Presidenza del Consiglio dei Ministri) - Department for Digital Transformation</a:t>
            </a:r>
            <a:r>
              <a:rPr sz="950" b="0" i="0">
                <a:solidFill>
                  <a:srgbClr val="757D87"/>
                </a:solidFill>
                <a:latin typeface="Open Sans"/>
              </a:rPr>
              <a:t>   ·   Assumed office: 2022-11-02</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Alessio Butti (born 1959) is an Italian politician of Fratelli d'Italia and a longtime senator and deputy who served as the party's head of media and telecommunications. In the Meloni government he holds the digital portfolio as Undersecretary of State to the Presidency of the Council with responsibility for Technological Innovation, inheriting functions of the former standalone Ministry for Technological Innovation and Digital Transition (held under Draghi by Vittorio Colao) that Meloni abolished. He oversees the Department for Digital Transformation, PNRR digital targets, digital identity (IT Wallet), cloud, AI and broadband.</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FOREIGN TRADE &amp; EXPORT PROMOTION</a:t>
            </a:r>
          </a:p>
          <a:p>
            <a:pPr>
              <a:spcBef>
                <a:spcPts val="200"/>
              </a:spcBef>
            </a:pPr>
            <a:r>
              <a:rPr sz="1200" b="1" i="0">
                <a:solidFill>
                  <a:srgbClr val="0A314D"/>
                </a:solidFill>
                <a:latin typeface="Open Sans"/>
              </a:rPr>
              <a:t>Antonio Tajani</a:t>
            </a:r>
          </a:p>
          <a:p>
            <a:pPr>
              <a:lnSpc>
                <a:spcPct val="104000"/>
              </a:lnSpc>
              <a:spcBef>
                <a:spcPts val="200"/>
              </a:spcBef>
            </a:pPr>
            <a:r>
              <a:rPr sz="900" b="0" i="1">
                <a:solidFill>
                  <a:srgbClr val="54606C"/>
                </a:solidFill>
                <a:latin typeface="Open Sans"/>
              </a:rPr>
              <a:t>Deputy Prime Minister (Vice President of the Council of Ministers) and Minister of Foreign Affairs and International Cooperation</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Foreign Affairs and International Cooperation (Ministero degli Affari Esteri e della Cooperazione Internazionale - MAECI / 'Farnesina')</a:t>
            </a:r>
            <a:r>
              <a:rPr sz="850" b="0" i="0">
                <a:solidFill>
                  <a:srgbClr val="757D87"/>
                </a:solidFill>
                <a:latin typeface="Open Sans"/>
              </a:rPr>
              <a:t>  ·  2022-10-22</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Antonio Tajani, a Forza Italia founder, former European Commissioner and President of the European Parliament (2017-2019), has been Italy's Deputy Prime Minister and Foreign Minister since October 2022. His ministry holds Italy's foreign-trade and export-promotion competency, coordinating ITA/ICE, SACE and SIMEST.</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ENTERPRISES &amp; DOMESTIC INDUSTRY</a:t>
            </a:r>
          </a:p>
          <a:p>
            <a:pPr>
              <a:spcBef>
                <a:spcPts val="200"/>
              </a:spcBef>
            </a:pPr>
            <a:r>
              <a:rPr sz="1200" b="1" i="0">
                <a:solidFill>
                  <a:srgbClr val="0A314D"/>
                </a:solidFill>
                <a:latin typeface="Open Sans"/>
              </a:rPr>
              <a:t>Adolfo Urso</a:t>
            </a:r>
          </a:p>
          <a:p>
            <a:pPr>
              <a:lnSpc>
                <a:spcPct val="104000"/>
              </a:lnSpc>
              <a:spcBef>
                <a:spcPts val="200"/>
              </a:spcBef>
            </a:pPr>
            <a:r>
              <a:rPr sz="900" b="0" i="1">
                <a:solidFill>
                  <a:srgbClr val="54606C"/>
                </a:solidFill>
                <a:latin typeface="Open Sans"/>
              </a:rPr>
              <a:t>Minister of Enterprises and Made in Italy</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Enterprises and Made in Italy (Ministero delle Imprese e del Made in Italy - MIMIT)</a:t>
            </a:r>
            <a:r>
              <a:rPr sz="850" b="0" i="0">
                <a:solidFill>
                  <a:srgbClr val="757D87"/>
                </a:solidFill>
                <a:latin typeface="Open Sans"/>
              </a:rPr>
              <a:t>  ·  2022-10-22</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Adolfo Urso, a politician and journalist of the Italian right and former Deputy Minister of Economic Development responsible for Foreign Trade under Berlusconi, has led the Ministry of Enterprises and Made in Italy since 22 October 2022, covering industrial policy.</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10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japa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Japan</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−$17.0B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$146.0B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−$63.9B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Matsumoto Hisashi</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Digital Transformation</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Digital Agency (Cabinet)</a:t>
            </a:r>
            <a:r>
              <a:rPr sz="950" b="0" i="0">
                <a:solidFill>
                  <a:srgbClr val="757D87"/>
                </a:solidFill>
                <a:latin typeface="Open Sans"/>
              </a:rPr>
              <a:t>   ·   Assumed office: 2025-10-21</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Matsumoto Hisashi (born June 13, 1962) is a Liberal Democratic Party member of the House of Representatives for Chiba's 13th district, elected in 2021. A former emergency and trauma surgeon and specially appointed professor at Nippon Medical School, he was named Minister for Digital Transformation by Prime Minister Takaichi Sanae on October 21, 2025, and reappointed in the Second Takaichi cabinet on February 18, 2026. He concurrently serves as Minister in charge of Cybersecurity and holds administrative, fiscal and regulatory reform portfolios.</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2" name="TextBox 21"/>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Akazawa Ryosei</a:t>
            </a:r>
          </a:p>
        </p:txBody>
      </p:sp>
      <p:sp>
        <p:nvSpPr>
          <p:cNvPr id="23" name="TextBox 22"/>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Economy, Trade and Industry</a:t>
            </a:r>
          </a:p>
        </p:txBody>
      </p:sp>
      <p:sp>
        <p:nvSpPr>
          <p:cNvPr id="24" name="TextBox 23"/>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Economy, Trade and Industry (METI)</a:t>
            </a:r>
            <a:r>
              <a:rPr sz="950" b="0" i="0">
                <a:solidFill>
                  <a:srgbClr val="757D87"/>
                </a:solidFill>
                <a:latin typeface="Open Sans"/>
              </a:rPr>
              <a:t>   ·   Assumed office: 2025-10-21</a:t>
            </a:r>
          </a:p>
        </p:txBody>
      </p:sp>
      <p:sp>
        <p:nvSpPr>
          <p:cNvPr id="25" name="TextBox 24"/>
          <p:cNvSpPr txBox="1"/>
          <p:nvPr/>
        </p:nvSpPr>
        <p:spPr>
          <a:xfrm>
            <a:off x="3611880" y="5010912"/>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Akazawa Ryosei is a Liberal Democratic Party member of the House of Representatives for Tottori's 2nd district, first elected in 2005. A University of Tokyo Law graduate with a Cornell MBA, he spent about two decades as an MLIT-lineage bureaucrat. Under PM Ishiba he was Minister for Economic Revitalization and Japan's chief negotiator in the 2025 US tariff talks. PM Takaichi appointed him METI Minister on October 21, 2025, reappointed February 18, 2026.</a:t>
            </a:r>
          </a:p>
          <a:p>
            <a:pPr>
              <a:spcBef>
                <a:spcPts val="500"/>
              </a:spcBef>
            </a:pPr>
            <a:r>
              <a:rPr sz="900" b="0" i="1">
                <a:solidFill>
                  <a:srgbClr val="54606C"/>
                </a:solidFill>
                <a:latin typeface="Open Sans"/>
              </a:rPr>
              <a:t>Also: Motegi Toshimitsu (Minister for Foreign Affairs)</a:t>
            </a:r>
          </a:p>
        </p:txBody>
      </p:sp>
      <p:cxnSp>
        <p:nvCxnSpPr>
          <p:cNvPr id="26" name="Connector 25"/>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8" name="TextBox 27"/>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9" name="TextBox 28"/>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11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exico.png"/>
          <p:cNvPicPr>
            <a:picLocks noChangeAspect="1"/>
          </p:cNvPicPr>
          <p:nvPr/>
        </p:nvPicPr>
        <p:blipFill>
          <a:blip r:embed="rId2"/>
          <a:stretch>
            <a:fillRect/>
          </a:stretch>
        </p:blipFill>
        <p:spPr>
          <a:xfrm>
            <a:off x="548640" y="329184"/>
            <a:ext cx="960120" cy="548640"/>
          </a:xfrm>
          <a:prstGeom prst="rect">
            <a:avLst/>
          </a:prstGeom>
        </p:spPr>
      </p:pic>
      <p:sp>
        <p:nvSpPr>
          <p:cNvPr id="4" name="Rectangle 3"/>
          <p:cNvSpPr/>
          <p:nvPr/>
        </p:nvSpPr>
        <p:spPr>
          <a:xfrm>
            <a:off x="548640" y="329184"/>
            <a:ext cx="96012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Mexico</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$1,830.0B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+$0.8B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$338.0B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$534.9B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−$196.9B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José Antonio Peña Merino</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Head of the Agency for Digital Transformation and Telecommunications</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Agencia de Transformación Digital y Telecomunicaciones (ATDT) - Office of the President (State-Secretariat rank)</a:t>
            </a:r>
            <a:r>
              <a:rPr sz="950" b="0" i="0">
                <a:solidFill>
                  <a:srgbClr val="757D87"/>
                </a:solidFill>
                <a:latin typeface="Open Sans"/>
              </a:rPr>
              <a:t>   ·   Assumed office: 2024-10-01</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José Antonio 'Pepe' Peña Merino is a political scientist and data specialist. He studied Political Science and International Relations at CIDE and earned a PhD in Political Science from New York University, specializing in political economy and quantitative methods. He co-founded Data Cívica and led Mexico City's Agencia Digital de Innovación Pública (ADIP) under then-Mayor Claudia Sheinbaum. Named by Sheinbaum to head the newly created cabinet-rank ATDT, which unifies federal digital, technology and telecommunications policy, he took office with her administration in October 2024 and remains in post.</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SECRETARY OF ECONOMY</a:t>
            </a:r>
          </a:p>
          <a:p>
            <a:pPr>
              <a:spcBef>
                <a:spcPts val="200"/>
              </a:spcBef>
            </a:pPr>
            <a:r>
              <a:rPr sz="1200" b="1" i="0">
                <a:solidFill>
                  <a:srgbClr val="0A314D"/>
                </a:solidFill>
                <a:latin typeface="Open Sans"/>
              </a:rPr>
              <a:t>Marcelo Luis Ebrard Casaubón</a:t>
            </a:r>
          </a:p>
          <a:p>
            <a:pPr>
              <a:lnSpc>
                <a:spcPct val="104000"/>
              </a:lnSpc>
              <a:spcBef>
                <a:spcPts val="200"/>
              </a:spcBef>
            </a:pPr>
            <a:r>
              <a:rPr sz="900" b="0" i="1">
                <a:solidFill>
                  <a:srgbClr val="54606C"/>
                </a:solidFill>
                <a:latin typeface="Open Sans"/>
              </a:rPr>
              <a:t>Secretary of Economy</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Marcelo Ebrard Casaubón, former Head of Government of Mexico City (2006-2012) and Secretary of Foreign Affairs (2018-2023), took office as Mexico's Secretary of Economy on 1 October 2024. He leads trade policy, including the 2026 USMCA review and US tariff negotiations.</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FOREIGN TRADE UNDERSECRETARY</a:t>
            </a:r>
          </a:p>
          <a:p>
            <a:pPr>
              <a:spcBef>
                <a:spcPts val="200"/>
              </a:spcBef>
            </a:pPr>
            <a:r>
              <a:rPr sz="1200" b="1" i="0">
                <a:solidFill>
                  <a:srgbClr val="0A314D"/>
                </a:solidFill>
                <a:latin typeface="Open Sans"/>
              </a:rPr>
              <a:t>Luis Rosendo Gutiérrez Romano</a:t>
            </a:r>
          </a:p>
          <a:p>
            <a:pPr>
              <a:lnSpc>
                <a:spcPct val="104000"/>
              </a:lnSpc>
              <a:spcBef>
                <a:spcPts val="200"/>
              </a:spcBef>
            </a:pPr>
            <a:r>
              <a:rPr sz="900" b="0" i="1">
                <a:solidFill>
                  <a:srgbClr val="54606C"/>
                </a:solidFill>
                <a:latin typeface="Open Sans"/>
              </a:rPr>
              <a:t>Undersecretary for Foreign Trade</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Luis Rosendo Gutiérrez Romano is Mexico's Undersecretary for Foreign Trade and lead trade negotiator, appointed to the Secretaría de Economía in October 2024. Holding a PhD from the University of Essex, he leads tariff and trade-treaty negotiations, including the USMCA review.</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12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land.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Poland</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$1,040.0B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−$8.7B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−$0.4B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Krzysztof Gawkowski</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Digital Affairs</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Affairs (Ministerstwo Cyfryzacji)</a:t>
            </a:r>
            <a:r>
              <a:rPr sz="950" b="0" i="0">
                <a:solidFill>
                  <a:srgbClr val="757D87"/>
                </a:solidFill>
                <a:latin typeface="Open Sans"/>
              </a:rPr>
              <a:t>   ·   Assumed office: 2023-12-13</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Krzysztof Gawkowski (b. 1980) is a Polish political scientist and New Left (Nowa Lewica) politician, serving as the party's deputy chairman. A member of the Sejm since 2019 and former leader of the Left parliamentary caucus, he became Deputy Prime Minister and Minister of Digital Affairs in Donald Tusk's cabinet on 13 December 2023 and remains in the role in 2026.</a:t>
            </a:r>
          </a:p>
          <a:p>
            <a:pPr>
              <a:spcBef>
                <a:spcPts val="500"/>
              </a:spcBef>
            </a:pPr>
            <a:r>
              <a:rPr sz="900" b="0" i="1">
                <a:solidFill>
                  <a:srgbClr val="54606C"/>
                </a:solidFill>
                <a:latin typeface="Open Sans"/>
              </a:rPr>
              <a:t>Digital portfolio unchanged by the July 2025 reshuffle: the Ministry of Digital Affairs (Ministerstwo Cyfryzacji) is led by Krzysztof Gawkowski (Nowa Lewica), who is simultaneously Deputy Prime Minister and Government Plenipotentiary for Cybersecurity — Poland's counterpart for digital economy, AI, and cyber issues.</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FINANCE &amp; ECONOMY MINISTER</a:t>
            </a:r>
          </a:p>
          <a:p>
            <a:pPr>
              <a:spcBef>
                <a:spcPts val="200"/>
              </a:spcBef>
            </a:pPr>
            <a:r>
              <a:rPr sz="1200" b="1" i="0">
                <a:solidFill>
                  <a:srgbClr val="0A314D"/>
                </a:solidFill>
                <a:latin typeface="Open Sans"/>
              </a:rPr>
              <a:t>Andrzej Domański</a:t>
            </a:r>
          </a:p>
          <a:p>
            <a:pPr>
              <a:lnSpc>
                <a:spcPct val="104000"/>
              </a:lnSpc>
              <a:spcBef>
                <a:spcPts val="200"/>
              </a:spcBef>
            </a:pPr>
            <a:r>
              <a:rPr sz="900" b="0" i="1">
                <a:solidFill>
                  <a:srgbClr val="54606C"/>
                </a:solidFill>
                <a:latin typeface="Open Sans"/>
              </a:rPr>
              <a:t>Minister of Finance and Economy</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2025-07-24</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Andrzej Domański, a Polish economist and Civic Coalition politician, became Minister of Finance on 13 December 2023. Since a July 2025 reshuffle merged that ministry with the Ministry of Development and Technology, he has served as Minister of Finance and Economy.</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TRADE &amp; ECONOMIC SECURITY</a:t>
            </a:r>
          </a:p>
          <a:p>
            <a:pPr>
              <a:spcBef>
                <a:spcPts val="200"/>
              </a:spcBef>
            </a:pPr>
            <a:r>
              <a:rPr sz="1200" b="1" i="0">
                <a:solidFill>
                  <a:srgbClr val="0A314D"/>
                </a:solidFill>
                <a:latin typeface="Open Sans"/>
              </a:rPr>
              <a:t>Michał Baranowski</a:t>
            </a:r>
          </a:p>
          <a:p>
            <a:pPr>
              <a:lnSpc>
                <a:spcPct val="104000"/>
              </a:lnSpc>
              <a:spcBef>
                <a:spcPts val="200"/>
              </a:spcBef>
            </a:pPr>
            <a:r>
              <a:rPr sz="900" b="0" i="1">
                <a:solidFill>
                  <a:srgbClr val="54606C"/>
                </a:solidFill>
                <a:latin typeface="Open Sans"/>
              </a:rPr>
              <a:t>Undersecretary of State (deputy minister) responsible for trade</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2024-12-30</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Michał Baranowski spent nearly two decades at the German Marshall Fund, founding its Warsaw office in 2011. Appointed Poland's Undersecretary of State responsible for trade on 30 December 2024, he represents Poland at the EU Foreign Affairs Council (Trade).</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13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us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Russia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$2,541.0B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+$139.3B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$0.6B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Maksut Shadayev</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Digital Development, Communications and Mass Media</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Development, Communications and Mass Media of the Russian Federation (Mintsifry)</a:t>
            </a:r>
            <a:r>
              <a:rPr sz="950" b="0" i="0">
                <a:solidFill>
                  <a:srgbClr val="757D87"/>
                </a:solidFill>
                <a:latin typeface="Open Sans"/>
              </a:rPr>
              <a:t>   ·   Assumed office: 2020-01-21</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Maksut Igorevich Shadayev (born 11 November 1979) has led Russia's digital ministry since 21 January 2020 and was reappointed on 14 May 2024. Trained at the Russian State Social University, he built his career in ICT and public administration: department director at the communications ministry, aide to Sergey Naryshkin, IT minister of Moscow Oblast (2014-2018), then Rostelecom vice-president.</a:t>
            </a:r>
          </a:p>
          <a:p>
            <a:pPr>
              <a:spcBef>
                <a:spcPts val="500"/>
              </a:spcBef>
            </a:pPr>
            <a:r>
              <a:rPr sz="900" b="0" i="1">
                <a:solidFill>
                  <a:srgbClr val="54606C"/>
                </a:solidFill>
                <a:latin typeface="Open Sans"/>
              </a:rPr>
              <a:t>Digital government, telecommunications, IT-sector policy, and internet/media regulation are consolidated under the Ministry of Digital Development, Communications and Mass Media (Shadayev).</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INDUSTRY &amp; TRADE MINISTER</a:t>
            </a:r>
          </a:p>
          <a:p>
            <a:pPr>
              <a:spcBef>
                <a:spcPts val="200"/>
              </a:spcBef>
            </a:pPr>
            <a:r>
              <a:rPr sz="1200" b="1" i="0">
                <a:solidFill>
                  <a:srgbClr val="0A314D"/>
                </a:solidFill>
                <a:latin typeface="Open Sans"/>
              </a:rPr>
              <a:t>Anton Alikhanov</a:t>
            </a:r>
          </a:p>
          <a:p>
            <a:pPr>
              <a:lnSpc>
                <a:spcPct val="104000"/>
              </a:lnSpc>
              <a:spcBef>
                <a:spcPts val="200"/>
              </a:spcBef>
            </a:pPr>
            <a:r>
              <a:rPr sz="900" b="0" i="1">
                <a:solidFill>
                  <a:srgbClr val="54606C"/>
                </a:solidFill>
                <a:latin typeface="Open Sans"/>
              </a:rPr>
              <a:t>Minister of Industry and Trade</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Trade of the Russian Federation (Minpromtorg)</a:t>
            </a:r>
            <a:r>
              <a:rPr sz="850" b="0" i="0">
                <a:solidFill>
                  <a:srgbClr val="757D87"/>
                </a:solidFill>
                <a:latin typeface="Open Sans"/>
              </a:rPr>
              <a:t>  ·  2024-05-14</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Anton Alikhanov has been Russia's Minister of Industry and Trade since 14 May 2024, overseeing industrial policy, trade in goods, export support and import substitution. Previously governor of Kaliningrad Oblast (2016-2024), he holds degrees in finance and law.</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TRADE POLICY &amp; NEGOTIATIONS</a:t>
            </a:r>
          </a:p>
          <a:p>
            <a:pPr>
              <a:spcBef>
                <a:spcPts val="200"/>
              </a:spcBef>
            </a:pPr>
            <a:r>
              <a:rPr sz="1200" b="1" i="0">
                <a:solidFill>
                  <a:srgbClr val="0A314D"/>
                </a:solidFill>
                <a:latin typeface="Open Sans"/>
              </a:rPr>
              <a:t>Maxim Reshetnikov</a:t>
            </a:r>
          </a:p>
          <a:p>
            <a:pPr>
              <a:lnSpc>
                <a:spcPct val="104000"/>
              </a:lnSpc>
              <a:spcBef>
                <a:spcPts val="200"/>
              </a:spcBef>
            </a:pPr>
            <a:r>
              <a:rPr sz="900" b="0" i="1">
                <a:solidFill>
                  <a:srgbClr val="54606C"/>
                </a:solidFill>
                <a:latin typeface="Open Sans"/>
              </a:rPr>
              <a:t>Minister of Economic Development</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Economic Development of the Russian Federation (Minekonomrazvitiya)</a:t>
            </a:r>
            <a:r>
              <a:rPr sz="850" b="0" i="0">
                <a:solidFill>
                  <a:srgbClr val="757D87"/>
                </a:solidFill>
                <a:latin typeface="Open Sans"/>
              </a:rPr>
              <a:t>  ·  2020-01-21</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Maxim Reshetnikov has served as Russia's Minister of Economic Development since 21 January 2020 and was reappointed in May 2024. He previously headed Moscow's economic-policy department (2012-2017) and governed Perm Krai (2017-2020). His ministry directs macroeconomic policy and international trade negotiations.</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14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audi-arab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Saudi Arabia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$1,277.0B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+$59.9B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Abdullah bin Amer Alswaha</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Communications and Information Technology</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Communications and Information Technology (MCIT)</a:t>
            </a:r>
            <a:r>
              <a:rPr sz="950" b="0" i="0">
                <a:solidFill>
                  <a:srgbClr val="757D87"/>
                </a:solidFill>
                <a:latin typeface="Open Sans"/>
              </a:rPr>
              <a:t>   ·   Assumed office: 2017-04-24</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Abdullah bin Amer Alswaha, a Saudi engineer, has been Minister of Communications and Information Technology since 24 April 2017 and remains in office in 2026 (the ministry publicly welcomed the 2026 budget under his name). He holds electrical-engineering and computer-science degrees from KFUPM and the University of Washington plus Harvard executive education. Before government he led Cisco Saudi Arabia as managing director, then served as the Kingdom's Chief Digital Officer. As minister he drives Saudi Arabia's digital transformation and AI agenda under Vision 2030 and chairs related technology and space bodies.</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COMMERCE MINISTER</a:t>
            </a:r>
          </a:p>
          <a:p>
            <a:pPr>
              <a:spcBef>
                <a:spcPts val="200"/>
              </a:spcBef>
            </a:pPr>
            <a:r>
              <a:rPr sz="1200" b="1" i="0">
                <a:solidFill>
                  <a:srgbClr val="0A314D"/>
                </a:solidFill>
                <a:latin typeface="Open Sans"/>
              </a:rPr>
              <a:t>Majid bin Abdullah Al-Qasabi</a:t>
            </a:r>
          </a:p>
          <a:p>
            <a:pPr>
              <a:lnSpc>
                <a:spcPct val="104000"/>
              </a:lnSpc>
              <a:spcBef>
                <a:spcPts val="200"/>
              </a:spcBef>
            </a:pPr>
            <a:r>
              <a:rPr sz="900" b="0" i="1">
                <a:solidFill>
                  <a:srgbClr val="54606C"/>
                </a:solidFill>
                <a:latin typeface="Open Sans"/>
              </a:rPr>
              <a:t>Minister of Commerce</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a:t>
            </a:r>
            <a:r>
              <a:rPr sz="850" b="0" i="0">
                <a:solidFill>
                  <a:srgbClr val="757D87"/>
                </a:solidFill>
                <a:latin typeface="Open Sans"/>
              </a:rPr>
              <a:t>  ·  2016-05-07</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Majid bin Abdullah Al-Qasabi has been Saudi Arabia's Minister of Commerce since May 2016 and chairs the board of the General Authority for Foreign Trade, which handles WTO representation and trade negotiations. He previously served as acting Minister of Media (2020-2023).</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FOREIGN TRADE AUTHORITY (GAFT)</a:t>
            </a:r>
          </a:p>
          <a:p>
            <a:pPr>
              <a:spcBef>
                <a:spcPts val="200"/>
              </a:spcBef>
            </a:pPr>
            <a:r>
              <a:rPr sz="1200" b="1" i="0">
                <a:solidFill>
                  <a:srgbClr val="0A314D"/>
                </a:solidFill>
                <a:latin typeface="Open Sans"/>
              </a:rPr>
              <a:t>Mohammed bin Abdulaziz Al-Abduljabbar</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Acting Governor, General Authority for Foreign Trade (GAFT)</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General Authority for Foreign Trade (GAFT)</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Mohammed bin Abdulaziz Al-Abduljabbar serves as Acting Governor of Saudi Arabia's General Authority for Foreign Trade (GAFT), which represents the Kingdom at the WTO, supervises the negotiating team and leads free-trade-agreement negotiations. GAFT's 2025-2026 communications list him in an acting capacity.</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uth-kore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South Korea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+$78.0B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$68.8B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$125.2B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−$56.4B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Bae Kyung-hoon</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Science and ICT</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Science and ICT (MSIT)</a:t>
            </a:r>
            <a:r>
              <a:rPr sz="950" b="0" i="0">
                <a:solidFill>
                  <a:srgbClr val="757D87"/>
                </a:solidFill>
                <a:latin typeface="Open Sans"/>
              </a:rPr>
              <a:t>   ·   Assumed office: 2025-07-16</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Bae Kyung-hoon is an AI specialist who holds a PhD in computer vision (Kwangwoon University, 2006) and led LG AI Research, where he developed the Exaone large language model. President Lee Jae-myung appointed him Minister of Science and ICT on 16 July 2025; the post was later elevated to Deputy Prime Minister rank. He also serves as standing vice chairman of the National AI Strategy Committee and pursues Lee's goal of making Korea a top-three global AI power with record R&amp;D budgets and a large GPU buildout.</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TRADE, INDUSTRY &amp; RESOURCES</a:t>
            </a:r>
          </a:p>
          <a:p>
            <a:pPr>
              <a:spcBef>
                <a:spcPts val="200"/>
              </a:spcBef>
            </a:pPr>
            <a:r>
              <a:rPr sz="1200" b="1" i="0">
                <a:solidFill>
                  <a:srgbClr val="0A314D"/>
                </a:solidFill>
                <a:latin typeface="Open Sans"/>
              </a:rPr>
              <a:t>Kim Jung-kwan</a:t>
            </a:r>
          </a:p>
          <a:p>
            <a:pPr>
              <a:lnSpc>
                <a:spcPct val="104000"/>
              </a:lnSpc>
              <a:spcBef>
                <a:spcPts val="200"/>
              </a:spcBef>
            </a:pPr>
            <a:r>
              <a:rPr sz="900" b="0" i="1">
                <a:solidFill>
                  <a:srgbClr val="54606C"/>
                </a:solidFill>
                <a:latin typeface="Open Sans"/>
              </a:rPr>
              <a:t>Minister of Trade, Industry and Resources</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2025-07</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Kim Jung-kwan, a finance technocrat who served at Korea's Ministry of Economy and Finance, the Bank of Korea and the World Bank and led Doosan Enerbility, was nominated by President Lee and took office in July 2025 heading the renamed MOTIR.</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TRADE NEGOTIATIONS</a:t>
            </a:r>
          </a:p>
          <a:p>
            <a:pPr>
              <a:spcBef>
                <a:spcPts val="200"/>
              </a:spcBef>
            </a:pPr>
            <a:r>
              <a:rPr sz="1200" b="1" i="0">
                <a:solidFill>
                  <a:srgbClr val="0A314D"/>
                </a:solidFill>
                <a:latin typeface="Open Sans"/>
              </a:rPr>
              <a:t>Yeo Han-koo</a:t>
            </a:r>
          </a:p>
          <a:p>
            <a:pPr>
              <a:lnSpc>
                <a:spcPct val="104000"/>
              </a:lnSpc>
              <a:spcBef>
                <a:spcPts val="200"/>
              </a:spcBef>
            </a:pPr>
            <a:r>
              <a:rPr sz="900" b="0" i="1">
                <a:solidFill>
                  <a:srgbClr val="54606C"/>
                </a:solidFill>
                <a:latin typeface="Open Sans"/>
              </a:rPr>
              <a:t>Minister for Trade (Head of the Office of Trade Negotiations)</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2025-06</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Yeo Han-koo, with nearly three decades of public service, was appointed South Korea's Minister for Trade in mid-2025 under President Lee. Previously chief trade negotiator in 2021-2022 and a Peterson Institute senior fellow, he leads tariff talks with the United States.</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16 /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urkiy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Türkiye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$1,565.0B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−$92.0B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$20.4B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$16.4B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+$4.0B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Mehmet Fatih Kacır</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Industry and Technology</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Industry and Technology (Sanayi ve Teknoloji Bakanlığı)</a:t>
            </a:r>
            <a:r>
              <a:rPr sz="950" b="0" i="0">
                <a:solidFill>
                  <a:srgbClr val="757D87"/>
                </a:solidFill>
                <a:latin typeface="Open Sans"/>
              </a:rPr>
              <a:t>   ·   Assumed office: 2023-06-03</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Mehmet Fatih Kacır (born 16 October 1984) became Minister of Industry and Technology on 3 June 2023, having previously served as a deputy minister in the same ministry. An industrial engineering graduate of Boğaziçi University (2008), he co-founded and chaired the T3 Foundation until 2018 and helped launch TEKNOFEST and the DENEYAP technology workshops.</a:t>
            </a:r>
          </a:p>
          <a:p>
            <a:pPr>
              <a:spcBef>
                <a:spcPts val="500"/>
              </a:spcBef>
            </a:pPr>
            <a:r>
              <a:rPr sz="900" b="0" i="1">
                <a:solidFill>
                  <a:srgbClr val="54606C"/>
                </a:solidFill>
                <a:latin typeface="Open Sans"/>
              </a:rPr>
              <a:t>No standalone digital ministry: cybersecurity (Önal, Cybersecurity Presidency) and telecom/digital infrastructure (Uraloğlu, Transport &amp; Infrastructure) sit outside the Industry &amp; Technology Ministry.</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2" name="TextBox 21"/>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Ömer Bolat</a:t>
            </a:r>
          </a:p>
        </p:txBody>
      </p:sp>
      <p:sp>
        <p:nvSpPr>
          <p:cNvPr id="23" name="TextBox 22"/>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Trade</a:t>
            </a:r>
          </a:p>
        </p:txBody>
      </p:sp>
      <p:sp>
        <p:nvSpPr>
          <p:cNvPr id="24" name="TextBox 23"/>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Trade (Ticaret Bakanlığı)</a:t>
            </a:r>
            <a:r>
              <a:rPr sz="950" b="0" i="0">
                <a:solidFill>
                  <a:srgbClr val="757D87"/>
                </a:solidFill>
                <a:latin typeface="Open Sans"/>
              </a:rPr>
              <a:t>   ·   Assumed office: 2023-06-03</a:t>
            </a:r>
          </a:p>
        </p:txBody>
      </p:sp>
      <p:sp>
        <p:nvSpPr>
          <p:cNvPr id="25" name="TextBox 24"/>
          <p:cNvSpPr txBox="1"/>
          <p:nvPr/>
        </p:nvSpPr>
        <p:spPr>
          <a:xfrm>
            <a:off x="3611880" y="5010912"/>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Prof. Dr. Ömer Bolat (born 30 August 1963, Istanbul) has been Minister of Trade since the cabinet formed after Türkiye's May 2023 elections. He graduated from Marmara University's Faculty of Economics and Administrative Sciences in international economic relations, becoming associate professor in 2014 and professor in 2019. Before politics he was General Coordinator/CEO of the Albayrak Group for about 23 years and chaired the MÜSİAD business association. As minister he directs export strategy, customs, FTA negotiations and WTO representation, and has led trade talks with the United States.</a:t>
            </a:r>
          </a:p>
        </p:txBody>
      </p:sp>
      <p:cxnSp>
        <p:nvCxnSpPr>
          <p:cNvPr id="26" name="Connector 25"/>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8" name="TextBox 27"/>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9" name="TextBox 28"/>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17 / 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kingdom.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Kingdom</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$3,959.0B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−$319.2B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$97.0B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$64.8B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+$32.2B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6" name="TextBox 15"/>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Liz Kendall</a:t>
            </a:r>
          </a:p>
        </p:txBody>
      </p:sp>
      <p:sp>
        <p:nvSpPr>
          <p:cNvPr id="17" name="TextBox 16"/>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State for Science, Innovation and Technology</a:t>
            </a:r>
          </a:p>
        </p:txBody>
      </p:sp>
      <p:sp>
        <p:nvSpPr>
          <p:cNvPr id="18" name="TextBox 17"/>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for Science, Innovation and Technology (DSIT)</a:t>
            </a:r>
            <a:r>
              <a:rPr sz="950" b="0" i="0">
                <a:solidFill>
                  <a:srgbClr val="757D87"/>
                </a:solidFill>
                <a:latin typeface="Open Sans"/>
              </a:rPr>
              <a:t>   ·   Assumed office: 2025-09-05</a:t>
            </a:r>
          </a:p>
        </p:txBody>
      </p:sp>
      <p:sp>
        <p:nvSpPr>
          <p:cNvPr id="19" name="TextBox 18"/>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Liz Kendall is the Labour MP for Leicester West, first elected in 2010. She contested the 2015 Labour leadership election and held several shadow ministerial roles. After Labour's 2024 general election win she served as Secretary of State for Work and Pensions (July 2024 to September 2025).</a:t>
            </a:r>
          </a:p>
          <a:p>
            <a:pPr>
              <a:spcBef>
                <a:spcPts val="500"/>
              </a:spcBef>
            </a:pPr>
            <a:r>
              <a:rPr sz="900" b="0" i="1">
                <a:solidFill>
                  <a:srgbClr val="54606C"/>
                </a:solidFill>
                <a:latin typeface="Open Sans"/>
              </a:rPr>
              <a:t>Also: Ian Murray (Minister of State (Minister for Digital Government and Data)); Kanishka Narayan (Parliamentary Under-Secretary of State (Minister for AI and Online Safety))</a:t>
            </a:r>
          </a:p>
        </p:txBody>
      </p:sp>
      <p:cxnSp>
        <p:nvCxnSpPr>
          <p:cNvPr id="20" name="Connector 19"/>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2" name="TextBox 21"/>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SECRETARY OF STATE · BOARD OF TRADE</a:t>
            </a:r>
          </a:p>
          <a:p>
            <a:pPr>
              <a:spcBef>
                <a:spcPts val="200"/>
              </a:spcBef>
            </a:pPr>
            <a:r>
              <a:rPr sz="1200" b="1" i="0">
                <a:solidFill>
                  <a:srgbClr val="0A314D"/>
                </a:solidFill>
                <a:latin typeface="Open Sans"/>
              </a:rPr>
              <a:t>Peter Kyle</a:t>
            </a:r>
          </a:p>
          <a:p>
            <a:pPr>
              <a:lnSpc>
                <a:spcPct val="104000"/>
              </a:lnSpc>
              <a:spcBef>
                <a:spcPts val="200"/>
              </a:spcBef>
            </a:pPr>
            <a:r>
              <a:rPr sz="900" b="0" i="1">
                <a:solidFill>
                  <a:srgbClr val="54606C"/>
                </a:solidFill>
                <a:latin typeface="Open Sans"/>
              </a:rPr>
              <a:t>Secretary of State for Business and Trade, and President of the Board of Trade</a:t>
            </a:r>
          </a:p>
        </p:txBody>
      </p:sp>
      <p:sp>
        <p:nvSpPr>
          <p:cNvPr id="23" name="TextBox 22"/>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2025-09-05</a:t>
            </a:r>
          </a:p>
        </p:txBody>
      </p:sp>
      <p:sp>
        <p:nvSpPr>
          <p:cNvPr id="24" name="TextBox 23"/>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Peter Kyle, Labour MP for Hove and Portslade since 2015, became Secretary of State for Business and Trade and President of the Board of Trade in the September 2025 reshuffle. He was previously Science, Innovation and Technology Secretary (2024-2025).</a:t>
            </a:r>
          </a:p>
        </p:txBody>
      </p:sp>
      <p:sp>
        <p:nvSpPr>
          <p:cNvPr id="25" name="TextBox 24"/>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TRADE POLICY &amp; ECONOMIC SECURITY</a:t>
            </a:r>
          </a:p>
          <a:p>
            <a:pPr>
              <a:spcBef>
                <a:spcPts val="200"/>
              </a:spcBef>
            </a:pPr>
            <a:r>
              <a:rPr sz="1200" b="1" i="0">
                <a:solidFill>
                  <a:srgbClr val="0A314D"/>
                </a:solidFill>
                <a:latin typeface="Open Sans"/>
              </a:rPr>
              <a:t>Chris Bryant</a:t>
            </a:r>
          </a:p>
          <a:p>
            <a:pPr>
              <a:lnSpc>
                <a:spcPct val="104000"/>
              </a:lnSpc>
              <a:spcBef>
                <a:spcPts val="200"/>
              </a:spcBef>
            </a:pPr>
            <a:r>
              <a:rPr sz="900" b="0" i="1">
                <a:solidFill>
                  <a:srgbClr val="54606C"/>
                </a:solidFill>
                <a:latin typeface="Open Sans"/>
              </a:rPr>
              <a:t>Minister of State (Minister for Trade Policy and Economic Security)</a:t>
            </a:r>
          </a:p>
        </p:txBody>
      </p:sp>
      <p:sp>
        <p:nvSpPr>
          <p:cNvPr id="26" name="TextBox 2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2025-09-06</a:t>
            </a:r>
          </a:p>
        </p:txBody>
      </p:sp>
      <p:sp>
        <p:nvSpPr>
          <p:cNvPr id="27" name="TextBox 26"/>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Sir Chris Bryant, a former Anglican priest and Labour MP since 2001, now for Rhondda and Ogmore, was appointed Minister of State for Trade Policy and Economic Security at DBT on 6 September 2025, succeeding Douglas Alexander.</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18 /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states.png"/>
          <p:cNvPicPr>
            <a:picLocks noChangeAspect="1"/>
          </p:cNvPicPr>
          <p:nvPr/>
        </p:nvPicPr>
        <p:blipFill>
          <a:blip r:embed="rId2"/>
          <a:stretch>
            <a:fillRect/>
          </a:stretch>
        </p:blipFill>
        <p:spPr>
          <a:xfrm>
            <a:off x="548640" y="329184"/>
            <a:ext cx="1042416" cy="548640"/>
          </a:xfrm>
          <a:prstGeom prst="rect">
            <a:avLst/>
          </a:prstGeom>
        </p:spPr>
      </p:pic>
      <p:sp>
        <p:nvSpPr>
          <p:cNvPr id="4" name="Rectangle 3"/>
          <p:cNvSpPr/>
          <p:nvPr/>
        </p:nvSpPr>
        <p:spPr>
          <a:xfrm>
            <a:off x="548640" y="329184"/>
            <a:ext cx="1042415"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States</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$30,620.0B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−$1,240.9B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GOODS EXPORTS — WORLD (2025)</a:t>
            </a:r>
          </a:p>
          <a:p>
            <a:pPr>
              <a:spcBef>
                <a:spcPts val="100"/>
              </a:spcBef>
            </a:pPr>
            <a:r>
              <a:rPr sz="1450" b="1" i="0">
                <a:solidFill>
                  <a:srgbClr val="0A314D"/>
                </a:solidFill>
                <a:latin typeface="Open Sans"/>
              </a:rPr>
              <a:t>$2,197.5B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GOODS IMPORTS — WORLD (2025)</a:t>
            </a:r>
          </a:p>
          <a:p>
            <a:pPr>
              <a:spcBef>
                <a:spcPts val="100"/>
              </a:spcBef>
            </a:pPr>
            <a:r>
              <a:rPr sz="1450" b="1" i="0">
                <a:solidFill>
                  <a:srgbClr val="0A314D"/>
                </a:solidFill>
                <a:latin typeface="Open Sans"/>
              </a:rPr>
              <a:t>$3,438.4B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GOODS BALANCE — WORLD (2025)</a:t>
            </a:r>
          </a:p>
          <a:p>
            <a:pPr>
              <a:spcBef>
                <a:spcPts val="100"/>
              </a:spcBef>
            </a:pPr>
            <a:r>
              <a:rPr sz="1450" b="1" i="0">
                <a:solidFill>
                  <a:srgbClr val="D46127"/>
                </a:solidFill>
                <a:latin typeface="Open Sans"/>
              </a:rPr>
              <a:t>−$1,240.9B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sp>
        <p:nvSpPr>
          <p:cNvPr id="16" name="TextBox 15"/>
          <p:cNvSpPr txBox="1"/>
          <p:nvPr/>
        </p:nvSpPr>
        <p:spPr>
          <a:xfrm>
            <a:off x="3611880"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WHITE HOUSE OSTP · S&amp;T POLICY</a:t>
            </a:r>
          </a:p>
          <a:p>
            <a:pPr>
              <a:spcBef>
                <a:spcPts val="200"/>
              </a:spcBef>
            </a:pPr>
            <a:r>
              <a:rPr sz="1200" b="1" i="0">
                <a:solidFill>
                  <a:srgbClr val="0A314D"/>
                </a:solidFill>
                <a:latin typeface="Open Sans"/>
              </a:rPr>
              <a:t>Michael Kratsios</a:t>
            </a:r>
          </a:p>
          <a:p>
            <a:pPr>
              <a:lnSpc>
                <a:spcPct val="104000"/>
              </a:lnSpc>
              <a:spcBef>
                <a:spcPts val="200"/>
              </a:spcBef>
            </a:pPr>
            <a:r>
              <a:rPr sz="900" b="0" i="1">
                <a:solidFill>
                  <a:srgbClr val="54606C"/>
                </a:solidFill>
                <a:latin typeface="Open Sans"/>
              </a:rPr>
              <a:t>Director of the Office of Science and Technology Policy (OSTP) and Assistant to the President for Science and Technology</a:t>
            </a:r>
          </a:p>
        </p:txBody>
      </p:sp>
      <p:sp>
        <p:nvSpPr>
          <p:cNvPr id="17" name="TextBox 16"/>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Executive Office of the President / White House Office of Science and Technology Policy</a:t>
            </a:r>
            <a:r>
              <a:rPr sz="850" b="0" i="0">
                <a:solidFill>
                  <a:srgbClr val="757D87"/>
                </a:solidFill>
                <a:latin typeface="Open Sans"/>
              </a:rPr>
              <a:t>  ·  2025-03-25</a:t>
            </a:r>
          </a:p>
        </p:txBody>
      </p:sp>
      <p:sp>
        <p:nvSpPr>
          <p:cNvPr id="18" name="TextBox 17"/>
          <p:cNvSpPr txBox="1"/>
          <p:nvPr/>
        </p:nvSpPr>
        <p:spPr>
          <a:xfrm>
            <a:off x="3611880" y="2633472"/>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Michael Kratsios, confirmed March 25, 2025, is the 13th Director of the White House Office of Science and Technology Policy. Previously U.S. Chief Technology Officer and Under Secretary of Defense for Research and Engineering, he leads the administration's AI Action Plan.</a:t>
            </a:r>
          </a:p>
        </p:txBody>
      </p:sp>
      <p:sp>
        <p:nvSpPr>
          <p:cNvPr id="19" name="TextBox 18"/>
          <p:cNvSpPr txBox="1"/>
          <p:nvPr/>
        </p:nvSpPr>
        <p:spPr>
          <a:xfrm>
            <a:off x="7790688" y="1389888"/>
            <a:ext cx="3849624" cy="914400"/>
          </a:xfrm>
          <a:prstGeom prst="rect">
            <a:avLst/>
          </a:prstGeom>
          <a:noFill/>
        </p:spPr>
        <p:txBody>
          <a:bodyPr wrap="square" anchor="t" lIns="0" rIns="0" tIns="0" bIns="0">
            <a:spAutoFit/>
          </a:bodyPr>
          <a:lstStyle/>
          <a:p>
            <a:r>
              <a:rPr sz="750" b="1" i="0" spc="80">
                <a:solidFill>
                  <a:srgbClr val="007582"/>
                </a:solidFill>
                <a:latin typeface="Open Sans"/>
              </a:rPr>
              <a:t>NTIA · TELECOM &amp; BROADBAND</a:t>
            </a:r>
          </a:p>
          <a:p>
            <a:pPr>
              <a:spcBef>
                <a:spcPts val="200"/>
              </a:spcBef>
            </a:pPr>
            <a:r>
              <a:rPr sz="1200" b="1" i="0">
                <a:solidFill>
                  <a:srgbClr val="0A314D"/>
                </a:solidFill>
                <a:latin typeface="Open Sans"/>
              </a:rPr>
              <a:t>Arielle Roth</a:t>
            </a:r>
          </a:p>
          <a:p>
            <a:pPr>
              <a:lnSpc>
                <a:spcPct val="104000"/>
              </a:lnSpc>
              <a:spcBef>
                <a:spcPts val="200"/>
              </a:spcBef>
            </a:pPr>
            <a:r>
              <a:rPr sz="900" b="0" i="1">
                <a:solidFill>
                  <a:srgbClr val="54606C"/>
                </a:solidFill>
                <a:latin typeface="Open Sans"/>
              </a:rPr>
              <a:t>Assistant Secretary of Commerce for Communications and Information and Administrator, National Telecommunications and Information Administration (NTIA)</a:t>
            </a:r>
          </a:p>
        </p:txBody>
      </p:sp>
      <p:sp>
        <p:nvSpPr>
          <p:cNvPr id="20" name="TextBox 19"/>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 (NTIA)</a:t>
            </a:r>
            <a:r>
              <a:rPr sz="850" b="0" i="0">
                <a:solidFill>
                  <a:srgbClr val="757D87"/>
                </a:solidFill>
                <a:latin typeface="Open Sans"/>
              </a:rPr>
              <a:t>  ·  2025-07-30</a:t>
            </a:r>
          </a:p>
        </p:txBody>
      </p:sp>
      <p:sp>
        <p:nvSpPr>
          <p:cNvPr id="21" name="TextBox 20"/>
          <p:cNvSpPr txBox="1"/>
          <p:nvPr/>
        </p:nvSpPr>
        <p:spPr>
          <a:xfrm>
            <a:off x="7790688" y="2633472"/>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Arielle Roth is Assistant Secretary of Commerce for Communications and Information and NTIA Administrator, confirmed July 23, 2025. Formerly telecommunications policy director for the Senate Commerce Committee's Republican staff, she oversees federal spectrum management and broadband programs including BEAD.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sp>
        <p:nvSpPr>
          <p:cNvPr id="24" name="TextBox 23"/>
          <p:cNvSpPr txBox="1"/>
          <p:nvPr/>
        </p:nvSpPr>
        <p:spPr>
          <a:xfrm>
            <a:off x="3611880"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SECRETARY OF COMMERCE</a:t>
            </a:r>
          </a:p>
          <a:p>
            <a:pPr>
              <a:spcBef>
                <a:spcPts val="200"/>
              </a:spcBef>
            </a:pPr>
            <a:r>
              <a:rPr sz="1200" b="1" i="0">
                <a:solidFill>
                  <a:srgbClr val="0A314D"/>
                </a:solidFill>
                <a:latin typeface="Open Sans"/>
              </a:rPr>
              <a:t>Howard Lutnick</a:t>
            </a:r>
          </a:p>
          <a:p>
            <a:pPr>
              <a:lnSpc>
                <a:spcPct val="104000"/>
              </a:lnSpc>
              <a:spcBef>
                <a:spcPts val="200"/>
              </a:spcBef>
            </a:pPr>
            <a:r>
              <a:rPr sz="900" b="0" i="1">
                <a:solidFill>
                  <a:srgbClr val="54606C"/>
                </a:solidFill>
                <a:latin typeface="Open Sans"/>
              </a:rPr>
              <a:t>United States Secretary of Commerce</a:t>
            </a:r>
          </a:p>
        </p:txBody>
      </p:sp>
      <p:sp>
        <p:nvSpPr>
          <p:cNvPr id="25" name="TextBox 24"/>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a:t>
            </a:r>
            <a:r>
              <a:rPr sz="850" b="0" i="0">
                <a:solidFill>
                  <a:srgbClr val="757D87"/>
                </a:solidFill>
                <a:latin typeface="Open Sans"/>
              </a:rPr>
              <a:t>  ·  2025-02-21</a:t>
            </a:r>
          </a:p>
        </p:txBody>
      </p:sp>
      <p:sp>
        <p:nvSpPr>
          <p:cNvPr id="26" name="TextBox 25"/>
          <p:cNvSpPr txBox="1"/>
          <p:nvPr/>
        </p:nvSpPr>
        <p:spPr>
          <a:xfrm>
            <a:off x="3611880"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Howard Lutnick, the 41st U.S. Secretary of Commerce, was confirmed February 18, 2025. Longtime chairman and CEO of Cantor Fitzgerald, which he rebuilt after 9/11, he oversees trade policy, tariffs and export controls, and co-chaired Trump's 2024-25 transition.</a:t>
            </a:r>
          </a:p>
        </p:txBody>
      </p:sp>
      <p:sp>
        <p:nvSpPr>
          <p:cNvPr id="27" name="TextBox 26"/>
          <p:cNvSpPr txBox="1"/>
          <p:nvPr/>
        </p:nvSpPr>
        <p:spPr>
          <a:xfrm>
            <a:off x="7790688" y="4023359"/>
            <a:ext cx="3849624" cy="914400"/>
          </a:xfrm>
          <a:prstGeom prst="rect">
            <a:avLst/>
          </a:prstGeom>
          <a:noFill/>
        </p:spPr>
        <p:txBody>
          <a:bodyPr wrap="square" anchor="t" lIns="0" rIns="0" tIns="0" bIns="0">
            <a:spAutoFit/>
          </a:bodyPr>
          <a:lstStyle/>
          <a:p>
            <a:r>
              <a:rPr sz="750" b="1" i="0" spc="80">
                <a:solidFill>
                  <a:srgbClr val="007582"/>
                </a:solidFill>
                <a:latin typeface="Open Sans"/>
              </a:rPr>
              <a:t>U.S. TRADE REPRESENTATIVE</a:t>
            </a:r>
          </a:p>
          <a:p>
            <a:pPr>
              <a:spcBef>
                <a:spcPts val="200"/>
              </a:spcBef>
            </a:pPr>
            <a:r>
              <a:rPr sz="1200" b="1" i="0">
                <a:solidFill>
                  <a:srgbClr val="0A314D"/>
                </a:solidFill>
                <a:latin typeface="Open Sans"/>
              </a:rPr>
              <a:t>Jamieson Greer</a:t>
            </a:r>
          </a:p>
          <a:p>
            <a:pPr>
              <a:lnSpc>
                <a:spcPct val="104000"/>
              </a:lnSpc>
              <a:spcBef>
                <a:spcPts val="200"/>
              </a:spcBef>
            </a:pPr>
            <a:r>
              <a:rPr sz="900" b="0" i="1">
                <a:solidFill>
                  <a:srgbClr val="54606C"/>
                </a:solidFill>
                <a:latin typeface="Open Sans"/>
              </a:rPr>
              <a:t>United States Trade Representative (USTR), with rank of Ambassador</a:t>
            </a:r>
          </a:p>
        </p:txBody>
      </p:sp>
      <p:sp>
        <p:nvSpPr>
          <p:cNvPr id="28" name="TextBox 27"/>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Office of the United States Trade Representative (Executive Office of the President)</a:t>
            </a:r>
            <a:r>
              <a:rPr sz="850" b="0" i="0">
                <a:solidFill>
                  <a:srgbClr val="757D87"/>
                </a:solidFill>
                <a:latin typeface="Open Sans"/>
              </a:rPr>
              <a:t>  ·  2025-02-27</a:t>
            </a:r>
          </a:p>
        </p:txBody>
      </p:sp>
      <p:sp>
        <p:nvSpPr>
          <p:cNvPr id="29" name="TextBox 28"/>
          <p:cNvSpPr txBox="1"/>
          <p:nvPr/>
        </p:nvSpPr>
        <p:spPr>
          <a:xfrm>
            <a:off x="7790688" y="5266944"/>
            <a:ext cx="3849624" cy="1097279"/>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Jamieson Greer is the 20th U.S. Trade Representative, confirmed February 27, 2025. A trade attorney and former Air Force JAG officer, he was chief of staff to USTR Robert Lighthizer and leads U.S. trade negotiations, tariff strategy and enforcement.</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19 / 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urope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European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27    ·    G20: Founding member since 1999    ·    HQ: Brussels    ·    Commission President: Ursula von der Leyen</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$21,230.0B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+$144.7B</a:t>
            </a:r>
            <a:r>
              <a:rPr sz="950" b="0" i="0">
                <a:solidFill>
                  <a:srgbClr val="54606C"/>
                </a:solidFill>
                <a:latin typeface="Open Sans"/>
              </a:rPr>
              <a:t>  surplus · goods</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$414.4B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$633.2B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−$218.8B</a:t>
            </a:r>
            <a:r>
              <a:rPr sz="950" b="0" i="0">
                <a:solidFill>
                  <a:srgbClr val="54606C"/>
                </a:solidFill>
                <a:latin typeface="Open Sans"/>
              </a:rPr>
              <a:t>  deficit</a:t>
            </a:r>
          </a:p>
        </p:txBody>
      </p:sp>
      <p:sp>
        <p:nvSpPr>
          <p:cNvPr id="16" name="TextBox 15"/>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7" name="TextBox 16"/>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Henna Virkkunen</a:t>
            </a:r>
          </a:p>
        </p:txBody>
      </p:sp>
      <p:sp>
        <p:nvSpPr>
          <p:cNvPr id="18" name="TextBox 17"/>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Executive Vice-President for Tech Sovereignty, Security and Democracy</a:t>
            </a:r>
          </a:p>
        </p:txBody>
      </p:sp>
      <p:sp>
        <p:nvSpPr>
          <p:cNvPr id="19" name="TextBox 18"/>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Tech Sovereignty, Security and Democracy (Digital and Frontier Technologies portfolio)</a:t>
            </a:r>
            <a:r>
              <a:rPr sz="950" b="0" i="0">
                <a:solidFill>
                  <a:srgbClr val="757D87"/>
                </a:solidFill>
                <a:latin typeface="Open Sans"/>
              </a:rPr>
              <a:t>   ·   Assumed office: 2024-12-01</a:t>
            </a:r>
          </a:p>
        </p:txBody>
      </p:sp>
      <p:sp>
        <p:nvSpPr>
          <p:cNvPr id="20" name="TextBox 19"/>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Finnish politician of the National Coalition Party (EPP), born 1972 in Joutsa. A former journalist, she sat in Finland's Parliament from 2007 to 2014, serving as Minister of Education (2008-2011), of Public Administration and Local Government (2011-2014), and of Transport and Local Government (2014). An MEP from 2014 to 2024, she became Executive Vice-President on 1 December 2024, leading EU digital, AI, cybersecurity, platform-regulation and democracy policy.</a:t>
            </a:r>
          </a:p>
        </p:txBody>
      </p:sp>
      <p:cxnSp>
        <p:nvCxnSpPr>
          <p:cNvPr id="21" name="Connector 20"/>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3" name="TextBox 22"/>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Maroš Šefčovič</a:t>
            </a:r>
          </a:p>
        </p:txBody>
      </p:sp>
      <p:sp>
        <p:nvSpPr>
          <p:cNvPr id="24" name="TextBox 23"/>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Trade and Economic Security; Interinstitutional Relations and Transparency</a:t>
            </a:r>
          </a:p>
        </p:txBody>
      </p:sp>
      <p:sp>
        <p:nvSpPr>
          <p:cNvPr id="25" name="TextBox 24"/>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Trade and Economic Security</a:t>
            </a:r>
            <a:r>
              <a:rPr sz="950" b="0" i="0">
                <a:solidFill>
                  <a:srgbClr val="757D87"/>
                </a:solidFill>
                <a:latin typeface="Open Sans"/>
              </a:rPr>
              <a:t>   ·   Assumed office: 2024-12-01</a:t>
            </a:r>
          </a:p>
        </p:txBody>
      </p:sp>
      <p:sp>
        <p:nvSpPr>
          <p:cNvPr id="26" name="TextBox 25"/>
          <p:cNvSpPr txBox="1"/>
          <p:nvPr/>
        </p:nvSpPr>
        <p:spPr>
          <a:xfrm>
            <a:off x="3611880" y="5010912"/>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Slovak diplomat and politician, born 1966. A career diplomat and Slovakia's Permanent Representative to the EU (2004-2009), he has served in every European Commission since 2009, including as Vice-President for the Energy Union and Executive Vice-President for the European Green Deal. A veteran Brexit negotiator, he took the trade portfolio on 1 December 2024 and led the EU side of the 2025 U.S.-EU tariff framework agreed at Turnberry.</a:t>
            </a:r>
          </a:p>
        </p:txBody>
      </p:sp>
      <p:cxnSp>
        <p:nvCxnSpPr>
          <p:cNvPr id="27" name="Connector 26"/>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9" name="TextBox 28"/>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0" name="TextBox 29"/>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fric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African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55    ·    G20: Permanent member since Sept 2023    ·    HQ: Addis Ababa    ·    AUC Chair: Mahmoud Ali Youssouf</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 (IMF projection))</a:t>
            </a:r>
          </a:p>
          <a:p>
            <a:pPr>
              <a:spcBef>
                <a:spcPts val="100"/>
              </a:spcBef>
            </a:pPr>
            <a:r>
              <a:rPr sz="1450" b="1" i="0">
                <a:solidFill>
                  <a:srgbClr val="0A314D"/>
                </a:solidFill>
                <a:latin typeface="Open Sans"/>
              </a:rPr>
              <a:t>$2,810.0B</a:t>
            </a:r>
          </a:p>
        </p:txBody>
      </p:sp>
      <p:sp>
        <p:nvSpPr>
          <p:cNvPr id="12" name="TextBox 11"/>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(2024)</a:t>
            </a:r>
          </a:p>
          <a:p>
            <a:pPr>
              <a:spcBef>
                <a:spcPts val="100"/>
              </a:spcBef>
            </a:pPr>
            <a:r>
              <a:rPr sz="1450" b="1" i="0">
                <a:solidFill>
                  <a:srgbClr val="2C2C2C"/>
                </a:solidFill>
                <a:latin typeface="Open Sans"/>
              </a:rPr>
              <a:t>N/A</a:t>
            </a:r>
          </a:p>
        </p:txBody>
      </p:sp>
      <p:sp>
        <p:nvSpPr>
          <p:cNvPr id="13" name="TextBox 12"/>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$40.4B</a:t>
            </a:r>
          </a:p>
        </p:txBody>
      </p:sp>
      <p:sp>
        <p:nvSpPr>
          <p:cNvPr id="14" name="TextBox 13"/>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$43.0B</a:t>
            </a:r>
          </a:p>
        </p:txBody>
      </p:sp>
      <p:sp>
        <p:nvSpPr>
          <p:cNvPr id="15" name="TextBox 14"/>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−$2.6B</a:t>
            </a:r>
            <a:r>
              <a:rPr sz="950" b="0" i="0">
                <a:solidFill>
                  <a:srgbClr val="54606C"/>
                </a:solidFill>
                <a:latin typeface="Open Sans"/>
              </a:rPr>
              <a:t>  deficit</a:t>
            </a:r>
          </a:p>
        </p:txBody>
      </p:sp>
      <p:sp>
        <p:nvSpPr>
          <p:cNvPr id="16" name="TextBox 15"/>
          <p:cNvSpPr txBox="1"/>
          <p:nvPr/>
        </p:nvSpPr>
        <p:spPr>
          <a:xfrm>
            <a:off x="731520" y="5870448"/>
            <a:ext cx="2468880" cy="292608"/>
          </a:xfrm>
          <a:prstGeom prst="rect">
            <a:avLst/>
          </a:prstGeom>
          <a:noFill/>
        </p:spPr>
        <p:txBody>
          <a:bodyPr wrap="square" anchor="t" lIns="0" rIns="0" tIns="0" bIns="0">
            <a:spAutoFit/>
          </a:bodyPr>
          <a:lstStyle/>
          <a:p>
            <a:pPr>
              <a:lnSpc>
                <a:spcPct val="100000"/>
              </a:lnSpc>
            </a:pPr>
            <a:r>
              <a:rPr sz="750" b="0" i="1">
                <a:solidFill>
                  <a:srgbClr val="54606C"/>
                </a:solidFill>
                <a:latin typeface="Open Sans"/>
              </a:rPr>
              <a:t>* U.S. trade figures are U.S.–Africa goods totals (proxy for the AU).</a:t>
            </a:r>
          </a:p>
        </p:txBody>
      </p:sp>
      <p:sp>
        <p:nvSpPr>
          <p:cNvPr id="17" name="TextBox 16"/>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sp>
        <p:nvSpPr>
          <p:cNvPr id="18" name="TextBox 17"/>
          <p:cNvSpPr txBox="1"/>
          <p:nvPr/>
        </p:nvSpPr>
        <p:spPr>
          <a:xfrm>
            <a:off x="3611880" y="1408176"/>
            <a:ext cx="8028431" cy="256032"/>
          </a:xfrm>
          <a:prstGeom prst="rect">
            <a:avLst/>
          </a:prstGeom>
          <a:noFill/>
        </p:spPr>
        <p:txBody>
          <a:bodyPr wrap="square" anchor="t" lIns="0" rIns="0" tIns="0" bIns="0">
            <a:spAutoFit/>
          </a:bodyPr>
          <a:lstStyle/>
          <a:p>
            <a:r>
              <a:rPr sz="1400" b="1" i="0">
                <a:solidFill>
                  <a:srgbClr val="0A314D"/>
                </a:solidFill>
                <a:latin typeface="Open Sans"/>
              </a:rPr>
              <a:t>Lerato Dorothy Mataboge</a:t>
            </a:r>
          </a:p>
        </p:txBody>
      </p:sp>
      <p:sp>
        <p:nvSpPr>
          <p:cNvPr id="19" name="TextBox 18"/>
          <p:cNvSpPr txBox="1"/>
          <p:nvPr/>
        </p:nvSpPr>
        <p:spPr>
          <a:xfrm>
            <a:off x="3611880" y="1682495"/>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Infrastructure and Energy (portfolio covers transport, energy and ICT/digital transformation)</a:t>
            </a:r>
          </a:p>
        </p:txBody>
      </p:sp>
      <p:sp>
        <p:nvSpPr>
          <p:cNvPr id="20" name="TextBox 19"/>
          <p:cNvSpPr txBox="1"/>
          <p:nvPr/>
        </p:nvSpPr>
        <p:spPr>
          <a:xfrm>
            <a:off x="3611880" y="2048256"/>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Infrastructure and Energy</a:t>
            </a:r>
            <a:r>
              <a:rPr sz="950" b="0" i="0">
                <a:solidFill>
                  <a:srgbClr val="757D87"/>
                </a:solidFill>
                <a:latin typeface="Open Sans"/>
              </a:rPr>
              <a:t>   ·   Assumed office: 2025-03-13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 South African trade-and-investment specialist with over 23 years' experience, Mataboge leads the AU portfolio spanning transport, energy and ICT/digital transformation. She was previously Deputy Director-General at South Africa's Department of Trade, Industry and Competition, founded and led Trade Invest Africa, and served as South Africa's chief trade and investment representative in Washington, D.C. Elected in the February 2025 AUC elections, she was sworn in with the new Commission on 13 March 2025.</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sp>
        <p:nvSpPr>
          <p:cNvPr id="24" name="TextBox 23"/>
          <p:cNvSpPr txBox="1"/>
          <p:nvPr/>
        </p:nvSpPr>
        <p:spPr>
          <a:xfrm>
            <a:off x="3611880" y="4041648"/>
            <a:ext cx="8028431" cy="256032"/>
          </a:xfrm>
          <a:prstGeom prst="rect">
            <a:avLst/>
          </a:prstGeom>
          <a:noFill/>
        </p:spPr>
        <p:txBody>
          <a:bodyPr wrap="square" anchor="t" lIns="0" rIns="0" tIns="0" bIns="0">
            <a:spAutoFit/>
          </a:bodyPr>
          <a:lstStyle/>
          <a:p>
            <a:r>
              <a:rPr sz="1400" b="1" i="0">
                <a:solidFill>
                  <a:srgbClr val="0A314D"/>
                </a:solidFill>
                <a:latin typeface="Open Sans"/>
              </a:rPr>
              <a:t>Francisca Tatchouop Belobe</a:t>
            </a:r>
          </a:p>
        </p:txBody>
      </p:sp>
      <p:sp>
        <p:nvSpPr>
          <p:cNvPr id="25" name="TextBox 24"/>
          <p:cNvSpPr txBox="1"/>
          <p:nvPr/>
        </p:nvSpPr>
        <p:spPr>
          <a:xfrm>
            <a:off x="3611880" y="4315968"/>
            <a:ext cx="802843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Economic Development, Trade, Tourism, Industry and Minerals (ETTIM)</a:t>
            </a:r>
          </a:p>
        </p:txBody>
      </p:sp>
      <p:sp>
        <p:nvSpPr>
          <p:cNvPr id="26" name="TextBox 25"/>
          <p:cNvSpPr txBox="1"/>
          <p:nvPr/>
        </p:nvSpPr>
        <p:spPr>
          <a:xfrm>
            <a:off x="3611880" y="4681727"/>
            <a:ext cx="802843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Economic Development, Trade, Tourism, Industry and Minerals</a:t>
            </a:r>
            <a:r>
              <a:rPr sz="950" b="0" i="0">
                <a:solidFill>
                  <a:srgbClr val="757D87"/>
                </a:solidFill>
                <a:latin typeface="Open Sans"/>
              </a:rPr>
              <a:t>   ·   Assumed office: September 2025</a:t>
            </a:r>
          </a:p>
        </p:txBody>
      </p:sp>
      <p:sp>
        <p:nvSpPr>
          <p:cNvPr id="27" name="TextBox 26"/>
          <p:cNvSpPr txBox="1"/>
          <p:nvPr/>
        </p:nvSpPr>
        <p:spPr>
          <a:xfrm>
            <a:off x="3611880" y="5010912"/>
            <a:ext cx="8028431" cy="1353311"/>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An Equatoguinean economist and politician, Tatchouop Belobe heads the AU's economic integration, trade, industry and minerals portfolio. She previously served as Vice-President of the ECCAS Commission (Economic Community of Central African States), Second Vice-President of Equatorial Guinea's National Assembly, and Minister and Deputy Minister of Economy, Trade and SME Promotion.</a:t>
            </a:r>
          </a:p>
          <a:p>
            <a:pPr>
              <a:spcBef>
                <a:spcPts val="500"/>
              </a:spcBef>
            </a:pPr>
            <a:r>
              <a:rPr sz="900" b="0" i="1">
                <a:solidFill>
                  <a:srgbClr val="54606C"/>
                </a:solidFill>
                <a:latin typeface="Open Sans"/>
              </a:rPr>
              <a:t>Also: Wamkele Mene (Secretary-General, African Continental Free Trade Area (AfCFTA) Secretariat)</a:t>
            </a:r>
          </a:p>
        </p:txBody>
      </p:sp>
      <p:cxnSp>
        <p:nvCxnSpPr>
          <p:cNvPr id="28" name="Connector 2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0" name="TextBox 2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1" name="TextBox 3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Sources</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datasets and vintages</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10881360" cy="4754880"/>
          </a:xfrm>
          <a:prstGeom prst="rect">
            <a:avLst/>
          </a:prstGeom>
          <a:noFill/>
        </p:spPr>
        <p:txBody>
          <a:bodyPr wrap="square" anchor="t" lIns="0" rIns="0" tIns="0" bIns="0">
            <a:spAutoFit/>
          </a:bodyPr>
          <a:lstStyle/>
          <a:p>
            <a:pPr>
              <a:spcBef>
                <a:spcPts val="0"/>
              </a:spcBef>
              <a:spcAft>
                <a:spcPts val="400"/>
              </a:spcAft>
            </a:pPr>
            <a:r>
              <a:rPr sz="1150" b="1" i="0" spc="60">
                <a:solidFill>
                  <a:srgbClr val="0A314D"/>
                </a:solidFill>
                <a:latin typeface="Open Sans"/>
              </a:rPr>
              <a:t>DATASETS &amp; VINTAGES</a:t>
            </a:r>
          </a:p>
          <a:p>
            <a:pPr>
              <a:spcAft>
                <a:spcPts val="400"/>
              </a:spcAft>
            </a:pPr>
            <a:r>
              <a:rPr sz="1100" b="1" i="0">
                <a:solidFill>
                  <a:srgbClr val="B4862D"/>
                </a:solidFill>
                <a:latin typeface="Open Sans"/>
              </a:rPr>
              <a:t>•  </a:t>
            </a:r>
            <a:r>
              <a:rPr sz="1100" b="0" i="0">
                <a:solidFill>
                  <a:srgbClr val="2C2C2C"/>
                </a:solidFill>
                <a:latin typeface="Open Sans"/>
              </a:rPr>
              <a:t>GDP (nominal, current USD): IMF World Economic Outlook, Oct 2025 (2025 estimates), via StatisticsTimes tabulation.</a:t>
            </a:r>
          </a:p>
          <a:p>
            <a:pPr>
              <a:spcAft>
                <a:spcPts val="400"/>
              </a:spcAft>
            </a:pPr>
            <a:r>
              <a:rPr sz="1100" b="1" i="0">
                <a:solidFill>
                  <a:srgbClr val="B4862D"/>
                </a:solidFill>
                <a:latin typeface="Open Sans"/>
              </a:rPr>
              <a:t>•  </a:t>
            </a:r>
            <a:r>
              <a:rPr sz="1100" b="0" i="0">
                <a:solidFill>
                  <a:srgbClr val="2C2C2C"/>
                </a:solidFill>
                <a:latin typeface="Open Sans"/>
              </a:rPr>
              <a:t>U.S. bilateral goods trade: U.S. Census Bureau, full-year 2025, via USTR country fact sheets and the Census/UN-COMTRADE series (Trading Economics mirror).</a:t>
            </a:r>
          </a:p>
          <a:p>
            <a:pPr>
              <a:spcAft>
                <a:spcPts val="400"/>
              </a:spcAft>
            </a:pPr>
            <a:r>
              <a:rPr sz="1100" b="1" i="0">
                <a:solidFill>
                  <a:srgbClr val="B4862D"/>
                </a:solidFill>
                <a:latin typeface="Open Sans"/>
              </a:rPr>
              <a:t>•  </a:t>
            </a:r>
            <a:r>
              <a:rPr sz="1100" b="0" i="0">
                <a:solidFill>
                  <a:srgbClr val="2C2C2C"/>
                </a:solidFill>
                <a:latin typeface="Open Sans"/>
              </a:rPr>
              <a:t>U.S. world totals: Census/BEA FT-900, December &amp; Annual 2025 release.</a:t>
            </a:r>
          </a:p>
          <a:p>
            <a:pPr>
              <a:spcAft>
                <a:spcPts val="400"/>
              </a:spcAft>
            </a:pPr>
            <a:r>
              <a:rPr sz="1100" b="1" i="0">
                <a:solidFill>
                  <a:srgbClr val="B4862D"/>
                </a:solidFill>
                <a:latin typeface="Open Sans"/>
              </a:rPr>
              <a:t>•  </a:t>
            </a:r>
            <a:r>
              <a:rPr sz="1100" b="0" i="0">
                <a:solidFill>
                  <a:srgbClr val="2C2C2C"/>
                </a:solidFill>
                <a:latin typeface="Open Sans"/>
              </a:rPr>
              <a:t>Overall trade balances: national statistics offices / IMF, latest full year, goods basis unless noted.</a:t>
            </a:r>
          </a:p>
          <a:p>
            <a:pPr>
              <a:spcAft>
                <a:spcPts val="400"/>
              </a:spcAft>
            </a:pPr>
            <a:r>
              <a:rPr sz="1100" b="1" i="0">
                <a:solidFill>
                  <a:srgbClr val="B4862D"/>
                </a:solidFill>
                <a:latin typeface="Open Sans"/>
              </a:rPr>
              <a:t>•  </a:t>
            </a:r>
            <a:r>
              <a:rPr sz="1100" b="0" i="0">
                <a:solidFill>
                  <a:srgbClr val="2C2C2C"/>
                </a:solidFill>
                <a:latin typeface="Open Sans"/>
              </a:rPr>
              <a:t>EU &amp; African Union annex: IMF WEO, Eurostat, USTR, and official EU/AU sources, verified 2026-07-16.</a:t>
            </a:r>
          </a:p>
          <a:p>
            <a:pPr>
              <a:spcAft>
                <a:spcPts val="400"/>
              </a:spcAft>
            </a:pPr>
            <a:r>
              <a:rPr sz="1100" b="1" i="0">
                <a:solidFill>
                  <a:srgbClr val="B4862D"/>
                </a:solidFill>
                <a:latin typeface="Open Sans"/>
              </a:rPr>
              <a:t>•  </a:t>
            </a:r>
            <a:r>
              <a:rPr sz="1100" b="0" i="0">
                <a:solidFill>
                  <a:srgbClr val="2C2C2C"/>
                </a:solidFill>
                <a:latin typeface="Open Sans"/>
              </a:rPr>
              <a:t>Officeholders: official government sources and 2026-dated press, verified 2026-07-16 with an independent second pass.</a:t>
            </a:r>
          </a:p>
        </p:txBody>
      </p:sp>
      <p:cxnSp>
        <p:nvCxnSpPr>
          <p:cNvPr id="7" name="Connector 6"/>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9" name="TextBox 8"/>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0" name="TextBox 9"/>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