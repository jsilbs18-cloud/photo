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
          </a:xfrm>
          <a:prstGeom prst="rect">
            <a:avLst/>
          </a:prstGeom>
          <a:solidFill>
            <a:srgbClr val="2E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91695" cy="256032"/>
          </a:xfrm>
          <a:prstGeom prst="rect">
            <a:avLst/>
          </a:prstGeom>
          <a:solidFill>
            <a:srgbClr val="2E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60152" cy="1554480"/>
          </a:xfrm>
          <a:prstGeom prst="rect">
            <a:avLst/>
          </a:prstGeom>
          <a:noFill/>
        </p:spPr>
        <p:txBody>
          <a:bodyPr wrap="square" anchor="t" lIns="0" rIns="0" tIns="0" bIns="0">
            <a:spAutoFit/>
          </a:bodyPr>
          <a:lstStyle/>
          <a:p>
            <a:r>
              <a:rPr sz="3400" b="1" i="0">
                <a:solidFill>
                  <a:srgbClr val="FFFFFF"/>
                </a:solidFill>
                <a:latin typeface="Calibri"/>
              </a:rPr>
              <a:t>G20 Countries: Digital &amp; Trade Ministers</a:t>
            </a:r>
          </a:p>
          <a:p>
            <a:r>
              <a:rPr sz="2200" b="0" i="0">
                <a:solidFill>
                  <a:srgbClr val="C7D3E8"/>
                </a:solidFill>
                <a:latin typeface="Calibri"/>
              </a:rPr>
              <a:t>with GDP and U.S. Bilateral Trade Profiles</a:t>
            </a:r>
          </a:p>
        </p:txBody>
      </p:sp>
      <p:sp>
        <p:nvSpPr>
          <p:cNvPr id="6" name="TextBox 5"/>
          <p:cNvSpPr txBox="1"/>
          <p:nvPr/>
        </p:nvSpPr>
        <p:spPr>
          <a:xfrm>
            <a:off x="914400" y="3794760"/>
            <a:ext cx="10360152" cy="1371600"/>
          </a:xfrm>
          <a:prstGeom prst="rect">
            <a:avLst/>
          </a:prstGeom>
          <a:noFill/>
        </p:spPr>
        <p:txBody>
          <a:bodyPr wrap="square" anchor="t" lIns="0" rIns="0" tIns="0" bIns="0">
            <a:spAutoFit/>
          </a:bodyPr>
          <a:lstStyle/>
          <a:p>
            <a:pPr>
              <a:spcAft>
                <a:spcPts val="400"/>
              </a:spcAft>
            </a:pPr>
            <a:r>
              <a:rPr sz="1600" b="1" i="0">
                <a:solidFill>
                  <a:srgbClr val="FFFFFF"/>
                </a:solidFill>
                <a:latin typeface="Calibri"/>
              </a:rPr>
              <a:t>Prepared for the International Trade Administration</a:t>
            </a:r>
          </a:p>
          <a:p>
            <a:pPr>
              <a:spcAft>
                <a:spcPts val="400"/>
              </a:spcAft>
            </a:pPr>
            <a:r>
              <a:rPr sz="1300" b="0" i="0">
                <a:solidFill>
                  <a:srgbClr val="AEB9CF"/>
                </a:solidFill>
                <a:latin typeface="Calibri"/>
              </a:rPr>
              <a:t>U.S. Department of Commerce — Internal Reference</a:t>
            </a:r>
          </a:p>
          <a:p>
            <a:pPr>
              <a:spcAft>
                <a:spcPts val="400"/>
              </a:spcAft>
            </a:pPr>
            <a:r>
              <a:rPr sz="1300" b="0" i="0">
                <a:solidFill>
                  <a:srgbClr val="AEB9CF"/>
                </a:solidFill>
                <a:latin typeface="Calibri"/>
              </a:rPr>
              <a:t>July 16, 2026</a:t>
            </a:r>
          </a:p>
        </p:txBody>
      </p:sp>
      <p:sp>
        <p:nvSpPr>
          <p:cNvPr id="7" name="TextBox 6"/>
          <p:cNvSpPr txBox="1"/>
          <p:nvPr/>
        </p:nvSpPr>
        <p:spPr>
          <a:xfrm>
            <a:off x="914400" y="5623560"/>
            <a:ext cx="10360152" cy="731520"/>
          </a:xfrm>
          <a:prstGeom prst="rect">
            <a:avLst/>
          </a:prstGeom>
          <a:noFill/>
        </p:spPr>
        <p:txBody>
          <a:bodyPr wrap="square" anchor="t" lIns="0" rIns="0" tIns="0" bIns="0">
            <a:spAutoFit/>
          </a:bodyPr>
          <a:lstStyle/>
          <a:p>
            <a:r>
              <a:rPr sz="1100" b="1" i="0">
                <a:solidFill>
                  <a:srgbClr val="8F9EBE"/>
                </a:solidFill>
                <a:latin typeface="Calibri"/>
              </a:rPr>
              <a:t>Data vintage:  </a:t>
            </a:r>
            <a:r>
              <a:rPr sz="1100" b="0" i="0">
                <a:solidFill>
                  <a:srgbClr val="8F9EBE"/>
                </a:solidFill>
                <a:latin typeface="Calibri"/>
              </a:rPr>
              <a:t>Trade — U.S. Census goods, 2025 full year (goods basis).  GDP — IMF WEO, 2025.  Ministers verified as current on 2026-07-16.  Figures in USD billions unless noted.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54864"/>
          </a:xfrm>
          <a:prstGeom prst="rect">
            <a:avLst/>
          </a:prstGeom>
          <a:solidFill>
            <a:srgbClr val="2E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1091672" cy="658368"/>
          </a:xfrm>
          <a:prstGeom prst="rect">
            <a:avLst/>
          </a:prstGeom>
          <a:noFill/>
        </p:spPr>
        <p:txBody>
          <a:bodyPr wrap="square" anchor="ctr" lIns="0" rIns="0" tIns="0" bIns="0">
            <a:spAutoFit/>
          </a:bodyPr>
          <a:lstStyle/>
          <a:p>
            <a:r>
              <a:rPr sz="2400" b="1" i="0">
                <a:solidFill>
                  <a:srgbClr val="FFFFFF"/>
                </a:solidFill>
                <a:latin typeface="Calibri"/>
              </a:rPr>
              <a:t>Methodology &amp; Scope</a:t>
            </a:r>
          </a:p>
        </p:txBody>
      </p:sp>
      <p:sp>
        <p:nvSpPr>
          <p:cNvPr id="6" name="TextBox 5"/>
          <p:cNvSpPr txBox="1"/>
          <p:nvPr/>
        </p:nvSpPr>
        <p:spPr>
          <a:xfrm>
            <a:off x="548640" y="603504"/>
            <a:ext cx="11091672" cy="274320"/>
          </a:xfrm>
          <a:prstGeom prst="rect">
            <a:avLst/>
          </a:prstGeom>
          <a:noFill/>
        </p:spPr>
        <p:txBody>
          <a:bodyPr wrap="square" anchor="t" lIns="0" rIns="0" tIns="0" bIns="0">
            <a:spAutoFit/>
          </a:bodyPr>
          <a:lstStyle/>
          <a:p>
            <a:r>
              <a:rPr sz="1100" b="0" i="0">
                <a:solidFill>
                  <a:srgbClr val="B9C5DC"/>
                </a:solidFill>
                <a:latin typeface="Calibri"/>
              </a:rPr>
              <a:t>19 G20 sovereign members · compiled 2026-07-16</a:t>
            </a:r>
          </a:p>
        </p:txBody>
      </p:sp>
      <p:sp>
        <p:nvSpPr>
          <p:cNvPr id="7" name="TextBox 6"/>
          <p:cNvSpPr txBox="1"/>
          <p:nvPr/>
        </p:nvSpPr>
        <p:spPr>
          <a:xfrm>
            <a:off x="548640" y="1234440"/>
            <a:ext cx="6858000" cy="5212080"/>
          </a:xfrm>
          <a:prstGeom prst="rect">
            <a:avLst/>
          </a:prstGeom>
          <a:noFill/>
        </p:spPr>
        <p:txBody>
          <a:bodyPr wrap="square" anchor="t" lIns="0" rIns="0" tIns="0" bIns="0">
            <a:spAutoFit/>
          </a:bodyPr>
          <a:lstStyle/>
          <a:p>
            <a:pPr>
              <a:spcAft>
                <a:spcPts val="700"/>
              </a:spcAft>
            </a:pPr>
            <a:r>
              <a:rPr sz="1250" b="1" i="0">
                <a:solidFill>
                  <a:srgbClr val="1F3864"/>
                </a:solidFill>
                <a:latin typeface="Calibri"/>
              </a:rPr>
              <a:t>Countries (19):  </a:t>
            </a:r>
            <a:r>
              <a:rPr sz="1250" b="0" i="0">
                <a:solidFill>
                  <a:srgbClr val="262626"/>
                </a:solidFill>
                <a:latin typeface="Calibri"/>
              </a:rPr>
              <a:t>Argentina, Australia, Brazil, Canada, China, France, Germany, India, Indonesia, Italy, Japan, Mexico, Poland, Russia, Saudi Arabia, South Korea, Türkiye, United Kingdom, United States.</a:t>
            </a:r>
          </a:p>
          <a:p>
            <a:pPr>
              <a:spcAft>
                <a:spcPts val="700"/>
              </a:spcAft>
            </a:pPr>
            <a:r>
              <a:rPr sz="1250" b="1" i="0">
                <a:solidFill>
                  <a:srgbClr val="1F3864"/>
                </a:solidFill>
                <a:latin typeface="Calibri"/>
              </a:rPr>
              <a:t>Substitution:  </a:t>
            </a:r>
            <a:r>
              <a:rPr sz="1250" b="0" i="0">
                <a:solidFill>
                  <a:srgbClr val="262626"/>
                </a:solidFill>
                <a:latin typeface="Calibri"/>
              </a:rPr>
              <a:t>Poland is included in place of South Africa, per instruction — a deliberate substitution, not an omission.</a:t>
            </a:r>
          </a:p>
          <a:p>
            <a:pPr>
              <a:spcAft>
                <a:spcPts val="700"/>
              </a:spcAft>
            </a:pPr>
            <a:r>
              <a:rPr sz="1250" b="1" i="0">
                <a:solidFill>
                  <a:srgbClr val="1F3864"/>
                </a:solidFill>
                <a:latin typeface="Calibri"/>
              </a:rPr>
              <a:t>Bloc seats excluded:  </a:t>
            </a:r>
            <a:r>
              <a:rPr sz="1250" b="0" i="0">
                <a:solidFill>
                  <a:srgbClr val="262626"/>
                </a:solidFill>
                <a:latin typeface="Calibri"/>
              </a:rPr>
              <a:t>The European Union and African Union hold G20 seats but are supranational blocs, not sovereign countries, and are not profiled.</a:t>
            </a:r>
          </a:p>
          <a:p>
            <a:pPr>
              <a:spcAft>
                <a:spcPts val="700"/>
              </a:spcAft>
            </a:pPr>
            <a:r>
              <a:rPr sz="1250" b="1" i="0">
                <a:solidFill>
                  <a:srgbClr val="1F3864"/>
                </a:solidFill>
                <a:latin typeface="Calibri"/>
              </a:rPr>
              <a:t>GDP:  </a:t>
            </a:r>
            <a:r>
              <a:rPr sz="1250" b="0" i="0">
                <a:solidFill>
                  <a:srgbClr val="262626"/>
                </a:solidFill>
                <a:latin typeface="Calibri"/>
              </a:rPr>
              <a:t>Nominal (current USD), IMF World Economic Outlook 2025, single vintage across all 19.</a:t>
            </a:r>
          </a:p>
          <a:p>
            <a:pPr>
              <a:spcAft>
                <a:spcPts val="700"/>
              </a:spcAft>
            </a:pPr>
            <a:r>
              <a:rPr sz="1250" b="1" i="0">
                <a:solidFill>
                  <a:srgbClr val="1F3864"/>
                </a:solidFill>
                <a:latin typeface="Calibri"/>
              </a:rPr>
              <a:t>U.S. bilateral trade:  </a:t>
            </a:r>
            <a:r>
              <a:rPr sz="1250" b="0" i="0">
                <a:solidFill>
                  <a:srgbClr val="262626"/>
                </a:solidFill>
                <a:latin typeface="Calibri"/>
              </a:rPr>
              <a:t>U.S. Census Bureau goods trade, 2025 full year (goods basis), sourced via Census-derived channels (see Sources).</a:t>
            </a:r>
          </a:p>
          <a:p>
            <a:pPr>
              <a:spcAft>
                <a:spcPts val="700"/>
              </a:spcAft>
            </a:pPr>
            <a:r>
              <a:rPr sz="1250" b="1" i="0">
                <a:solidFill>
                  <a:srgbClr val="1F3864"/>
                </a:solidFill>
                <a:latin typeface="Calibri"/>
              </a:rPr>
              <a:t>Ministers:  </a:t>
            </a:r>
            <a:r>
              <a:rPr sz="1250" b="0" i="0">
                <a:solidFill>
                  <a:srgbClr val="262626"/>
                </a:solidFill>
                <a:latin typeface="Calibri"/>
              </a:rPr>
              <a:t>Each officeholder confirmed current on 2026-07-16 by live search plus an independent verification pass. Split portfolios show every responsible official.</a:t>
            </a:r>
          </a:p>
        </p:txBody>
      </p:sp>
      <p:sp>
        <p:nvSpPr>
          <p:cNvPr id="8" name="Rectangle 7"/>
          <p:cNvSpPr/>
          <p:nvPr/>
        </p:nvSpPr>
        <p:spPr>
          <a:xfrm>
            <a:off x="7772400" y="1371600"/>
            <a:ext cx="3867912" cy="48006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7772400" y="1371600"/>
            <a:ext cx="3867912"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046720" y="1600200"/>
            <a:ext cx="3383280" cy="4572000"/>
          </a:xfrm>
          <a:prstGeom prst="rect">
            <a:avLst/>
          </a:prstGeom>
          <a:noFill/>
        </p:spPr>
        <p:txBody>
          <a:bodyPr wrap="square" anchor="t" lIns="0" rIns="0" tIns="0" bIns="0">
            <a:spAutoFit/>
          </a:bodyPr>
          <a:lstStyle/>
          <a:p>
            <a:r>
              <a:rPr sz="1100" b="1" i="0" spc="100">
                <a:solidFill>
                  <a:srgbClr val="1F3864"/>
                </a:solidFill>
                <a:latin typeface="Calibri"/>
              </a:rPr>
              <a:t>CONFIDENCE FLAGS</a:t>
            </a:r>
          </a:p>
          <a:p>
            <a:pPr>
              <a:spcBef>
                <a:spcPts val="900"/>
              </a:spcBef>
            </a:pPr>
            <a:r>
              <a:rPr sz="1200" b="1" i="0">
                <a:solidFill>
                  <a:srgbClr val="1E7A34"/>
                </a:solidFill>
                <a:latin typeface="Calibri"/>
              </a:rPr>
              <a:t>■ </a:t>
            </a:r>
            <a:r>
              <a:rPr sz="1200" b="1" i="0">
                <a:solidFill>
                  <a:srgbClr val="262626"/>
                </a:solidFill>
                <a:latin typeface="Calibri"/>
              </a:rPr>
              <a:t>Verified</a:t>
            </a:r>
          </a:p>
          <a:p>
            <a:r>
              <a:rPr sz="1050" b="0" i="0">
                <a:solidFill>
                  <a:srgbClr val="44546A"/>
                </a:solidFill>
                <a:latin typeface="Calibri"/>
              </a:rPr>
              <a:t>independently confirmed current</a:t>
            </a:r>
          </a:p>
          <a:p>
            <a:pPr>
              <a:spcBef>
                <a:spcPts val="900"/>
              </a:spcBef>
            </a:pPr>
            <a:r>
              <a:rPr sz="1200" b="1" i="0">
                <a:solidFill>
                  <a:srgbClr val="B97A00"/>
                </a:solidFill>
                <a:latin typeface="Calibri"/>
              </a:rPr>
              <a:t>■ </a:t>
            </a:r>
            <a:r>
              <a:rPr sz="1200" b="1" i="0">
                <a:solidFill>
                  <a:srgbClr val="262626"/>
                </a:solidFill>
                <a:latin typeface="Calibri"/>
              </a:rPr>
              <a:t>Needs check</a:t>
            </a:r>
          </a:p>
          <a:p>
            <a:r>
              <a:rPr sz="1050" b="0" i="0">
                <a:solidFill>
                  <a:srgbClr val="44546A"/>
                </a:solidFill>
                <a:latin typeface="Calibri"/>
              </a:rPr>
              <a:t>a figure or minister carries uncertainty</a:t>
            </a:r>
          </a:p>
          <a:p>
            <a:pPr>
              <a:spcBef>
                <a:spcPts val="900"/>
              </a:spcBef>
            </a:pPr>
            <a:r>
              <a:rPr sz="1200" b="1" i="0">
                <a:solidFill>
                  <a:srgbClr val="C05A00"/>
                </a:solidFill>
                <a:latin typeface="Calibri"/>
              </a:rPr>
              <a:t>■ </a:t>
            </a:r>
            <a:r>
              <a:rPr sz="1200" b="1" i="0">
                <a:solidFill>
                  <a:srgbClr val="262626"/>
                </a:solidFill>
                <a:latin typeface="Calibri"/>
              </a:rPr>
              <a:t>Vacant / acting</a:t>
            </a:r>
          </a:p>
          <a:p>
            <a:r>
              <a:rPr sz="1050" b="0" i="0">
                <a:solidFill>
                  <a:srgbClr val="44546A"/>
                </a:solidFill>
                <a:latin typeface="Calibri"/>
              </a:rPr>
              <a:t>post held on an acting/interim basis</a:t>
            </a:r>
          </a:p>
          <a:p>
            <a:pPr>
              <a:spcBef>
                <a:spcPts val="1400"/>
              </a:spcBef>
            </a:pPr>
            <a:r>
              <a:rPr sz="1050" b="1" i="0">
                <a:solidFill>
                  <a:srgbClr val="44546A"/>
                </a:solidFill>
                <a:latin typeface="Calibri"/>
              </a:rPr>
              <a:t>Roll-up this deck: </a:t>
            </a:r>
            <a:r>
              <a:rPr sz="1050" b="0" i="0">
                <a:solidFill>
                  <a:srgbClr val="44546A"/>
                </a:solidFill>
                <a:latin typeface="Calibri"/>
              </a:rPr>
              <a:t>12 Verified · 5 Needs check · 2 Acting.</a:t>
            </a:r>
          </a:p>
          <a:p>
            <a:pPr>
              <a:spcBef>
                <a:spcPts val="1000"/>
              </a:spcBef>
            </a:pPr>
            <a:r>
              <a:rPr sz="1050" b="0" i="1">
                <a:solidFill>
                  <a:srgbClr val="44546A"/>
                </a:solidFill>
                <a:latin typeface="Calibri"/>
              </a:rPr>
              <a:t>Nothing is filled from model memory; unconfirmed items are flagged, not guessed.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54864"/>
          </a:xfrm>
          <a:prstGeom prst="rect">
            <a:avLst/>
          </a:prstGeom>
          <a:solidFill>
            <a:srgbClr val="2E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1091672" cy="658368"/>
          </a:xfrm>
          <a:prstGeom prst="rect">
            <a:avLst/>
          </a:prstGeom>
          <a:noFill/>
        </p:spPr>
        <p:txBody>
          <a:bodyPr wrap="square" anchor="ctr" lIns="0" rIns="0" tIns="0" bIns="0">
            <a:spAutoFit/>
          </a:bodyPr>
          <a:lstStyle/>
          <a:p>
            <a:r>
              <a:rPr sz="2400" b="1" i="0">
                <a:solidFill>
                  <a:srgbClr val="FFFFFF"/>
                </a:solidFill>
                <a:latin typeface="Calibri"/>
              </a:rPr>
              <a:t>Summary — GDP &amp; U.S. Bilateral Goods Trade</a:t>
            </a:r>
          </a:p>
        </p:txBody>
      </p:sp>
      <p:sp>
        <p:nvSpPr>
          <p:cNvPr id="6" name="TextBox 5"/>
          <p:cNvSpPr txBox="1"/>
          <p:nvPr/>
        </p:nvSpPr>
        <p:spPr>
          <a:xfrm>
            <a:off x="548640" y="603504"/>
            <a:ext cx="11091672" cy="274320"/>
          </a:xfrm>
          <a:prstGeom prst="rect">
            <a:avLst/>
          </a:prstGeom>
          <a:noFill/>
        </p:spPr>
        <p:txBody>
          <a:bodyPr wrap="square" anchor="t" lIns="0" rIns="0" tIns="0" bIns="0">
            <a:spAutoFit/>
          </a:bodyPr>
          <a:lstStyle/>
          <a:p>
            <a:r>
              <a:rPr sz="1100" b="0" i="0">
                <a:solidFill>
                  <a:srgbClr val="B9C5DC"/>
                </a:solidFill>
                <a:latin typeface="Calibri"/>
              </a:rPr>
              <a:t>USD billions · GDP 2025 · trade 2025 (goods) · part 1 of 2</a:t>
            </a:r>
          </a:p>
        </p:txBody>
      </p:sp>
      <p:sp>
        <p:nvSpPr>
          <p:cNvPr id="7" name="Rectangle 6"/>
          <p:cNvSpPr/>
          <p:nvPr/>
        </p:nvSpPr>
        <p:spPr>
          <a:xfrm>
            <a:off x="457200" y="1325880"/>
            <a:ext cx="11274552"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80744"/>
            <a:ext cx="3108960" cy="365760"/>
          </a:xfrm>
          <a:prstGeom prst="rect">
            <a:avLst/>
          </a:prstGeom>
          <a:noFill/>
        </p:spPr>
        <p:txBody>
          <a:bodyPr wrap="square" anchor="ctr" lIns="0" rIns="0" tIns="0" bIns="0">
            <a:spAutoFit/>
          </a:bodyPr>
          <a:lstStyle/>
          <a:p>
            <a:pPr algn="l"/>
            <a:r>
              <a:rPr sz="1150" b="1" i="0">
                <a:solidFill>
                  <a:srgbClr val="FFFFFF"/>
                </a:solidFill>
                <a:latin typeface="Calibri"/>
              </a:rPr>
              <a:t>Country</a:t>
            </a:r>
          </a:p>
        </p:txBody>
      </p:sp>
      <p:sp>
        <p:nvSpPr>
          <p:cNvPr id="9" name="TextBox 8"/>
          <p:cNvSpPr txBox="1"/>
          <p:nvPr/>
        </p:nvSpPr>
        <p:spPr>
          <a:xfrm>
            <a:off x="3657600" y="1380744"/>
            <a:ext cx="1828800" cy="365760"/>
          </a:xfrm>
          <a:prstGeom prst="rect">
            <a:avLst/>
          </a:prstGeom>
          <a:noFill/>
        </p:spPr>
        <p:txBody>
          <a:bodyPr wrap="square" anchor="ctr" lIns="0" rIns="0" tIns="0" bIns="0">
            <a:spAutoFit/>
          </a:bodyPr>
          <a:lstStyle/>
          <a:p>
            <a:pPr algn="r"/>
            <a:r>
              <a:rPr sz="1150" b="1" i="0">
                <a:solidFill>
                  <a:srgbClr val="FFFFFF"/>
                </a:solidFill>
                <a:latin typeface="Calibri"/>
              </a:rPr>
              <a:t>GDP (2025)</a:t>
            </a:r>
          </a:p>
        </p:txBody>
      </p:sp>
      <p:sp>
        <p:nvSpPr>
          <p:cNvPr id="10" name="TextBox 9"/>
          <p:cNvSpPr txBox="1"/>
          <p:nvPr/>
        </p:nvSpPr>
        <p:spPr>
          <a:xfrm>
            <a:off x="5532120" y="1380744"/>
            <a:ext cx="2011680" cy="365760"/>
          </a:xfrm>
          <a:prstGeom prst="rect">
            <a:avLst/>
          </a:prstGeom>
          <a:noFill/>
        </p:spPr>
        <p:txBody>
          <a:bodyPr wrap="square" anchor="ctr" lIns="0" rIns="0" tIns="0" bIns="0">
            <a:spAutoFit/>
          </a:bodyPr>
          <a:lstStyle/>
          <a:p>
            <a:pPr algn="r"/>
            <a:r>
              <a:rPr sz="1150" b="1" i="0">
                <a:solidFill>
                  <a:srgbClr val="FFFFFF"/>
                </a:solidFill>
                <a:latin typeface="Calibri"/>
              </a:rPr>
              <a:t>U.S. exports to</a:t>
            </a:r>
          </a:p>
        </p:txBody>
      </p:sp>
      <p:sp>
        <p:nvSpPr>
          <p:cNvPr id="11" name="TextBox 10"/>
          <p:cNvSpPr txBox="1"/>
          <p:nvPr/>
        </p:nvSpPr>
        <p:spPr>
          <a:xfrm>
            <a:off x="7589520" y="1380744"/>
            <a:ext cx="2103120" cy="365760"/>
          </a:xfrm>
          <a:prstGeom prst="rect">
            <a:avLst/>
          </a:prstGeom>
          <a:noFill/>
        </p:spPr>
        <p:txBody>
          <a:bodyPr wrap="square" anchor="ctr" lIns="0" rIns="0" tIns="0" bIns="0">
            <a:spAutoFit/>
          </a:bodyPr>
          <a:lstStyle/>
          <a:p>
            <a:pPr algn="r"/>
            <a:r>
              <a:rPr sz="1150" b="1" i="0">
                <a:solidFill>
                  <a:srgbClr val="FFFFFF"/>
                </a:solidFill>
                <a:latin typeface="Calibri"/>
              </a:rPr>
              <a:t>U.S. imports from</a:t>
            </a:r>
          </a:p>
        </p:txBody>
      </p:sp>
      <p:sp>
        <p:nvSpPr>
          <p:cNvPr id="12" name="TextBox 11"/>
          <p:cNvSpPr txBox="1"/>
          <p:nvPr/>
        </p:nvSpPr>
        <p:spPr>
          <a:xfrm>
            <a:off x="9738360" y="1380744"/>
            <a:ext cx="1920240" cy="365760"/>
          </a:xfrm>
          <a:prstGeom prst="rect">
            <a:avLst/>
          </a:prstGeom>
          <a:noFill/>
        </p:spPr>
        <p:txBody>
          <a:bodyPr wrap="square" anchor="ctr" lIns="0" rIns="0" tIns="0" bIns="0">
            <a:spAutoFit/>
          </a:bodyPr>
          <a:lstStyle/>
          <a:p>
            <a:pPr algn="r"/>
            <a:r>
              <a:rPr sz="1150" b="1" i="0">
                <a:solidFill>
                  <a:srgbClr val="FFFFFF"/>
                </a:solidFill>
                <a:latin typeface="Calibri"/>
              </a:rPr>
              <a:t>U.S. bilateral balance</a:t>
            </a:r>
          </a:p>
        </p:txBody>
      </p:sp>
      <p:sp>
        <p:nvSpPr>
          <p:cNvPr id="13" name="Rectangle 12"/>
          <p:cNvSpPr/>
          <p:nvPr/>
        </p:nvSpPr>
        <p:spPr>
          <a:xfrm>
            <a:off x="457200" y="17830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828800"/>
            <a:ext cx="3108960" cy="384048"/>
          </a:xfrm>
          <a:prstGeom prst="rect">
            <a:avLst/>
          </a:prstGeom>
          <a:noFill/>
        </p:spPr>
        <p:txBody>
          <a:bodyPr wrap="square" anchor="ctr" lIns="0" rIns="0" tIns="0" bIns="0">
            <a:spAutoFit/>
          </a:bodyPr>
          <a:lstStyle/>
          <a:p>
            <a:pPr algn="l"/>
            <a:r>
              <a:rPr sz="1150" b="1" i="0">
                <a:solidFill>
                  <a:srgbClr val="262626"/>
                </a:solidFill>
                <a:latin typeface="Calibri"/>
              </a:rPr>
              <a:t>Argentina</a:t>
            </a:r>
          </a:p>
        </p:txBody>
      </p:sp>
      <p:sp>
        <p:nvSpPr>
          <p:cNvPr id="15" name="TextBox 14"/>
          <p:cNvSpPr txBox="1"/>
          <p:nvPr/>
        </p:nvSpPr>
        <p:spPr>
          <a:xfrm>
            <a:off x="3657600" y="1828800"/>
            <a:ext cx="1828800" cy="384048"/>
          </a:xfrm>
          <a:prstGeom prst="rect">
            <a:avLst/>
          </a:prstGeom>
          <a:noFill/>
        </p:spPr>
        <p:txBody>
          <a:bodyPr wrap="square" anchor="ctr" lIns="0" rIns="0" tIns="0" bIns="0">
            <a:spAutoFit/>
          </a:bodyPr>
          <a:lstStyle/>
          <a:p>
            <a:pPr algn="r"/>
            <a:r>
              <a:rPr sz="1150" b="0" i="0">
                <a:solidFill>
                  <a:srgbClr val="262626"/>
                </a:solidFill>
                <a:latin typeface="Calibri"/>
              </a:rPr>
              <a:t>$681.5B</a:t>
            </a:r>
          </a:p>
        </p:txBody>
      </p:sp>
      <p:sp>
        <p:nvSpPr>
          <p:cNvPr id="16" name="TextBox 15"/>
          <p:cNvSpPr txBox="1"/>
          <p:nvPr/>
        </p:nvSpPr>
        <p:spPr>
          <a:xfrm>
            <a:off x="5532120" y="1828800"/>
            <a:ext cx="2011680" cy="384048"/>
          </a:xfrm>
          <a:prstGeom prst="rect">
            <a:avLst/>
          </a:prstGeom>
          <a:noFill/>
        </p:spPr>
        <p:txBody>
          <a:bodyPr wrap="square" anchor="ctr" lIns="0" rIns="0" tIns="0" bIns="0">
            <a:spAutoFit/>
          </a:bodyPr>
          <a:lstStyle/>
          <a:p>
            <a:pPr algn="r"/>
            <a:r>
              <a:rPr sz="1150" b="0" i="0">
                <a:solidFill>
                  <a:srgbClr val="262626"/>
                </a:solidFill>
                <a:latin typeface="Calibri"/>
              </a:rPr>
              <a:t>$9.9B</a:t>
            </a:r>
          </a:p>
        </p:txBody>
      </p:sp>
      <p:sp>
        <p:nvSpPr>
          <p:cNvPr id="17" name="TextBox 16"/>
          <p:cNvSpPr txBox="1"/>
          <p:nvPr/>
        </p:nvSpPr>
        <p:spPr>
          <a:xfrm>
            <a:off x="7589520" y="1828800"/>
            <a:ext cx="2103120" cy="384048"/>
          </a:xfrm>
          <a:prstGeom prst="rect">
            <a:avLst/>
          </a:prstGeom>
          <a:noFill/>
        </p:spPr>
        <p:txBody>
          <a:bodyPr wrap="square" anchor="ctr" lIns="0" rIns="0" tIns="0" bIns="0">
            <a:spAutoFit/>
          </a:bodyPr>
          <a:lstStyle/>
          <a:p>
            <a:pPr algn="r"/>
            <a:r>
              <a:rPr sz="1150" b="0" i="0">
                <a:solidFill>
                  <a:srgbClr val="262626"/>
                </a:solidFill>
                <a:latin typeface="Calibri"/>
              </a:rPr>
              <a:t>$8.3B</a:t>
            </a:r>
          </a:p>
        </p:txBody>
      </p:sp>
      <p:sp>
        <p:nvSpPr>
          <p:cNvPr id="18" name="TextBox 17"/>
          <p:cNvSpPr txBox="1"/>
          <p:nvPr/>
        </p:nvSpPr>
        <p:spPr>
          <a:xfrm>
            <a:off x="9738360" y="1828800"/>
            <a:ext cx="1920240" cy="384048"/>
          </a:xfrm>
          <a:prstGeom prst="rect">
            <a:avLst/>
          </a:prstGeom>
          <a:noFill/>
        </p:spPr>
        <p:txBody>
          <a:bodyPr wrap="square" anchor="ctr" lIns="0" rIns="0" tIns="0" bIns="0">
            <a:spAutoFit/>
          </a:bodyPr>
          <a:lstStyle/>
          <a:p>
            <a:pPr algn="r"/>
            <a:r>
              <a:rPr sz="1150" b="1" i="0">
                <a:solidFill>
                  <a:srgbClr val="1E7A34"/>
                </a:solidFill>
                <a:latin typeface="Calibri"/>
              </a:rPr>
              <a:t>+$1.6B</a:t>
            </a:r>
          </a:p>
        </p:txBody>
      </p:sp>
      <p:sp>
        <p:nvSpPr>
          <p:cNvPr id="19" name="TextBox 18"/>
          <p:cNvSpPr txBox="1"/>
          <p:nvPr/>
        </p:nvSpPr>
        <p:spPr>
          <a:xfrm>
            <a:off x="548640" y="2286000"/>
            <a:ext cx="3108960" cy="384048"/>
          </a:xfrm>
          <a:prstGeom prst="rect">
            <a:avLst/>
          </a:prstGeom>
          <a:noFill/>
        </p:spPr>
        <p:txBody>
          <a:bodyPr wrap="square" anchor="ctr" lIns="0" rIns="0" tIns="0" bIns="0">
            <a:spAutoFit/>
          </a:bodyPr>
          <a:lstStyle/>
          <a:p>
            <a:pPr algn="l"/>
            <a:r>
              <a:rPr sz="1150" b="1" i="0">
                <a:solidFill>
                  <a:srgbClr val="262626"/>
                </a:solidFill>
                <a:latin typeface="Calibri"/>
              </a:rPr>
              <a:t>Australia</a:t>
            </a:r>
          </a:p>
        </p:txBody>
      </p:sp>
      <p:sp>
        <p:nvSpPr>
          <p:cNvPr id="20" name="TextBox 19"/>
          <p:cNvSpPr txBox="1"/>
          <p:nvPr/>
        </p:nvSpPr>
        <p:spPr>
          <a:xfrm>
            <a:off x="3657600" y="22860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$1,840.0B</a:t>
            </a:r>
          </a:p>
        </p:txBody>
      </p:sp>
      <p:sp>
        <p:nvSpPr>
          <p:cNvPr id="21" name="TextBox 20"/>
          <p:cNvSpPr txBox="1"/>
          <p:nvPr/>
        </p:nvSpPr>
        <p:spPr>
          <a:xfrm>
            <a:off x="5532120" y="2286000"/>
            <a:ext cx="2011680" cy="384048"/>
          </a:xfrm>
          <a:prstGeom prst="rect">
            <a:avLst/>
          </a:prstGeom>
          <a:noFill/>
        </p:spPr>
        <p:txBody>
          <a:bodyPr wrap="square" anchor="ctr" lIns="0" rIns="0" tIns="0" bIns="0">
            <a:spAutoFit/>
          </a:bodyPr>
          <a:lstStyle/>
          <a:p>
            <a:pPr algn="r"/>
            <a:r>
              <a:rPr sz="1150" b="0" i="0">
                <a:solidFill>
                  <a:srgbClr val="262626"/>
                </a:solidFill>
                <a:latin typeface="Calibri"/>
              </a:rPr>
              <a:t>$33.7B</a:t>
            </a:r>
          </a:p>
        </p:txBody>
      </p:sp>
      <p:sp>
        <p:nvSpPr>
          <p:cNvPr id="22" name="TextBox 21"/>
          <p:cNvSpPr txBox="1"/>
          <p:nvPr/>
        </p:nvSpPr>
        <p:spPr>
          <a:xfrm>
            <a:off x="7589520" y="2286000"/>
            <a:ext cx="2103120" cy="384048"/>
          </a:xfrm>
          <a:prstGeom prst="rect">
            <a:avLst/>
          </a:prstGeom>
          <a:noFill/>
        </p:spPr>
        <p:txBody>
          <a:bodyPr wrap="square" anchor="ctr" lIns="0" rIns="0" tIns="0" bIns="0">
            <a:spAutoFit/>
          </a:bodyPr>
          <a:lstStyle/>
          <a:p>
            <a:pPr algn="r"/>
            <a:r>
              <a:rPr sz="1150" b="0" i="0">
                <a:solidFill>
                  <a:srgbClr val="262626"/>
                </a:solidFill>
                <a:latin typeface="Calibri"/>
              </a:rPr>
              <a:t>$29.1B</a:t>
            </a:r>
          </a:p>
        </p:txBody>
      </p:sp>
      <p:sp>
        <p:nvSpPr>
          <p:cNvPr id="23" name="TextBox 22"/>
          <p:cNvSpPr txBox="1"/>
          <p:nvPr/>
        </p:nvSpPr>
        <p:spPr>
          <a:xfrm>
            <a:off x="9738360" y="2286000"/>
            <a:ext cx="1920240" cy="384048"/>
          </a:xfrm>
          <a:prstGeom prst="rect">
            <a:avLst/>
          </a:prstGeom>
          <a:noFill/>
        </p:spPr>
        <p:txBody>
          <a:bodyPr wrap="square" anchor="ctr" lIns="0" rIns="0" tIns="0" bIns="0">
            <a:spAutoFit/>
          </a:bodyPr>
          <a:lstStyle/>
          <a:p>
            <a:pPr algn="r"/>
            <a:r>
              <a:rPr sz="1150" b="1" i="0">
                <a:solidFill>
                  <a:srgbClr val="1E7A34"/>
                </a:solidFill>
                <a:latin typeface="Calibri"/>
              </a:rPr>
              <a:t>+$4.6B</a:t>
            </a:r>
          </a:p>
        </p:txBody>
      </p:sp>
      <p:sp>
        <p:nvSpPr>
          <p:cNvPr id="24" name="Rectangle 23"/>
          <p:cNvSpPr/>
          <p:nvPr/>
        </p:nvSpPr>
        <p:spPr>
          <a:xfrm>
            <a:off x="457200" y="26974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43200"/>
            <a:ext cx="3108960" cy="384048"/>
          </a:xfrm>
          <a:prstGeom prst="rect">
            <a:avLst/>
          </a:prstGeom>
          <a:noFill/>
        </p:spPr>
        <p:txBody>
          <a:bodyPr wrap="square" anchor="ctr" lIns="0" rIns="0" tIns="0" bIns="0">
            <a:spAutoFit/>
          </a:bodyPr>
          <a:lstStyle/>
          <a:p>
            <a:pPr algn="l"/>
            <a:r>
              <a:rPr sz="1150" b="1" i="0">
                <a:solidFill>
                  <a:srgbClr val="262626"/>
                </a:solidFill>
                <a:latin typeface="Calibri"/>
              </a:rPr>
              <a:t>Brazil</a:t>
            </a:r>
          </a:p>
        </p:txBody>
      </p:sp>
      <p:sp>
        <p:nvSpPr>
          <p:cNvPr id="26" name="TextBox 25"/>
          <p:cNvSpPr txBox="1"/>
          <p:nvPr/>
        </p:nvSpPr>
        <p:spPr>
          <a:xfrm>
            <a:off x="3657600" y="2743200"/>
            <a:ext cx="1828800" cy="384048"/>
          </a:xfrm>
          <a:prstGeom prst="rect">
            <a:avLst/>
          </a:prstGeom>
          <a:noFill/>
        </p:spPr>
        <p:txBody>
          <a:bodyPr wrap="square" anchor="ctr" lIns="0" rIns="0" tIns="0" bIns="0">
            <a:spAutoFit/>
          </a:bodyPr>
          <a:lstStyle/>
          <a:p>
            <a:pPr algn="r"/>
            <a:r>
              <a:rPr sz="1150" b="0" i="0">
                <a:solidFill>
                  <a:srgbClr val="262626"/>
                </a:solidFill>
                <a:latin typeface="Calibri"/>
              </a:rPr>
              <a:t>$2,280.0B</a:t>
            </a:r>
          </a:p>
        </p:txBody>
      </p:sp>
      <p:sp>
        <p:nvSpPr>
          <p:cNvPr id="27" name="TextBox 26"/>
          <p:cNvSpPr txBox="1"/>
          <p:nvPr/>
        </p:nvSpPr>
        <p:spPr>
          <a:xfrm>
            <a:off x="5532120" y="2743200"/>
            <a:ext cx="2011680" cy="384048"/>
          </a:xfrm>
          <a:prstGeom prst="rect">
            <a:avLst/>
          </a:prstGeom>
          <a:noFill/>
        </p:spPr>
        <p:txBody>
          <a:bodyPr wrap="square" anchor="ctr" lIns="0" rIns="0" tIns="0" bIns="0">
            <a:spAutoFit/>
          </a:bodyPr>
          <a:lstStyle/>
          <a:p>
            <a:pPr algn="r"/>
            <a:r>
              <a:rPr sz="1150" b="0" i="0">
                <a:solidFill>
                  <a:srgbClr val="262626"/>
                </a:solidFill>
                <a:latin typeface="Calibri"/>
              </a:rPr>
              <a:t>$54.4B</a:t>
            </a:r>
          </a:p>
        </p:txBody>
      </p:sp>
      <p:sp>
        <p:nvSpPr>
          <p:cNvPr id="28" name="TextBox 27"/>
          <p:cNvSpPr txBox="1"/>
          <p:nvPr/>
        </p:nvSpPr>
        <p:spPr>
          <a:xfrm>
            <a:off x="7589520" y="2743200"/>
            <a:ext cx="2103120" cy="384048"/>
          </a:xfrm>
          <a:prstGeom prst="rect">
            <a:avLst/>
          </a:prstGeom>
          <a:noFill/>
        </p:spPr>
        <p:txBody>
          <a:bodyPr wrap="square" anchor="ctr" lIns="0" rIns="0" tIns="0" bIns="0">
            <a:spAutoFit/>
          </a:bodyPr>
          <a:lstStyle/>
          <a:p>
            <a:pPr algn="r"/>
            <a:r>
              <a:rPr sz="1150" b="0" i="0">
                <a:solidFill>
                  <a:srgbClr val="262626"/>
                </a:solidFill>
                <a:latin typeface="Calibri"/>
              </a:rPr>
              <a:t>$39.9B</a:t>
            </a:r>
          </a:p>
        </p:txBody>
      </p:sp>
      <p:sp>
        <p:nvSpPr>
          <p:cNvPr id="29" name="TextBox 28"/>
          <p:cNvSpPr txBox="1"/>
          <p:nvPr/>
        </p:nvSpPr>
        <p:spPr>
          <a:xfrm>
            <a:off x="9738360" y="2743200"/>
            <a:ext cx="1920240" cy="384048"/>
          </a:xfrm>
          <a:prstGeom prst="rect">
            <a:avLst/>
          </a:prstGeom>
          <a:noFill/>
        </p:spPr>
        <p:txBody>
          <a:bodyPr wrap="square" anchor="ctr" lIns="0" rIns="0" tIns="0" bIns="0">
            <a:spAutoFit/>
          </a:bodyPr>
          <a:lstStyle/>
          <a:p>
            <a:pPr algn="r"/>
            <a:r>
              <a:rPr sz="1150" b="1" i="0">
                <a:solidFill>
                  <a:srgbClr val="1E7A34"/>
                </a:solidFill>
                <a:latin typeface="Calibri"/>
              </a:rPr>
              <a:t>+$14.5B</a:t>
            </a:r>
          </a:p>
        </p:txBody>
      </p:sp>
      <p:sp>
        <p:nvSpPr>
          <p:cNvPr id="30" name="TextBox 29"/>
          <p:cNvSpPr txBox="1"/>
          <p:nvPr/>
        </p:nvSpPr>
        <p:spPr>
          <a:xfrm>
            <a:off x="548640" y="3200400"/>
            <a:ext cx="3108960" cy="384048"/>
          </a:xfrm>
          <a:prstGeom prst="rect">
            <a:avLst/>
          </a:prstGeom>
          <a:noFill/>
        </p:spPr>
        <p:txBody>
          <a:bodyPr wrap="square" anchor="ctr" lIns="0" rIns="0" tIns="0" bIns="0">
            <a:spAutoFit/>
          </a:bodyPr>
          <a:lstStyle/>
          <a:p>
            <a:pPr algn="l"/>
            <a:r>
              <a:rPr sz="1150" b="1" i="0">
                <a:solidFill>
                  <a:srgbClr val="262626"/>
                </a:solidFill>
                <a:latin typeface="Calibri"/>
              </a:rPr>
              <a:t>Canada</a:t>
            </a:r>
          </a:p>
        </p:txBody>
      </p:sp>
      <p:sp>
        <p:nvSpPr>
          <p:cNvPr id="31" name="TextBox 30"/>
          <p:cNvSpPr txBox="1"/>
          <p:nvPr/>
        </p:nvSpPr>
        <p:spPr>
          <a:xfrm>
            <a:off x="3657600" y="3200400"/>
            <a:ext cx="1828800" cy="384048"/>
          </a:xfrm>
          <a:prstGeom prst="rect">
            <a:avLst/>
          </a:prstGeom>
          <a:noFill/>
        </p:spPr>
        <p:txBody>
          <a:bodyPr wrap="square" anchor="ctr" lIns="0" rIns="0" tIns="0" bIns="0">
            <a:spAutoFit/>
          </a:bodyPr>
          <a:lstStyle/>
          <a:p>
            <a:pPr algn="r"/>
            <a:r>
              <a:rPr sz="1150" b="0" i="0">
                <a:solidFill>
                  <a:srgbClr val="262626"/>
                </a:solidFill>
                <a:latin typeface="Calibri"/>
              </a:rPr>
              <a:t>$2,284.0B</a:t>
            </a:r>
          </a:p>
        </p:txBody>
      </p:sp>
      <p:sp>
        <p:nvSpPr>
          <p:cNvPr id="32" name="TextBox 31"/>
          <p:cNvSpPr txBox="1"/>
          <p:nvPr/>
        </p:nvSpPr>
        <p:spPr>
          <a:xfrm>
            <a:off x="5532120" y="3200400"/>
            <a:ext cx="2011680" cy="384048"/>
          </a:xfrm>
          <a:prstGeom prst="rect">
            <a:avLst/>
          </a:prstGeom>
          <a:noFill/>
        </p:spPr>
        <p:txBody>
          <a:bodyPr wrap="square" anchor="ctr" lIns="0" rIns="0" tIns="0" bIns="0">
            <a:spAutoFit/>
          </a:bodyPr>
          <a:lstStyle/>
          <a:p>
            <a:pPr algn="r"/>
            <a:r>
              <a:rPr sz="1150" b="0" i="0">
                <a:solidFill>
                  <a:srgbClr val="262626"/>
                </a:solidFill>
                <a:latin typeface="Calibri"/>
              </a:rPr>
              <a:t>$336.5B</a:t>
            </a:r>
          </a:p>
        </p:txBody>
      </p:sp>
      <p:sp>
        <p:nvSpPr>
          <p:cNvPr id="33" name="TextBox 32"/>
          <p:cNvSpPr txBox="1"/>
          <p:nvPr/>
        </p:nvSpPr>
        <p:spPr>
          <a:xfrm>
            <a:off x="7589520" y="3200400"/>
            <a:ext cx="2103120" cy="384048"/>
          </a:xfrm>
          <a:prstGeom prst="rect">
            <a:avLst/>
          </a:prstGeom>
          <a:noFill/>
        </p:spPr>
        <p:txBody>
          <a:bodyPr wrap="square" anchor="ctr" lIns="0" rIns="0" tIns="0" bIns="0">
            <a:spAutoFit/>
          </a:bodyPr>
          <a:lstStyle/>
          <a:p>
            <a:pPr algn="r"/>
            <a:r>
              <a:rPr sz="1150" b="0" i="0">
                <a:solidFill>
                  <a:srgbClr val="262626"/>
                </a:solidFill>
                <a:latin typeface="Calibri"/>
              </a:rPr>
              <a:t>$383.0B</a:t>
            </a:r>
          </a:p>
        </p:txBody>
      </p:sp>
      <p:sp>
        <p:nvSpPr>
          <p:cNvPr id="34" name="TextBox 33"/>
          <p:cNvSpPr txBox="1"/>
          <p:nvPr/>
        </p:nvSpPr>
        <p:spPr>
          <a:xfrm>
            <a:off x="9738360" y="3200400"/>
            <a:ext cx="1920240" cy="384048"/>
          </a:xfrm>
          <a:prstGeom prst="rect">
            <a:avLst/>
          </a:prstGeom>
          <a:noFill/>
        </p:spPr>
        <p:txBody>
          <a:bodyPr wrap="square" anchor="ctr" lIns="0" rIns="0" tIns="0" bIns="0">
            <a:spAutoFit/>
          </a:bodyPr>
          <a:lstStyle/>
          <a:p>
            <a:pPr algn="r"/>
            <a:r>
              <a:rPr sz="1150" b="1" i="0">
                <a:solidFill>
                  <a:srgbClr val="B23330"/>
                </a:solidFill>
                <a:latin typeface="Calibri"/>
              </a:rPr>
              <a:t>−$46.5B</a:t>
            </a:r>
          </a:p>
        </p:txBody>
      </p:sp>
      <p:sp>
        <p:nvSpPr>
          <p:cNvPr id="35" name="Rectangle 34"/>
          <p:cNvSpPr/>
          <p:nvPr/>
        </p:nvSpPr>
        <p:spPr>
          <a:xfrm>
            <a:off x="457200" y="36118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657600"/>
            <a:ext cx="3108960" cy="384048"/>
          </a:xfrm>
          <a:prstGeom prst="rect">
            <a:avLst/>
          </a:prstGeom>
          <a:noFill/>
        </p:spPr>
        <p:txBody>
          <a:bodyPr wrap="square" anchor="ctr" lIns="0" rIns="0" tIns="0" bIns="0">
            <a:spAutoFit/>
          </a:bodyPr>
          <a:lstStyle/>
          <a:p>
            <a:pPr algn="l"/>
            <a:r>
              <a:rPr sz="1150" b="1" i="0">
                <a:solidFill>
                  <a:srgbClr val="262626"/>
                </a:solidFill>
                <a:latin typeface="Calibri"/>
              </a:rPr>
              <a:t>China</a:t>
            </a:r>
          </a:p>
        </p:txBody>
      </p:sp>
      <p:sp>
        <p:nvSpPr>
          <p:cNvPr id="37" name="TextBox 36"/>
          <p:cNvSpPr txBox="1"/>
          <p:nvPr/>
        </p:nvSpPr>
        <p:spPr>
          <a:xfrm>
            <a:off x="3657600" y="36576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$19,399.0B</a:t>
            </a:r>
          </a:p>
        </p:txBody>
      </p:sp>
      <p:sp>
        <p:nvSpPr>
          <p:cNvPr id="38" name="TextBox 37"/>
          <p:cNvSpPr txBox="1"/>
          <p:nvPr/>
        </p:nvSpPr>
        <p:spPr>
          <a:xfrm>
            <a:off x="5532120" y="3657600"/>
            <a:ext cx="2011680" cy="384048"/>
          </a:xfrm>
          <a:prstGeom prst="rect">
            <a:avLst/>
          </a:prstGeom>
          <a:noFill/>
        </p:spPr>
        <p:txBody>
          <a:bodyPr wrap="square" anchor="ctr" lIns="0" rIns="0" tIns="0" bIns="0">
            <a:spAutoFit/>
          </a:bodyPr>
          <a:lstStyle/>
          <a:p>
            <a:pPr algn="r"/>
            <a:r>
              <a:rPr sz="1150" b="0" i="0">
                <a:solidFill>
                  <a:srgbClr val="262626"/>
                </a:solidFill>
                <a:latin typeface="Calibri"/>
              </a:rPr>
              <a:t>$106.3B</a:t>
            </a:r>
          </a:p>
        </p:txBody>
      </p:sp>
      <p:sp>
        <p:nvSpPr>
          <p:cNvPr id="39" name="TextBox 38"/>
          <p:cNvSpPr txBox="1"/>
          <p:nvPr/>
        </p:nvSpPr>
        <p:spPr>
          <a:xfrm>
            <a:off x="7589520" y="3657600"/>
            <a:ext cx="2103120" cy="384048"/>
          </a:xfrm>
          <a:prstGeom prst="rect">
            <a:avLst/>
          </a:prstGeom>
          <a:noFill/>
        </p:spPr>
        <p:txBody>
          <a:bodyPr wrap="square" anchor="ctr" lIns="0" rIns="0" tIns="0" bIns="0">
            <a:spAutoFit/>
          </a:bodyPr>
          <a:lstStyle/>
          <a:p>
            <a:pPr algn="r"/>
            <a:r>
              <a:rPr sz="1150" b="0" i="0">
                <a:solidFill>
                  <a:srgbClr val="262626"/>
                </a:solidFill>
                <a:latin typeface="Calibri"/>
              </a:rPr>
              <a:t>$308.4B</a:t>
            </a:r>
          </a:p>
        </p:txBody>
      </p:sp>
      <p:sp>
        <p:nvSpPr>
          <p:cNvPr id="40" name="TextBox 39"/>
          <p:cNvSpPr txBox="1"/>
          <p:nvPr/>
        </p:nvSpPr>
        <p:spPr>
          <a:xfrm>
            <a:off x="9738360" y="3657600"/>
            <a:ext cx="1920240" cy="384048"/>
          </a:xfrm>
          <a:prstGeom prst="rect">
            <a:avLst/>
          </a:prstGeom>
          <a:noFill/>
        </p:spPr>
        <p:txBody>
          <a:bodyPr wrap="square" anchor="ctr" lIns="0" rIns="0" tIns="0" bIns="0">
            <a:spAutoFit/>
          </a:bodyPr>
          <a:lstStyle/>
          <a:p>
            <a:pPr algn="r"/>
            <a:r>
              <a:rPr sz="1150" b="1" i="0">
                <a:solidFill>
                  <a:srgbClr val="B23330"/>
                </a:solidFill>
                <a:latin typeface="Calibri"/>
              </a:rPr>
              <a:t>−$202.1B</a:t>
            </a:r>
          </a:p>
        </p:txBody>
      </p:sp>
      <p:sp>
        <p:nvSpPr>
          <p:cNvPr id="41" name="TextBox 40"/>
          <p:cNvSpPr txBox="1"/>
          <p:nvPr/>
        </p:nvSpPr>
        <p:spPr>
          <a:xfrm>
            <a:off x="548640" y="4114800"/>
            <a:ext cx="3108960" cy="384048"/>
          </a:xfrm>
          <a:prstGeom prst="rect">
            <a:avLst/>
          </a:prstGeom>
          <a:noFill/>
        </p:spPr>
        <p:txBody>
          <a:bodyPr wrap="square" anchor="ctr" lIns="0" rIns="0" tIns="0" bIns="0">
            <a:spAutoFit/>
          </a:bodyPr>
          <a:lstStyle/>
          <a:p>
            <a:pPr algn="l"/>
            <a:r>
              <a:rPr sz="1150" b="1" i="0">
                <a:solidFill>
                  <a:srgbClr val="262626"/>
                </a:solidFill>
                <a:latin typeface="Calibri"/>
              </a:rPr>
              <a:t>France</a:t>
            </a:r>
          </a:p>
        </p:txBody>
      </p:sp>
      <p:sp>
        <p:nvSpPr>
          <p:cNvPr id="42" name="TextBox 41"/>
          <p:cNvSpPr txBox="1"/>
          <p:nvPr/>
        </p:nvSpPr>
        <p:spPr>
          <a:xfrm>
            <a:off x="3657600" y="4114800"/>
            <a:ext cx="1828800" cy="384048"/>
          </a:xfrm>
          <a:prstGeom prst="rect">
            <a:avLst/>
          </a:prstGeom>
          <a:noFill/>
        </p:spPr>
        <p:txBody>
          <a:bodyPr wrap="square" anchor="ctr" lIns="0" rIns="0" tIns="0" bIns="0">
            <a:spAutoFit/>
          </a:bodyPr>
          <a:lstStyle/>
          <a:p>
            <a:pPr algn="r"/>
            <a:r>
              <a:rPr sz="1150" b="0" i="0">
                <a:solidFill>
                  <a:srgbClr val="262626"/>
                </a:solidFill>
                <a:latin typeface="Calibri"/>
              </a:rPr>
              <a:t>$3,362.0B</a:t>
            </a:r>
          </a:p>
        </p:txBody>
      </p:sp>
      <p:sp>
        <p:nvSpPr>
          <p:cNvPr id="43" name="TextBox 42"/>
          <p:cNvSpPr txBox="1"/>
          <p:nvPr/>
        </p:nvSpPr>
        <p:spPr>
          <a:xfrm>
            <a:off x="5532120" y="4114800"/>
            <a:ext cx="2011680" cy="384048"/>
          </a:xfrm>
          <a:prstGeom prst="rect">
            <a:avLst/>
          </a:prstGeom>
          <a:noFill/>
        </p:spPr>
        <p:txBody>
          <a:bodyPr wrap="square" anchor="ctr" lIns="0" rIns="0" tIns="0" bIns="0">
            <a:spAutoFit/>
          </a:bodyPr>
          <a:lstStyle/>
          <a:p>
            <a:pPr algn="r"/>
            <a:r>
              <a:rPr sz="1150" b="0" i="0">
                <a:solidFill>
                  <a:srgbClr val="262626"/>
                </a:solidFill>
                <a:latin typeface="Calibri"/>
              </a:rPr>
              <a:t>$44.4B</a:t>
            </a:r>
          </a:p>
        </p:txBody>
      </p:sp>
      <p:sp>
        <p:nvSpPr>
          <p:cNvPr id="44" name="TextBox 43"/>
          <p:cNvSpPr txBox="1"/>
          <p:nvPr/>
        </p:nvSpPr>
        <p:spPr>
          <a:xfrm>
            <a:off x="7589520" y="4114800"/>
            <a:ext cx="2103120" cy="384048"/>
          </a:xfrm>
          <a:prstGeom prst="rect">
            <a:avLst/>
          </a:prstGeom>
          <a:noFill/>
        </p:spPr>
        <p:txBody>
          <a:bodyPr wrap="square" anchor="ctr" lIns="0" rIns="0" tIns="0" bIns="0">
            <a:spAutoFit/>
          </a:bodyPr>
          <a:lstStyle/>
          <a:p>
            <a:pPr algn="r"/>
            <a:r>
              <a:rPr sz="1150" b="0" i="0">
                <a:solidFill>
                  <a:srgbClr val="262626"/>
                </a:solidFill>
                <a:latin typeface="Calibri"/>
              </a:rPr>
              <a:t>$61.1B</a:t>
            </a:r>
          </a:p>
        </p:txBody>
      </p:sp>
      <p:sp>
        <p:nvSpPr>
          <p:cNvPr id="45" name="TextBox 44"/>
          <p:cNvSpPr txBox="1"/>
          <p:nvPr/>
        </p:nvSpPr>
        <p:spPr>
          <a:xfrm>
            <a:off x="9738360" y="4114800"/>
            <a:ext cx="1920240" cy="384048"/>
          </a:xfrm>
          <a:prstGeom prst="rect">
            <a:avLst/>
          </a:prstGeom>
          <a:noFill/>
        </p:spPr>
        <p:txBody>
          <a:bodyPr wrap="square" anchor="ctr" lIns="0" rIns="0" tIns="0" bIns="0">
            <a:spAutoFit/>
          </a:bodyPr>
          <a:lstStyle/>
          <a:p>
            <a:pPr algn="r"/>
            <a:r>
              <a:rPr sz="1150" b="1" i="0">
                <a:solidFill>
                  <a:srgbClr val="B23330"/>
                </a:solidFill>
                <a:latin typeface="Calibri"/>
              </a:rPr>
              <a:t>−$16.7B</a:t>
            </a:r>
          </a:p>
        </p:txBody>
      </p:sp>
      <p:sp>
        <p:nvSpPr>
          <p:cNvPr id="46" name="Rectangle 45"/>
          <p:cNvSpPr/>
          <p:nvPr/>
        </p:nvSpPr>
        <p:spPr>
          <a:xfrm>
            <a:off x="457200" y="45262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572000"/>
            <a:ext cx="3108960" cy="384048"/>
          </a:xfrm>
          <a:prstGeom prst="rect">
            <a:avLst/>
          </a:prstGeom>
          <a:noFill/>
        </p:spPr>
        <p:txBody>
          <a:bodyPr wrap="square" anchor="ctr" lIns="0" rIns="0" tIns="0" bIns="0">
            <a:spAutoFit/>
          </a:bodyPr>
          <a:lstStyle/>
          <a:p>
            <a:pPr algn="l"/>
            <a:r>
              <a:rPr sz="1150" b="1" i="0">
                <a:solidFill>
                  <a:srgbClr val="262626"/>
                </a:solidFill>
                <a:latin typeface="Calibri"/>
              </a:rPr>
              <a:t>Germany</a:t>
            </a:r>
          </a:p>
        </p:txBody>
      </p:sp>
      <p:sp>
        <p:nvSpPr>
          <p:cNvPr id="48" name="TextBox 47"/>
          <p:cNvSpPr txBox="1"/>
          <p:nvPr/>
        </p:nvSpPr>
        <p:spPr>
          <a:xfrm>
            <a:off x="3657600" y="4572000"/>
            <a:ext cx="1828800" cy="384048"/>
          </a:xfrm>
          <a:prstGeom prst="rect">
            <a:avLst/>
          </a:prstGeom>
          <a:noFill/>
        </p:spPr>
        <p:txBody>
          <a:bodyPr wrap="square" anchor="ctr" lIns="0" rIns="0" tIns="0" bIns="0">
            <a:spAutoFit/>
          </a:bodyPr>
          <a:lstStyle/>
          <a:p>
            <a:pPr algn="r"/>
            <a:r>
              <a:rPr sz="1150" b="0" i="0">
                <a:solidFill>
                  <a:srgbClr val="262626"/>
                </a:solidFill>
                <a:latin typeface="Calibri"/>
              </a:rPr>
              <a:t>$5,014.0B</a:t>
            </a:r>
          </a:p>
        </p:txBody>
      </p:sp>
      <p:sp>
        <p:nvSpPr>
          <p:cNvPr id="49" name="TextBox 48"/>
          <p:cNvSpPr txBox="1"/>
          <p:nvPr/>
        </p:nvSpPr>
        <p:spPr>
          <a:xfrm>
            <a:off x="5532120" y="4572000"/>
            <a:ext cx="2011680" cy="384048"/>
          </a:xfrm>
          <a:prstGeom prst="rect">
            <a:avLst/>
          </a:prstGeom>
          <a:noFill/>
        </p:spPr>
        <p:txBody>
          <a:bodyPr wrap="square" anchor="ctr" lIns="0" rIns="0" tIns="0" bIns="0">
            <a:spAutoFit/>
          </a:bodyPr>
          <a:lstStyle/>
          <a:p>
            <a:pPr algn="r"/>
            <a:r>
              <a:rPr sz="1150" b="0" i="0">
                <a:solidFill>
                  <a:srgbClr val="262626"/>
                </a:solidFill>
                <a:latin typeface="Calibri"/>
              </a:rPr>
              <a:t>$82.7B</a:t>
            </a:r>
          </a:p>
        </p:txBody>
      </p:sp>
      <p:sp>
        <p:nvSpPr>
          <p:cNvPr id="50" name="TextBox 49"/>
          <p:cNvSpPr txBox="1"/>
          <p:nvPr/>
        </p:nvSpPr>
        <p:spPr>
          <a:xfrm>
            <a:off x="7589520" y="4572000"/>
            <a:ext cx="2103120" cy="384048"/>
          </a:xfrm>
          <a:prstGeom prst="rect">
            <a:avLst/>
          </a:prstGeom>
          <a:noFill/>
        </p:spPr>
        <p:txBody>
          <a:bodyPr wrap="square" anchor="ctr" lIns="0" rIns="0" tIns="0" bIns="0">
            <a:spAutoFit/>
          </a:bodyPr>
          <a:lstStyle/>
          <a:p>
            <a:pPr algn="r"/>
            <a:r>
              <a:rPr sz="1150" b="0" i="0">
                <a:solidFill>
                  <a:srgbClr val="262626"/>
                </a:solidFill>
                <a:latin typeface="Calibri"/>
              </a:rPr>
              <a:t>$159.0B</a:t>
            </a:r>
          </a:p>
        </p:txBody>
      </p:sp>
      <p:sp>
        <p:nvSpPr>
          <p:cNvPr id="51" name="TextBox 50"/>
          <p:cNvSpPr txBox="1"/>
          <p:nvPr/>
        </p:nvSpPr>
        <p:spPr>
          <a:xfrm>
            <a:off x="9738360" y="4572000"/>
            <a:ext cx="1920240" cy="384048"/>
          </a:xfrm>
          <a:prstGeom prst="rect">
            <a:avLst/>
          </a:prstGeom>
          <a:noFill/>
        </p:spPr>
        <p:txBody>
          <a:bodyPr wrap="square" anchor="ctr" lIns="0" rIns="0" tIns="0" bIns="0">
            <a:spAutoFit/>
          </a:bodyPr>
          <a:lstStyle/>
          <a:p>
            <a:pPr algn="r"/>
            <a:r>
              <a:rPr sz="1150" b="1" i="0">
                <a:solidFill>
                  <a:srgbClr val="B23330"/>
                </a:solidFill>
                <a:latin typeface="Calibri"/>
              </a:rPr>
              <a:t>−$76.3B</a:t>
            </a:r>
          </a:p>
        </p:txBody>
      </p:sp>
      <p:sp>
        <p:nvSpPr>
          <p:cNvPr id="52" name="TextBox 51"/>
          <p:cNvSpPr txBox="1"/>
          <p:nvPr/>
        </p:nvSpPr>
        <p:spPr>
          <a:xfrm>
            <a:off x="548640" y="5029200"/>
            <a:ext cx="3108960" cy="384048"/>
          </a:xfrm>
          <a:prstGeom prst="rect">
            <a:avLst/>
          </a:prstGeom>
          <a:noFill/>
        </p:spPr>
        <p:txBody>
          <a:bodyPr wrap="square" anchor="ctr" lIns="0" rIns="0" tIns="0" bIns="0">
            <a:spAutoFit/>
          </a:bodyPr>
          <a:lstStyle/>
          <a:p>
            <a:pPr algn="l"/>
            <a:r>
              <a:rPr sz="1150" b="1" i="0">
                <a:solidFill>
                  <a:srgbClr val="262626"/>
                </a:solidFill>
                <a:latin typeface="Calibri"/>
              </a:rPr>
              <a:t>India</a:t>
            </a:r>
          </a:p>
        </p:txBody>
      </p:sp>
      <p:sp>
        <p:nvSpPr>
          <p:cNvPr id="53" name="TextBox 52"/>
          <p:cNvSpPr txBox="1"/>
          <p:nvPr/>
        </p:nvSpPr>
        <p:spPr>
          <a:xfrm>
            <a:off x="3657600" y="5029200"/>
            <a:ext cx="1828800" cy="384048"/>
          </a:xfrm>
          <a:prstGeom prst="rect">
            <a:avLst/>
          </a:prstGeom>
          <a:noFill/>
        </p:spPr>
        <p:txBody>
          <a:bodyPr wrap="square" anchor="ctr" lIns="0" rIns="0" tIns="0" bIns="0">
            <a:spAutoFit/>
          </a:bodyPr>
          <a:lstStyle/>
          <a:p>
            <a:pPr algn="r"/>
            <a:r>
              <a:rPr sz="1150" b="0" i="0">
                <a:solidFill>
                  <a:srgbClr val="262626"/>
                </a:solidFill>
                <a:latin typeface="Calibri"/>
              </a:rPr>
              <a:t>$4,125.0B</a:t>
            </a:r>
          </a:p>
        </p:txBody>
      </p:sp>
      <p:sp>
        <p:nvSpPr>
          <p:cNvPr id="54" name="TextBox 53"/>
          <p:cNvSpPr txBox="1"/>
          <p:nvPr/>
        </p:nvSpPr>
        <p:spPr>
          <a:xfrm>
            <a:off x="5532120" y="5029200"/>
            <a:ext cx="2011680" cy="384048"/>
          </a:xfrm>
          <a:prstGeom prst="rect">
            <a:avLst/>
          </a:prstGeom>
          <a:noFill/>
        </p:spPr>
        <p:txBody>
          <a:bodyPr wrap="square" anchor="ctr" lIns="0" rIns="0" tIns="0" bIns="0">
            <a:spAutoFit/>
          </a:bodyPr>
          <a:lstStyle/>
          <a:p>
            <a:pPr algn="r"/>
            <a:r>
              <a:rPr sz="1150" b="0" i="0">
                <a:solidFill>
                  <a:srgbClr val="262626"/>
                </a:solidFill>
                <a:latin typeface="Calibri"/>
              </a:rPr>
              <a:t>$45.6B</a:t>
            </a:r>
          </a:p>
        </p:txBody>
      </p:sp>
      <p:sp>
        <p:nvSpPr>
          <p:cNvPr id="55" name="TextBox 54"/>
          <p:cNvSpPr txBox="1"/>
          <p:nvPr/>
        </p:nvSpPr>
        <p:spPr>
          <a:xfrm>
            <a:off x="7589520" y="5029200"/>
            <a:ext cx="2103120" cy="384048"/>
          </a:xfrm>
          <a:prstGeom prst="rect">
            <a:avLst/>
          </a:prstGeom>
          <a:noFill/>
        </p:spPr>
        <p:txBody>
          <a:bodyPr wrap="square" anchor="ctr" lIns="0" rIns="0" tIns="0" bIns="0">
            <a:spAutoFit/>
          </a:bodyPr>
          <a:lstStyle/>
          <a:p>
            <a:pPr algn="r"/>
            <a:r>
              <a:rPr sz="1150" b="0" i="0">
                <a:solidFill>
                  <a:srgbClr val="262626"/>
                </a:solidFill>
                <a:latin typeface="Calibri"/>
              </a:rPr>
              <a:t>$103.8B</a:t>
            </a:r>
          </a:p>
        </p:txBody>
      </p:sp>
      <p:sp>
        <p:nvSpPr>
          <p:cNvPr id="56" name="TextBox 55"/>
          <p:cNvSpPr txBox="1"/>
          <p:nvPr/>
        </p:nvSpPr>
        <p:spPr>
          <a:xfrm>
            <a:off x="9738360" y="5029200"/>
            <a:ext cx="1920240" cy="384048"/>
          </a:xfrm>
          <a:prstGeom prst="rect">
            <a:avLst/>
          </a:prstGeom>
          <a:noFill/>
        </p:spPr>
        <p:txBody>
          <a:bodyPr wrap="square" anchor="ctr" lIns="0" rIns="0" tIns="0" bIns="0">
            <a:spAutoFit/>
          </a:bodyPr>
          <a:lstStyle/>
          <a:p>
            <a:pPr algn="r"/>
            <a:r>
              <a:rPr sz="1150" b="1" i="0">
                <a:solidFill>
                  <a:srgbClr val="B23330"/>
                </a:solidFill>
                <a:latin typeface="Calibri"/>
              </a:rPr>
              <a:t>−$58.2B</a:t>
            </a:r>
          </a:p>
        </p:txBody>
      </p:sp>
      <p:sp>
        <p:nvSpPr>
          <p:cNvPr id="57" name="Rectangle 56"/>
          <p:cNvSpPr/>
          <p:nvPr/>
        </p:nvSpPr>
        <p:spPr>
          <a:xfrm>
            <a:off x="457200" y="54406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8640" y="5486400"/>
            <a:ext cx="3108960" cy="384048"/>
          </a:xfrm>
          <a:prstGeom prst="rect">
            <a:avLst/>
          </a:prstGeom>
          <a:noFill/>
        </p:spPr>
        <p:txBody>
          <a:bodyPr wrap="square" anchor="ctr" lIns="0" rIns="0" tIns="0" bIns="0">
            <a:spAutoFit/>
          </a:bodyPr>
          <a:lstStyle/>
          <a:p>
            <a:pPr algn="l"/>
            <a:r>
              <a:rPr sz="1150" b="1" i="0">
                <a:solidFill>
                  <a:srgbClr val="262626"/>
                </a:solidFill>
                <a:latin typeface="Calibri"/>
              </a:rPr>
              <a:t>Indonesia</a:t>
            </a:r>
          </a:p>
        </p:txBody>
      </p:sp>
      <p:sp>
        <p:nvSpPr>
          <p:cNvPr id="59" name="TextBox 58"/>
          <p:cNvSpPr txBox="1"/>
          <p:nvPr/>
        </p:nvSpPr>
        <p:spPr>
          <a:xfrm>
            <a:off x="3657600" y="54864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$1,443.0B</a:t>
            </a:r>
          </a:p>
        </p:txBody>
      </p:sp>
      <p:sp>
        <p:nvSpPr>
          <p:cNvPr id="60" name="TextBox 59"/>
          <p:cNvSpPr txBox="1"/>
          <p:nvPr/>
        </p:nvSpPr>
        <p:spPr>
          <a:xfrm>
            <a:off x="5532120" y="5486400"/>
            <a:ext cx="2011680" cy="384048"/>
          </a:xfrm>
          <a:prstGeom prst="rect">
            <a:avLst/>
          </a:prstGeom>
          <a:noFill/>
        </p:spPr>
        <p:txBody>
          <a:bodyPr wrap="square" anchor="ctr" lIns="0" rIns="0" tIns="0" bIns="0">
            <a:spAutoFit/>
          </a:bodyPr>
          <a:lstStyle/>
          <a:p>
            <a:pPr algn="r"/>
            <a:r>
              <a:rPr sz="1150" b="0" i="0">
                <a:solidFill>
                  <a:srgbClr val="262626"/>
                </a:solidFill>
                <a:latin typeface="Calibri"/>
              </a:rPr>
              <a:t>$11.0B</a:t>
            </a:r>
          </a:p>
        </p:txBody>
      </p:sp>
      <p:sp>
        <p:nvSpPr>
          <p:cNvPr id="61" name="TextBox 60"/>
          <p:cNvSpPr txBox="1"/>
          <p:nvPr/>
        </p:nvSpPr>
        <p:spPr>
          <a:xfrm>
            <a:off x="7589520" y="5486400"/>
            <a:ext cx="2103120" cy="384048"/>
          </a:xfrm>
          <a:prstGeom prst="rect">
            <a:avLst/>
          </a:prstGeom>
          <a:noFill/>
        </p:spPr>
        <p:txBody>
          <a:bodyPr wrap="square" anchor="ctr" lIns="0" rIns="0" tIns="0" bIns="0">
            <a:spAutoFit/>
          </a:bodyPr>
          <a:lstStyle/>
          <a:p>
            <a:pPr algn="r"/>
            <a:r>
              <a:rPr sz="1150" b="0" i="0">
                <a:solidFill>
                  <a:srgbClr val="262626"/>
                </a:solidFill>
                <a:latin typeface="Calibri"/>
              </a:rPr>
              <a:t>$34.7B</a:t>
            </a:r>
          </a:p>
        </p:txBody>
      </p:sp>
      <p:sp>
        <p:nvSpPr>
          <p:cNvPr id="62" name="TextBox 61"/>
          <p:cNvSpPr txBox="1"/>
          <p:nvPr/>
        </p:nvSpPr>
        <p:spPr>
          <a:xfrm>
            <a:off x="9738360" y="5486400"/>
            <a:ext cx="1920240" cy="384048"/>
          </a:xfrm>
          <a:prstGeom prst="rect">
            <a:avLst/>
          </a:prstGeom>
          <a:noFill/>
        </p:spPr>
        <p:txBody>
          <a:bodyPr wrap="square" anchor="ctr" lIns="0" rIns="0" tIns="0" bIns="0">
            <a:spAutoFit/>
          </a:bodyPr>
          <a:lstStyle/>
          <a:p>
            <a:pPr algn="r"/>
            <a:r>
              <a:rPr sz="1150" b="1" i="0">
                <a:solidFill>
                  <a:srgbClr val="B23330"/>
                </a:solidFill>
                <a:latin typeface="Calibri"/>
              </a:rPr>
              <a:t>−$23.7B</a:t>
            </a:r>
          </a:p>
        </p:txBody>
      </p:sp>
      <p:sp>
        <p:nvSpPr>
          <p:cNvPr id="63" name="TextBox 62"/>
          <p:cNvSpPr txBox="1"/>
          <p:nvPr/>
        </p:nvSpPr>
        <p:spPr>
          <a:xfrm>
            <a:off x="548640" y="5943600"/>
            <a:ext cx="3108960" cy="384048"/>
          </a:xfrm>
          <a:prstGeom prst="rect">
            <a:avLst/>
          </a:prstGeom>
          <a:noFill/>
        </p:spPr>
        <p:txBody>
          <a:bodyPr wrap="square" anchor="ctr" lIns="0" rIns="0" tIns="0" bIns="0">
            <a:spAutoFit/>
          </a:bodyPr>
          <a:lstStyle/>
          <a:p>
            <a:pPr algn="l"/>
            <a:r>
              <a:rPr sz="1150" b="1" i="0">
                <a:solidFill>
                  <a:srgbClr val="262626"/>
                </a:solidFill>
                <a:latin typeface="Calibri"/>
              </a:rPr>
              <a:t>Italy</a:t>
            </a:r>
          </a:p>
        </p:txBody>
      </p:sp>
      <p:sp>
        <p:nvSpPr>
          <p:cNvPr id="64" name="TextBox 63"/>
          <p:cNvSpPr txBox="1"/>
          <p:nvPr/>
        </p:nvSpPr>
        <p:spPr>
          <a:xfrm>
            <a:off x="3657600" y="5943600"/>
            <a:ext cx="1828800" cy="384048"/>
          </a:xfrm>
          <a:prstGeom prst="rect">
            <a:avLst/>
          </a:prstGeom>
          <a:noFill/>
        </p:spPr>
        <p:txBody>
          <a:bodyPr wrap="square" anchor="ctr" lIns="0" rIns="0" tIns="0" bIns="0">
            <a:spAutoFit/>
          </a:bodyPr>
          <a:lstStyle/>
          <a:p>
            <a:pPr algn="r"/>
            <a:r>
              <a:rPr sz="1150" b="0" i="0">
                <a:solidFill>
                  <a:srgbClr val="262626"/>
                </a:solidFill>
                <a:latin typeface="Calibri"/>
              </a:rPr>
              <a:t>$2,544.0B</a:t>
            </a:r>
          </a:p>
        </p:txBody>
      </p:sp>
      <p:sp>
        <p:nvSpPr>
          <p:cNvPr id="65" name="TextBox 64"/>
          <p:cNvSpPr txBox="1"/>
          <p:nvPr/>
        </p:nvSpPr>
        <p:spPr>
          <a:xfrm>
            <a:off x="5532120" y="5943600"/>
            <a:ext cx="2011680" cy="384048"/>
          </a:xfrm>
          <a:prstGeom prst="rect">
            <a:avLst/>
          </a:prstGeom>
          <a:noFill/>
        </p:spPr>
        <p:txBody>
          <a:bodyPr wrap="square" anchor="ctr" lIns="0" rIns="0" tIns="0" bIns="0">
            <a:spAutoFit/>
          </a:bodyPr>
          <a:lstStyle/>
          <a:p>
            <a:pPr algn="r"/>
            <a:r>
              <a:rPr sz="1150" b="0" i="0">
                <a:solidFill>
                  <a:srgbClr val="262626"/>
                </a:solidFill>
                <a:latin typeface="Calibri"/>
              </a:rPr>
              <a:t>$43.7B</a:t>
            </a:r>
          </a:p>
        </p:txBody>
      </p:sp>
      <p:sp>
        <p:nvSpPr>
          <p:cNvPr id="66" name="TextBox 65"/>
          <p:cNvSpPr txBox="1"/>
          <p:nvPr/>
        </p:nvSpPr>
        <p:spPr>
          <a:xfrm>
            <a:off x="7589520" y="5943600"/>
            <a:ext cx="2103120" cy="384048"/>
          </a:xfrm>
          <a:prstGeom prst="rect">
            <a:avLst/>
          </a:prstGeom>
          <a:noFill/>
        </p:spPr>
        <p:txBody>
          <a:bodyPr wrap="square" anchor="ctr" lIns="0" rIns="0" tIns="0" bIns="0">
            <a:spAutoFit/>
          </a:bodyPr>
          <a:lstStyle/>
          <a:p>
            <a:pPr algn="r"/>
            <a:r>
              <a:rPr sz="1150" b="0" i="0">
                <a:solidFill>
                  <a:srgbClr val="262626"/>
                </a:solidFill>
                <a:latin typeface="Calibri"/>
              </a:rPr>
              <a:t>$78.7B</a:t>
            </a:r>
          </a:p>
        </p:txBody>
      </p:sp>
      <p:sp>
        <p:nvSpPr>
          <p:cNvPr id="67" name="TextBox 66"/>
          <p:cNvSpPr txBox="1"/>
          <p:nvPr/>
        </p:nvSpPr>
        <p:spPr>
          <a:xfrm>
            <a:off x="9738360" y="5943600"/>
            <a:ext cx="1920240" cy="384048"/>
          </a:xfrm>
          <a:prstGeom prst="rect">
            <a:avLst/>
          </a:prstGeom>
          <a:noFill/>
        </p:spPr>
        <p:txBody>
          <a:bodyPr wrap="square" anchor="ctr" lIns="0" rIns="0" tIns="0" bIns="0">
            <a:spAutoFit/>
          </a:bodyPr>
          <a:lstStyle/>
          <a:p>
            <a:pPr algn="r"/>
            <a:r>
              <a:rPr sz="1150" b="1" i="0">
                <a:solidFill>
                  <a:srgbClr val="B23330"/>
                </a:solidFill>
                <a:latin typeface="Calibri"/>
              </a:rPr>
              <a:t>−$35.0B</a:t>
            </a:r>
          </a:p>
        </p:txBody>
      </p:sp>
      <p:cxnSp>
        <p:nvCxnSpPr>
          <p:cNvPr id="68" name="Connector 67"/>
          <p:cNvCxnSpPr/>
          <p:nvPr/>
        </p:nvCxnSpPr>
        <p:spPr>
          <a:xfrm>
            <a:off x="457200" y="6400800"/>
            <a:ext cx="1127455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57200" y="6455664"/>
            <a:ext cx="11274552" cy="310896"/>
          </a:xfrm>
          <a:prstGeom prst="rect">
            <a:avLst/>
          </a:prstGeom>
          <a:noFill/>
        </p:spPr>
        <p:txBody>
          <a:bodyPr wrap="square" anchor="t" lIns="0" rIns="0" tIns="0" bIns="0">
            <a:spAutoFit/>
          </a:bodyPr>
          <a:lstStyle/>
          <a:p>
            <a:r>
              <a:rPr sz="900" b="0" i="1">
                <a:solidFill>
                  <a:srgbClr val="7F7F7F"/>
                </a:solidFill>
                <a:latin typeface="Calibri"/>
              </a:rPr>
              <a:t>Negative U.S. bilateral balance = U.S. goods deficit (red); positive = U.S. surplus (green). United States shown as N/A for bilateral columns.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54864"/>
          </a:xfrm>
          <a:prstGeom prst="rect">
            <a:avLst/>
          </a:prstGeom>
          <a:solidFill>
            <a:srgbClr val="2E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1091672" cy="658368"/>
          </a:xfrm>
          <a:prstGeom prst="rect">
            <a:avLst/>
          </a:prstGeom>
          <a:noFill/>
        </p:spPr>
        <p:txBody>
          <a:bodyPr wrap="square" anchor="ctr" lIns="0" rIns="0" tIns="0" bIns="0">
            <a:spAutoFit/>
          </a:bodyPr>
          <a:lstStyle/>
          <a:p>
            <a:r>
              <a:rPr sz="2400" b="1" i="0">
                <a:solidFill>
                  <a:srgbClr val="FFFFFF"/>
                </a:solidFill>
                <a:latin typeface="Calibri"/>
              </a:rPr>
              <a:t>Summary — GDP &amp; U.S. Bilateral Goods Trade</a:t>
            </a:r>
          </a:p>
        </p:txBody>
      </p:sp>
      <p:sp>
        <p:nvSpPr>
          <p:cNvPr id="6" name="TextBox 5"/>
          <p:cNvSpPr txBox="1"/>
          <p:nvPr/>
        </p:nvSpPr>
        <p:spPr>
          <a:xfrm>
            <a:off x="548640" y="603504"/>
            <a:ext cx="11091672" cy="274320"/>
          </a:xfrm>
          <a:prstGeom prst="rect">
            <a:avLst/>
          </a:prstGeom>
          <a:noFill/>
        </p:spPr>
        <p:txBody>
          <a:bodyPr wrap="square" anchor="t" lIns="0" rIns="0" tIns="0" bIns="0">
            <a:spAutoFit/>
          </a:bodyPr>
          <a:lstStyle/>
          <a:p>
            <a:r>
              <a:rPr sz="1100" b="0" i="0">
                <a:solidFill>
                  <a:srgbClr val="B9C5DC"/>
                </a:solidFill>
                <a:latin typeface="Calibri"/>
              </a:rPr>
              <a:t>USD billions · GDP 2025 · trade 2025 (goods) · part 2 of 2</a:t>
            </a:r>
          </a:p>
        </p:txBody>
      </p:sp>
      <p:sp>
        <p:nvSpPr>
          <p:cNvPr id="7" name="Rectangle 6"/>
          <p:cNvSpPr/>
          <p:nvPr/>
        </p:nvSpPr>
        <p:spPr>
          <a:xfrm>
            <a:off x="457200" y="1325880"/>
            <a:ext cx="11274552"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80744"/>
            <a:ext cx="3108960" cy="365760"/>
          </a:xfrm>
          <a:prstGeom prst="rect">
            <a:avLst/>
          </a:prstGeom>
          <a:noFill/>
        </p:spPr>
        <p:txBody>
          <a:bodyPr wrap="square" anchor="ctr" lIns="0" rIns="0" tIns="0" bIns="0">
            <a:spAutoFit/>
          </a:bodyPr>
          <a:lstStyle/>
          <a:p>
            <a:pPr algn="l"/>
            <a:r>
              <a:rPr sz="1150" b="1" i="0">
                <a:solidFill>
                  <a:srgbClr val="FFFFFF"/>
                </a:solidFill>
                <a:latin typeface="Calibri"/>
              </a:rPr>
              <a:t>Country</a:t>
            </a:r>
          </a:p>
        </p:txBody>
      </p:sp>
      <p:sp>
        <p:nvSpPr>
          <p:cNvPr id="9" name="TextBox 8"/>
          <p:cNvSpPr txBox="1"/>
          <p:nvPr/>
        </p:nvSpPr>
        <p:spPr>
          <a:xfrm>
            <a:off x="3657600" y="1380744"/>
            <a:ext cx="1828800" cy="365760"/>
          </a:xfrm>
          <a:prstGeom prst="rect">
            <a:avLst/>
          </a:prstGeom>
          <a:noFill/>
        </p:spPr>
        <p:txBody>
          <a:bodyPr wrap="square" anchor="ctr" lIns="0" rIns="0" tIns="0" bIns="0">
            <a:spAutoFit/>
          </a:bodyPr>
          <a:lstStyle/>
          <a:p>
            <a:pPr algn="r"/>
            <a:r>
              <a:rPr sz="1150" b="1" i="0">
                <a:solidFill>
                  <a:srgbClr val="FFFFFF"/>
                </a:solidFill>
                <a:latin typeface="Calibri"/>
              </a:rPr>
              <a:t>GDP (2025)</a:t>
            </a:r>
          </a:p>
        </p:txBody>
      </p:sp>
      <p:sp>
        <p:nvSpPr>
          <p:cNvPr id="10" name="TextBox 9"/>
          <p:cNvSpPr txBox="1"/>
          <p:nvPr/>
        </p:nvSpPr>
        <p:spPr>
          <a:xfrm>
            <a:off x="5532120" y="1380744"/>
            <a:ext cx="2011680" cy="365760"/>
          </a:xfrm>
          <a:prstGeom prst="rect">
            <a:avLst/>
          </a:prstGeom>
          <a:noFill/>
        </p:spPr>
        <p:txBody>
          <a:bodyPr wrap="square" anchor="ctr" lIns="0" rIns="0" tIns="0" bIns="0">
            <a:spAutoFit/>
          </a:bodyPr>
          <a:lstStyle/>
          <a:p>
            <a:pPr algn="r"/>
            <a:r>
              <a:rPr sz="1150" b="1" i="0">
                <a:solidFill>
                  <a:srgbClr val="FFFFFF"/>
                </a:solidFill>
                <a:latin typeface="Calibri"/>
              </a:rPr>
              <a:t>U.S. exports to</a:t>
            </a:r>
          </a:p>
        </p:txBody>
      </p:sp>
      <p:sp>
        <p:nvSpPr>
          <p:cNvPr id="11" name="TextBox 10"/>
          <p:cNvSpPr txBox="1"/>
          <p:nvPr/>
        </p:nvSpPr>
        <p:spPr>
          <a:xfrm>
            <a:off x="7589520" y="1380744"/>
            <a:ext cx="2103120" cy="365760"/>
          </a:xfrm>
          <a:prstGeom prst="rect">
            <a:avLst/>
          </a:prstGeom>
          <a:noFill/>
        </p:spPr>
        <p:txBody>
          <a:bodyPr wrap="square" anchor="ctr" lIns="0" rIns="0" tIns="0" bIns="0">
            <a:spAutoFit/>
          </a:bodyPr>
          <a:lstStyle/>
          <a:p>
            <a:pPr algn="r"/>
            <a:r>
              <a:rPr sz="1150" b="1" i="0">
                <a:solidFill>
                  <a:srgbClr val="FFFFFF"/>
                </a:solidFill>
                <a:latin typeface="Calibri"/>
              </a:rPr>
              <a:t>U.S. imports from</a:t>
            </a:r>
          </a:p>
        </p:txBody>
      </p:sp>
      <p:sp>
        <p:nvSpPr>
          <p:cNvPr id="12" name="TextBox 11"/>
          <p:cNvSpPr txBox="1"/>
          <p:nvPr/>
        </p:nvSpPr>
        <p:spPr>
          <a:xfrm>
            <a:off x="9738360" y="1380744"/>
            <a:ext cx="1920240" cy="365760"/>
          </a:xfrm>
          <a:prstGeom prst="rect">
            <a:avLst/>
          </a:prstGeom>
          <a:noFill/>
        </p:spPr>
        <p:txBody>
          <a:bodyPr wrap="square" anchor="ctr" lIns="0" rIns="0" tIns="0" bIns="0">
            <a:spAutoFit/>
          </a:bodyPr>
          <a:lstStyle/>
          <a:p>
            <a:pPr algn="r"/>
            <a:r>
              <a:rPr sz="1150" b="1" i="0">
                <a:solidFill>
                  <a:srgbClr val="FFFFFF"/>
                </a:solidFill>
                <a:latin typeface="Calibri"/>
              </a:rPr>
              <a:t>U.S. bilateral balance</a:t>
            </a:r>
          </a:p>
        </p:txBody>
      </p:sp>
      <p:sp>
        <p:nvSpPr>
          <p:cNvPr id="13" name="Rectangle 12"/>
          <p:cNvSpPr/>
          <p:nvPr/>
        </p:nvSpPr>
        <p:spPr>
          <a:xfrm>
            <a:off x="457200" y="17830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828800"/>
            <a:ext cx="3108960" cy="384048"/>
          </a:xfrm>
          <a:prstGeom prst="rect">
            <a:avLst/>
          </a:prstGeom>
          <a:noFill/>
        </p:spPr>
        <p:txBody>
          <a:bodyPr wrap="square" anchor="ctr" lIns="0" rIns="0" tIns="0" bIns="0">
            <a:spAutoFit/>
          </a:bodyPr>
          <a:lstStyle/>
          <a:p>
            <a:pPr algn="l"/>
            <a:r>
              <a:rPr sz="1150" b="1" i="0">
                <a:solidFill>
                  <a:srgbClr val="262626"/>
                </a:solidFill>
                <a:latin typeface="Calibri"/>
              </a:rPr>
              <a:t>Japan</a:t>
            </a:r>
          </a:p>
        </p:txBody>
      </p:sp>
      <p:sp>
        <p:nvSpPr>
          <p:cNvPr id="15" name="TextBox 14"/>
          <p:cNvSpPr txBox="1"/>
          <p:nvPr/>
        </p:nvSpPr>
        <p:spPr>
          <a:xfrm>
            <a:off x="3657600" y="1828800"/>
            <a:ext cx="1828800" cy="384048"/>
          </a:xfrm>
          <a:prstGeom prst="rect">
            <a:avLst/>
          </a:prstGeom>
          <a:noFill/>
        </p:spPr>
        <p:txBody>
          <a:bodyPr wrap="square" anchor="ctr" lIns="0" rIns="0" tIns="0" bIns="0">
            <a:spAutoFit/>
          </a:bodyPr>
          <a:lstStyle/>
          <a:p>
            <a:pPr algn="r"/>
            <a:r>
              <a:rPr sz="1150" b="0" i="0">
                <a:solidFill>
                  <a:srgbClr val="262626"/>
                </a:solidFill>
                <a:latin typeface="Calibri"/>
              </a:rPr>
              <a:t>$4,280.0B</a:t>
            </a:r>
          </a:p>
        </p:txBody>
      </p:sp>
      <p:sp>
        <p:nvSpPr>
          <p:cNvPr id="16" name="TextBox 15"/>
          <p:cNvSpPr txBox="1"/>
          <p:nvPr/>
        </p:nvSpPr>
        <p:spPr>
          <a:xfrm>
            <a:off x="5532120" y="1828800"/>
            <a:ext cx="2011680" cy="384048"/>
          </a:xfrm>
          <a:prstGeom prst="rect">
            <a:avLst/>
          </a:prstGeom>
          <a:noFill/>
        </p:spPr>
        <p:txBody>
          <a:bodyPr wrap="square" anchor="ctr" lIns="0" rIns="0" tIns="0" bIns="0">
            <a:spAutoFit/>
          </a:bodyPr>
          <a:lstStyle/>
          <a:p>
            <a:pPr algn="r"/>
            <a:r>
              <a:rPr sz="1150" b="0" i="0">
                <a:solidFill>
                  <a:srgbClr val="262626"/>
                </a:solidFill>
                <a:latin typeface="Calibri"/>
              </a:rPr>
              <a:t>$82.1B</a:t>
            </a:r>
          </a:p>
        </p:txBody>
      </p:sp>
      <p:sp>
        <p:nvSpPr>
          <p:cNvPr id="17" name="TextBox 16"/>
          <p:cNvSpPr txBox="1"/>
          <p:nvPr/>
        </p:nvSpPr>
        <p:spPr>
          <a:xfrm>
            <a:off x="7589520" y="1828800"/>
            <a:ext cx="2103120" cy="384048"/>
          </a:xfrm>
          <a:prstGeom prst="rect">
            <a:avLst/>
          </a:prstGeom>
          <a:noFill/>
        </p:spPr>
        <p:txBody>
          <a:bodyPr wrap="square" anchor="ctr" lIns="0" rIns="0" tIns="0" bIns="0">
            <a:spAutoFit/>
          </a:bodyPr>
          <a:lstStyle/>
          <a:p>
            <a:pPr algn="r"/>
            <a:r>
              <a:rPr sz="1150" b="0" i="0">
                <a:solidFill>
                  <a:srgbClr val="262626"/>
                </a:solidFill>
                <a:latin typeface="Calibri"/>
              </a:rPr>
              <a:t>$146.0B</a:t>
            </a:r>
          </a:p>
        </p:txBody>
      </p:sp>
      <p:sp>
        <p:nvSpPr>
          <p:cNvPr id="18" name="TextBox 17"/>
          <p:cNvSpPr txBox="1"/>
          <p:nvPr/>
        </p:nvSpPr>
        <p:spPr>
          <a:xfrm>
            <a:off x="9738360" y="1828800"/>
            <a:ext cx="1920240" cy="384048"/>
          </a:xfrm>
          <a:prstGeom prst="rect">
            <a:avLst/>
          </a:prstGeom>
          <a:noFill/>
        </p:spPr>
        <p:txBody>
          <a:bodyPr wrap="square" anchor="ctr" lIns="0" rIns="0" tIns="0" bIns="0">
            <a:spAutoFit/>
          </a:bodyPr>
          <a:lstStyle/>
          <a:p>
            <a:pPr algn="r"/>
            <a:r>
              <a:rPr sz="1150" b="1" i="0">
                <a:solidFill>
                  <a:srgbClr val="B23330"/>
                </a:solidFill>
                <a:latin typeface="Calibri"/>
              </a:rPr>
              <a:t>−$63.9B</a:t>
            </a:r>
          </a:p>
        </p:txBody>
      </p:sp>
      <p:sp>
        <p:nvSpPr>
          <p:cNvPr id="19" name="TextBox 18"/>
          <p:cNvSpPr txBox="1"/>
          <p:nvPr/>
        </p:nvSpPr>
        <p:spPr>
          <a:xfrm>
            <a:off x="548640" y="2286000"/>
            <a:ext cx="3108960" cy="384048"/>
          </a:xfrm>
          <a:prstGeom prst="rect">
            <a:avLst/>
          </a:prstGeom>
          <a:noFill/>
        </p:spPr>
        <p:txBody>
          <a:bodyPr wrap="square" anchor="ctr" lIns="0" rIns="0" tIns="0" bIns="0">
            <a:spAutoFit/>
          </a:bodyPr>
          <a:lstStyle/>
          <a:p>
            <a:pPr algn="l"/>
            <a:r>
              <a:rPr sz="1150" b="1" i="0">
                <a:solidFill>
                  <a:srgbClr val="262626"/>
                </a:solidFill>
                <a:latin typeface="Calibri"/>
              </a:rPr>
              <a:t>Mexico</a:t>
            </a:r>
          </a:p>
        </p:txBody>
      </p:sp>
      <p:sp>
        <p:nvSpPr>
          <p:cNvPr id="20" name="TextBox 19"/>
          <p:cNvSpPr txBox="1"/>
          <p:nvPr/>
        </p:nvSpPr>
        <p:spPr>
          <a:xfrm>
            <a:off x="3657600" y="22860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$1,830.0B</a:t>
            </a:r>
          </a:p>
        </p:txBody>
      </p:sp>
      <p:sp>
        <p:nvSpPr>
          <p:cNvPr id="21" name="TextBox 20"/>
          <p:cNvSpPr txBox="1"/>
          <p:nvPr/>
        </p:nvSpPr>
        <p:spPr>
          <a:xfrm>
            <a:off x="5532120" y="2286000"/>
            <a:ext cx="2011680" cy="384048"/>
          </a:xfrm>
          <a:prstGeom prst="rect">
            <a:avLst/>
          </a:prstGeom>
          <a:noFill/>
        </p:spPr>
        <p:txBody>
          <a:bodyPr wrap="square" anchor="ctr" lIns="0" rIns="0" tIns="0" bIns="0">
            <a:spAutoFit/>
          </a:bodyPr>
          <a:lstStyle/>
          <a:p>
            <a:pPr algn="r"/>
            <a:r>
              <a:rPr sz="1150" b="0" i="0">
                <a:solidFill>
                  <a:srgbClr val="262626"/>
                </a:solidFill>
                <a:latin typeface="Calibri"/>
              </a:rPr>
              <a:t>$338.0B</a:t>
            </a:r>
          </a:p>
        </p:txBody>
      </p:sp>
      <p:sp>
        <p:nvSpPr>
          <p:cNvPr id="22" name="TextBox 21"/>
          <p:cNvSpPr txBox="1"/>
          <p:nvPr/>
        </p:nvSpPr>
        <p:spPr>
          <a:xfrm>
            <a:off x="7589520" y="2286000"/>
            <a:ext cx="2103120" cy="384048"/>
          </a:xfrm>
          <a:prstGeom prst="rect">
            <a:avLst/>
          </a:prstGeom>
          <a:noFill/>
        </p:spPr>
        <p:txBody>
          <a:bodyPr wrap="square" anchor="ctr" lIns="0" rIns="0" tIns="0" bIns="0">
            <a:spAutoFit/>
          </a:bodyPr>
          <a:lstStyle/>
          <a:p>
            <a:pPr algn="r"/>
            <a:r>
              <a:rPr sz="1150" b="0" i="0">
                <a:solidFill>
                  <a:srgbClr val="262626"/>
                </a:solidFill>
                <a:latin typeface="Calibri"/>
              </a:rPr>
              <a:t>$534.9B</a:t>
            </a:r>
          </a:p>
        </p:txBody>
      </p:sp>
      <p:sp>
        <p:nvSpPr>
          <p:cNvPr id="23" name="TextBox 22"/>
          <p:cNvSpPr txBox="1"/>
          <p:nvPr/>
        </p:nvSpPr>
        <p:spPr>
          <a:xfrm>
            <a:off x="9738360" y="2286000"/>
            <a:ext cx="1920240" cy="384048"/>
          </a:xfrm>
          <a:prstGeom prst="rect">
            <a:avLst/>
          </a:prstGeom>
          <a:noFill/>
        </p:spPr>
        <p:txBody>
          <a:bodyPr wrap="square" anchor="ctr" lIns="0" rIns="0" tIns="0" bIns="0">
            <a:spAutoFit/>
          </a:bodyPr>
          <a:lstStyle/>
          <a:p>
            <a:pPr algn="r"/>
            <a:r>
              <a:rPr sz="1150" b="1" i="0">
                <a:solidFill>
                  <a:srgbClr val="B23330"/>
                </a:solidFill>
                <a:latin typeface="Calibri"/>
              </a:rPr>
              <a:t>−$196.9B</a:t>
            </a:r>
          </a:p>
        </p:txBody>
      </p:sp>
      <p:sp>
        <p:nvSpPr>
          <p:cNvPr id="24" name="Rectangle 23"/>
          <p:cNvSpPr/>
          <p:nvPr/>
        </p:nvSpPr>
        <p:spPr>
          <a:xfrm>
            <a:off x="457200" y="26974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43200"/>
            <a:ext cx="3108960" cy="384048"/>
          </a:xfrm>
          <a:prstGeom prst="rect">
            <a:avLst/>
          </a:prstGeom>
          <a:noFill/>
        </p:spPr>
        <p:txBody>
          <a:bodyPr wrap="square" anchor="ctr" lIns="0" rIns="0" tIns="0" bIns="0">
            <a:spAutoFit/>
          </a:bodyPr>
          <a:lstStyle/>
          <a:p>
            <a:pPr algn="l"/>
            <a:r>
              <a:rPr sz="1150" b="1" i="0">
                <a:solidFill>
                  <a:srgbClr val="262626"/>
                </a:solidFill>
                <a:latin typeface="Calibri"/>
              </a:rPr>
              <a:t>Poland</a:t>
            </a:r>
          </a:p>
        </p:txBody>
      </p:sp>
      <p:sp>
        <p:nvSpPr>
          <p:cNvPr id="26" name="TextBox 25"/>
          <p:cNvSpPr txBox="1"/>
          <p:nvPr/>
        </p:nvSpPr>
        <p:spPr>
          <a:xfrm>
            <a:off x="3657600" y="27432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$1,040.0B</a:t>
            </a:r>
          </a:p>
        </p:txBody>
      </p:sp>
      <p:sp>
        <p:nvSpPr>
          <p:cNvPr id="27" name="TextBox 26"/>
          <p:cNvSpPr txBox="1"/>
          <p:nvPr/>
        </p:nvSpPr>
        <p:spPr>
          <a:xfrm>
            <a:off x="5532120" y="2743200"/>
            <a:ext cx="2011680" cy="384048"/>
          </a:xfrm>
          <a:prstGeom prst="rect">
            <a:avLst/>
          </a:prstGeom>
          <a:noFill/>
        </p:spPr>
        <p:txBody>
          <a:bodyPr wrap="square" anchor="ctr" lIns="0" rIns="0" tIns="0" bIns="0">
            <a:spAutoFit/>
          </a:bodyPr>
          <a:lstStyle/>
          <a:p>
            <a:pPr algn="r"/>
            <a:r>
              <a:rPr sz="1150" b="0" i="0">
                <a:solidFill>
                  <a:srgbClr val="262626"/>
                </a:solidFill>
                <a:latin typeface="Calibri"/>
              </a:rPr>
              <a:t>$14.1B</a:t>
            </a:r>
          </a:p>
        </p:txBody>
      </p:sp>
      <p:sp>
        <p:nvSpPr>
          <p:cNvPr id="28" name="TextBox 27"/>
          <p:cNvSpPr txBox="1"/>
          <p:nvPr/>
        </p:nvSpPr>
        <p:spPr>
          <a:xfrm>
            <a:off x="7589520" y="2743200"/>
            <a:ext cx="2103120" cy="384048"/>
          </a:xfrm>
          <a:prstGeom prst="rect">
            <a:avLst/>
          </a:prstGeom>
          <a:noFill/>
        </p:spPr>
        <p:txBody>
          <a:bodyPr wrap="square" anchor="ctr" lIns="0" rIns="0" tIns="0" bIns="0">
            <a:spAutoFit/>
          </a:bodyPr>
          <a:lstStyle/>
          <a:p>
            <a:pPr algn="r"/>
            <a:r>
              <a:rPr sz="1150" b="0" i="0">
                <a:solidFill>
                  <a:srgbClr val="262626"/>
                </a:solidFill>
                <a:latin typeface="Calibri"/>
              </a:rPr>
              <a:t>$14.5B</a:t>
            </a:r>
          </a:p>
        </p:txBody>
      </p:sp>
      <p:sp>
        <p:nvSpPr>
          <p:cNvPr id="29" name="TextBox 28"/>
          <p:cNvSpPr txBox="1"/>
          <p:nvPr/>
        </p:nvSpPr>
        <p:spPr>
          <a:xfrm>
            <a:off x="9738360" y="2743200"/>
            <a:ext cx="1920240" cy="384048"/>
          </a:xfrm>
          <a:prstGeom prst="rect">
            <a:avLst/>
          </a:prstGeom>
          <a:noFill/>
        </p:spPr>
        <p:txBody>
          <a:bodyPr wrap="square" anchor="ctr" lIns="0" rIns="0" tIns="0" bIns="0">
            <a:spAutoFit/>
          </a:bodyPr>
          <a:lstStyle/>
          <a:p>
            <a:pPr algn="r"/>
            <a:r>
              <a:rPr sz="1150" b="1" i="0">
                <a:solidFill>
                  <a:srgbClr val="B23330"/>
                </a:solidFill>
                <a:latin typeface="Calibri"/>
              </a:rPr>
              <a:t>−$0.4B</a:t>
            </a:r>
          </a:p>
        </p:txBody>
      </p:sp>
      <p:sp>
        <p:nvSpPr>
          <p:cNvPr id="30" name="TextBox 29"/>
          <p:cNvSpPr txBox="1"/>
          <p:nvPr/>
        </p:nvSpPr>
        <p:spPr>
          <a:xfrm>
            <a:off x="548640" y="3200400"/>
            <a:ext cx="3108960" cy="384048"/>
          </a:xfrm>
          <a:prstGeom prst="rect">
            <a:avLst/>
          </a:prstGeom>
          <a:noFill/>
        </p:spPr>
        <p:txBody>
          <a:bodyPr wrap="square" anchor="ctr" lIns="0" rIns="0" tIns="0" bIns="0">
            <a:spAutoFit/>
          </a:bodyPr>
          <a:lstStyle/>
          <a:p>
            <a:pPr algn="l"/>
            <a:r>
              <a:rPr sz="1150" b="1" i="0">
                <a:solidFill>
                  <a:srgbClr val="262626"/>
                </a:solidFill>
                <a:latin typeface="Calibri"/>
              </a:rPr>
              <a:t>Russia</a:t>
            </a:r>
          </a:p>
        </p:txBody>
      </p:sp>
      <p:sp>
        <p:nvSpPr>
          <p:cNvPr id="31" name="TextBox 30"/>
          <p:cNvSpPr txBox="1"/>
          <p:nvPr/>
        </p:nvSpPr>
        <p:spPr>
          <a:xfrm>
            <a:off x="3657600" y="3200400"/>
            <a:ext cx="1828800" cy="384048"/>
          </a:xfrm>
          <a:prstGeom prst="rect">
            <a:avLst/>
          </a:prstGeom>
          <a:noFill/>
        </p:spPr>
        <p:txBody>
          <a:bodyPr wrap="square" anchor="ctr" lIns="0" rIns="0" tIns="0" bIns="0">
            <a:spAutoFit/>
          </a:bodyPr>
          <a:lstStyle/>
          <a:p>
            <a:pPr algn="r"/>
            <a:r>
              <a:rPr sz="1150" b="0" i="0">
                <a:solidFill>
                  <a:srgbClr val="262626"/>
                </a:solidFill>
                <a:latin typeface="Calibri"/>
              </a:rPr>
              <a:t>$2,541.0B</a:t>
            </a:r>
          </a:p>
        </p:txBody>
      </p:sp>
      <p:sp>
        <p:nvSpPr>
          <p:cNvPr id="32" name="TextBox 31"/>
          <p:cNvSpPr txBox="1"/>
          <p:nvPr/>
        </p:nvSpPr>
        <p:spPr>
          <a:xfrm>
            <a:off x="5532120" y="3200400"/>
            <a:ext cx="2011680" cy="384048"/>
          </a:xfrm>
          <a:prstGeom prst="rect">
            <a:avLst/>
          </a:prstGeom>
          <a:noFill/>
        </p:spPr>
        <p:txBody>
          <a:bodyPr wrap="square" anchor="ctr" lIns="0" rIns="0" tIns="0" bIns="0">
            <a:spAutoFit/>
          </a:bodyPr>
          <a:lstStyle/>
          <a:p>
            <a:pPr algn="r"/>
            <a:r>
              <a:rPr sz="1150" b="0" i="0">
                <a:solidFill>
                  <a:srgbClr val="262626"/>
                </a:solidFill>
                <a:latin typeface="Calibri"/>
              </a:rPr>
              <a:t>$0.6B</a:t>
            </a:r>
          </a:p>
        </p:txBody>
      </p:sp>
      <p:sp>
        <p:nvSpPr>
          <p:cNvPr id="33" name="TextBox 32"/>
          <p:cNvSpPr txBox="1"/>
          <p:nvPr/>
        </p:nvSpPr>
        <p:spPr>
          <a:xfrm>
            <a:off x="7589520" y="3200400"/>
            <a:ext cx="2103120" cy="384048"/>
          </a:xfrm>
          <a:prstGeom prst="rect">
            <a:avLst/>
          </a:prstGeom>
          <a:noFill/>
        </p:spPr>
        <p:txBody>
          <a:bodyPr wrap="square" anchor="ctr" lIns="0" rIns="0" tIns="0" bIns="0">
            <a:spAutoFit/>
          </a:bodyPr>
          <a:lstStyle/>
          <a:p>
            <a:pPr algn="r"/>
            <a:r>
              <a:rPr sz="1150" b="0" i="0">
                <a:solidFill>
                  <a:srgbClr val="262626"/>
                </a:solidFill>
                <a:latin typeface="Calibri"/>
              </a:rPr>
              <a:t>$3.8B</a:t>
            </a:r>
          </a:p>
        </p:txBody>
      </p:sp>
      <p:sp>
        <p:nvSpPr>
          <p:cNvPr id="34" name="TextBox 33"/>
          <p:cNvSpPr txBox="1"/>
          <p:nvPr/>
        </p:nvSpPr>
        <p:spPr>
          <a:xfrm>
            <a:off x="9738360" y="3200400"/>
            <a:ext cx="1920240" cy="384048"/>
          </a:xfrm>
          <a:prstGeom prst="rect">
            <a:avLst/>
          </a:prstGeom>
          <a:noFill/>
        </p:spPr>
        <p:txBody>
          <a:bodyPr wrap="square" anchor="ctr" lIns="0" rIns="0" tIns="0" bIns="0">
            <a:spAutoFit/>
          </a:bodyPr>
          <a:lstStyle/>
          <a:p>
            <a:pPr algn="r"/>
            <a:r>
              <a:rPr sz="1150" b="1" i="0">
                <a:solidFill>
                  <a:srgbClr val="B23330"/>
                </a:solidFill>
                <a:latin typeface="Calibri"/>
              </a:rPr>
              <a:t>−$3.2B</a:t>
            </a:r>
          </a:p>
        </p:txBody>
      </p:sp>
      <p:sp>
        <p:nvSpPr>
          <p:cNvPr id="35" name="Rectangle 34"/>
          <p:cNvSpPr/>
          <p:nvPr/>
        </p:nvSpPr>
        <p:spPr>
          <a:xfrm>
            <a:off x="457200" y="36118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657600"/>
            <a:ext cx="3108960" cy="384048"/>
          </a:xfrm>
          <a:prstGeom prst="rect">
            <a:avLst/>
          </a:prstGeom>
          <a:noFill/>
        </p:spPr>
        <p:txBody>
          <a:bodyPr wrap="square" anchor="ctr" lIns="0" rIns="0" tIns="0" bIns="0">
            <a:spAutoFit/>
          </a:bodyPr>
          <a:lstStyle/>
          <a:p>
            <a:pPr algn="l"/>
            <a:r>
              <a:rPr sz="1150" b="1" i="0">
                <a:solidFill>
                  <a:srgbClr val="262626"/>
                </a:solidFill>
                <a:latin typeface="Calibri"/>
              </a:rPr>
              <a:t>Saudi Arabia</a:t>
            </a:r>
          </a:p>
        </p:txBody>
      </p:sp>
      <p:sp>
        <p:nvSpPr>
          <p:cNvPr id="37" name="TextBox 36"/>
          <p:cNvSpPr txBox="1"/>
          <p:nvPr/>
        </p:nvSpPr>
        <p:spPr>
          <a:xfrm>
            <a:off x="3657600" y="36576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$1,277.0B</a:t>
            </a:r>
          </a:p>
        </p:txBody>
      </p:sp>
      <p:sp>
        <p:nvSpPr>
          <p:cNvPr id="38" name="TextBox 37"/>
          <p:cNvSpPr txBox="1"/>
          <p:nvPr/>
        </p:nvSpPr>
        <p:spPr>
          <a:xfrm>
            <a:off x="5532120" y="3657600"/>
            <a:ext cx="2011680" cy="384048"/>
          </a:xfrm>
          <a:prstGeom prst="rect">
            <a:avLst/>
          </a:prstGeom>
          <a:noFill/>
        </p:spPr>
        <p:txBody>
          <a:bodyPr wrap="square" anchor="ctr" lIns="0" rIns="0" tIns="0" bIns="0">
            <a:spAutoFit/>
          </a:bodyPr>
          <a:lstStyle/>
          <a:p>
            <a:pPr algn="r"/>
            <a:r>
              <a:rPr sz="1150" b="0" i="0">
                <a:solidFill>
                  <a:srgbClr val="262626"/>
                </a:solidFill>
                <a:latin typeface="Calibri"/>
              </a:rPr>
              <a:t>$14.1B</a:t>
            </a:r>
          </a:p>
        </p:txBody>
      </p:sp>
      <p:sp>
        <p:nvSpPr>
          <p:cNvPr id="39" name="TextBox 38"/>
          <p:cNvSpPr txBox="1"/>
          <p:nvPr/>
        </p:nvSpPr>
        <p:spPr>
          <a:xfrm>
            <a:off x="7589520" y="3657600"/>
            <a:ext cx="2103120" cy="384048"/>
          </a:xfrm>
          <a:prstGeom prst="rect">
            <a:avLst/>
          </a:prstGeom>
          <a:noFill/>
        </p:spPr>
        <p:txBody>
          <a:bodyPr wrap="square" anchor="ctr" lIns="0" rIns="0" tIns="0" bIns="0">
            <a:spAutoFit/>
          </a:bodyPr>
          <a:lstStyle/>
          <a:p>
            <a:pPr algn="r"/>
            <a:r>
              <a:rPr sz="1150" b="0" i="0">
                <a:solidFill>
                  <a:srgbClr val="262626"/>
                </a:solidFill>
                <a:latin typeface="Calibri"/>
              </a:rPr>
              <a:t>$10.5B</a:t>
            </a:r>
          </a:p>
        </p:txBody>
      </p:sp>
      <p:sp>
        <p:nvSpPr>
          <p:cNvPr id="40" name="TextBox 39"/>
          <p:cNvSpPr txBox="1"/>
          <p:nvPr/>
        </p:nvSpPr>
        <p:spPr>
          <a:xfrm>
            <a:off x="9738360" y="3657600"/>
            <a:ext cx="1920240" cy="384048"/>
          </a:xfrm>
          <a:prstGeom prst="rect">
            <a:avLst/>
          </a:prstGeom>
          <a:noFill/>
        </p:spPr>
        <p:txBody>
          <a:bodyPr wrap="square" anchor="ctr" lIns="0" rIns="0" tIns="0" bIns="0">
            <a:spAutoFit/>
          </a:bodyPr>
          <a:lstStyle/>
          <a:p>
            <a:pPr algn="r"/>
            <a:r>
              <a:rPr sz="1150" b="1" i="0">
                <a:solidFill>
                  <a:srgbClr val="1E7A34"/>
                </a:solidFill>
                <a:latin typeface="Calibri"/>
              </a:rPr>
              <a:t>+$3.6B</a:t>
            </a:r>
          </a:p>
        </p:txBody>
      </p:sp>
      <p:sp>
        <p:nvSpPr>
          <p:cNvPr id="41" name="TextBox 40"/>
          <p:cNvSpPr txBox="1"/>
          <p:nvPr/>
        </p:nvSpPr>
        <p:spPr>
          <a:xfrm>
            <a:off x="548640" y="4114800"/>
            <a:ext cx="3108960" cy="384048"/>
          </a:xfrm>
          <a:prstGeom prst="rect">
            <a:avLst/>
          </a:prstGeom>
          <a:noFill/>
        </p:spPr>
        <p:txBody>
          <a:bodyPr wrap="square" anchor="ctr" lIns="0" rIns="0" tIns="0" bIns="0">
            <a:spAutoFit/>
          </a:bodyPr>
          <a:lstStyle/>
          <a:p>
            <a:pPr algn="l"/>
            <a:r>
              <a:rPr sz="1150" b="1" i="0">
                <a:solidFill>
                  <a:srgbClr val="262626"/>
                </a:solidFill>
                <a:latin typeface="Calibri"/>
              </a:rPr>
              <a:t>South Korea</a:t>
            </a:r>
          </a:p>
        </p:txBody>
      </p:sp>
      <p:sp>
        <p:nvSpPr>
          <p:cNvPr id="42" name="TextBox 41"/>
          <p:cNvSpPr txBox="1"/>
          <p:nvPr/>
        </p:nvSpPr>
        <p:spPr>
          <a:xfrm>
            <a:off x="3657600" y="41148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$1,859.0B</a:t>
            </a:r>
          </a:p>
        </p:txBody>
      </p:sp>
      <p:sp>
        <p:nvSpPr>
          <p:cNvPr id="43" name="TextBox 42"/>
          <p:cNvSpPr txBox="1"/>
          <p:nvPr/>
        </p:nvSpPr>
        <p:spPr>
          <a:xfrm>
            <a:off x="5532120" y="4114800"/>
            <a:ext cx="2011680" cy="384048"/>
          </a:xfrm>
          <a:prstGeom prst="rect">
            <a:avLst/>
          </a:prstGeom>
          <a:noFill/>
        </p:spPr>
        <p:txBody>
          <a:bodyPr wrap="square" anchor="ctr" lIns="0" rIns="0" tIns="0" bIns="0">
            <a:spAutoFit/>
          </a:bodyPr>
          <a:lstStyle/>
          <a:p>
            <a:pPr algn="r"/>
            <a:r>
              <a:rPr sz="1150" b="0" i="0">
                <a:solidFill>
                  <a:srgbClr val="262626"/>
                </a:solidFill>
                <a:latin typeface="Calibri"/>
              </a:rPr>
              <a:t>$68.8B</a:t>
            </a:r>
          </a:p>
        </p:txBody>
      </p:sp>
      <p:sp>
        <p:nvSpPr>
          <p:cNvPr id="44" name="TextBox 43"/>
          <p:cNvSpPr txBox="1"/>
          <p:nvPr/>
        </p:nvSpPr>
        <p:spPr>
          <a:xfrm>
            <a:off x="7589520" y="4114800"/>
            <a:ext cx="2103120" cy="384048"/>
          </a:xfrm>
          <a:prstGeom prst="rect">
            <a:avLst/>
          </a:prstGeom>
          <a:noFill/>
        </p:spPr>
        <p:txBody>
          <a:bodyPr wrap="square" anchor="ctr" lIns="0" rIns="0" tIns="0" bIns="0">
            <a:spAutoFit/>
          </a:bodyPr>
          <a:lstStyle/>
          <a:p>
            <a:pPr algn="r"/>
            <a:r>
              <a:rPr sz="1150" b="0" i="0">
                <a:solidFill>
                  <a:srgbClr val="262626"/>
                </a:solidFill>
                <a:latin typeface="Calibri"/>
              </a:rPr>
              <a:t>$125.2B</a:t>
            </a:r>
          </a:p>
        </p:txBody>
      </p:sp>
      <p:sp>
        <p:nvSpPr>
          <p:cNvPr id="45" name="TextBox 44"/>
          <p:cNvSpPr txBox="1"/>
          <p:nvPr/>
        </p:nvSpPr>
        <p:spPr>
          <a:xfrm>
            <a:off x="9738360" y="4114800"/>
            <a:ext cx="1920240" cy="384048"/>
          </a:xfrm>
          <a:prstGeom prst="rect">
            <a:avLst/>
          </a:prstGeom>
          <a:noFill/>
        </p:spPr>
        <p:txBody>
          <a:bodyPr wrap="square" anchor="ctr" lIns="0" rIns="0" tIns="0" bIns="0">
            <a:spAutoFit/>
          </a:bodyPr>
          <a:lstStyle/>
          <a:p>
            <a:pPr algn="r"/>
            <a:r>
              <a:rPr sz="1150" b="1" i="0">
                <a:solidFill>
                  <a:srgbClr val="B23330"/>
                </a:solidFill>
                <a:latin typeface="Calibri"/>
              </a:rPr>
              <a:t>−$56.4B</a:t>
            </a:r>
          </a:p>
        </p:txBody>
      </p:sp>
      <p:sp>
        <p:nvSpPr>
          <p:cNvPr id="46" name="Rectangle 45"/>
          <p:cNvSpPr/>
          <p:nvPr/>
        </p:nvSpPr>
        <p:spPr>
          <a:xfrm>
            <a:off x="457200" y="45262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572000"/>
            <a:ext cx="3108960" cy="384048"/>
          </a:xfrm>
          <a:prstGeom prst="rect">
            <a:avLst/>
          </a:prstGeom>
          <a:noFill/>
        </p:spPr>
        <p:txBody>
          <a:bodyPr wrap="square" anchor="ctr" lIns="0" rIns="0" tIns="0" bIns="0">
            <a:spAutoFit/>
          </a:bodyPr>
          <a:lstStyle/>
          <a:p>
            <a:pPr algn="l"/>
            <a:r>
              <a:rPr sz="1150" b="1" i="0">
                <a:solidFill>
                  <a:srgbClr val="262626"/>
                </a:solidFill>
                <a:latin typeface="Calibri"/>
              </a:rPr>
              <a:t>Türkiye</a:t>
            </a:r>
          </a:p>
        </p:txBody>
      </p:sp>
      <p:sp>
        <p:nvSpPr>
          <p:cNvPr id="48" name="TextBox 47"/>
          <p:cNvSpPr txBox="1"/>
          <p:nvPr/>
        </p:nvSpPr>
        <p:spPr>
          <a:xfrm>
            <a:off x="3657600" y="4572000"/>
            <a:ext cx="1828800" cy="384048"/>
          </a:xfrm>
          <a:prstGeom prst="rect">
            <a:avLst/>
          </a:prstGeom>
          <a:noFill/>
        </p:spPr>
        <p:txBody>
          <a:bodyPr wrap="square" anchor="ctr" lIns="0" rIns="0" tIns="0" bIns="0">
            <a:spAutoFit/>
          </a:bodyPr>
          <a:lstStyle/>
          <a:p>
            <a:pPr algn="r"/>
            <a:r>
              <a:rPr sz="1150" b="0" i="0">
                <a:solidFill>
                  <a:srgbClr val="262626"/>
                </a:solidFill>
                <a:latin typeface="Calibri"/>
              </a:rPr>
              <a:t>$1,565.0B</a:t>
            </a:r>
          </a:p>
        </p:txBody>
      </p:sp>
      <p:sp>
        <p:nvSpPr>
          <p:cNvPr id="49" name="TextBox 48"/>
          <p:cNvSpPr txBox="1"/>
          <p:nvPr/>
        </p:nvSpPr>
        <p:spPr>
          <a:xfrm>
            <a:off x="5532120" y="4572000"/>
            <a:ext cx="2011680" cy="384048"/>
          </a:xfrm>
          <a:prstGeom prst="rect">
            <a:avLst/>
          </a:prstGeom>
          <a:noFill/>
        </p:spPr>
        <p:txBody>
          <a:bodyPr wrap="square" anchor="ctr" lIns="0" rIns="0" tIns="0" bIns="0">
            <a:spAutoFit/>
          </a:bodyPr>
          <a:lstStyle/>
          <a:p>
            <a:pPr algn="r"/>
            <a:r>
              <a:rPr sz="1150" b="0" i="0">
                <a:solidFill>
                  <a:srgbClr val="262626"/>
                </a:solidFill>
                <a:latin typeface="Calibri"/>
              </a:rPr>
              <a:t>$20.4B</a:t>
            </a:r>
          </a:p>
        </p:txBody>
      </p:sp>
      <p:sp>
        <p:nvSpPr>
          <p:cNvPr id="50" name="TextBox 49"/>
          <p:cNvSpPr txBox="1"/>
          <p:nvPr/>
        </p:nvSpPr>
        <p:spPr>
          <a:xfrm>
            <a:off x="7589520" y="4572000"/>
            <a:ext cx="2103120" cy="384048"/>
          </a:xfrm>
          <a:prstGeom prst="rect">
            <a:avLst/>
          </a:prstGeom>
          <a:noFill/>
        </p:spPr>
        <p:txBody>
          <a:bodyPr wrap="square" anchor="ctr" lIns="0" rIns="0" tIns="0" bIns="0">
            <a:spAutoFit/>
          </a:bodyPr>
          <a:lstStyle/>
          <a:p>
            <a:pPr algn="r"/>
            <a:r>
              <a:rPr sz="1150" b="0" i="0">
                <a:solidFill>
                  <a:srgbClr val="262626"/>
                </a:solidFill>
                <a:latin typeface="Calibri"/>
              </a:rPr>
              <a:t>$16.4B</a:t>
            </a:r>
          </a:p>
        </p:txBody>
      </p:sp>
      <p:sp>
        <p:nvSpPr>
          <p:cNvPr id="51" name="TextBox 50"/>
          <p:cNvSpPr txBox="1"/>
          <p:nvPr/>
        </p:nvSpPr>
        <p:spPr>
          <a:xfrm>
            <a:off x="9738360" y="4572000"/>
            <a:ext cx="1920240" cy="384048"/>
          </a:xfrm>
          <a:prstGeom prst="rect">
            <a:avLst/>
          </a:prstGeom>
          <a:noFill/>
        </p:spPr>
        <p:txBody>
          <a:bodyPr wrap="square" anchor="ctr" lIns="0" rIns="0" tIns="0" bIns="0">
            <a:spAutoFit/>
          </a:bodyPr>
          <a:lstStyle/>
          <a:p>
            <a:pPr algn="r"/>
            <a:r>
              <a:rPr sz="1150" b="1" i="0">
                <a:solidFill>
                  <a:srgbClr val="1E7A34"/>
                </a:solidFill>
                <a:latin typeface="Calibri"/>
              </a:rPr>
              <a:t>+$4.0B</a:t>
            </a:r>
          </a:p>
        </p:txBody>
      </p:sp>
      <p:sp>
        <p:nvSpPr>
          <p:cNvPr id="52" name="TextBox 51"/>
          <p:cNvSpPr txBox="1"/>
          <p:nvPr/>
        </p:nvSpPr>
        <p:spPr>
          <a:xfrm>
            <a:off x="548640" y="5029200"/>
            <a:ext cx="3108960" cy="384048"/>
          </a:xfrm>
          <a:prstGeom prst="rect">
            <a:avLst/>
          </a:prstGeom>
          <a:noFill/>
        </p:spPr>
        <p:txBody>
          <a:bodyPr wrap="square" anchor="ctr" lIns="0" rIns="0" tIns="0" bIns="0">
            <a:spAutoFit/>
          </a:bodyPr>
          <a:lstStyle/>
          <a:p>
            <a:pPr algn="l"/>
            <a:r>
              <a:rPr sz="1150" b="1" i="0">
                <a:solidFill>
                  <a:srgbClr val="262626"/>
                </a:solidFill>
                <a:latin typeface="Calibri"/>
              </a:rPr>
              <a:t>United Kingdom</a:t>
            </a:r>
          </a:p>
        </p:txBody>
      </p:sp>
      <p:sp>
        <p:nvSpPr>
          <p:cNvPr id="53" name="TextBox 52"/>
          <p:cNvSpPr txBox="1"/>
          <p:nvPr/>
        </p:nvSpPr>
        <p:spPr>
          <a:xfrm>
            <a:off x="3657600" y="5029200"/>
            <a:ext cx="1828800" cy="384048"/>
          </a:xfrm>
          <a:prstGeom prst="rect">
            <a:avLst/>
          </a:prstGeom>
          <a:noFill/>
        </p:spPr>
        <p:txBody>
          <a:bodyPr wrap="square" anchor="ctr" lIns="0" rIns="0" tIns="0" bIns="0">
            <a:spAutoFit/>
          </a:bodyPr>
          <a:lstStyle/>
          <a:p>
            <a:pPr algn="r"/>
            <a:r>
              <a:rPr sz="1150" b="0" i="0">
                <a:solidFill>
                  <a:srgbClr val="262626"/>
                </a:solidFill>
                <a:latin typeface="Calibri"/>
              </a:rPr>
              <a:t>$3,959.0B</a:t>
            </a:r>
          </a:p>
        </p:txBody>
      </p:sp>
      <p:sp>
        <p:nvSpPr>
          <p:cNvPr id="54" name="TextBox 53"/>
          <p:cNvSpPr txBox="1"/>
          <p:nvPr/>
        </p:nvSpPr>
        <p:spPr>
          <a:xfrm>
            <a:off x="5532120" y="5029200"/>
            <a:ext cx="2011680" cy="384048"/>
          </a:xfrm>
          <a:prstGeom prst="rect">
            <a:avLst/>
          </a:prstGeom>
          <a:noFill/>
        </p:spPr>
        <p:txBody>
          <a:bodyPr wrap="square" anchor="ctr" lIns="0" rIns="0" tIns="0" bIns="0">
            <a:spAutoFit/>
          </a:bodyPr>
          <a:lstStyle/>
          <a:p>
            <a:pPr algn="r"/>
            <a:r>
              <a:rPr sz="1150" b="0" i="0">
                <a:solidFill>
                  <a:srgbClr val="262626"/>
                </a:solidFill>
                <a:latin typeface="Calibri"/>
              </a:rPr>
              <a:t>$97.0B</a:t>
            </a:r>
          </a:p>
        </p:txBody>
      </p:sp>
      <p:sp>
        <p:nvSpPr>
          <p:cNvPr id="55" name="TextBox 54"/>
          <p:cNvSpPr txBox="1"/>
          <p:nvPr/>
        </p:nvSpPr>
        <p:spPr>
          <a:xfrm>
            <a:off x="7589520" y="5029200"/>
            <a:ext cx="2103120" cy="384048"/>
          </a:xfrm>
          <a:prstGeom prst="rect">
            <a:avLst/>
          </a:prstGeom>
          <a:noFill/>
        </p:spPr>
        <p:txBody>
          <a:bodyPr wrap="square" anchor="ctr" lIns="0" rIns="0" tIns="0" bIns="0">
            <a:spAutoFit/>
          </a:bodyPr>
          <a:lstStyle/>
          <a:p>
            <a:pPr algn="r"/>
            <a:r>
              <a:rPr sz="1150" b="0" i="0">
                <a:solidFill>
                  <a:srgbClr val="262626"/>
                </a:solidFill>
                <a:latin typeface="Calibri"/>
              </a:rPr>
              <a:t>$64.8B</a:t>
            </a:r>
          </a:p>
        </p:txBody>
      </p:sp>
      <p:sp>
        <p:nvSpPr>
          <p:cNvPr id="56" name="TextBox 55"/>
          <p:cNvSpPr txBox="1"/>
          <p:nvPr/>
        </p:nvSpPr>
        <p:spPr>
          <a:xfrm>
            <a:off x="9738360" y="5029200"/>
            <a:ext cx="1920240" cy="384048"/>
          </a:xfrm>
          <a:prstGeom prst="rect">
            <a:avLst/>
          </a:prstGeom>
          <a:noFill/>
        </p:spPr>
        <p:txBody>
          <a:bodyPr wrap="square" anchor="ctr" lIns="0" rIns="0" tIns="0" bIns="0">
            <a:spAutoFit/>
          </a:bodyPr>
          <a:lstStyle/>
          <a:p>
            <a:pPr algn="r"/>
            <a:r>
              <a:rPr sz="1150" b="1" i="0">
                <a:solidFill>
                  <a:srgbClr val="1E7A34"/>
                </a:solidFill>
                <a:latin typeface="Calibri"/>
              </a:rPr>
              <a:t>+$32.2B</a:t>
            </a:r>
          </a:p>
        </p:txBody>
      </p:sp>
      <p:sp>
        <p:nvSpPr>
          <p:cNvPr id="57" name="Rectangle 56"/>
          <p:cNvSpPr/>
          <p:nvPr/>
        </p:nvSpPr>
        <p:spPr>
          <a:xfrm>
            <a:off x="457200" y="5440680"/>
            <a:ext cx="11274552" cy="457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8640" y="5486400"/>
            <a:ext cx="3108960" cy="384048"/>
          </a:xfrm>
          <a:prstGeom prst="rect">
            <a:avLst/>
          </a:prstGeom>
          <a:noFill/>
        </p:spPr>
        <p:txBody>
          <a:bodyPr wrap="square" anchor="ctr" lIns="0" rIns="0" tIns="0" bIns="0">
            <a:spAutoFit/>
          </a:bodyPr>
          <a:lstStyle/>
          <a:p>
            <a:pPr algn="l"/>
            <a:r>
              <a:rPr sz="1150" b="1" i="0">
                <a:solidFill>
                  <a:srgbClr val="262626"/>
                </a:solidFill>
                <a:latin typeface="Calibri"/>
              </a:rPr>
              <a:t>United States</a:t>
            </a:r>
          </a:p>
        </p:txBody>
      </p:sp>
      <p:sp>
        <p:nvSpPr>
          <p:cNvPr id="59" name="TextBox 58"/>
          <p:cNvSpPr txBox="1"/>
          <p:nvPr/>
        </p:nvSpPr>
        <p:spPr>
          <a:xfrm>
            <a:off x="3657600" y="5486400"/>
            <a:ext cx="1828800" cy="384048"/>
          </a:xfrm>
          <a:prstGeom prst="rect">
            <a:avLst/>
          </a:prstGeom>
          <a:noFill/>
        </p:spPr>
        <p:txBody>
          <a:bodyPr wrap="square" anchor="ctr" lIns="0" rIns="0" tIns="0" bIns="0">
            <a:spAutoFit/>
          </a:bodyPr>
          <a:lstStyle/>
          <a:p>
            <a:pPr algn="r"/>
            <a:r>
              <a:rPr sz="1150" b="0" i="0">
                <a:solidFill>
                  <a:srgbClr val="262626"/>
                </a:solidFill>
                <a:latin typeface="Calibri"/>
              </a:rPr>
              <a:t>$30,620.0B</a:t>
            </a:r>
          </a:p>
        </p:txBody>
      </p:sp>
      <p:sp>
        <p:nvSpPr>
          <p:cNvPr id="60" name="TextBox 59"/>
          <p:cNvSpPr txBox="1"/>
          <p:nvPr/>
        </p:nvSpPr>
        <p:spPr>
          <a:xfrm>
            <a:off x="5532120" y="5486400"/>
            <a:ext cx="2011680" cy="384048"/>
          </a:xfrm>
          <a:prstGeom prst="rect">
            <a:avLst/>
          </a:prstGeom>
          <a:noFill/>
        </p:spPr>
        <p:txBody>
          <a:bodyPr wrap="square" anchor="ctr" lIns="0" rIns="0" tIns="0" bIns="0">
            <a:spAutoFit/>
          </a:bodyPr>
          <a:lstStyle/>
          <a:p>
            <a:pPr algn="r"/>
            <a:r>
              <a:rPr sz="1150" b="0" i="0">
                <a:solidFill>
                  <a:srgbClr val="262626"/>
                </a:solidFill>
                <a:latin typeface="Calibri"/>
              </a:rPr>
              <a:t>N/A</a:t>
            </a:r>
          </a:p>
        </p:txBody>
      </p:sp>
      <p:sp>
        <p:nvSpPr>
          <p:cNvPr id="61" name="TextBox 60"/>
          <p:cNvSpPr txBox="1"/>
          <p:nvPr/>
        </p:nvSpPr>
        <p:spPr>
          <a:xfrm>
            <a:off x="7589520" y="5486400"/>
            <a:ext cx="2103120" cy="384048"/>
          </a:xfrm>
          <a:prstGeom prst="rect">
            <a:avLst/>
          </a:prstGeom>
          <a:noFill/>
        </p:spPr>
        <p:txBody>
          <a:bodyPr wrap="square" anchor="ctr" lIns="0" rIns="0" tIns="0" bIns="0">
            <a:spAutoFit/>
          </a:bodyPr>
          <a:lstStyle/>
          <a:p>
            <a:pPr algn="r"/>
            <a:r>
              <a:rPr sz="1150" b="0" i="0">
                <a:solidFill>
                  <a:srgbClr val="262626"/>
                </a:solidFill>
                <a:latin typeface="Calibri"/>
              </a:rPr>
              <a:t>N/A</a:t>
            </a:r>
          </a:p>
        </p:txBody>
      </p:sp>
      <p:sp>
        <p:nvSpPr>
          <p:cNvPr id="62" name="TextBox 61"/>
          <p:cNvSpPr txBox="1"/>
          <p:nvPr/>
        </p:nvSpPr>
        <p:spPr>
          <a:xfrm>
            <a:off x="9738360" y="5486400"/>
            <a:ext cx="1920240" cy="384048"/>
          </a:xfrm>
          <a:prstGeom prst="rect">
            <a:avLst/>
          </a:prstGeom>
          <a:noFill/>
        </p:spPr>
        <p:txBody>
          <a:bodyPr wrap="square" anchor="ctr" lIns="0" rIns="0" tIns="0" bIns="0">
            <a:spAutoFit/>
          </a:bodyPr>
          <a:lstStyle/>
          <a:p>
            <a:pPr algn="r"/>
            <a:r>
              <a:rPr sz="1150" b="1" i="0">
                <a:solidFill>
                  <a:srgbClr val="44546A"/>
                </a:solidFill>
                <a:latin typeface="Calibri"/>
              </a:rPr>
              <a:t>N/A</a:t>
            </a:r>
          </a:p>
        </p:txBody>
      </p:sp>
      <p:cxnSp>
        <p:nvCxnSpPr>
          <p:cNvPr id="63" name="Connector 62"/>
          <p:cNvCxnSpPr/>
          <p:nvPr/>
        </p:nvCxnSpPr>
        <p:spPr>
          <a:xfrm>
            <a:off x="457200" y="5943600"/>
            <a:ext cx="1127455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6455664"/>
            <a:ext cx="11274552" cy="310896"/>
          </a:xfrm>
          <a:prstGeom prst="rect">
            <a:avLst/>
          </a:prstGeom>
          <a:noFill/>
        </p:spPr>
        <p:txBody>
          <a:bodyPr wrap="square" anchor="t" lIns="0" rIns="0" tIns="0" bIns="0">
            <a:spAutoFit/>
          </a:bodyPr>
          <a:lstStyle/>
          <a:p>
            <a:r>
              <a:rPr sz="900" b="0" i="1">
                <a:solidFill>
                  <a:srgbClr val="7F7F7F"/>
                </a:solidFill>
                <a:latin typeface="Calibri"/>
              </a:rPr>
              <a:t>Negative U.S. bilateral balance = U.S. goods deficit (red); positive = U.S. surplus (green). United States shown as N/A for bilateral columns.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65760"/>
            <a:ext cx="877824" cy="548640"/>
          </a:xfrm>
          <a:prstGeom prst="rect">
            <a:avLst/>
          </a:prstGeom>
        </p:spPr>
      </p:pic>
      <p:sp>
        <p:nvSpPr>
          <p:cNvPr id="4" name="Rectangle 3"/>
          <p:cNvSpPr/>
          <p:nvPr/>
        </p:nvSpPr>
        <p:spPr>
          <a:xfrm>
            <a:off x="548640" y="365760"/>
            <a:ext cx="877824"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Argentina</a:t>
            </a:r>
          </a:p>
        </p:txBody>
      </p:sp>
      <p:sp>
        <p:nvSpPr>
          <p:cNvPr id="6" name="Rectangle 5"/>
          <p:cNvSpPr/>
          <p:nvPr/>
        </p:nvSpPr>
        <p:spPr>
          <a:xfrm>
            <a:off x="9354312" y="402336"/>
            <a:ext cx="2286000" cy="402336"/>
          </a:xfrm>
          <a:prstGeom prst="rect">
            <a:avLst/>
          </a:prstGeom>
          <a:solidFill>
            <a:srgbClr val="C0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54312" y="402336"/>
            <a:ext cx="2286000" cy="402336"/>
          </a:xfrm>
          <a:prstGeom prst="rect">
            <a:avLst/>
          </a:prstGeom>
          <a:noFill/>
        </p:spPr>
        <p:txBody>
          <a:bodyPr wrap="square" anchor="ctr" lIns="0" rIns="0" tIns="0" bIns="0">
            <a:spAutoFit/>
          </a:bodyPr>
          <a:lstStyle/>
          <a:p>
            <a:pPr algn="ctr"/>
            <a:r>
              <a:rPr sz="1100" b="1" i="0">
                <a:solidFill>
                  <a:srgbClr val="FFFFFF"/>
                </a:solidFill>
                <a:latin typeface="Calibri"/>
              </a:rPr>
              <a:t>VACANT / ACTING</a:t>
            </a:r>
          </a:p>
        </p:txBody>
      </p:sp>
      <p:cxnSp>
        <p:nvCxnSpPr>
          <p:cNvPr id="8" name="Connector 7"/>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2" name="TextBox 11"/>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$681.5B</a:t>
            </a:r>
          </a:p>
        </p:txBody>
      </p:sp>
      <p:sp>
        <p:nvSpPr>
          <p:cNvPr id="13" name="TextBox 12"/>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+$11.3B</a:t>
            </a:r>
            <a:r>
              <a:rPr sz="1000" b="0" i="0">
                <a:solidFill>
                  <a:srgbClr val="44546A"/>
                </a:solidFill>
                <a:latin typeface="Calibri"/>
              </a:rPr>
              <a:t>  surplus · goods</a:t>
            </a:r>
          </a:p>
        </p:txBody>
      </p:sp>
      <p:sp>
        <p:nvSpPr>
          <p:cNvPr id="14" name="TextBox 13"/>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$9.9B</a:t>
            </a:r>
          </a:p>
        </p:txBody>
      </p:sp>
      <p:sp>
        <p:nvSpPr>
          <p:cNvPr id="15" name="TextBox 14"/>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$8.3B</a:t>
            </a:r>
          </a:p>
        </p:txBody>
      </p:sp>
      <p:sp>
        <p:nvSpPr>
          <p:cNvPr id="16" name="TextBox 15"/>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1E7A34"/>
                </a:solidFill>
                <a:latin typeface="Calibri"/>
              </a:rPr>
              <a:t>+$1.6B</a:t>
            </a:r>
            <a:r>
              <a:rPr sz="1000" b="0" i="0">
                <a:solidFill>
                  <a:srgbClr val="44546A"/>
                </a:solidFill>
                <a:latin typeface="Calibri"/>
              </a:rPr>
              <a:t>  surplus</a:t>
            </a:r>
          </a:p>
        </p:txBody>
      </p:sp>
      <p:sp>
        <p:nvSpPr>
          <p:cNvPr id="17" name="TextBox 16"/>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8" name="TextBox 17"/>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Darío Leandro Genua</a:t>
            </a:r>
          </a:p>
        </p:txBody>
      </p:sp>
      <p:sp>
        <p:nvSpPr>
          <p:cNvPr id="19" name="TextBox 18"/>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Secretary of Innovation, Science and Technology</a:t>
            </a:r>
          </a:p>
        </p:txBody>
      </p:sp>
      <p:sp>
        <p:nvSpPr>
          <p:cNvPr id="20" name="TextBox 19"/>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Chief of Cabinet Office (Jefatura de Gabinete de Ministros)</a:t>
            </a:r>
            <a:r>
              <a:rPr sz="1000" b="0" i="0">
                <a:solidFill>
                  <a:srgbClr val="7F7F7F"/>
                </a:solidFill>
                <a:latin typeface="Calibri"/>
              </a:rPr>
              <a:t>   ·   Assumed office: 2024-06-06</a:t>
            </a:r>
          </a:p>
        </p:txBody>
      </p:sp>
      <p:sp>
        <p:nvSpPr>
          <p:cNvPr id="21" name="TextBox 20"/>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 His secretariat leads state digitalization, digital public services, connectivity and telecommunications policy under the Chief of Cabinet. In 2026 he opened the Argentina Digital Summit.</a:t>
            </a:r>
          </a:p>
        </p:txBody>
      </p:sp>
      <p:cxnSp>
        <p:nvCxnSpPr>
          <p:cNvPr id="22" name="Connector 21"/>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4" name="TextBox 23"/>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Pablo Lavigne</a:t>
            </a:r>
            <a:r>
              <a:rPr sz="1100" b="1" i="1">
                <a:solidFill>
                  <a:srgbClr val="C05A00"/>
                </a:solidFill>
                <a:latin typeface="Calibri"/>
              </a:rPr>
              <a:t>  · acting</a:t>
            </a:r>
          </a:p>
        </p:txBody>
      </p:sp>
      <p:sp>
        <p:nvSpPr>
          <p:cNvPr id="25" name="TextBox 24"/>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Secretary of Production Coordination (exercising Industry &amp; Commerce functions)</a:t>
            </a:r>
          </a:p>
        </p:txBody>
      </p:sp>
      <p:sp>
        <p:nvSpPr>
          <p:cNvPr id="26" name="TextBox 25"/>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Economy</a:t>
            </a:r>
            <a:r>
              <a:rPr sz="1000" b="0" i="0">
                <a:solidFill>
                  <a:srgbClr val="7F7F7F"/>
                </a:solidFill>
                <a:latin typeface="Calibri"/>
              </a:rPr>
              <a:t>   ·   Assumed office: 2024-12-17</a:t>
            </a:r>
          </a:p>
        </p:txBody>
      </p:sp>
      <p:sp>
        <p:nvSpPr>
          <p:cNvPr id="27" name="TextBox 26"/>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Pablo Lavigne, an economist trained at UCA with a master's and doctorate from Universidad del CEMA, has been Secretary of Production Coordination in the Ministry of Economy since December 2024. Under Mauricio Macri he directed foreign-trade facilitation and ran the single foreign-trade window (VUCEA). He earlier led the Secretariat of Industry and Commerce, driving import deregulation, courier-limit increases and tariff cuts. After the Industry &amp; Commerce secretariat fell vacant, a March 2026 decree merged those functions into his secretariat, which he now exercises on an acting basis.</a:t>
            </a:r>
          </a:p>
          <a:p>
            <a:pPr>
              <a:spcBef>
                <a:spcPts val="600"/>
              </a:spcBef>
            </a:pPr>
            <a:r>
              <a:rPr sz="950" b="1" i="1">
                <a:solidFill>
                  <a:srgbClr val="2E5A88"/>
                </a:solidFill>
                <a:latin typeface="Calibri"/>
              </a:rPr>
              <a:t>Division of responsibility:  </a:t>
            </a:r>
            <a:r>
              <a:rPr sz="950" b="0" i="1">
                <a:solidFill>
                  <a:srgbClr val="44546A"/>
                </a:solidFill>
                <a:latin typeface="Calibri"/>
              </a:rPr>
              <a:t>Domestic commerce/industry (Lavigne, acting) sits under the Economy Ministry; external trade negotiation (Brun) under the Foreign Ministry.</a:t>
            </a:r>
          </a:p>
        </p:txBody>
      </p:sp>
      <p:cxnSp>
        <p:nvCxnSpPr>
          <p:cNvPr id="28" name="Connector 27"/>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30" name="TextBox 29"/>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65760"/>
            <a:ext cx="1097280" cy="548640"/>
          </a:xfrm>
          <a:prstGeom prst="rect">
            <a:avLst/>
          </a:prstGeom>
        </p:spPr>
      </p:pic>
      <p:sp>
        <p:nvSpPr>
          <p:cNvPr id="4" name="Rectangle 3"/>
          <p:cNvSpPr/>
          <p:nvPr/>
        </p:nvSpPr>
        <p:spPr>
          <a:xfrm>
            <a:off x="548640" y="365760"/>
            <a:ext cx="1097280"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Australia</a:t>
            </a:r>
          </a:p>
        </p:txBody>
      </p:sp>
      <p:sp>
        <p:nvSpPr>
          <p:cNvPr id="6" name="Rectangle 5"/>
          <p:cNvSpPr/>
          <p:nvPr/>
        </p:nvSpPr>
        <p:spPr>
          <a:xfrm>
            <a:off x="9354312" y="402336"/>
            <a:ext cx="2286000" cy="402336"/>
          </a:xfrm>
          <a:prstGeom prst="rect">
            <a:avLst/>
          </a:prstGeom>
          <a:solidFill>
            <a:srgbClr val="B9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54312" y="402336"/>
            <a:ext cx="2286000" cy="402336"/>
          </a:xfrm>
          <a:prstGeom prst="rect">
            <a:avLst/>
          </a:prstGeom>
          <a:noFill/>
        </p:spPr>
        <p:txBody>
          <a:bodyPr wrap="square" anchor="ctr" lIns="0" rIns="0" tIns="0" bIns="0">
            <a:spAutoFit/>
          </a:bodyPr>
          <a:lstStyle/>
          <a:p>
            <a:pPr algn="ctr"/>
            <a:r>
              <a:rPr sz="1100" b="1" i="0">
                <a:solidFill>
                  <a:srgbClr val="FFFFFF"/>
                </a:solidFill>
                <a:latin typeface="Calibri"/>
              </a:rPr>
              <a:t>NEEDS CHECK</a:t>
            </a:r>
          </a:p>
        </p:txBody>
      </p:sp>
      <p:cxnSp>
        <p:nvCxnSpPr>
          <p:cNvPr id="8" name="Connector 7"/>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2" name="TextBox 11"/>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$1,840.0B</a:t>
            </a:r>
          </a:p>
        </p:txBody>
      </p:sp>
      <p:sp>
        <p:nvSpPr>
          <p:cNvPr id="13" name="TextBox 12"/>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+$4.5B</a:t>
            </a:r>
            <a:r>
              <a:rPr sz="1000" b="0" i="0">
                <a:solidFill>
                  <a:srgbClr val="44546A"/>
                </a:solidFill>
                <a:latin typeface="Calibri"/>
              </a:rPr>
              <a:t>  surplus · g+s</a:t>
            </a:r>
          </a:p>
        </p:txBody>
      </p:sp>
      <p:sp>
        <p:nvSpPr>
          <p:cNvPr id="14" name="TextBox 13"/>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$33.7B</a:t>
            </a:r>
          </a:p>
        </p:txBody>
      </p:sp>
      <p:sp>
        <p:nvSpPr>
          <p:cNvPr id="15" name="TextBox 14"/>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$29.1B</a:t>
            </a:r>
          </a:p>
        </p:txBody>
      </p:sp>
      <p:sp>
        <p:nvSpPr>
          <p:cNvPr id="16" name="TextBox 15"/>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1E7A34"/>
                </a:solidFill>
                <a:latin typeface="Calibri"/>
              </a:rPr>
              <a:t>+$4.6B</a:t>
            </a:r>
            <a:r>
              <a:rPr sz="1000" b="0" i="0">
                <a:solidFill>
                  <a:srgbClr val="44546A"/>
                </a:solidFill>
                <a:latin typeface="Calibri"/>
              </a:rPr>
              <a:t>  surplus</a:t>
            </a:r>
          </a:p>
        </p:txBody>
      </p:sp>
      <p:sp>
        <p:nvSpPr>
          <p:cNvPr id="17" name="TextBox 16"/>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8" name="TextBox 17"/>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Anika Wells</a:t>
            </a:r>
          </a:p>
        </p:txBody>
      </p:sp>
      <p:sp>
        <p:nvSpPr>
          <p:cNvPr id="19" name="TextBox 18"/>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for Communications (also Minister for Sport)</a:t>
            </a:r>
          </a:p>
        </p:txBody>
      </p:sp>
      <p:sp>
        <p:nvSpPr>
          <p:cNvPr id="20" name="TextBox 19"/>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Portfolio of Infrastructure, Transport, Regional Development, Communications, Sport and the Arts (Department of Infrastructure, Transport, Regional Development, Communications, Sport and the Arts)</a:t>
            </a:r>
            <a:r>
              <a:rPr sz="1000" b="0" i="0">
                <a:solidFill>
                  <a:srgbClr val="7F7F7F"/>
                </a:solidFill>
                <a:latin typeface="Calibri"/>
              </a:rPr>
              <a:t>   ·   Assumed office: 2025-05-13</a:t>
            </a:r>
          </a:p>
        </p:txBody>
      </p:sp>
      <p:sp>
        <p:nvSpPr>
          <p:cNvPr id="21" name="TextBox 20"/>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Anika Shay Wells (born 1985) is a Labor MP for the Queensland seat of Lilley, held since the 2019 federal election. A Griffith University law graduate, she practised as a compensation lawyer at Maurice Blackburn before entering Parliament. She served as Minister for Aged Care and Minister for Sport from 2022 to 2025, then was sworn in as Minister for Communications on 13 May 2025 in the second Albanese ministry (taking over from Michelle Rowland, who moved to Attorney-General), retaining Sport. She remains in the role as of July 2026.</a:t>
            </a:r>
          </a:p>
          <a:p>
            <a:pPr>
              <a:spcBef>
                <a:spcPts val="600"/>
              </a:spcBef>
            </a:pPr>
            <a:r>
              <a:rPr sz="950" b="1" i="1">
                <a:solidFill>
                  <a:srgbClr val="2E5A88"/>
                </a:solidFill>
                <a:latin typeface="Calibri"/>
              </a:rPr>
              <a:t>Division of responsibility:  </a:t>
            </a:r>
            <a:r>
              <a:rPr sz="950" b="0" i="1">
                <a:solidFill>
                  <a:srgbClr val="44546A"/>
                </a:solidFill>
                <a:latin typeface="Calibri"/>
              </a:rPr>
              <a:t>also Andrew Charlton (Assistant Minister for Science, Technology and the Digital Economy (also Cabinet Secretary))</a:t>
            </a:r>
          </a:p>
        </p:txBody>
      </p:sp>
      <p:cxnSp>
        <p:nvCxnSpPr>
          <p:cNvPr id="22" name="Connector 21"/>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4" name="TextBox 23"/>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Don Farrell</a:t>
            </a:r>
          </a:p>
        </p:txBody>
      </p:sp>
      <p:sp>
        <p:nvSpPr>
          <p:cNvPr id="25" name="TextBox 24"/>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for Trade and Tourism (also Special Minister of State; Deputy Leader of the Government in the Senate)</a:t>
            </a:r>
          </a:p>
        </p:txBody>
      </p:sp>
      <p:sp>
        <p:nvSpPr>
          <p:cNvPr id="26" name="TextBox 25"/>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Department of Foreign Affairs and Trade (DFAT); trade promotion agency Austrade</a:t>
            </a:r>
            <a:r>
              <a:rPr sz="1000" b="0" i="0">
                <a:solidFill>
                  <a:srgbClr val="7F7F7F"/>
                </a:solidFill>
                <a:latin typeface="Calibri"/>
              </a:rPr>
              <a:t>   ·   Assumed office: 2022-06-01</a:t>
            </a:r>
          </a:p>
        </p:txBody>
      </p:sp>
      <p:sp>
        <p:nvSpPr>
          <p:cNvPr id="27" name="TextBox 26"/>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Senator Donald Edward Farrell (born 1954) is a Labor Senator for South Australia and a former trade unionist who was state secretary of the Shop, Distributive and Allied Employees Association (SDA) from 1993 to 2008. A University of Adelaide law graduate, he served in the Senate from 2008-2014 and again from 2016, holding ministries under the Rudd and Gillard governments. He was sworn in as Minister for Trade and Tourism on 1 June 2022 and retained the portfolio after the May 2025 federal election, remaining in the role as of July 2026.</a:t>
            </a:r>
          </a:p>
        </p:txBody>
      </p:sp>
      <p:cxnSp>
        <p:nvCxnSpPr>
          <p:cNvPr id="28" name="Connector 27"/>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30" name="TextBox 29"/>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65760"/>
            <a:ext cx="783184" cy="548640"/>
          </a:xfrm>
          <a:prstGeom prst="rect">
            <a:avLst/>
          </a:prstGeom>
        </p:spPr>
      </p:pic>
      <p:sp>
        <p:nvSpPr>
          <p:cNvPr id="4" name="Rectangle 3"/>
          <p:cNvSpPr/>
          <p:nvPr/>
        </p:nvSpPr>
        <p:spPr>
          <a:xfrm>
            <a:off x="548640" y="365760"/>
            <a:ext cx="783183"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Brazil</a:t>
            </a:r>
          </a:p>
        </p:txBody>
      </p:sp>
      <p:sp>
        <p:nvSpPr>
          <p:cNvPr id="6" name="Rectangle 5"/>
          <p:cNvSpPr/>
          <p:nvPr/>
        </p:nvSpPr>
        <p:spPr>
          <a:xfrm>
            <a:off x="9354312" y="402336"/>
            <a:ext cx="2286000" cy="402336"/>
          </a:xfrm>
          <a:prstGeom prst="rect">
            <a:avLst/>
          </a:prstGeom>
          <a:solidFill>
            <a:srgbClr val="B9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54312" y="402336"/>
            <a:ext cx="2286000" cy="402336"/>
          </a:xfrm>
          <a:prstGeom prst="rect">
            <a:avLst/>
          </a:prstGeom>
          <a:noFill/>
        </p:spPr>
        <p:txBody>
          <a:bodyPr wrap="square" anchor="ctr" lIns="0" rIns="0" tIns="0" bIns="0">
            <a:spAutoFit/>
          </a:bodyPr>
          <a:lstStyle/>
          <a:p>
            <a:pPr algn="ctr"/>
            <a:r>
              <a:rPr sz="1100" b="1" i="0">
                <a:solidFill>
                  <a:srgbClr val="FFFFFF"/>
                </a:solidFill>
                <a:latin typeface="Calibri"/>
              </a:rPr>
              <a:t>NEEDS CHECK</a:t>
            </a:r>
          </a:p>
        </p:txBody>
      </p:sp>
      <p:cxnSp>
        <p:nvCxnSpPr>
          <p:cNvPr id="8" name="Connector 7"/>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2" name="TextBox 11"/>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$2,280.0B</a:t>
            </a:r>
          </a:p>
        </p:txBody>
      </p:sp>
      <p:sp>
        <p:nvSpPr>
          <p:cNvPr id="13" name="TextBox 12"/>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+$68.3B</a:t>
            </a:r>
            <a:r>
              <a:rPr sz="1000" b="0" i="0">
                <a:solidFill>
                  <a:srgbClr val="44546A"/>
                </a:solidFill>
                <a:latin typeface="Calibri"/>
              </a:rPr>
              <a:t>  surplus · goods</a:t>
            </a:r>
          </a:p>
        </p:txBody>
      </p:sp>
      <p:sp>
        <p:nvSpPr>
          <p:cNvPr id="14" name="TextBox 13"/>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$54.4B</a:t>
            </a:r>
          </a:p>
        </p:txBody>
      </p:sp>
      <p:sp>
        <p:nvSpPr>
          <p:cNvPr id="15" name="TextBox 14"/>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$39.9B</a:t>
            </a:r>
          </a:p>
        </p:txBody>
      </p:sp>
      <p:sp>
        <p:nvSpPr>
          <p:cNvPr id="16" name="TextBox 15"/>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1E7A34"/>
                </a:solidFill>
                <a:latin typeface="Calibri"/>
              </a:rPr>
              <a:t>+$14.5B</a:t>
            </a:r>
            <a:r>
              <a:rPr sz="1000" b="0" i="0">
                <a:solidFill>
                  <a:srgbClr val="44546A"/>
                </a:solidFill>
                <a:latin typeface="Calibri"/>
              </a:rPr>
              <a:t>  surplus</a:t>
            </a:r>
          </a:p>
        </p:txBody>
      </p:sp>
      <p:sp>
        <p:nvSpPr>
          <p:cNvPr id="17" name="TextBox 16"/>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8" name="TextBox 17"/>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Frederico de Siqueira Filho</a:t>
            </a:r>
          </a:p>
        </p:txBody>
      </p:sp>
      <p:sp>
        <p:nvSpPr>
          <p:cNvPr id="19" name="TextBox 18"/>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Communications</a:t>
            </a:r>
          </a:p>
        </p:txBody>
      </p:sp>
      <p:sp>
        <p:nvSpPr>
          <p:cNvPr id="20" name="TextBox 19"/>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Communications (Ministério das Comunicações)</a:t>
            </a:r>
            <a:r>
              <a:rPr sz="1000" b="0" i="0">
                <a:solidFill>
                  <a:srgbClr val="7F7F7F"/>
                </a:solidFill>
                <a:latin typeface="Calibri"/>
              </a:rPr>
              <a:t>   ·   Assumed office: 2025-05</a:t>
            </a:r>
          </a:p>
        </p:txBody>
      </p:sp>
      <p:sp>
        <p:nvSpPr>
          <p:cNvPr id="21" name="TextBox 20"/>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Brazilian engineer and telecom executive with more than 26 years in the telecommunications/IT sector, including some 21 years at operator Oi in operations, planning, regulatory and commercial roles. From 2023 to 2025 he led state-owned Telebras. President Lula named him Minister of Communications in April 2025, with the handover ceremony in early May 2025, succeeding Juscelino Filho. He oversees telecom policy, digital inclusion, broadcasting/spectrum, postal services and the TV 3.0 initiative. In May 2026 he publicly stated he intends to remain in the ministry through the end of 2026.</a:t>
            </a:r>
          </a:p>
          <a:p>
            <a:pPr>
              <a:spcBef>
                <a:spcPts val="600"/>
              </a:spcBef>
            </a:pPr>
            <a:r>
              <a:rPr sz="950" b="1" i="1">
                <a:solidFill>
                  <a:srgbClr val="2E5A88"/>
                </a:solidFill>
                <a:latin typeface="Calibri"/>
              </a:rPr>
              <a:t>Division of responsibility:  </a:t>
            </a:r>
            <a:r>
              <a:rPr sz="950" b="0" i="1">
                <a:solidFill>
                  <a:srgbClr val="44546A"/>
                </a:solidFill>
                <a:latin typeface="Calibri"/>
              </a:rPr>
              <a:t>also Luciana Santos (Minister of Science, Technology and Innovation)</a:t>
            </a:r>
          </a:p>
        </p:txBody>
      </p:sp>
      <p:cxnSp>
        <p:nvCxnSpPr>
          <p:cNvPr id="22" name="Connector 21"/>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4" name="TextBox 23"/>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Márcio Fernando Elias Rosa</a:t>
            </a:r>
          </a:p>
        </p:txBody>
      </p:sp>
      <p:sp>
        <p:nvSpPr>
          <p:cNvPr id="25" name="TextBox 24"/>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Development, Industry, Trade and Services</a:t>
            </a:r>
          </a:p>
        </p:txBody>
      </p:sp>
      <p:sp>
        <p:nvSpPr>
          <p:cNvPr id="26" name="TextBox 25"/>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Development, Industry, Trade and Services (Ministério do Desenvolvimento, Indústria, Comércio e Serviços, MDIC)</a:t>
            </a:r>
            <a:r>
              <a:rPr sz="1000" b="0" i="0">
                <a:solidFill>
                  <a:srgbClr val="7F7F7F"/>
                </a:solidFill>
                <a:latin typeface="Calibri"/>
              </a:rPr>
              <a:t>   ·   Assumed office: 2026-04-06</a:t>
            </a:r>
          </a:p>
        </p:txBody>
      </p:sp>
      <p:sp>
        <p:nvSpPr>
          <p:cNvPr id="27" name="TextBox 26"/>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 His agenda centers on the Nova Indústria Brasil program, expanding investment and foreign trade.</a:t>
            </a:r>
          </a:p>
          <a:p>
            <a:pPr>
              <a:spcBef>
                <a:spcPts val="600"/>
              </a:spcBef>
            </a:pPr>
            <a:r>
              <a:rPr sz="950" b="1" i="1">
                <a:solidFill>
                  <a:srgbClr val="2E5A88"/>
                </a:solidFill>
                <a:latin typeface="Calibri"/>
              </a:rPr>
              <a:t>Division of responsibility:  </a:t>
            </a:r>
            <a:r>
              <a:rPr sz="950" b="0" i="1">
                <a:solidFill>
                  <a:srgbClr val="44546A"/>
                </a:solidFill>
                <a:latin typeface="Calibri"/>
              </a:rPr>
              <a:t>also Lucas Pedreira do Couto Ferraz (Secretary of Foreign Trade (SECEX))</a:t>
            </a:r>
          </a:p>
        </p:txBody>
      </p:sp>
      <p:cxnSp>
        <p:nvCxnSpPr>
          <p:cNvPr id="28" name="Connector 27"/>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30" name="TextBox 29"/>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65760"/>
            <a:ext cx="1097280" cy="548640"/>
          </a:xfrm>
          <a:prstGeom prst="rect">
            <a:avLst/>
          </a:prstGeom>
        </p:spPr>
      </p:pic>
      <p:sp>
        <p:nvSpPr>
          <p:cNvPr id="4" name="Rectangle 3"/>
          <p:cNvSpPr/>
          <p:nvPr/>
        </p:nvSpPr>
        <p:spPr>
          <a:xfrm>
            <a:off x="548640" y="365760"/>
            <a:ext cx="1097280"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Canada</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$2,284.0B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−$22.4B</a:t>
            </a:r>
            <a:r>
              <a:rPr sz="1000" b="0" i="0">
                <a:solidFill>
                  <a:srgbClr val="44546A"/>
                </a:solidFill>
                <a:latin typeface="Calibri"/>
              </a:rPr>
              <a:t>  deficit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$336.5B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$383.0B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−$46.5B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Evan Solomon</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Artificial Intelligence and Digital Innovation</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Innovation, Science and Economic Development Canada (ISED)</a:t>
            </a:r>
            <a:r>
              <a:rPr sz="1000" b="0" i="0">
                <a:solidFill>
                  <a:srgbClr val="7F7F7F"/>
                </a:solidFill>
                <a:latin typeface="Calibri"/>
              </a:rPr>
              <a:t>   ·   Assumed office: 2025-05-13</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Maninder Sidhu</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International Trade</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Global Affairs Canada</a:t>
            </a:r>
            <a:r>
              <a:rPr sz="1000" b="0" i="0">
                <a:solidFill>
                  <a:srgbClr val="7F7F7F"/>
                </a:solidFill>
                <a:latin typeface="Calibri"/>
              </a:rPr>
              <a:t>   ·   Assumed office: 2025-05-13</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Sidhu (born 1984) is a businessman and Liberal politician first elected MP for Brampton East in 2019. A University of Waterloo graduate, he ran an international-trade and customs-brokerage consulting business before politics, and served as Parliamentary Secretary to the Ministers of Foreign Affairs and International Development. Sworn into PM Mark Carney's cabinet on May 13, 2025 as Minister of International Trade within Global Affairs Canada, he leads Canada's trade-diversification and export agenda, targeting a trio of trade deals in 2026. He lives in Brampton, Ontario.</a:t>
            </a:r>
          </a:p>
          <a:p>
            <a:pPr>
              <a:spcBef>
                <a:spcPts val="600"/>
              </a:spcBef>
            </a:pPr>
            <a:r>
              <a:rPr sz="950" b="1" i="1">
                <a:solidFill>
                  <a:srgbClr val="2E5A88"/>
                </a:solidFill>
                <a:latin typeface="Calibri"/>
              </a:rPr>
              <a:t>Division of responsibility:  </a:t>
            </a:r>
            <a:r>
              <a:rPr sz="950" b="0" i="1">
                <a:solidFill>
                  <a:srgbClr val="44546A"/>
                </a:solidFill>
                <a:latin typeface="Calibri"/>
              </a:rPr>
              <a:t>also Dominic LeBlanc (President of the King's Privy Council for Canada and Minister responsible for Canada-U.S. Trade, Intergovernmental Affairs, Internal Trade and One Canadian Economy)</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China</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$19,399.0B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+$1,190.0B</a:t>
            </a:r>
            <a:r>
              <a:rPr sz="1000" b="0" i="0">
                <a:solidFill>
                  <a:srgbClr val="44546A"/>
                </a:solidFill>
                <a:latin typeface="Calibri"/>
              </a:rPr>
              <a:t>  surplus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$106.3B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$308.4B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−$202.1B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Li Lecheng</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Industry and Information Technology</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Industry and Information Technology (MIIT)</a:t>
            </a:r>
            <a:r>
              <a:rPr sz="1000" b="0" i="0">
                <a:solidFill>
                  <a:srgbClr val="7F7F7F"/>
                </a:solidFill>
                <a:latin typeface="Calibri"/>
              </a:rPr>
              <a:t>   ·   Assumed office: 2025-04-30</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Li Lecheng (born 27 March 1965), a mechanical-engineering graduate of Huazhong University of Science and Technology, began his career at the Shayang Machinery Factory in Hubei. He held provincial economic-planning and city-leadership posts, including director of Hubei's Development and Reform Commission, party secretary of Xiangyang, executive vice governor of Hubei, and Governor of Liaoning (2021-2025). He became MIIT party secretary in February 2025 and was appointed Minister on 30 April 2025, replacing Jin Zhuanglong. MIIT leads China's telecommunications, IT, industrial digital transformation and digital-economy policy.</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Wang Wentao</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Commerce</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Commerce (MOFCOM)</a:t>
            </a:r>
            <a:r>
              <a:rPr sz="1000" b="0" i="0">
                <a:solidFill>
                  <a:srgbClr val="7F7F7F"/>
                </a:solidFill>
                <a:latin typeface="Calibri"/>
              </a:rPr>
              <a:t>   ·   Assumed office: 2020-12-26</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Wang Wentao (born May 1964) has served as China's Minister of Commerce since December 2020. Trained in management, he built his career largely in Shanghai municipal government and later Jiangxi province, serving as mayor of Nanchang before rising to Governor of Heilongjiang province (2018-2020) and then moving to MOFCOM. As Commerce Minister he leads China's overall trade, investment and market-access policy. In 2026 he co-chaired the first China-EU Trade and Investment Consultations with EU Commissioner Maros Sefcovic and remained MOFCOM's senior figure through mid-2026.</a:t>
            </a:r>
          </a:p>
          <a:p>
            <a:pPr>
              <a:spcBef>
                <a:spcPts val="600"/>
              </a:spcBef>
            </a:pPr>
            <a:r>
              <a:rPr sz="950" b="1" i="1">
                <a:solidFill>
                  <a:srgbClr val="2E5A88"/>
                </a:solidFill>
                <a:latin typeface="Calibri"/>
              </a:rPr>
              <a:t>Division of responsibility:  </a:t>
            </a:r>
            <a:r>
              <a:rPr sz="950" b="0" i="1">
                <a:solidFill>
                  <a:srgbClr val="44546A"/>
                </a:solidFill>
                <a:latin typeface="Calibri"/>
              </a:rPr>
              <a:t>Commerce Minister Wang Wentao leads MOFCOM; Li Chenggang is the full-rank China International Trade Representative (chief negotiator).</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France</a:t>
            </a:r>
          </a:p>
        </p:txBody>
      </p:sp>
      <p:sp>
        <p:nvSpPr>
          <p:cNvPr id="6" name="Rectangle 5"/>
          <p:cNvSpPr/>
          <p:nvPr/>
        </p:nvSpPr>
        <p:spPr>
          <a:xfrm>
            <a:off x="9354312" y="402336"/>
            <a:ext cx="2286000" cy="402336"/>
          </a:xfrm>
          <a:prstGeom prst="rect">
            <a:avLst/>
          </a:prstGeom>
          <a:solidFill>
            <a:srgbClr val="B9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54312" y="402336"/>
            <a:ext cx="2286000" cy="402336"/>
          </a:xfrm>
          <a:prstGeom prst="rect">
            <a:avLst/>
          </a:prstGeom>
          <a:noFill/>
        </p:spPr>
        <p:txBody>
          <a:bodyPr wrap="square" anchor="ctr" lIns="0" rIns="0" tIns="0" bIns="0">
            <a:spAutoFit/>
          </a:bodyPr>
          <a:lstStyle/>
          <a:p>
            <a:pPr algn="ctr"/>
            <a:r>
              <a:rPr sz="1100" b="1" i="0">
                <a:solidFill>
                  <a:srgbClr val="FFFFFF"/>
                </a:solidFill>
                <a:latin typeface="Calibri"/>
              </a:rPr>
              <a:t>NEEDS CHECK</a:t>
            </a:r>
          </a:p>
        </p:txBody>
      </p:sp>
      <p:cxnSp>
        <p:nvCxnSpPr>
          <p:cNvPr id="8" name="Connector 7"/>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2" name="TextBox 11"/>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$3,362.0B</a:t>
            </a:r>
          </a:p>
        </p:txBody>
      </p:sp>
      <p:sp>
        <p:nvSpPr>
          <p:cNvPr id="13" name="TextBox 12"/>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−$76.1B</a:t>
            </a:r>
            <a:r>
              <a:rPr sz="1000" b="0" i="0">
                <a:solidFill>
                  <a:srgbClr val="44546A"/>
                </a:solidFill>
                <a:latin typeface="Calibri"/>
              </a:rPr>
              <a:t>  deficit · goods</a:t>
            </a:r>
          </a:p>
        </p:txBody>
      </p:sp>
      <p:sp>
        <p:nvSpPr>
          <p:cNvPr id="14" name="TextBox 13"/>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(2024)</a:t>
            </a:r>
          </a:p>
          <a:p>
            <a:pPr>
              <a:spcBef>
                <a:spcPts val="100"/>
              </a:spcBef>
            </a:pPr>
            <a:r>
              <a:rPr sz="1500" b="1" i="0">
                <a:solidFill>
                  <a:srgbClr val="1F3864"/>
                </a:solidFill>
                <a:latin typeface="Calibri"/>
              </a:rPr>
              <a:t>$44.4B</a:t>
            </a:r>
          </a:p>
        </p:txBody>
      </p:sp>
      <p:sp>
        <p:nvSpPr>
          <p:cNvPr id="15" name="TextBox 14"/>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(2024)</a:t>
            </a:r>
          </a:p>
          <a:p>
            <a:pPr>
              <a:spcBef>
                <a:spcPts val="100"/>
              </a:spcBef>
            </a:pPr>
            <a:r>
              <a:rPr sz="1500" b="1" i="0">
                <a:solidFill>
                  <a:srgbClr val="1F3864"/>
                </a:solidFill>
                <a:latin typeface="Calibri"/>
              </a:rPr>
              <a:t>$61.1B</a:t>
            </a:r>
          </a:p>
        </p:txBody>
      </p:sp>
      <p:sp>
        <p:nvSpPr>
          <p:cNvPr id="16" name="TextBox 15"/>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(2024)</a:t>
            </a:r>
          </a:p>
          <a:p>
            <a:pPr>
              <a:spcBef>
                <a:spcPts val="100"/>
              </a:spcBef>
            </a:pPr>
            <a:r>
              <a:rPr sz="1500" b="1" i="0">
                <a:solidFill>
                  <a:srgbClr val="B23330"/>
                </a:solidFill>
                <a:latin typeface="Calibri"/>
              </a:rPr>
              <a:t>−$16.7B</a:t>
            </a:r>
            <a:r>
              <a:rPr sz="1000" b="0" i="0">
                <a:solidFill>
                  <a:srgbClr val="44546A"/>
                </a:solidFill>
                <a:latin typeface="Calibri"/>
              </a:rPr>
              <a:t>  deficit</a:t>
            </a:r>
          </a:p>
        </p:txBody>
      </p:sp>
      <p:sp>
        <p:nvSpPr>
          <p:cNvPr id="17" name="TextBox 16"/>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8" name="TextBox 17"/>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Anne Le Hénanff</a:t>
            </a:r>
          </a:p>
        </p:txBody>
      </p:sp>
      <p:sp>
        <p:nvSpPr>
          <p:cNvPr id="19" name="TextBox 18"/>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Delegate for Artificial Intelligence and Digital Affairs</a:t>
            </a:r>
          </a:p>
        </p:txBody>
      </p:sp>
      <p:sp>
        <p:nvSpPr>
          <p:cNvPr id="20" name="TextBox 19"/>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for the Economy, Finance and Industrial, Energy and Digital Sovereignty (attached to Minister Roland Lescure)</a:t>
            </a:r>
            <a:r>
              <a:rPr sz="1000" b="0" i="0">
                <a:solidFill>
                  <a:srgbClr val="7F7F7F"/>
                </a:solidFill>
                <a:latin typeface="Calibri"/>
              </a:rPr>
              <a:t>   ·   Assumed office: 2026-02-26</a:t>
            </a:r>
          </a:p>
        </p:txBody>
      </p:sp>
      <p:sp>
        <p:nvSpPr>
          <p:cNvPr id="21" name="TextBox 20"/>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 She succeeded Clara Chappaz in the digital portfolio.</a:t>
            </a:r>
          </a:p>
        </p:txBody>
      </p:sp>
      <p:cxnSp>
        <p:nvCxnSpPr>
          <p:cNvPr id="22" name="Connector 21"/>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4" name="TextBox 23"/>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Nicolas Forissier</a:t>
            </a:r>
          </a:p>
        </p:txBody>
      </p:sp>
      <p:sp>
        <p:nvSpPr>
          <p:cNvPr id="25" name="TextBox 24"/>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Delegate for Foreign Trade and Attractiveness</a:t>
            </a:r>
          </a:p>
        </p:txBody>
      </p:sp>
      <p:sp>
        <p:nvSpPr>
          <p:cNvPr id="26" name="TextBox 25"/>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for Europe and Foreign Affairs (Minister Delegate attached to the Minister for Europe and Foreign Affairs)</a:t>
            </a:r>
            <a:r>
              <a:rPr sz="1000" b="0" i="0">
                <a:solidFill>
                  <a:srgbClr val="7F7F7F"/>
                </a:solidFill>
                <a:latin typeface="Calibri"/>
              </a:rPr>
              <a:t>   ·   Assumed office: 2025-10-12</a:t>
            </a:r>
          </a:p>
        </p:txBody>
      </p:sp>
      <p:sp>
        <p:nvSpPr>
          <p:cNvPr id="27" name="TextBox 26"/>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28" name="Connector 27"/>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30" name="TextBox 29"/>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65760"/>
            <a:ext cx="914857" cy="548640"/>
          </a:xfrm>
          <a:prstGeom prst="rect">
            <a:avLst/>
          </a:prstGeom>
        </p:spPr>
      </p:pic>
      <p:sp>
        <p:nvSpPr>
          <p:cNvPr id="4" name="Rectangle 3"/>
          <p:cNvSpPr/>
          <p:nvPr/>
        </p:nvSpPr>
        <p:spPr>
          <a:xfrm>
            <a:off x="548640" y="365760"/>
            <a:ext cx="914857"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Germany</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$5,014.0B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+$226.0B</a:t>
            </a:r>
            <a:r>
              <a:rPr sz="1000" b="0" i="0">
                <a:solidFill>
                  <a:srgbClr val="44546A"/>
                </a:solidFill>
                <a:latin typeface="Calibri"/>
              </a:rPr>
              <a:t>  surplus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$82.7B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$159.0B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−$76.3B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Karsten Wildberger</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Federal Minister for Digital Transformation and Government Modernisation</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Federal Ministry for Digital Transformation and Government Modernisation (BMDS)</a:t>
            </a:r>
            <a:r>
              <a:rPr sz="1000" b="0" i="0">
                <a:solidFill>
                  <a:srgbClr val="7F7F7F"/>
                </a:solidFill>
                <a:latin typeface="Calibri"/>
              </a:rPr>
              <a:t>   ·   Assumed office: 2025-05-06</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Katherina Reiche</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Federal Minister for Economic Affairs and Energy</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Federal Ministry for Economic Affairs and Energy (BMWE)</a:t>
            </a:r>
            <a:r>
              <a:rPr sz="1000" b="0" i="0">
                <a:solidFill>
                  <a:srgbClr val="7F7F7F"/>
                </a:solidFill>
                <a:latin typeface="Calibri"/>
              </a:rPr>
              <a:t>   ·   Assumed office: 2025-05-06</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 On 6 May 2025 she became Federal Minister for Economic Affairs and Energy in Chancellor Merz's cabinet; her ministry sets Germany's national foreign-trade-policy positions.</a:t>
            </a:r>
          </a:p>
          <a:p>
            <a:pPr>
              <a:spcBef>
                <a:spcPts val="600"/>
              </a:spcBef>
            </a:pPr>
            <a:r>
              <a:rPr sz="950" b="1" i="1">
                <a:solidFill>
                  <a:srgbClr val="2E5A88"/>
                </a:solidFill>
                <a:latin typeface="Calibri"/>
              </a:rPr>
              <a:t>Division of responsibility:  </a:t>
            </a:r>
            <a:r>
              <a:rPr sz="950" b="0" i="1">
                <a:solidFill>
                  <a:srgbClr val="44546A"/>
                </a:solidFill>
                <a:latin typeface="Calibri"/>
              </a:rPr>
              <a:t>also Maroš Šefčovič (European Commissioner for Trade and Economic Security)</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India</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$4,125.0B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(FY 2025-26)</a:t>
            </a:r>
          </a:p>
          <a:p>
            <a:pPr>
              <a:spcBef>
                <a:spcPts val="100"/>
              </a:spcBef>
            </a:pPr>
            <a:r>
              <a:rPr sz="1500" b="1" i="0">
                <a:solidFill>
                  <a:srgbClr val="262626"/>
                </a:solidFill>
                <a:latin typeface="Calibri"/>
              </a:rPr>
              <a:t>−$333.2B</a:t>
            </a:r>
            <a:r>
              <a:rPr sz="1000" b="0" i="0">
                <a:solidFill>
                  <a:srgbClr val="44546A"/>
                </a:solidFill>
                <a:latin typeface="Calibri"/>
              </a:rPr>
              <a:t>  deficit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$45.6B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$103.8B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−$58.2B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Ashwini Vaishnaw</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Union Minister of Electronics and Information Technology (concurrently Minister of Railways and Minister of Information &amp; Broadcasting)</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Electronics and Information Technology (MeitY)</a:t>
            </a:r>
            <a:r>
              <a:rPr sz="1000" b="0" i="0">
                <a:solidFill>
                  <a:srgbClr val="7F7F7F"/>
                </a:solidFill>
                <a:latin typeface="Calibri"/>
              </a:rPr>
              <a:t>   ·   Assumed office: 2024-06-10</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 He first took charge of Railways, IT and Communications in July 2021, and after the 2024 general election was assigned the Electronics &amp; IT, Railways, and Information &amp; Broadcasting portfolios. He leads flagship efforts including the India Semiconductor Mission and IndiaAI Mission.</a:t>
            </a:r>
          </a:p>
          <a:p>
            <a:pPr>
              <a:spcBef>
                <a:spcPts val="600"/>
              </a:spcBef>
            </a:pPr>
            <a:r>
              <a:rPr sz="950" b="1" i="1">
                <a:solidFill>
                  <a:srgbClr val="2E5A88"/>
                </a:solidFill>
                <a:latin typeface="Calibri"/>
              </a:rPr>
              <a:t>Division of responsibility:  </a:t>
            </a:r>
            <a:r>
              <a:rPr sz="950" b="0" i="1">
                <a:solidFill>
                  <a:srgbClr val="44546A"/>
                </a:solidFill>
                <a:latin typeface="Calibri"/>
              </a:rPr>
              <a:t>also Jitin Prasada (Union Minister of State for Electronics and Information Technology (also Minister of State for Commerce and Industry))</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Piyush Goyal</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Union Minister of Commerce and Industry</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Commerce and Industry</a:t>
            </a:r>
            <a:r>
              <a:rPr sz="1000" b="0" i="0">
                <a:solidFill>
                  <a:srgbClr val="7F7F7F"/>
                </a:solidFill>
                <a:latin typeface="Calibri"/>
              </a:rPr>
              <a:t>   ·   Assumed office: 2019-05-31</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Piyush Goyal (born 13 June 1964) is a chartered accountant and lawyer and a BJP parliamentarian, elected to the Lok Sabha from Mumbai North in 2024 after years in the Rajya Sabha from Maharashtra. He has served as Union Minister of Commerce and Industry since 2019 and leads India's overall trade policy and free-trade-agreement strategy, including the India-US bilateral trade talks, India-EU FTA, and pacts with the UK, Australia and EFTA. He has previously held the Railways, Power, and Textiles portfolios.</a:t>
            </a:r>
          </a:p>
          <a:p>
            <a:pPr>
              <a:spcBef>
                <a:spcPts val="600"/>
              </a:spcBef>
            </a:pPr>
            <a:r>
              <a:rPr sz="950" b="1" i="1">
                <a:solidFill>
                  <a:srgbClr val="2E5A88"/>
                </a:solidFill>
                <a:latin typeface="Calibri"/>
              </a:rPr>
              <a:t>Division of responsibility:  </a:t>
            </a:r>
            <a:r>
              <a:rPr sz="950" b="0" i="1">
                <a:solidFill>
                  <a:srgbClr val="44546A"/>
                </a:solidFill>
                <a:latin typeface="Calibri"/>
              </a:rPr>
              <a:t>Cabinet Minister Goyal leads Commerce &amp; Industry; Commerce Secretary Agrawal is the senior civil servant and chief India-US negotiator.</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Indonesia</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$1,443.0B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+$41.0B</a:t>
            </a:r>
            <a:r>
              <a:rPr sz="1000" b="0" i="0">
                <a:solidFill>
                  <a:srgbClr val="44546A"/>
                </a:solidFill>
                <a:latin typeface="Calibri"/>
              </a:rPr>
              <a:t>  surplus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$11.0B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$34.7B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−$23.7B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Meutya Viada Hafid</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Communication and Digital Affairs</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Communication and Digital Affairs (Kementerian Komunikasi dan Digital, 'Komdigi')</a:t>
            </a:r>
            <a:r>
              <a:rPr sz="1000" b="0" i="0">
                <a:solidFill>
                  <a:srgbClr val="7F7F7F"/>
                </a:solidFill>
                <a:latin typeface="Calibri"/>
              </a:rPr>
              <a:t>   ·   Assumed office: 2024-10-21</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 As minister she has prioritized child protection online, combating online gambling and illegal lending, and digital-economy value retention.</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Budi Santoso</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Trade</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Trade (Kementerian Perdagangan)</a:t>
            </a:r>
            <a:r>
              <a:rPr sz="1000" b="0" i="0">
                <a:solidFill>
                  <a:srgbClr val="7F7F7F"/>
                </a:solidFill>
                <a:latin typeface="Calibri"/>
              </a:rPr>
              <a:t>   ·   Assumed office: 2024-10-21</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Budi Santoso (born 9 February 1968) is an Indonesian career civil servant and technocrat serving as Minister of Trade since October 2024 in President Prabowo Subianto's Red and White Cabinet. A long-serving Ministry of Trade official, he was Director General of Foreign Trade from 2022 to 2024 before his elevation to minister. He holds a bachelor's in communication science from Sebelas Maret University, a master's in administrative sciences from the University of Indonesia, and a doctorate from Sahid University. As minister he emphasizes expanding exports through trade agreements and manufacturing competitiveness.</a:t>
            </a:r>
          </a:p>
          <a:p>
            <a:pPr>
              <a:spcBef>
                <a:spcPts val="600"/>
              </a:spcBef>
            </a:pPr>
            <a:r>
              <a:rPr sz="950" b="1" i="1">
                <a:solidFill>
                  <a:srgbClr val="2E5A88"/>
                </a:solidFill>
                <a:latin typeface="Calibri"/>
              </a:rPr>
              <a:t>Division of responsibility:  </a:t>
            </a:r>
            <a:r>
              <a:rPr sz="950" b="0" i="1">
                <a:solidFill>
                  <a:srgbClr val="44546A"/>
                </a:solidFill>
                <a:latin typeface="Calibri"/>
              </a:rPr>
              <a:t>also Airlangga Hartarto (Coordinating Minister for Economic Affairs)</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Italy</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$2,544.0B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+$56.8B</a:t>
            </a:r>
            <a:r>
              <a:rPr sz="1000" b="0" i="0">
                <a:solidFill>
                  <a:srgbClr val="44546A"/>
                </a:solidFill>
                <a:latin typeface="Calibri"/>
              </a:rPr>
              <a:t>  surplus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$43.7B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$78.7B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−$35.0B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Alessio Butti</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Undersecretary of State to the Presidency of the Council of Ministers with responsibility for Technological Innovation</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Presidency of the Council of Ministers (Presidenza del Consiglio dei Ministri) - Department for Digital Transformation</a:t>
            </a:r>
            <a:r>
              <a:rPr sz="1000" b="0" i="0">
                <a:solidFill>
                  <a:srgbClr val="7F7F7F"/>
                </a:solidFill>
                <a:latin typeface="Calibri"/>
              </a:rPr>
              <a:t>   ·   Assumed office: 2022-11-02</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 He oversees the Department for Digital Transformation, PNRR digital targets, digital identity (IT Wallet), cloud, AI and broadband.</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Antonio Tajani</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Deputy Prime Minister (Vice President of the Council of Ministers) and Minister of Foreign Affairs and International Cooperation</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Foreign Affairs and International Cooperation (Ministero degli Affari Esteri e della Cooperazione Internazionale - MAECI / 'Farnesina')</a:t>
            </a:r>
            <a:r>
              <a:rPr sz="1000" b="0" i="0">
                <a:solidFill>
                  <a:srgbClr val="7F7F7F"/>
                </a:solidFill>
                <a:latin typeface="Calibri"/>
              </a:rPr>
              <a:t>   ·   Assumed office: 2022-10-22</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Antonio Tajani (born 1953), a founder and national coordinator of Forza Italia, is a veteran EU figure: former European Commissioner for Transport and for Industry/Entrepreneurship and President of the European Parliament (2017-2019). Since October 2022 he has been Deputy Prime Minister and Foreign Minister in the Meloni government, where the Farnesina holds Italy's foreign-trade (commercio estero) and export-promotion competency, coordinating ITA/ICE, SACE, SIMEST and CDP. He remains active in 2026, meeting US Secretary Rubio and China's Wang Yi.</a:t>
            </a:r>
          </a:p>
          <a:p>
            <a:pPr>
              <a:spcBef>
                <a:spcPts val="600"/>
              </a:spcBef>
            </a:pPr>
            <a:r>
              <a:rPr sz="950" b="1" i="1">
                <a:solidFill>
                  <a:srgbClr val="2E5A88"/>
                </a:solidFill>
                <a:latin typeface="Calibri"/>
              </a:rPr>
              <a:t>Division of responsibility:  </a:t>
            </a:r>
            <a:r>
              <a:rPr sz="950" b="0" i="1">
                <a:solidFill>
                  <a:srgbClr val="44546A"/>
                </a:solidFill>
                <a:latin typeface="Calibri"/>
              </a:rPr>
              <a:t>also Adolfo Urso (Minister of Enterprises and Made in Italy)</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Japan</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$4,280.0B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−$17.0B</a:t>
            </a:r>
            <a:r>
              <a:rPr sz="1000" b="0" i="0">
                <a:solidFill>
                  <a:srgbClr val="44546A"/>
                </a:solidFill>
                <a:latin typeface="Calibri"/>
              </a:rPr>
              <a:t>  deficit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$82.1B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$146.0B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−$63.9B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Matsumoto Hisashi</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for Digital Transformation</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Digital Agency (Cabinet)</a:t>
            </a:r>
            <a:r>
              <a:rPr sz="1000" b="0" i="0">
                <a:solidFill>
                  <a:srgbClr val="7F7F7F"/>
                </a:solidFill>
                <a:latin typeface="Calibri"/>
              </a:rPr>
              <a:t>   ·   Assumed office: 2025-10-21</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 He concurrently serves as Minister in charge of Cybersecurity and holds administrative, fiscal and regulatory reform portfolios.</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Akazawa Ryosei</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Economy, Trade and Industry</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Economy, Trade and Industry (METI)</a:t>
            </a:r>
            <a:r>
              <a:rPr sz="1000" b="0" i="0">
                <a:solidFill>
                  <a:srgbClr val="7F7F7F"/>
                </a:solidFill>
                <a:latin typeface="Calibri"/>
              </a:rPr>
              <a:t>   ·   Assumed office: 2025-10-21</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Akazawa Ryosei is a Liberal Democratic Party member of the House of Representatives for Tottori's 2nd district, first elected in 2005. A University of Tokyo Law graduate with a Cornell MBA, he spent about two decades as an MLIT-lineage bureaucrat. Under PM Ishiba he was Minister for Economic Revitalization and Japan's chief negotiator in the 2025 US tariff talks. PM Takaichi appointed him METI Minister on October 21, 2025, reappointed February 18, 2026. He continues leading Japan-US tariff implementation, meeting US Treasury Secretary Bessent in May 2026.</a:t>
            </a:r>
          </a:p>
          <a:p>
            <a:pPr>
              <a:spcBef>
                <a:spcPts val="600"/>
              </a:spcBef>
            </a:pPr>
            <a:r>
              <a:rPr sz="950" b="1" i="1">
                <a:solidFill>
                  <a:srgbClr val="2E5A88"/>
                </a:solidFill>
                <a:latin typeface="Calibri"/>
              </a:rPr>
              <a:t>Division of responsibility:  </a:t>
            </a:r>
            <a:r>
              <a:rPr sz="950" b="0" i="1">
                <a:solidFill>
                  <a:srgbClr val="44546A"/>
                </a:solidFill>
                <a:latin typeface="Calibri"/>
              </a:rPr>
              <a:t>also Motegi Toshimitsu (Minister for Foreign Affairs)</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65760"/>
            <a:ext cx="960120" cy="548640"/>
          </a:xfrm>
          <a:prstGeom prst="rect">
            <a:avLst/>
          </a:prstGeom>
        </p:spPr>
      </p:pic>
      <p:sp>
        <p:nvSpPr>
          <p:cNvPr id="4" name="Rectangle 3"/>
          <p:cNvSpPr/>
          <p:nvPr/>
        </p:nvSpPr>
        <p:spPr>
          <a:xfrm>
            <a:off x="548640" y="365760"/>
            <a:ext cx="960120"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Mexico</a:t>
            </a:r>
          </a:p>
        </p:txBody>
      </p:sp>
      <p:sp>
        <p:nvSpPr>
          <p:cNvPr id="6" name="Rectangle 5"/>
          <p:cNvSpPr/>
          <p:nvPr/>
        </p:nvSpPr>
        <p:spPr>
          <a:xfrm>
            <a:off x="9354312" y="402336"/>
            <a:ext cx="2286000" cy="402336"/>
          </a:xfrm>
          <a:prstGeom prst="rect">
            <a:avLst/>
          </a:prstGeom>
          <a:solidFill>
            <a:srgbClr val="B9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54312" y="402336"/>
            <a:ext cx="2286000" cy="402336"/>
          </a:xfrm>
          <a:prstGeom prst="rect">
            <a:avLst/>
          </a:prstGeom>
          <a:noFill/>
        </p:spPr>
        <p:txBody>
          <a:bodyPr wrap="square" anchor="ctr" lIns="0" rIns="0" tIns="0" bIns="0">
            <a:spAutoFit/>
          </a:bodyPr>
          <a:lstStyle/>
          <a:p>
            <a:pPr algn="ctr"/>
            <a:r>
              <a:rPr sz="1100" b="1" i="0">
                <a:solidFill>
                  <a:srgbClr val="FFFFFF"/>
                </a:solidFill>
                <a:latin typeface="Calibri"/>
              </a:rPr>
              <a:t>NEEDS CHECK</a:t>
            </a:r>
          </a:p>
        </p:txBody>
      </p:sp>
      <p:cxnSp>
        <p:nvCxnSpPr>
          <p:cNvPr id="8" name="Connector 7"/>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2" name="TextBox 11"/>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$1,830.0B</a:t>
            </a:r>
          </a:p>
        </p:txBody>
      </p:sp>
      <p:sp>
        <p:nvSpPr>
          <p:cNvPr id="13" name="TextBox 12"/>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+$0.8B</a:t>
            </a:r>
            <a:r>
              <a:rPr sz="1000" b="0" i="0">
                <a:solidFill>
                  <a:srgbClr val="44546A"/>
                </a:solidFill>
                <a:latin typeface="Calibri"/>
              </a:rPr>
              <a:t>  surplus · goods</a:t>
            </a:r>
          </a:p>
        </p:txBody>
      </p:sp>
      <p:sp>
        <p:nvSpPr>
          <p:cNvPr id="14" name="TextBox 13"/>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$338.0B</a:t>
            </a:r>
          </a:p>
        </p:txBody>
      </p:sp>
      <p:sp>
        <p:nvSpPr>
          <p:cNvPr id="15" name="TextBox 14"/>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$534.9B</a:t>
            </a:r>
          </a:p>
        </p:txBody>
      </p:sp>
      <p:sp>
        <p:nvSpPr>
          <p:cNvPr id="16" name="TextBox 15"/>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−$196.9B</a:t>
            </a:r>
            <a:r>
              <a:rPr sz="1000" b="0" i="0">
                <a:solidFill>
                  <a:srgbClr val="44546A"/>
                </a:solidFill>
                <a:latin typeface="Calibri"/>
              </a:rPr>
              <a:t>  deficit</a:t>
            </a:r>
          </a:p>
        </p:txBody>
      </p:sp>
      <p:sp>
        <p:nvSpPr>
          <p:cNvPr id="17" name="TextBox 16"/>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8" name="TextBox 17"/>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José Antonio Peña Merino</a:t>
            </a:r>
          </a:p>
        </p:txBody>
      </p:sp>
      <p:sp>
        <p:nvSpPr>
          <p:cNvPr id="19" name="TextBox 18"/>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Head of the Agency for Digital Transformation and Telecommunications</a:t>
            </a:r>
          </a:p>
        </p:txBody>
      </p:sp>
      <p:sp>
        <p:nvSpPr>
          <p:cNvPr id="20" name="TextBox 19"/>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Agencia de Transformación Digital y Telecomunicaciones (ATDT) - Office of the President (State-Secretariat rank)</a:t>
            </a:r>
            <a:r>
              <a:rPr sz="1000" b="0" i="0">
                <a:solidFill>
                  <a:srgbClr val="7F7F7F"/>
                </a:solidFill>
                <a:latin typeface="Calibri"/>
              </a:rPr>
              <a:t>   ·   Assumed office: 2024-10-01</a:t>
            </a:r>
          </a:p>
        </p:txBody>
      </p:sp>
      <p:sp>
        <p:nvSpPr>
          <p:cNvPr id="21" name="TextBox 20"/>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 Named by Sheinbaum to head the newly created cabinet-rank ATDT, which unifies federal digital, technology and telecommunications policy, he took office with her administration in October 2024 and remains in post.</a:t>
            </a:r>
          </a:p>
        </p:txBody>
      </p:sp>
      <p:cxnSp>
        <p:nvCxnSpPr>
          <p:cNvPr id="22" name="Connector 21"/>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4" name="TextBox 23"/>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Marcelo Luis Ebrard Casaubón</a:t>
            </a:r>
          </a:p>
        </p:txBody>
      </p:sp>
      <p:sp>
        <p:nvSpPr>
          <p:cNvPr id="25" name="TextBox 24"/>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Secretary of Economy</a:t>
            </a:r>
          </a:p>
        </p:txBody>
      </p:sp>
      <p:sp>
        <p:nvSpPr>
          <p:cNvPr id="26" name="TextBox 25"/>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Secretaría de Economía</a:t>
            </a:r>
            <a:r>
              <a:rPr sz="1000" b="0" i="0">
                <a:solidFill>
                  <a:srgbClr val="7F7F7F"/>
                </a:solidFill>
                <a:latin typeface="Calibri"/>
              </a:rPr>
              <a:t>   ·   Assumed office: 2024-10-01</a:t>
            </a:r>
          </a:p>
        </p:txBody>
      </p:sp>
      <p:sp>
        <p:nvSpPr>
          <p:cNvPr id="27" name="TextBox 26"/>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Marcelo Ebrard Casaubón (born 10 October 1959) is a veteran Mexican politician (Morena). He holds a degree in international relations from El Colegio de México and studied at France's École Nationale d'Administration. He was Head of Government of Mexico City 2006-2012 and Secretary of Foreign Affairs 2018-2023 under López Obrador. After losing Morena's 2024 presidential nomination to Claudia Sheinbaum, he was appointed Secretary of Economy, taking office 1 October 2024. He leads Mexico's trade policy, including the 2026 USMCA review and US tariff negotiations.</a:t>
            </a:r>
          </a:p>
          <a:p>
            <a:pPr>
              <a:spcBef>
                <a:spcPts val="600"/>
              </a:spcBef>
            </a:pPr>
            <a:r>
              <a:rPr sz="950" b="1" i="1">
                <a:solidFill>
                  <a:srgbClr val="2E5A88"/>
                </a:solidFill>
                <a:latin typeface="Calibri"/>
              </a:rPr>
              <a:t>Division of responsibility:  </a:t>
            </a:r>
            <a:r>
              <a:rPr sz="950" b="0" i="1">
                <a:solidFill>
                  <a:srgbClr val="44546A"/>
                </a:solidFill>
                <a:latin typeface="Calibri"/>
              </a:rPr>
              <a:t>also Luis Rosendo Gutiérrez Romano (Undersecretary for Foreign Trade)</a:t>
            </a:r>
          </a:p>
        </p:txBody>
      </p:sp>
      <p:cxnSp>
        <p:nvCxnSpPr>
          <p:cNvPr id="28" name="Connector 27"/>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30" name="TextBox 29"/>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65760"/>
            <a:ext cx="877824" cy="548640"/>
          </a:xfrm>
          <a:prstGeom prst="rect">
            <a:avLst/>
          </a:prstGeom>
        </p:spPr>
      </p:pic>
      <p:sp>
        <p:nvSpPr>
          <p:cNvPr id="4" name="Rectangle 3"/>
          <p:cNvSpPr/>
          <p:nvPr/>
        </p:nvSpPr>
        <p:spPr>
          <a:xfrm>
            <a:off x="548640" y="365760"/>
            <a:ext cx="877824"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Poland</a:t>
            </a:r>
          </a:p>
        </p:txBody>
      </p:sp>
      <p:sp>
        <p:nvSpPr>
          <p:cNvPr id="6" name="Rectangle 5"/>
          <p:cNvSpPr/>
          <p:nvPr/>
        </p:nvSpPr>
        <p:spPr>
          <a:xfrm>
            <a:off x="9354312" y="402336"/>
            <a:ext cx="2286000" cy="402336"/>
          </a:xfrm>
          <a:prstGeom prst="rect">
            <a:avLst/>
          </a:prstGeom>
          <a:solidFill>
            <a:srgbClr val="B9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54312" y="402336"/>
            <a:ext cx="2286000" cy="402336"/>
          </a:xfrm>
          <a:prstGeom prst="rect">
            <a:avLst/>
          </a:prstGeom>
          <a:noFill/>
        </p:spPr>
        <p:txBody>
          <a:bodyPr wrap="square" anchor="ctr" lIns="0" rIns="0" tIns="0" bIns="0">
            <a:spAutoFit/>
          </a:bodyPr>
          <a:lstStyle/>
          <a:p>
            <a:pPr algn="ctr"/>
            <a:r>
              <a:rPr sz="1100" b="1" i="0">
                <a:solidFill>
                  <a:srgbClr val="FFFFFF"/>
                </a:solidFill>
                <a:latin typeface="Calibri"/>
              </a:rPr>
              <a:t>NEEDS CHECK</a:t>
            </a:r>
          </a:p>
        </p:txBody>
      </p:sp>
      <p:cxnSp>
        <p:nvCxnSpPr>
          <p:cNvPr id="8" name="Connector 7"/>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2" name="TextBox 11"/>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$1,040.0B</a:t>
            </a:r>
          </a:p>
        </p:txBody>
      </p:sp>
      <p:sp>
        <p:nvSpPr>
          <p:cNvPr id="13" name="TextBox 12"/>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−$8.7B</a:t>
            </a:r>
            <a:r>
              <a:rPr sz="1000" b="0" i="0">
                <a:solidFill>
                  <a:srgbClr val="44546A"/>
                </a:solidFill>
                <a:latin typeface="Calibri"/>
              </a:rPr>
              <a:t>  deficit · goods</a:t>
            </a:r>
          </a:p>
        </p:txBody>
      </p:sp>
      <p:sp>
        <p:nvSpPr>
          <p:cNvPr id="14" name="TextBox 13"/>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$14.1B</a:t>
            </a:r>
          </a:p>
        </p:txBody>
      </p:sp>
      <p:sp>
        <p:nvSpPr>
          <p:cNvPr id="15" name="TextBox 14"/>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$14.5B</a:t>
            </a:r>
          </a:p>
        </p:txBody>
      </p:sp>
      <p:sp>
        <p:nvSpPr>
          <p:cNvPr id="16" name="TextBox 15"/>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−$0.4B</a:t>
            </a:r>
            <a:r>
              <a:rPr sz="1000" b="0" i="0">
                <a:solidFill>
                  <a:srgbClr val="44546A"/>
                </a:solidFill>
                <a:latin typeface="Calibri"/>
              </a:rPr>
              <a:t>  deficit</a:t>
            </a:r>
          </a:p>
        </p:txBody>
      </p:sp>
      <p:sp>
        <p:nvSpPr>
          <p:cNvPr id="17" name="TextBox 16"/>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8" name="TextBox 17"/>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Krzysztof Gawkowski</a:t>
            </a:r>
          </a:p>
        </p:txBody>
      </p:sp>
      <p:sp>
        <p:nvSpPr>
          <p:cNvPr id="19" name="TextBox 18"/>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Deputy Prime Minister and Minister of Digital Affairs</a:t>
            </a:r>
          </a:p>
        </p:txBody>
      </p:sp>
      <p:sp>
        <p:nvSpPr>
          <p:cNvPr id="20" name="TextBox 19"/>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Digital Affairs (Ministerstwo Cyfryzacji)</a:t>
            </a:r>
            <a:r>
              <a:rPr sz="1000" b="0" i="0">
                <a:solidFill>
                  <a:srgbClr val="7F7F7F"/>
                </a:solidFill>
                <a:latin typeface="Calibri"/>
              </a:rPr>
              <a:t>   ·   Assumed office: 2023-12-13</a:t>
            </a:r>
          </a:p>
        </p:txBody>
      </p:sp>
      <p:sp>
        <p:nvSpPr>
          <p:cNvPr id="21" name="TextBox 20"/>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Krzysztof Gawkowski (b. 1980) is a Polish political scientist and New Left (Nowa Lewica) politician, serving as the party's deputy chairman. A member of the Sejm since 2019 and former leader of the Left parliamentary caucus, he became Deputy Prime Minister and Minister of Digital Affairs in Donald Tusk's cabinet on 13 December 2023 and remains in the role in 2026. He oversees digitalization, cybersecurity, telecommunications and AI policy, chairing telecom sessions during Poland's 2025 EU Council presidency, and has authored works on cybersecurity and public administration.</a:t>
            </a:r>
          </a:p>
        </p:txBody>
      </p:sp>
      <p:cxnSp>
        <p:nvCxnSpPr>
          <p:cNvPr id="22" name="Connector 21"/>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4" name="TextBox 23"/>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Andrzej Domański</a:t>
            </a:r>
          </a:p>
        </p:txBody>
      </p:sp>
      <p:sp>
        <p:nvSpPr>
          <p:cNvPr id="25" name="TextBox 24"/>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Finance and Economy</a:t>
            </a:r>
          </a:p>
        </p:txBody>
      </p:sp>
      <p:sp>
        <p:nvSpPr>
          <p:cNvPr id="26" name="TextBox 25"/>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Finance and Economy (Ministerstwo Finansow i Gospodarki)</a:t>
            </a:r>
            <a:r>
              <a:rPr sz="1000" b="0" i="0">
                <a:solidFill>
                  <a:srgbClr val="7F7F7F"/>
                </a:solidFill>
                <a:latin typeface="Calibri"/>
              </a:rPr>
              <a:t>   ·   Assumed office: 2023-12-13</a:t>
            </a:r>
          </a:p>
        </p:txBody>
      </p:sp>
      <p:sp>
        <p:nvSpPr>
          <p:cNvPr id="27" name="TextBox 26"/>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Andrzej Domanski (b. 1981, Krakow) is a Polish economist and Civic Coalition (KO) politician. A graduate in economics, he worked as an analyst, fund manager and investment director in financial institutions before entering the Sejm. He became Minister of Finance on 13 December 2023. After Prime Minister Tusk's July 2025 reshuffle merged the finance ministry with the dissolved Ministry of Development and Technology into a single economic super-ministry, he now heads it as Minister of Finance and Economy, directing fiscal, economic and trade-related policy. In 2026 he publicly ruled out near-term euro adoption.</a:t>
            </a:r>
          </a:p>
          <a:p>
            <a:pPr>
              <a:spcBef>
                <a:spcPts val="600"/>
              </a:spcBef>
            </a:pPr>
            <a:r>
              <a:rPr sz="950" b="1" i="1">
                <a:solidFill>
                  <a:srgbClr val="2E5A88"/>
                </a:solidFill>
                <a:latin typeface="Calibri"/>
              </a:rPr>
              <a:t>Division of responsibility:  </a:t>
            </a:r>
            <a:r>
              <a:rPr sz="950" b="0" i="1">
                <a:solidFill>
                  <a:srgbClr val="44546A"/>
                </a:solidFill>
                <a:latin typeface="Calibri"/>
              </a:rPr>
              <a:t>also Michał Baranowski (Undersecretary of State (Deputy Minister) responsible for trade and economic security)</a:t>
            </a:r>
          </a:p>
        </p:txBody>
      </p:sp>
      <p:cxnSp>
        <p:nvCxnSpPr>
          <p:cNvPr id="28" name="Connector 27"/>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30" name="TextBox 29"/>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Russia</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$2,541.0B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+$139.3B</a:t>
            </a:r>
            <a:r>
              <a:rPr sz="1000" b="0" i="0">
                <a:solidFill>
                  <a:srgbClr val="44546A"/>
                </a:solidFill>
                <a:latin typeface="Calibri"/>
              </a:rPr>
              <a:t>  surplus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$0.6B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$3.8B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−$3.2B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Maksut Shadayev</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Digital Development, Communications and Mass Media of the Russian Federation</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Digital Development, Communications and Mass Media (Mintsifry)</a:t>
            </a:r>
            <a:r>
              <a:rPr sz="1000" b="0" i="0">
                <a:solidFill>
                  <a:srgbClr val="7F7F7F"/>
                </a:solidFill>
                <a:latin typeface="Calibri"/>
              </a:rPr>
              <a:t>   ·   Assumed office: 2020-01-21</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 He oversees state digitalization, telecommunications, mass media and internet regulation, including 2026 measures targeting VPNs and rural internet expansion.</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Maxim Reshetnikov</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Economic Development of the Russian Federation</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Economic Development (Minekonomrazvitiya)</a:t>
            </a:r>
            <a:r>
              <a:rPr sz="1000" b="0" i="0">
                <a:solidFill>
                  <a:srgbClr val="7F7F7F"/>
                </a:solidFill>
                <a:latin typeface="Calibri"/>
              </a:rPr>
              <a:t>   ·   Assumed office: 2020-01-21</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Maxim Gennadyevich Reshetnikov (born 11 July 1979) has served as Minister of Economic Development since 21 January 2020 and was reappointed in May 2024. His ministry directs macroeconomic policy plus foreign economic activity, international trade negotiations and export promotion. A Perm State University economics graduate, he headed Moscow's economic-policy department (2012-2017) and governed Perm Krai (2017-2020). He remains active internationally, holding meetings with President Putin and describing Russia's economy as balanced despite global uncertainty in mid-2026.</a:t>
            </a:r>
          </a:p>
          <a:p>
            <a:pPr>
              <a:spcBef>
                <a:spcPts val="600"/>
              </a:spcBef>
            </a:pPr>
            <a:r>
              <a:rPr sz="950" b="1" i="1">
                <a:solidFill>
                  <a:srgbClr val="2E5A88"/>
                </a:solidFill>
                <a:latin typeface="Calibri"/>
              </a:rPr>
              <a:t>Division of responsibility:  </a:t>
            </a:r>
            <a:r>
              <a:rPr sz="950" b="0" i="1">
                <a:solidFill>
                  <a:srgbClr val="44546A"/>
                </a:solidFill>
                <a:latin typeface="Calibri"/>
              </a:rPr>
              <a:t>also Anton Alikhanov (Minister of Industry and Trade of the Russian Federation)</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Saudi Arabia</a:t>
            </a:r>
          </a:p>
        </p:txBody>
      </p:sp>
      <p:sp>
        <p:nvSpPr>
          <p:cNvPr id="6" name="Rectangle 5"/>
          <p:cNvSpPr/>
          <p:nvPr/>
        </p:nvSpPr>
        <p:spPr>
          <a:xfrm>
            <a:off x="9354312" y="402336"/>
            <a:ext cx="2286000" cy="402336"/>
          </a:xfrm>
          <a:prstGeom prst="rect">
            <a:avLst/>
          </a:prstGeom>
          <a:solidFill>
            <a:srgbClr val="C0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54312" y="402336"/>
            <a:ext cx="2286000" cy="402336"/>
          </a:xfrm>
          <a:prstGeom prst="rect">
            <a:avLst/>
          </a:prstGeom>
          <a:noFill/>
        </p:spPr>
        <p:txBody>
          <a:bodyPr wrap="square" anchor="ctr" lIns="0" rIns="0" tIns="0" bIns="0">
            <a:spAutoFit/>
          </a:bodyPr>
          <a:lstStyle/>
          <a:p>
            <a:pPr algn="ctr"/>
            <a:r>
              <a:rPr sz="1100" b="1" i="0">
                <a:solidFill>
                  <a:srgbClr val="FFFFFF"/>
                </a:solidFill>
                <a:latin typeface="Calibri"/>
              </a:rPr>
              <a:t>VACANT / ACTING</a:t>
            </a:r>
          </a:p>
        </p:txBody>
      </p:sp>
      <p:cxnSp>
        <p:nvCxnSpPr>
          <p:cNvPr id="8" name="Connector 7"/>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2" name="TextBox 11"/>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$1,277.0B</a:t>
            </a:r>
          </a:p>
        </p:txBody>
      </p:sp>
      <p:sp>
        <p:nvSpPr>
          <p:cNvPr id="13" name="TextBox 12"/>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+$59.9B</a:t>
            </a:r>
            <a:r>
              <a:rPr sz="1000" b="0" i="0">
                <a:solidFill>
                  <a:srgbClr val="44546A"/>
                </a:solidFill>
                <a:latin typeface="Calibri"/>
              </a:rPr>
              <a:t>  surplus · goods</a:t>
            </a:r>
          </a:p>
        </p:txBody>
      </p:sp>
      <p:sp>
        <p:nvSpPr>
          <p:cNvPr id="14" name="TextBox 13"/>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$14.1B</a:t>
            </a:r>
          </a:p>
        </p:txBody>
      </p:sp>
      <p:sp>
        <p:nvSpPr>
          <p:cNvPr id="15" name="TextBox 14"/>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$10.5B</a:t>
            </a:r>
          </a:p>
        </p:txBody>
      </p:sp>
      <p:sp>
        <p:nvSpPr>
          <p:cNvPr id="16" name="TextBox 15"/>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1E7A34"/>
                </a:solidFill>
                <a:latin typeface="Calibri"/>
              </a:rPr>
              <a:t>+$3.6B</a:t>
            </a:r>
            <a:r>
              <a:rPr sz="1000" b="0" i="0">
                <a:solidFill>
                  <a:srgbClr val="44546A"/>
                </a:solidFill>
                <a:latin typeface="Calibri"/>
              </a:rPr>
              <a:t>  surplus</a:t>
            </a:r>
          </a:p>
        </p:txBody>
      </p:sp>
      <p:sp>
        <p:nvSpPr>
          <p:cNvPr id="17" name="TextBox 16"/>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8" name="TextBox 17"/>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Abdullah bin Amer Alswaha</a:t>
            </a:r>
          </a:p>
        </p:txBody>
      </p:sp>
      <p:sp>
        <p:nvSpPr>
          <p:cNvPr id="19" name="TextBox 18"/>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Communications and Information Technology</a:t>
            </a:r>
          </a:p>
        </p:txBody>
      </p:sp>
      <p:sp>
        <p:nvSpPr>
          <p:cNvPr id="20" name="TextBox 19"/>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Communications and Information Technology (MCIT)</a:t>
            </a:r>
            <a:r>
              <a:rPr sz="1000" b="0" i="0">
                <a:solidFill>
                  <a:srgbClr val="7F7F7F"/>
                </a:solidFill>
                <a:latin typeface="Calibri"/>
              </a:rPr>
              <a:t>   ·   Assumed office: 2017-04-24</a:t>
            </a:r>
          </a:p>
        </p:txBody>
      </p:sp>
      <p:sp>
        <p:nvSpPr>
          <p:cNvPr id="21" name="TextBox 20"/>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 As minister he drives Saudi Arabia's digital transformation and AI agenda under Vision 2030 and chairs related technology and space bodies.</a:t>
            </a:r>
          </a:p>
        </p:txBody>
      </p:sp>
      <p:cxnSp>
        <p:nvCxnSpPr>
          <p:cNvPr id="22" name="Connector 21"/>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4" name="TextBox 23"/>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Majid bin Abdullah Al-Qasabi</a:t>
            </a:r>
          </a:p>
        </p:txBody>
      </p:sp>
      <p:sp>
        <p:nvSpPr>
          <p:cNvPr id="25" name="TextBox 24"/>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Commerce</a:t>
            </a:r>
          </a:p>
        </p:txBody>
      </p:sp>
      <p:sp>
        <p:nvSpPr>
          <p:cNvPr id="26" name="TextBox 25"/>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Commerce</a:t>
            </a:r>
            <a:r>
              <a:rPr sz="1000" b="0" i="0">
                <a:solidFill>
                  <a:srgbClr val="7F7F7F"/>
                </a:solidFill>
                <a:latin typeface="Calibri"/>
              </a:rPr>
              <a:t>   ·   Assumed office: 2016-05-07</a:t>
            </a:r>
          </a:p>
        </p:txBody>
      </p:sp>
      <p:sp>
        <p:nvSpPr>
          <p:cNvPr id="27" name="TextBox 26"/>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Majid bin Abdullah Al-Qasabi has been Saudi Arabia's Minister of Commerce since May 2016 (renamed from Commerce and Investment in 2020) and remains in office in 2026, active in GCC commerce meetings. He concurrently chairs the board of the General Authority for Foreign Trade, which handles WTO representation and trade negotiations. Holding a US doctorate in industrial engineering, he previously led the King Khalid Foundation and served as acting Minister of Media (2020-2023). He is central to Vision 2030 regulatory reforms, overseeing domestic commerce, consumer protection and foreign-trade policy.</a:t>
            </a:r>
          </a:p>
          <a:p>
            <a:pPr>
              <a:spcBef>
                <a:spcPts val="600"/>
              </a:spcBef>
            </a:pPr>
            <a:r>
              <a:rPr sz="950" b="1" i="1">
                <a:solidFill>
                  <a:srgbClr val="2E5A88"/>
                </a:solidFill>
                <a:latin typeface="Calibri"/>
              </a:rPr>
              <a:t>Division of responsibility:  </a:t>
            </a:r>
            <a:r>
              <a:rPr sz="950" b="0" i="1">
                <a:solidFill>
                  <a:srgbClr val="44546A"/>
                </a:solidFill>
                <a:latin typeface="Calibri"/>
              </a:rPr>
              <a:t>also Mohammed bin Abdulaziz Al-Abduljabbar (Acting Governor, General Authority for Foreign Trade (GAFT))</a:t>
            </a:r>
          </a:p>
        </p:txBody>
      </p:sp>
      <p:cxnSp>
        <p:nvCxnSpPr>
          <p:cNvPr id="28" name="Connector 27"/>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30" name="TextBox 29"/>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South Korea</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$1,859.0B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+$78.0B</a:t>
            </a:r>
            <a:r>
              <a:rPr sz="1000" b="0" i="0">
                <a:solidFill>
                  <a:srgbClr val="44546A"/>
                </a:solidFill>
                <a:latin typeface="Calibri"/>
              </a:rPr>
              <a:t>  surplus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$68.8B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$125.2B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B23330"/>
                </a:solidFill>
                <a:latin typeface="Calibri"/>
              </a:rPr>
              <a:t>−$56.4B</a:t>
            </a:r>
            <a:r>
              <a:rPr sz="1000" b="0" i="0">
                <a:solidFill>
                  <a:srgbClr val="44546A"/>
                </a:solidFill>
                <a:latin typeface="Calibri"/>
              </a:rPr>
              <a:t>  deficit</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Bae Kyung-hoon</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Deputy Prime Minister and Minister of Science and ICT</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Science and ICT (MSIT)</a:t>
            </a:r>
            <a:r>
              <a:rPr sz="1000" b="0" i="0">
                <a:solidFill>
                  <a:srgbClr val="7F7F7F"/>
                </a:solidFill>
                <a:latin typeface="Calibri"/>
              </a:rPr>
              <a:t>   ·   Assumed office: 2025-07-16</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 He also serves as standing vice chairman of the National AI Strategy Committee and pursues Lee's goal of making Korea a top-three global AI power with record R&amp;D budgets and a large GPU buildout.</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Kim Jung-kwan</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Trade, Industry and Resources</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Trade, Industry and Resources (MOTIR)</a:t>
            </a:r>
            <a:r>
              <a:rPr sz="1000" b="0" i="0">
                <a:solidFill>
                  <a:srgbClr val="7F7F7F"/>
                </a:solidFill>
                <a:latin typeface="Calibri"/>
              </a:rPr>
              <a:t>   ·   Assumed office: 2025-07</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Kim Jung-kwan (born 1968) studied economics at Seoul National University and earned a master's and doctorate from the University of Missouri. A career finance technocrat, he served at the Ministry of Economy and Finance, the Bank of Korea and the World Bank before moving to industry, including senior roles and the presidency at Doosan Enerbility. Nominated by President Lee in June 2025, he took office in July 2025 leading the ministry, renamed MOTIR after energy functions moved to the new Ministry of Climate, Energy and Environment.</a:t>
            </a:r>
          </a:p>
          <a:p>
            <a:pPr>
              <a:spcBef>
                <a:spcPts val="600"/>
              </a:spcBef>
            </a:pPr>
            <a:r>
              <a:rPr sz="950" b="1" i="1">
                <a:solidFill>
                  <a:srgbClr val="2E5A88"/>
                </a:solidFill>
                <a:latin typeface="Calibri"/>
              </a:rPr>
              <a:t>Division of responsibility:  </a:t>
            </a:r>
            <a:r>
              <a:rPr sz="950" b="0" i="1">
                <a:solidFill>
                  <a:srgbClr val="44546A"/>
                </a:solidFill>
                <a:latin typeface="Calibri"/>
              </a:rPr>
              <a:t>also Yeo Han-koo (Minister for Trade (Head of the Office of Trade Negotiations))</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65760"/>
            <a:ext cx="822960" cy="548640"/>
          </a:xfrm>
          <a:prstGeom prst="rect">
            <a:avLst/>
          </a:prstGeom>
        </p:spPr>
      </p:pic>
      <p:sp>
        <p:nvSpPr>
          <p:cNvPr id="4" name="Rectangle 3"/>
          <p:cNvSpPr/>
          <p:nvPr/>
        </p:nvSpPr>
        <p:spPr>
          <a:xfrm>
            <a:off x="548640" y="365760"/>
            <a:ext cx="822959"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Türkiye</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$1,565.0B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−$92.0B</a:t>
            </a:r>
            <a:r>
              <a:rPr sz="1000" b="0" i="0">
                <a:solidFill>
                  <a:srgbClr val="44546A"/>
                </a:solidFill>
                <a:latin typeface="Calibri"/>
              </a:rPr>
              <a:t>  deficit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$20.4B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$16.4B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1E7A34"/>
                </a:solidFill>
                <a:latin typeface="Calibri"/>
              </a:rPr>
              <a:t>+$4.0B</a:t>
            </a:r>
            <a:r>
              <a:rPr sz="1000" b="0" i="0">
                <a:solidFill>
                  <a:srgbClr val="44546A"/>
                </a:solidFill>
                <a:latin typeface="Calibri"/>
              </a:rPr>
              <a:t>  surplus</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Mehmet Fatih Kacır</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Industry and Technology</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Industry and Technology (Sanayi ve Teknoloji Bakanlığı)</a:t>
            </a:r>
            <a:r>
              <a:rPr sz="1000" b="0" i="0">
                <a:solidFill>
                  <a:srgbClr val="7F7F7F"/>
                </a:solidFill>
                <a:latin typeface="Calibri"/>
              </a:rPr>
              <a:t>   ·   Assumed office: 2023-06-03</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 In 2026 he leads Türkiye's technology and AI agenda, including the multibillion-dollar HIT-30 High Technology Investment Programme, presented internationally, and national AI initiatives.</a:t>
            </a:r>
          </a:p>
          <a:p>
            <a:pPr>
              <a:spcBef>
                <a:spcPts val="600"/>
              </a:spcBef>
            </a:pPr>
            <a:r>
              <a:rPr sz="950" b="1" i="1">
                <a:solidFill>
                  <a:srgbClr val="2E5A88"/>
                </a:solidFill>
                <a:latin typeface="Calibri"/>
              </a:rPr>
              <a:t>Division of responsibility:  </a:t>
            </a:r>
            <a:r>
              <a:rPr sz="950" b="0" i="1">
                <a:solidFill>
                  <a:srgbClr val="44546A"/>
                </a:solidFill>
                <a:latin typeface="Calibri"/>
              </a:rPr>
              <a:t>No standalone digital ministry: cybersecurity (Önal, Cybersecurity Presidency) and telecom/digital infrastructure (Uraloğlu, Transport &amp; Infrastructure) sit outside the Industry &amp; Technology Ministry.</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Ömer Bolat</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Minister of Trade</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Ministry of Trade (Ticaret Bakanlığı)</a:t>
            </a:r>
            <a:r>
              <a:rPr sz="1000" b="0" i="0">
                <a:solidFill>
                  <a:srgbClr val="7F7F7F"/>
                </a:solidFill>
                <a:latin typeface="Calibri"/>
              </a:rPr>
              <a:t>   ·   Assumed office: 2023-06-03</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 As minister he directs export strategy, customs, FTA negotiations and WTO representation, and has led trade talks with the United States.</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65760"/>
            <a:ext cx="1097280" cy="548640"/>
          </a:xfrm>
          <a:prstGeom prst="rect">
            <a:avLst/>
          </a:prstGeom>
        </p:spPr>
      </p:pic>
      <p:sp>
        <p:nvSpPr>
          <p:cNvPr id="4" name="Rectangle 3"/>
          <p:cNvSpPr/>
          <p:nvPr/>
        </p:nvSpPr>
        <p:spPr>
          <a:xfrm>
            <a:off x="548640" y="365760"/>
            <a:ext cx="1097280"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United Kingdom</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$3,959.0B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−$319.2B</a:t>
            </a:r>
            <a:r>
              <a:rPr sz="1000" b="0" i="0">
                <a:solidFill>
                  <a:srgbClr val="44546A"/>
                </a:solidFill>
                <a:latin typeface="Calibri"/>
              </a:rPr>
              <a:t>  deficit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$97.0B</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$64.8B</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1E7A34"/>
                </a:solidFill>
                <a:latin typeface="Calibri"/>
              </a:rPr>
              <a:t>+$32.2B</a:t>
            </a:r>
            <a:r>
              <a:rPr sz="1000" b="0" i="0">
                <a:solidFill>
                  <a:srgbClr val="44546A"/>
                </a:solidFill>
                <a:latin typeface="Calibri"/>
              </a:rPr>
              <a:t>  surplus</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Liz Kendall</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Secretary of State for Science, Innovation and Technology</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Department for Science, Innovation and Technology (DSIT)</a:t>
            </a:r>
            <a:r>
              <a:rPr sz="1000" b="0" i="0">
                <a:solidFill>
                  <a:srgbClr val="7F7F7F"/>
                </a:solidFill>
                <a:latin typeface="Calibri"/>
              </a:rPr>
              <a:t>   ·   Assumed office: 2025-09-05</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 In Keir Starmer's September 2025 reshuffle she was appointed Secretary of State for Science, Innovation and Technology, succeeding Peter Kyle, taking charge of the UK's digital, technology, science, telecoms and AI-policy portfolio. She remains in post as of July 2026.</a:t>
            </a:r>
          </a:p>
          <a:p>
            <a:pPr>
              <a:spcBef>
                <a:spcPts val="600"/>
              </a:spcBef>
            </a:pPr>
            <a:r>
              <a:rPr sz="950" b="1" i="1">
                <a:solidFill>
                  <a:srgbClr val="2E5A88"/>
                </a:solidFill>
                <a:latin typeface="Calibri"/>
              </a:rPr>
              <a:t>Division of responsibility:  </a:t>
            </a:r>
            <a:r>
              <a:rPr sz="950" b="0" i="1">
                <a:solidFill>
                  <a:srgbClr val="44546A"/>
                </a:solidFill>
                <a:latin typeface="Calibri"/>
              </a:rPr>
              <a:t>also Ian Murray (Minister of State (Minister for Digital Government and Data)); Kanishka Narayan (Parliamentary Under-Secretary of State (Minister for AI and Online Safety))</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Peter Kyle</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Secretary of State for Business and Trade, and President of the Board of Trade</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Department for Business and Trade (DBT)</a:t>
            </a:r>
            <a:r>
              <a:rPr sz="1000" b="0" i="0">
                <a:solidFill>
                  <a:srgbClr val="7F7F7F"/>
                </a:solidFill>
                <a:latin typeface="Calibri"/>
              </a:rPr>
              <a:t>   ·   Assumed office: 2025-09-05</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Peter Kyle is the Labour MP for Hove and Portslade, elected in 2015. Following Labour's 2024 election victory he served as Secretary of State for Science, Innovation and Technology (July 2024 to September 2025). In the September 2025 reshuffle he was moved to become Secretary of State for Business and Trade and President of the Board of Trade, succeeding Jonathan Reynolds, giving him lead responsibility for UK business, industrial and external trade policy, including trade agreements and export promotion. He remains in post as of July 2026.</a:t>
            </a:r>
          </a:p>
          <a:p>
            <a:pPr>
              <a:spcBef>
                <a:spcPts val="600"/>
              </a:spcBef>
            </a:pPr>
            <a:r>
              <a:rPr sz="950" b="1" i="1">
                <a:solidFill>
                  <a:srgbClr val="2E5A88"/>
                </a:solidFill>
                <a:latin typeface="Calibri"/>
              </a:rPr>
              <a:t>Division of responsibility:  </a:t>
            </a:r>
            <a:r>
              <a:rPr sz="950" b="0" i="1">
                <a:solidFill>
                  <a:srgbClr val="44546A"/>
                </a:solidFill>
                <a:latin typeface="Calibri"/>
              </a:rPr>
              <a:t>also Chris Bryant (Minister of State (Minister for Trade Policy and Economic Security))</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65760"/>
            <a:ext cx="1042416" cy="548640"/>
          </a:xfrm>
          <a:prstGeom prst="rect">
            <a:avLst/>
          </a:prstGeom>
        </p:spPr>
      </p:pic>
      <p:sp>
        <p:nvSpPr>
          <p:cNvPr id="4" name="Rectangle 3"/>
          <p:cNvSpPr/>
          <p:nvPr/>
        </p:nvSpPr>
        <p:spPr>
          <a:xfrm>
            <a:off x="548640" y="365760"/>
            <a:ext cx="1042415" cy="548640"/>
          </a:xfrm>
          <a:prstGeom prst="rect">
            <a:avLst/>
          </a:prstGeom>
          <a:no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301752"/>
            <a:ext cx="7315200" cy="685800"/>
          </a:xfrm>
          <a:prstGeom prst="rect">
            <a:avLst/>
          </a:prstGeom>
          <a:noFill/>
        </p:spPr>
        <p:txBody>
          <a:bodyPr wrap="square" anchor="ctr" lIns="0" rIns="0" tIns="0" bIns="0">
            <a:spAutoFit/>
          </a:bodyPr>
          <a:lstStyle/>
          <a:p>
            <a:r>
              <a:rPr sz="2800" b="1" i="0">
                <a:solidFill>
                  <a:srgbClr val="1F3864"/>
                </a:solidFill>
                <a:latin typeface="Calibri"/>
              </a:rPr>
              <a:t>United States</a:t>
            </a:r>
          </a:p>
        </p:txBody>
      </p:sp>
      <p:cxnSp>
        <p:nvCxnSpPr>
          <p:cNvPr id="6" name="Connector 5"/>
          <p:cNvCxnSpPr/>
          <p:nvPr/>
        </p:nvCxnSpPr>
        <p:spPr>
          <a:xfrm>
            <a:off x="548640" y="1078992"/>
            <a:ext cx="11091672" cy="0"/>
          </a:xfrm>
          <a:prstGeom prst="bentConnector3">
            <a:avLst/>
          </a:prstGeom>
          <a:ln w="19050">
            <a:solidFill>
              <a:srgbClr val="1F3864"/>
            </a:solidFill>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298448"/>
            <a:ext cx="3200400" cy="489204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48640" y="1298448"/>
            <a:ext cx="3200399" cy="0"/>
          </a:xfrm>
          <a:prstGeom prst="bentConnector3">
            <a:avLst/>
          </a:prstGeom>
          <a:ln w="38100">
            <a:solidFill>
              <a:srgbClr val="2E5A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1463040"/>
            <a:ext cx="2834640" cy="274320"/>
          </a:xfrm>
          <a:prstGeom prst="rect">
            <a:avLst/>
          </a:prstGeom>
          <a:noFill/>
        </p:spPr>
        <p:txBody>
          <a:bodyPr wrap="square" anchor="t" lIns="0" rIns="0" tIns="0" bIns="0">
            <a:spAutoFit/>
          </a:bodyPr>
          <a:lstStyle/>
          <a:p>
            <a:r>
              <a:rPr sz="1100" b="1" i="0" spc="100">
                <a:solidFill>
                  <a:srgbClr val="1F3864"/>
                </a:solidFill>
                <a:latin typeface="Calibri"/>
              </a:rPr>
              <a:t>TRADE &amp; ECONOMY</a:t>
            </a:r>
          </a:p>
        </p:txBody>
      </p:sp>
      <p:sp>
        <p:nvSpPr>
          <p:cNvPr id="10" name="TextBox 9"/>
          <p:cNvSpPr txBox="1"/>
          <p:nvPr/>
        </p:nvSpPr>
        <p:spPr>
          <a:xfrm>
            <a:off x="749808" y="1847088"/>
            <a:ext cx="2798064" cy="731520"/>
          </a:xfrm>
          <a:prstGeom prst="rect">
            <a:avLst/>
          </a:prstGeom>
          <a:noFill/>
        </p:spPr>
        <p:txBody>
          <a:bodyPr wrap="square" anchor="t" lIns="0" rIns="0" tIns="0" bIns="0">
            <a:spAutoFit/>
          </a:bodyPr>
          <a:lstStyle/>
          <a:p>
            <a:r>
              <a:rPr sz="950" b="0" i="0" spc="40">
                <a:solidFill>
                  <a:srgbClr val="44546A"/>
                </a:solidFill>
                <a:latin typeface="Calibri"/>
              </a:rPr>
              <a:t>NOMINAL GDP (2025)</a:t>
            </a:r>
          </a:p>
          <a:p>
            <a:pPr>
              <a:spcBef>
                <a:spcPts val="100"/>
              </a:spcBef>
            </a:pPr>
            <a:r>
              <a:rPr sz="1500" b="1" i="0">
                <a:solidFill>
                  <a:srgbClr val="1F3864"/>
                </a:solidFill>
                <a:latin typeface="Calibri"/>
              </a:rPr>
              <a:t>$30,620.0B</a:t>
            </a:r>
          </a:p>
        </p:txBody>
      </p:sp>
      <p:sp>
        <p:nvSpPr>
          <p:cNvPr id="11" name="TextBox 10"/>
          <p:cNvSpPr txBox="1"/>
          <p:nvPr/>
        </p:nvSpPr>
        <p:spPr>
          <a:xfrm>
            <a:off x="749808" y="2724912"/>
            <a:ext cx="2798064" cy="731520"/>
          </a:xfrm>
          <a:prstGeom prst="rect">
            <a:avLst/>
          </a:prstGeom>
          <a:noFill/>
        </p:spPr>
        <p:txBody>
          <a:bodyPr wrap="square" anchor="t" lIns="0" rIns="0" tIns="0" bIns="0">
            <a:spAutoFit/>
          </a:bodyPr>
          <a:lstStyle/>
          <a:p>
            <a:r>
              <a:rPr sz="950" b="0" i="0" spc="40">
                <a:solidFill>
                  <a:srgbClr val="44546A"/>
                </a:solidFill>
                <a:latin typeface="Calibri"/>
              </a:rPr>
              <a:t>OVERALL TRADE BALANCE (2025)</a:t>
            </a:r>
          </a:p>
          <a:p>
            <a:pPr>
              <a:spcBef>
                <a:spcPts val="100"/>
              </a:spcBef>
            </a:pPr>
            <a:r>
              <a:rPr sz="1500" b="1" i="0">
                <a:solidFill>
                  <a:srgbClr val="262626"/>
                </a:solidFill>
                <a:latin typeface="Calibri"/>
              </a:rPr>
              <a:t>−$1,240.9B</a:t>
            </a:r>
            <a:r>
              <a:rPr sz="1000" b="0" i="0">
                <a:solidFill>
                  <a:srgbClr val="44546A"/>
                </a:solidFill>
                <a:latin typeface="Calibri"/>
              </a:rPr>
              <a:t>  deficit · goods</a:t>
            </a:r>
          </a:p>
        </p:txBody>
      </p:sp>
      <p:sp>
        <p:nvSpPr>
          <p:cNvPr id="12" name="TextBox 11"/>
          <p:cNvSpPr txBox="1"/>
          <p:nvPr/>
        </p:nvSpPr>
        <p:spPr>
          <a:xfrm>
            <a:off x="749808" y="3602736"/>
            <a:ext cx="2798064" cy="731520"/>
          </a:xfrm>
          <a:prstGeom prst="rect">
            <a:avLst/>
          </a:prstGeom>
          <a:noFill/>
        </p:spPr>
        <p:txBody>
          <a:bodyPr wrap="square" anchor="t" lIns="0" rIns="0" tIns="0" bIns="0">
            <a:spAutoFit/>
          </a:bodyPr>
          <a:lstStyle/>
          <a:p>
            <a:r>
              <a:rPr sz="950" b="0" i="0" spc="40">
                <a:solidFill>
                  <a:srgbClr val="44546A"/>
                </a:solidFill>
                <a:latin typeface="Calibri"/>
              </a:rPr>
              <a:t>U.S. GOODS EXPORTS TO (2025)</a:t>
            </a:r>
          </a:p>
          <a:p>
            <a:pPr>
              <a:spcBef>
                <a:spcPts val="100"/>
              </a:spcBef>
            </a:pPr>
            <a:r>
              <a:rPr sz="1500" b="1" i="0">
                <a:solidFill>
                  <a:srgbClr val="1F3864"/>
                </a:solidFill>
                <a:latin typeface="Calibri"/>
              </a:rPr>
              <a:t>N/A</a:t>
            </a:r>
          </a:p>
        </p:txBody>
      </p:sp>
      <p:sp>
        <p:nvSpPr>
          <p:cNvPr id="13" name="TextBox 12"/>
          <p:cNvSpPr txBox="1"/>
          <p:nvPr/>
        </p:nvSpPr>
        <p:spPr>
          <a:xfrm>
            <a:off x="749808" y="4480560"/>
            <a:ext cx="2798064" cy="731520"/>
          </a:xfrm>
          <a:prstGeom prst="rect">
            <a:avLst/>
          </a:prstGeom>
          <a:noFill/>
        </p:spPr>
        <p:txBody>
          <a:bodyPr wrap="square" anchor="t" lIns="0" rIns="0" tIns="0" bIns="0">
            <a:spAutoFit/>
          </a:bodyPr>
          <a:lstStyle/>
          <a:p>
            <a:r>
              <a:rPr sz="950" b="0" i="0" spc="40">
                <a:solidFill>
                  <a:srgbClr val="44546A"/>
                </a:solidFill>
                <a:latin typeface="Calibri"/>
              </a:rPr>
              <a:t>U.S. GOODS IMPORTS FROM (2025)</a:t>
            </a:r>
          </a:p>
          <a:p>
            <a:pPr>
              <a:spcBef>
                <a:spcPts val="100"/>
              </a:spcBef>
            </a:pPr>
            <a:r>
              <a:rPr sz="1500" b="1" i="0">
                <a:solidFill>
                  <a:srgbClr val="1F3864"/>
                </a:solidFill>
                <a:latin typeface="Calibri"/>
              </a:rPr>
              <a:t>N/A</a:t>
            </a:r>
          </a:p>
        </p:txBody>
      </p:sp>
      <p:sp>
        <p:nvSpPr>
          <p:cNvPr id="14" name="TextBox 13"/>
          <p:cNvSpPr txBox="1"/>
          <p:nvPr/>
        </p:nvSpPr>
        <p:spPr>
          <a:xfrm>
            <a:off x="749808" y="5358383"/>
            <a:ext cx="2798064" cy="731520"/>
          </a:xfrm>
          <a:prstGeom prst="rect">
            <a:avLst/>
          </a:prstGeom>
          <a:noFill/>
        </p:spPr>
        <p:txBody>
          <a:bodyPr wrap="square" anchor="t" lIns="0" rIns="0" tIns="0" bIns="0">
            <a:spAutoFit/>
          </a:bodyPr>
          <a:lstStyle/>
          <a:p>
            <a:r>
              <a:rPr sz="950" b="0" i="0" spc="40">
                <a:solidFill>
                  <a:srgbClr val="44546A"/>
                </a:solidFill>
                <a:latin typeface="Calibri"/>
              </a:rPr>
              <a:t>U.S. BILATERAL BALANCE (2025)</a:t>
            </a:r>
          </a:p>
          <a:p>
            <a:pPr>
              <a:spcBef>
                <a:spcPts val="100"/>
              </a:spcBef>
            </a:pPr>
            <a:r>
              <a:rPr sz="1500" b="1" i="0">
                <a:solidFill>
                  <a:srgbClr val="44546A"/>
                </a:solidFill>
                <a:latin typeface="Calibri"/>
              </a:rPr>
              <a:t>N/A</a:t>
            </a:r>
          </a:p>
        </p:txBody>
      </p:sp>
      <p:sp>
        <p:nvSpPr>
          <p:cNvPr id="15" name="TextBox 14"/>
          <p:cNvSpPr txBox="1"/>
          <p:nvPr/>
        </p:nvSpPr>
        <p:spPr>
          <a:xfrm>
            <a:off x="4114800" y="1152144"/>
            <a:ext cx="7525512" cy="274320"/>
          </a:xfrm>
          <a:prstGeom prst="rect">
            <a:avLst/>
          </a:prstGeom>
          <a:noFill/>
        </p:spPr>
        <p:txBody>
          <a:bodyPr wrap="square" anchor="t" lIns="0" rIns="0" tIns="0" bIns="0">
            <a:spAutoFit/>
          </a:bodyPr>
          <a:lstStyle/>
          <a:p>
            <a:r>
              <a:rPr sz="1100" b="1" i="0" spc="120">
                <a:solidFill>
                  <a:srgbClr val="2E5A88"/>
                </a:solidFill>
                <a:latin typeface="Calibri"/>
              </a:rPr>
              <a:t>DIGITAL / TECHNOLOGY MINISTER</a:t>
            </a:r>
          </a:p>
        </p:txBody>
      </p:sp>
      <p:sp>
        <p:nvSpPr>
          <p:cNvPr id="16" name="TextBox 15"/>
          <p:cNvSpPr txBox="1"/>
          <p:nvPr/>
        </p:nvSpPr>
        <p:spPr>
          <a:xfrm>
            <a:off x="4114800" y="1426464"/>
            <a:ext cx="7525512" cy="292608"/>
          </a:xfrm>
          <a:prstGeom prst="rect">
            <a:avLst/>
          </a:prstGeom>
          <a:noFill/>
        </p:spPr>
        <p:txBody>
          <a:bodyPr wrap="square" anchor="t" lIns="0" rIns="0" tIns="0" bIns="0">
            <a:spAutoFit/>
          </a:bodyPr>
          <a:lstStyle/>
          <a:p>
            <a:r>
              <a:rPr sz="1450" b="1" i="0">
                <a:solidFill>
                  <a:srgbClr val="1F3864"/>
                </a:solidFill>
                <a:latin typeface="Calibri"/>
              </a:rPr>
              <a:t>Michael Kratsios</a:t>
            </a:r>
          </a:p>
        </p:txBody>
      </p:sp>
      <p:sp>
        <p:nvSpPr>
          <p:cNvPr id="17" name="TextBox 16"/>
          <p:cNvSpPr txBox="1"/>
          <p:nvPr/>
        </p:nvSpPr>
        <p:spPr>
          <a:xfrm>
            <a:off x="4114800" y="1719072"/>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Director of the Office of Science and Technology Policy (OSTP) and Assistant to the President for Science and Technology</a:t>
            </a:r>
          </a:p>
        </p:txBody>
      </p:sp>
      <p:sp>
        <p:nvSpPr>
          <p:cNvPr id="18" name="TextBox 17"/>
          <p:cNvSpPr txBox="1"/>
          <p:nvPr/>
        </p:nvSpPr>
        <p:spPr>
          <a:xfrm>
            <a:off x="4114800" y="2084832"/>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Executive Office of the President / White House Office of Science and Technology Policy</a:t>
            </a:r>
            <a:r>
              <a:rPr sz="1000" b="0" i="0">
                <a:solidFill>
                  <a:srgbClr val="7F7F7F"/>
                </a:solidFill>
                <a:latin typeface="Calibri"/>
              </a:rPr>
              <a:t>   ·   Assumed office: 2025-03-25</a:t>
            </a:r>
          </a:p>
        </p:txBody>
      </p:sp>
      <p:sp>
        <p:nvSpPr>
          <p:cNvPr id="19" name="TextBox 18"/>
          <p:cNvSpPr txBox="1"/>
          <p:nvPr/>
        </p:nvSpPr>
        <p:spPr>
          <a:xfrm>
            <a:off x="4114800" y="2468880"/>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Michael Kratsios is the 13th Director of the White House Office of Science and Technology Policy and the President's science and technology adviser, confirmed by the Senate on March 25, 2025, by a 74-25 vote. He served as U.S. Chief Technology Officer during Trump's first term and later as Under Secretary of Defense for Research and Engineering, and was a managing director at Scale AI. He leads the administration's AI Action Plan and coordinates federal policy on artificial intelligence, quantum computing, and emerging technologies. He remains in office as of July 2026.</a:t>
            </a:r>
          </a:p>
          <a:p>
            <a:pPr>
              <a:spcBef>
                <a:spcPts val="600"/>
              </a:spcBef>
            </a:pPr>
            <a:r>
              <a:rPr sz="950" b="1" i="1">
                <a:solidFill>
                  <a:srgbClr val="2E5A88"/>
                </a:solidFill>
                <a:latin typeface="Calibri"/>
              </a:rPr>
              <a:t>Division of responsibility:  </a:t>
            </a:r>
            <a:r>
              <a:rPr sz="950" b="0" i="1">
                <a:solidFill>
                  <a:srgbClr val="44546A"/>
                </a:solidFill>
                <a:latin typeface="Calibri"/>
              </a:rPr>
              <a:t>also Arielle Roth (Assistant Secretary of Commerce for Communications and Information and Administrator, National Telecommunications and Information Administration (NTIA))</a:t>
            </a:r>
          </a:p>
        </p:txBody>
      </p:sp>
      <p:cxnSp>
        <p:nvCxnSpPr>
          <p:cNvPr id="20" name="Connector 19"/>
          <p:cNvCxnSpPr/>
          <p:nvPr/>
        </p:nvCxnSpPr>
        <p:spPr>
          <a:xfrm>
            <a:off x="4114800" y="3758184"/>
            <a:ext cx="752551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0" y="3785615"/>
            <a:ext cx="7525512" cy="274320"/>
          </a:xfrm>
          <a:prstGeom prst="rect">
            <a:avLst/>
          </a:prstGeom>
          <a:noFill/>
        </p:spPr>
        <p:txBody>
          <a:bodyPr wrap="square" anchor="t" lIns="0" rIns="0" tIns="0" bIns="0">
            <a:spAutoFit/>
          </a:bodyPr>
          <a:lstStyle/>
          <a:p>
            <a:r>
              <a:rPr sz="1100" b="1" i="0" spc="120">
                <a:solidFill>
                  <a:srgbClr val="2E5A88"/>
                </a:solidFill>
                <a:latin typeface="Calibri"/>
              </a:rPr>
              <a:t>TRADE / COMMERCE MINISTER</a:t>
            </a:r>
          </a:p>
        </p:txBody>
      </p:sp>
      <p:sp>
        <p:nvSpPr>
          <p:cNvPr id="22" name="TextBox 21"/>
          <p:cNvSpPr txBox="1"/>
          <p:nvPr/>
        </p:nvSpPr>
        <p:spPr>
          <a:xfrm>
            <a:off x="4114800" y="4059935"/>
            <a:ext cx="7525512" cy="292608"/>
          </a:xfrm>
          <a:prstGeom prst="rect">
            <a:avLst/>
          </a:prstGeom>
          <a:noFill/>
        </p:spPr>
        <p:txBody>
          <a:bodyPr wrap="square" anchor="t" lIns="0" rIns="0" tIns="0" bIns="0">
            <a:spAutoFit/>
          </a:bodyPr>
          <a:lstStyle/>
          <a:p>
            <a:r>
              <a:rPr sz="1450" b="1" i="0">
                <a:solidFill>
                  <a:srgbClr val="1F3864"/>
                </a:solidFill>
                <a:latin typeface="Calibri"/>
              </a:rPr>
              <a:t>Howard Lutnick</a:t>
            </a:r>
          </a:p>
        </p:txBody>
      </p:sp>
      <p:sp>
        <p:nvSpPr>
          <p:cNvPr id="23" name="TextBox 22"/>
          <p:cNvSpPr txBox="1"/>
          <p:nvPr/>
        </p:nvSpPr>
        <p:spPr>
          <a:xfrm>
            <a:off x="4114800" y="4352544"/>
            <a:ext cx="7525512" cy="365760"/>
          </a:xfrm>
          <a:prstGeom prst="rect">
            <a:avLst/>
          </a:prstGeom>
          <a:noFill/>
        </p:spPr>
        <p:txBody>
          <a:bodyPr wrap="square" anchor="t" lIns="0" rIns="0" tIns="0" bIns="0">
            <a:spAutoFit/>
          </a:bodyPr>
          <a:lstStyle/>
          <a:p>
            <a:pPr>
              <a:lnSpc>
                <a:spcPct val="105000"/>
              </a:lnSpc>
            </a:pPr>
            <a:r>
              <a:rPr sz="1100" b="0" i="1">
                <a:solidFill>
                  <a:srgbClr val="44546A"/>
                </a:solidFill>
                <a:latin typeface="Calibri"/>
              </a:rPr>
              <a:t>United States Secretary of Commerce</a:t>
            </a:r>
          </a:p>
        </p:txBody>
      </p:sp>
      <p:sp>
        <p:nvSpPr>
          <p:cNvPr id="24" name="TextBox 23"/>
          <p:cNvSpPr txBox="1"/>
          <p:nvPr/>
        </p:nvSpPr>
        <p:spPr>
          <a:xfrm>
            <a:off x="4114800" y="4718304"/>
            <a:ext cx="7525512" cy="347472"/>
          </a:xfrm>
          <a:prstGeom prst="rect">
            <a:avLst/>
          </a:prstGeom>
          <a:noFill/>
        </p:spPr>
        <p:txBody>
          <a:bodyPr wrap="square" anchor="t" lIns="0" rIns="0" tIns="0" bIns="0">
            <a:spAutoFit/>
          </a:bodyPr>
          <a:lstStyle/>
          <a:p>
            <a:pPr>
              <a:lnSpc>
                <a:spcPct val="105000"/>
              </a:lnSpc>
            </a:pPr>
            <a:r>
              <a:rPr sz="1000" b="0" i="0">
                <a:solidFill>
                  <a:srgbClr val="262626"/>
                </a:solidFill>
                <a:latin typeface="Calibri"/>
              </a:rPr>
              <a:t>U.S. Department of Commerce</a:t>
            </a:r>
            <a:r>
              <a:rPr sz="1000" b="0" i="0">
                <a:solidFill>
                  <a:srgbClr val="7F7F7F"/>
                </a:solidFill>
                <a:latin typeface="Calibri"/>
              </a:rPr>
              <a:t>   ·   Assumed office: 2025-02-21</a:t>
            </a:r>
          </a:p>
        </p:txBody>
      </p:sp>
      <p:sp>
        <p:nvSpPr>
          <p:cNvPr id="25" name="TextBox 24"/>
          <p:cNvSpPr txBox="1"/>
          <p:nvPr/>
        </p:nvSpPr>
        <p:spPr>
          <a:xfrm>
            <a:off x="4114800" y="5102352"/>
            <a:ext cx="7525512" cy="1261872"/>
          </a:xfrm>
          <a:prstGeom prst="rect">
            <a:avLst/>
          </a:prstGeom>
          <a:noFill/>
        </p:spPr>
        <p:txBody>
          <a:bodyPr wrap="square" anchor="t" lIns="0" rIns="0" tIns="0" bIns="0">
            <a:spAutoFit/>
          </a:bodyPr>
          <a:lstStyle/>
          <a:p>
            <a:pPr>
              <a:lnSpc>
                <a:spcPct val="103000"/>
              </a:lnSpc>
            </a:pPr>
            <a:r>
              <a:rPr sz="1100" b="0" i="0">
                <a:solidFill>
                  <a:srgbClr val="262626"/>
                </a:solidFill>
                <a:latin typeface="Calibri"/>
              </a:rPr>
              <a:t>Howard William Lutnick (born July 14, 1961) is the 41st U.S. Secretary of Commerce, confirmed by the Senate on February 18, 2025, by a 51-45 vote and sworn in that month. For decades he was chairman and CEO of Cantor Fitzgerald and BGC Group, rebuilding Cantor after it lost 658 employees on 9/11, and he co-chaired President Trump's 2024-25 transition. As Commerce Secretary he oversees trade policy, tariffs, export controls, industry promotion, and the Census, and is a leading architect of the America First trade agenda. He remains in office as of July 2026.</a:t>
            </a:r>
          </a:p>
          <a:p>
            <a:pPr>
              <a:spcBef>
                <a:spcPts val="600"/>
              </a:spcBef>
            </a:pPr>
            <a:r>
              <a:rPr sz="950" b="1" i="1">
                <a:solidFill>
                  <a:srgbClr val="2E5A88"/>
                </a:solidFill>
                <a:latin typeface="Calibri"/>
              </a:rPr>
              <a:t>Division of responsibility:  </a:t>
            </a:r>
            <a:r>
              <a:rPr sz="950" b="0" i="1">
                <a:solidFill>
                  <a:srgbClr val="44546A"/>
                </a:solidFill>
                <a:latin typeface="Calibri"/>
              </a:rPr>
              <a:t>Howard Lutnick (Secretary of Commerce) leads trade/industrial policy &amp; export controls; Jamieson Greer (U.S. Trade Representative, ambassador rank) is the chief trade negotiator.</a:t>
            </a:r>
          </a:p>
        </p:txBody>
      </p:sp>
      <p:cxnSp>
        <p:nvCxnSpPr>
          <p:cNvPr id="26" name="Connector 25"/>
          <p:cNvCxnSpPr/>
          <p:nvPr/>
        </p:nvCxnSpPr>
        <p:spPr>
          <a:xfrm>
            <a:off x="548640" y="6400800"/>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46520"/>
            <a:ext cx="9601200" cy="310896"/>
          </a:xfrm>
          <a:prstGeom prst="rect">
            <a:avLst/>
          </a:prstGeom>
          <a:noFill/>
        </p:spPr>
        <p:txBody>
          <a:bodyPr wrap="square" anchor="t" lIns="0" rIns="0" tIns="0" bIns="0">
            <a:spAutoFit/>
          </a:bodyPr>
          <a:lstStyle/>
          <a:p>
            <a:r>
              <a:rPr sz="800" b="1" i="0">
                <a:solidFill>
                  <a:srgbClr val="7F7F7F"/>
                </a:solidFill>
                <a:latin typeface="Calibri"/>
              </a:rPr>
              <a:t>Sources: </a:t>
            </a:r>
            <a:r>
              <a:rPr sz="800" b="0" i="0">
                <a:solidFill>
                  <a:srgbClr val="7F7F7F"/>
                </a:solidFill>
                <a:latin typeface="Calibri"/>
              </a:rPr>
              <a:t>GDP — IMF WEO 2025 · U.S. goods trade — U.S. Census 2025 · ministers verified 2026-07-16. See Sources &amp; Caveats slide.</a:t>
            </a:r>
          </a:p>
        </p:txBody>
      </p:sp>
      <p:sp>
        <p:nvSpPr>
          <p:cNvPr id="28" name="TextBox 27"/>
          <p:cNvSpPr txBox="1"/>
          <p:nvPr/>
        </p:nvSpPr>
        <p:spPr>
          <a:xfrm>
            <a:off x="10607040" y="6446520"/>
            <a:ext cx="1033271" cy="310896"/>
          </a:xfrm>
          <a:prstGeom prst="rect">
            <a:avLst/>
          </a:prstGeom>
          <a:noFill/>
        </p:spPr>
        <p:txBody>
          <a:bodyPr wrap="square" anchor="t" lIns="0" rIns="0" tIns="0" bIns="0">
            <a:spAutoFit/>
          </a:bodyPr>
          <a:lstStyle/>
          <a:p>
            <a:pPr algn="r"/>
            <a:r>
              <a:rPr sz="800" b="0" i="0">
                <a:solidFill>
                  <a:srgbClr val="7F7F7F"/>
                </a:solidFill>
                <a:latin typeface="Calibri"/>
              </a:rPr>
              <a:t>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54864"/>
          </a:xfrm>
          <a:prstGeom prst="rect">
            <a:avLst/>
          </a:prstGeom>
          <a:solidFill>
            <a:srgbClr val="2E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1091672" cy="658368"/>
          </a:xfrm>
          <a:prstGeom prst="rect">
            <a:avLst/>
          </a:prstGeom>
          <a:noFill/>
        </p:spPr>
        <p:txBody>
          <a:bodyPr wrap="square" anchor="ctr" lIns="0" rIns="0" tIns="0" bIns="0">
            <a:spAutoFit/>
          </a:bodyPr>
          <a:lstStyle/>
          <a:p>
            <a:r>
              <a:rPr sz="2400" b="1" i="0">
                <a:solidFill>
                  <a:srgbClr val="FFFFFF"/>
                </a:solidFill>
                <a:latin typeface="Calibri"/>
              </a:rPr>
              <a:t>Sources &amp; Caveats</a:t>
            </a:r>
          </a:p>
        </p:txBody>
      </p:sp>
      <p:sp>
        <p:nvSpPr>
          <p:cNvPr id="6" name="TextBox 5"/>
          <p:cNvSpPr txBox="1"/>
          <p:nvPr/>
        </p:nvSpPr>
        <p:spPr>
          <a:xfrm>
            <a:off x="548640" y="603504"/>
            <a:ext cx="11091672" cy="274320"/>
          </a:xfrm>
          <a:prstGeom prst="rect">
            <a:avLst/>
          </a:prstGeom>
          <a:noFill/>
        </p:spPr>
        <p:txBody>
          <a:bodyPr wrap="square" anchor="t" lIns="0" rIns="0" tIns="0" bIns="0">
            <a:spAutoFit/>
          </a:bodyPr>
          <a:lstStyle/>
          <a:p>
            <a:r>
              <a:rPr sz="1100" b="0" i="0">
                <a:solidFill>
                  <a:srgbClr val="B9C5DC"/>
                </a:solidFill>
                <a:latin typeface="Calibri"/>
              </a:rPr>
              <a:t>datasets, vintages, and flagged uncertainties</a:t>
            </a:r>
          </a:p>
        </p:txBody>
      </p:sp>
      <p:sp>
        <p:nvSpPr>
          <p:cNvPr id="7" name="TextBox 6"/>
          <p:cNvSpPr txBox="1"/>
          <p:nvPr/>
        </p:nvSpPr>
        <p:spPr>
          <a:xfrm>
            <a:off x="548640" y="1188720"/>
            <a:ext cx="5532120" cy="5303520"/>
          </a:xfrm>
          <a:prstGeom prst="rect">
            <a:avLst/>
          </a:prstGeom>
          <a:noFill/>
        </p:spPr>
        <p:txBody>
          <a:bodyPr wrap="square" anchor="t" lIns="0" rIns="0" tIns="0" bIns="0">
            <a:spAutoFit/>
          </a:bodyPr>
          <a:lstStyle/>
          <a:p>
            <a:pPr>
              <a:spcBef>
                <a:spcPts val="0"/>
              </a:spcBef>
              <a:spcAft>
                <a:spcPts val="300"/>
              </a:spcAft>
            </a:pPr>
            <a:r>
              <a:rPr sz="1200" b="1" i="0" spc="60">
                <a:solidFill>
                  <a:srgbClr val="1F3864"/>
                </a:solidFill>
                <a:latin typeface="Calibri"/>
              </a:rPr>
              <a:t>DATASETS &amp; VINTAGES</a:t>
            </a:r>
          </a:p>
          <a:p>
            <a:pPr>
              <a:spcAft>
                <a:spcPts val="200"/>
              </a:spcAft>
            </a:pPr>
            <a:r>
              <a:rPr sz="1050" b="0" i="0">
                <a:solidFill>
                  <a:srgbClr val="2E5A88"/>
                </a:solidFill>
                <a:latin typeface="Calibri"/>
              </a:rPr>
              <a:t>•  </a:t>
            </a:r>
            <a:r>
              <a:rPr sz="1050" b="0" i="0">
                <a:solidFill>
                  <a:srgbClr val="262626"/>
                </a:solidFill>
                <a:latin typeface="Calibri"/>
              </a:rPr>
              <a:t>GDP (nominal, current USD): IMF World Economic Outlook, Oct 2025 (2025 estimates), via StatisticsTimes tabulation.</a:t>
            </a:r>
          </a:p>
          <a:p>
            <a:pPr>
              <a:spcAft>
                <a:spcPts val="200"/>
              </a:spcAft>
            </a:pPr>
            <a:r>
              <a:rPr sz="1050" b="0" i="0">
                <a:solidFill>
                  <a:srgbClr val="2E5A88"/>
                </a:solidFill>
                <a:latin typeface="Calibri"/>
              </a:rPr>
              <a:t>•  </a:t>
            </a:r>
            <a:r>
              <a:rPr sz="1050" b="0" i="0">
                <a:solidFill>
                  <a:srgbClr val="262626"/>
                </a:solidFill>
                <a:latin typeface="Calibri"/>
              </a:rPr>
              <a:t>U.S. bilateral goods trade: U.S. Census Bureau, full-year 2025, via USTR country fact sheets and the Census/UN-COMTRADE series (Trading Economics mirror).</a:t>
            </a:r>
          </a:p>
          <a:p>
            <a:pPr>
              <a:spcAft>
                <a:spcPts val="200"/>
              </a:spcAft>
            </a:pPr>
            <a:r>
              <a:rPr sz="1050" b="0" i="0">
                <a:solidFill>
                  <a:srgbClr val="2E5A88"/>
                </a:solidFill>
                <a:latin typeface="Calibri"/>
              </a:rPr>
              <a:t>•  </a:t>
            </a:r>
            <a:r>
              <a:rPr sz="1050" b="0" i="0">
                <a:solidFill>
                  <a:srgbClr val="262626"/>
                </a:solidFill>
                <a:latin typeface="Calibri"/>
              </a:rPr>
              <a:t>Overall trade balances: national statistics offices / IMF, latest full year, goods basis unless noted.</a:t>
            </a:r>
          </a:p>
          <a:p>
            <a:pPr>
              <a:spcAft>
                <a:spcPts val="200"/>
              </a:spcAft>
            </a:pPr>
            <a:r>
              <a:rPr sz="1050" b="0" i="0">
                <a:solidFill>
                  <a:srgbClr val="2E5A88"/>
                </a:solidFill>
                <a:latin typeface="Calibri"/>
              </a:rPr>
              <a:t>•  </a:t>
            </a:r>
            <a:r>
              <a:rPr sz="1050" b="0" i="0">
                <a:solidFill>
                  <a:srgbClr val="262626"/>
                </a:solidFill>
                <a:latin typeface="Calibri"/>
              </a:rPr>
              <a:t>Flags: hampusborgos/country-flags (public domain); Wikimedia Commons was egress-blocked in the build environment.</a:t>
            </a:r>
          </a:p>
          <a:p>
            <a:pPr>
              <a:spcBef>
                <a:spcPts val="1000"/>
              </a:spcBef>
              <a:spcAft>
                <a:spcPts val="300"/>
              </a:spcAft>
            </a:pPr>
            <a:r>
              <a:rPr sz="1200" b="1" i="0" spc="60">
                <a:solidFill>
                  <a:srgbClr val="1F3864"/>
                </a:solidFill>
                <a:latin typeface="Calibri"/>
              </a:rPr>
              <a:t>BASIS &amp; CONVERSION</a:t>
            </a:r>
          </a:p>
          <a:p>
            <a:pPr>
              <a:spcAft>
                <a:spcPts val="200"/>
              </a:spcAft>
            </a:pPr>
            <a:r>
              <a:rPr sz="1050" b="0" i="0">
                <a:solidFill>
                  <a:srgbClr val="2E5A88"/>
                </a:solidFill>
                <a:latin typeface="Calibri"/>
              </a:rPr>
              <a:t>•  </a:t>
            </a:r>
            <a:r>
              <a:rPr sz="1050" b="0" i="0">
                <a:solidFill>
                  <a:srgbClr val="262626"/>
                </a:solidFill>
                <a:latin typeface="Calibri"/>
              </a:rPr>
              <a:t>Australia's overall balance is goods+services; India's is fiscal year 2025-26. All others goods-only, calendar 2025.</a:t>
            </a:r>
          </a:p>
          <a:p>
            <a:pPr>
              <a:spcAft>
                <a:spcPts val="200"/>
              </a:spcAft>
            </a:pPr>
            <a:r>
              <a:rPr sz="1050" b="0" i="0">
                <a:solidFill>
                  <a:srgbClr val="2E5A88"/>
                </a:solidFill>
                <a:latin typeface="Calibri"/>
              </a:rPr>
              <a:t>•  </a:t>
            </a:r>
            <a:r>
              <a:rPr sz="1050" b="0" i="0">
                <a:solidFill>
                  <a:srgbClr val="262626"/>
                </a:solidFill>
                <a:latin typeface="Calibri"/>
              </a:rPr>
              <a:t>Several overall balances are converted from local currency (EUR/GBP/CAD/AUD/JPY/SAR) at ~2025 average rates; USD values carry exchange-rate uncertainty.</a:t>
            </a:r>
          </a:p>
          <a:p>
            <a:pPr>
              <a:spcAft>
                <a:spcPts val="200"/>
              </a:spcAft>
            </a:pPr>
            <a:r>
              <a:rPr sz="1050" b="0" i="0">
                <a:solidFill>
                  <a:srgbClr val="2E5A88"/>
                </a:solidFill>
                <a:latin typeface="Calibri"/>
              </a:rPr>
              <a:t>•  </a:t>
            </a:r>
            <a:r>
              <a:rPr sz="1050" b="0" i="0">
                <a:solidFill>
                  <a:srgbClr val="262626"/>
                </a:solidFill>
                <a:latin typeface="Calibri"/>
              </a:rPr>
              <a:t>census.gov, imf.org and many national sites returned HTTP 403 to automated fetching; figures came from official-data-derived channels, not read off the primary page.</a:t>
            </a:r>
          </a:p>
        </p:txBody>
      </p:sp>
      <p:sp>
        <p:nvSpPr>
          <p:cNvPr id="8" name="TextBox 7"/>
          <p:cNvSpPr txBox="1"/>
          <p:nvPr/>
        </p:nvSpPr>
        <p:spPr>
          <a:xfrm>
            <a:off x="6355080" y="1188720"/>
            <a:ext cx="5303520" cy="5303520"/>
          </a:xfrm>
          <a:prstGeom prst="rect">
            <a:avLst/>
          </a:prstGeom>
          <a:noFill/>
        </p:spPr>
        <p:txBody>
          <a:bodyPr wrap="square" anchor="t" lIns="0" rIns="0" tIns="0" bIns="0">
            <a:spAutoFit/>
          </a:bodyPr>
          <a:lstStyle/>
          <a:p>
            <a:pPr>
              <a:spcBef>
                <a:spcPts val="0"/>
              </a:spcBef>
              <a:spcAft>
                <a:spcPts val="300"/>
              </a:spcAft>
            </a:pPr>
            <a:r>
              <a:rPr sz="1200" b="1" i="0" spc="60">
                <a:solidFill>
                  <a:srgbClr val="1F3864"/>
                </a:solidFill>
                <a:latin typeface="Calibri"/>
              </a:rPr>
              <a:t>FLAGGED — NEEDS CHECK</a:t>
            </a:r>
          </a:p>
          <a:p>
            <a:pPr>
              <a:spcAft>
                <a:spcPts val="200"/>
              </a:spcAft>
            </a:pPr>
            <a:r>
              <a:rPr sz="1050" b="0" i="0">
                <a:solidFill>
                  <a:srgbClr val="B97A00"/>
                </a:solidFill>
                <a:latin typeface="Calibri"/>
              </a:rPr>
              <a:t>•  </a:t>
            </a:r>
            <a:r>
              <a:rPr sz="1050" b="1" i="0">
                <a:solidFill>
                  <a:srgbClr val="262626"/>
                </a:solidFill>
                <a:latin typeface="Calibri"/>
              </a:rPr>
              <a:t>Australia: </a:t>
            </a:r>
            <a:r>
              <a:rPr sz="1000" b="0" i="0">
                <a:solidFill>
                  <a:srgbClr val="44546A"/>
                </a:solidFill>
                <a:latin typeface="Calibri"/>
              </a:rPr>
              <a:t>Overall trade balance (goods+services, 2025) flagged 'Needs check'.; GDP value low-confidence (secondary IMF-based aggregator; may reflect Apr-2026 WEO revision).</a:t>
            </a:r>
          </a:p>
          <a:p>
            <a:pPr>
              <a:spcAft>
                <a:spcPts val="200"/>
              </a:spcAft>
            </a:pPr>
            <a:r>
              <a:rPr sz="1050" b="0" i="0">
                <a:solidFill>
                  <a:srgbClr val="B97A00"/>
                </a:solidFill>
                <a:latin typeface="Calibri"/>
              </a:rPr>
              <a:t>•  </a:t>
            </a:r>
            <a:r>
              <a:rPr sz="1050" b="1" i="0">
                <a:solidFill>
                  <a:srgbClr val="262626"/>
                </a:solidFill>
                <a:latin typeface="Calibri"/>
              </a:rPr>
              <a:t>Brazil: </a:t>
            </a:r>
            <a:r>
              <a:rPr sz="1000" b="0" i="0">
                <a:solidFill>
                  <a:srgbClr val="44546A"/>
                </a:solidFill>
                <a:latin typeface="Calibri"/>
              </a:rPr>
              <a:t>GDP value low-confidence (secondary IMF-based aggregator; may reflect Apr-2026 WEO revision).</a:t>
            </a:r>
          </a:p>
          <a:p>
            <a:pPr>
              <a:spcAft>
                <a:spcPts val="200"/>
              </a:spcAft>
            </a:pPr>
            <a:r>
              <a:rPr sz="1050" b="0" i="0">
                <a:solidFill>
                  <a:srgbClr val="B97A00"/>
                </a:solidFill>
                <a:latin typeface="Calibri"/>
              </a:rPr>
              <a:t>•  </a:t>
            </a:r>
            <a:r>
              <a:rPr sz="1050" b="1" i="0">
                <a:solidFill>
                  <a:srgbClr val="262626"/>
                </a:solidFill>
                <a:latin typeface="Calibri"/>
              </a:rPr>
              <a:t>France: </a:t>
            </a:r>
            <a:r>
              <a:rPr sz="1000" b="0" i="0">
                <a:solidFill>
                  <a:srgbClr val="44546A"/>
                </a:solidFill>
                <a:latin typeface="Calibri"/>
              </a:rPr>
              <a:t>U.S. bilateral goods figures low-confidence (EU member without standalone USTR fact sheet).</a:t>
            </a:r>
          </a:p>
          <a:p>
            <a:pPr>
              <a:spcAft>
                <a:spcPts val="200"/>
              </a:spcAft>
            </a:pPr>
            <a:r>
              <a:rPr sz="1050" b="0" i="0">
                <a:solidFill>
                  <a:srgbClr val="B97A00"/>
                </a:solidFill>
                <a:latin typeface="Calibri"/>
              </a:rPr>
              <a:t>•  </a:t>
            </a:r>
            <a:r>
              <a:rPr sz="1050" b="1" i="0">
                <a:solidFill>
                  <a:srgbClr val="262626"/>
                </a:solidFill>
                <a:latin typeface="Calibri"/>
              </a:rPr>
              <a:t>Mexico: </a:t>
            </a:r>
            <a:r>
              <a:rPr sz="1000" b="0" i="0">
                <a:solidFill>
                  <a:srgbClr val="44546A"/>
                </a:solidFill>
                <a:latin typeface="Calibri"/>
              </a:rPr>
              <a:t>GDP value low-confidence (secondary IMF-based aggregator; may reflect Apr-2026 WEO revision).</a:t>
            </a:r>
          </a:p>
          <a:p>
            <a:pPr>
              <a:spcAft>
                <a:spcPts val="200"/>
              </a:spcAft>
            </a:pPr>
            <a:r>
              <a:rPr sz="1050" b="0" i="0">
                <a:solidFill>
                  <a:srgbClr val="B97A00"/>
                </a:solidFill>
                <a:latin typeface="Calibri"/>
              </a:rPr>
              <a:t>•  </a:t>
            </a:r>
            <a:r>
              <a:rPr sz="1050" b="1" i="0">
                <a:solidFill>
                  <a:srgbClr val="262626"/>
                </a:solidFill>
                <a:latin typeface="Calibri"/>
              </a:rPr>
              <a:t>Poland: </a:t>
            </a:r>
            <a:r>
              <a:rPr sz="1000" b="0" i="0">
                <a:solidFill>
                  <a:srgbClr val="44546A"/>
                </a:solidFill>
                <a:latin typeface="Calibri"/>
              </a:rPr>
              <a:t>GDP value low-confidence (secondary IMF-based aggregator; may reflect Apr-2026 WEO revision).; U.S. bilateral goods figures medium-confidence (EU member without standalone USTR fact sheet).</a:t>
            </a:r>
          </a:p>
          <a:p>
            <a:pPr>
              <a:spcBef>
                <a:spcPts val="1000"/>
              </a:spcBef>
              <a:spcAft>
                <a:spcPts val="300"/>
              </a:spcAft>
            </a:pPr>
            <a:r>
              <a:rPr sz="1200" b="1" i="0" spc="60">
                <a:solidFill>
                  <a:srgbClr val="1F3864"/>
                </a:solidFill>
                <a:latin typeface="Calibri"/>
              </a:rPr>
              <a:t>FLAGGED — VACANT / ACTING</a:t>
            </a:r>
          </a:p>
          <a:p>
            <a:pPr>
              <a:spcAft>
                <a:spcPts val="200"/>
              </a:spcAft>
            </a:pPr>
            <a:r>
              <a:rPr sz="1050" b="0" i="0">
                <a:solidFill>
                  <a:srgbClr val="C05A00"/>
                </a:solidFill>
                <a:latin typeface="Calibri"/>
              </a:rPr>
              <a:t>•  </a:t>
            </a:r>
            <a:r>
              <a:rPr sz="1050" b="1" i="0">
                <a:solidFill>
                  <a:srgbClr val="262626"/>
                </a:solidFill>
                <a:latin typeface="Calibri"/>
              </a:rPr>
              <a:t>Argentina: </a:t>
            </a:r>
            <a:r>
              <a:rPr sz="1000" b="0" i="0">
                <a:solidFill>
                  <a:srgbClr val="44546A"/>
                </a:solidFill>
                <a:latin typeface="Calibri"/>
              </a:rPr>
              <a:t>Pablo Lavigne — Secretary of Production Coordination (exercising Industry &amp; Commerce functions)</a:t>
            </a:r>
          </a:p>
          <a:p>
            <a:pPr>
              <a:spcAft>
                <a:spcPts val="200"/>
              </a:spcAft>
            </a:pPr>
            <a:r>
              <a:rPr sz="1050" b="0" i="0">
                <a:solidFill>
                  <a:srgbClr val="C05A00"/>
                </a:solidFill>
                <a:latin typeface="Calibri"/>
              </a:rPr>
              <a:t>•  </a:t>
            </a:r>
            <a:r>
              <a:rPr sz="1050" b="1" i="0">
                <a:solidFill>
                  <a:srgbClr val="262626"/>
                </a:solidFill>
                <a:latin typeface="Calibri"/>
              </a:rPr>
              <a:t>Saudi Arabia: </a:t>
            </a:r>
            <a:r>
              <a:rPr sz="1000" b="0" i="0">
                <a:solidFill>
                  <a:srgbClr val="44546A"/>
                </a:solidFill>
                <a:latin typeface="Calibri"/>
              </a:rPr>
              <a:t>Mohammed bin Abdulaziz Al-Abduljabbar — Acting Governor, General Authority for Foreign Trade (GAFT)</a:t>
            </a:r>
          </a:p>
          <a:p>
            <a:pPr>
              <a:spcBef>
                <a:spcPts val="1000"/>
              </a:spcBef>
              <a:spcAft>
                <a:spcPts val="300"/>
              </a:spcAft>
            </a:pPr>
            <a:r>
              <a:rPr sz="1200" b="1" i="0" spc="60">
                <a:solidFill>
                  <a:srgbClr val="1F3864"/>
                </a:solidFill>
                <a:latin typeface="Calibri"/>
              </a:rPr>
              <a:t>DATA-QUALITY CORRECTION</a:t>
            </a:r>
          </a:p>
          <a:p>
            <a:r>
              <a:rPr sz="1050" b="0" i="0">
                <a:solidFill>
                  <a:srgbClr val="2E5A88"/>
                </a:solidFill>
                <a:latin typeface="Calibri"/>
              </a:rPr>
              <a:t>•  </a:t>
            </a:r>
            <a:r>
              <a:rPr sz="1000" b="0" i="0">
                <a:solidFill>
                  <a:srgbClr val="44546A"/>
                </a:solidFill>
                <a:latin typeface="Calibri"/>
              </a:rPr>
              <a:t>Saudi Arabia's raw trade-officials list wrongly included the U.S. Commerce Secretary and USTR (context bleed); removed and corrected.</a:t>
            </a:r>
          </a:p>
          <a:p>
            <a:pPr>
              <a:spcBef>
                <a:spcPts val="1000"/>
              </a:spcBef>
              <a:spcAft>
                <a:spcPts val="300"/>
              </a:spcAft>
            </a:pPr>
            <a:r>
              <a:rPr sz="1200" b="1" i="0" spc="60">
                <a:solidFill>
                  <a:srgbClr val="1F3864"/>
                </a:solidFill>
                <a:latin typeface="Calibri"/>
              </a:rPr>
              <a:t>SCOPE NOTE</a:t>
            </a:r>
          </a:p>
          <a:p>
            <a:r>
              <a:rPr sz="1050" b="0" i="0">
                <a:solidFill>
                  <a:srgbClr val="2E5A88"/>
                </a:solidFill>
                <a:latin typeface="Calibri"/>
              </a:rPr>
              <a:t>•  </a:t>
            </a:r>
            <a:r>
              <a:rPr sz="1000" b="0" i="0">
                <a:solidFill>
                  <a:srgbClr val="44546A"/>
                </a:solidFill>
                <a:latin typeface="Calibri"/>
              </a:rPr>
              <a:t>Poland substituted for South Africa. EU and AU are G20 members but are bloc seats, not covered here.</a:t>
            </a:r>
          </a:p>
        </p:txBody>
      </p:sp>
      <p:cxnSp>
        <p:nvCxnSpPr>
          <p:cNvPr id="9" name="Connector 8"/>
          <p:cNvCxnSpPr/>
          <p:nvPr/>
        </p:nvCxnSpPr>
        <p:spPr>
          <a:xfrm>
            <a:off x="548640" y="6419088"/>
            <a:ext cx="11091672" cy="0"/>
          </a:xfrm>
          <a:prstGeom prst="bentConnector3">
            <a:avLst/>
          </a:prstGeom>
          <a:ln w="12700">
            <a:solidFill>
              <a:srgbClr val="D6DCE5"/>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48640" y="6464808"/>
            <a:ext cx="11091672" cy="292608"/>
          </a:xfrm>
          <a:prstGeom prst="rect">
            <a:avLst/>
          </a:prstGeom>
          <a:noFill/>
        </p:spPr>
        <p:txBody>
          <a:bodyPr wrap="square" anchor="t" lIns="0" rIns="0" tIns="0" bIns="0">
            <a:spAutoFit/>
          </a:bodyPr>
          <a:lstStyle/>
          <a:p>
            <a:r>
              <a:rPr sz="850" b="0" i="1">
                <a:solidFill>
                  <a:srgbClr val="7F7F7F"/>
                </a:solidFill>
                <a:latin typeface="Calibri"/>
              </a:rPr>
              <a:t>Full per-country sourcing with URLs and as-of dates: research/g20-research.md · gaps register: output/GAPS.md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