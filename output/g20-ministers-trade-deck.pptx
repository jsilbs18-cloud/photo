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7.png"/><Relationship Id="rId4" Type="http://schemas.openxmlformats.org/officeDocument/2006/relationships/image" Target="../media/image53.png"/><Relationship Id="rId5"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3.png"/><Relationship Id="rId4" Type="http://schemas.openxmlformats.org/officeDocument/2006/relationships/image" Target="../media/image5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3.png"/><Relationship Id="rId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43.png"/><Relationship Id="rId5" Type="http://schemas.openxmlformats.org/officeDocument/2006/relationships/image" Target="../media/image68.png"/><Relationship Id="rId6" Type="http://schemas.openxmlformats.org/officeDocument/2006/relationships/image" Target="../media/image6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&amp; Scope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19 G20 sovereign members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6858000" cy="4846320"/>
          </a:xfrm>
          <a:prstGeom prst="rect">
            <a:avLst/>
          </a:prstGeom>
          <a:noFill/>
        </p:spPr>
        <p:txBody>
          <a:bodyPr wrap="square" anchor="t" lIns="0" rIns="0" tIns="0" bIns="0">
            <a:spAutoFit/>
          </a:bodyPr>
          <a:lstStyle/>
          <a:p>
            <a:pPr>
              <a:spcAft>
                <a:spcPts val="700"/>
              </a:spcAft>
            </a:pPr>
            <a:r>
              <a:rPr sz="1200" b="1" i="0">
                <a:solidFill>
                  <a:srgbClr val="0A314D"/>
                </a:solidFill>
                <a:latin typeface="Open Sans"/>
              </a:rPr>
              <a:t>Countries (19):  </a:t>
            </a:r>
            <a:r>
              <a:rPr sz="1200" b="0" i="0">
                <a:solidFill>
                  <a:srgbClr val="2C2C2C"/>
                </a:solidFill>
                <a:latin typeface="Open Sans"/>
              </a:rPr>
              <a:t>Argentina, Australia, Brazil, Canada, China, France, Germany, India, Indonesia, Italy, Japan, Mexico, Poland, Russia, Saudi Arabia, South Korea, Türkiye, United Kingdom, United States.</a:t>
            </a:r>
          </a:p>
          <a:p>
            <a:pPr>
              <a:spcAft>
                <a:spcPts val="700"/>
              </a:spcAft>
            </a:pPr>
            <a:r>
              <a:rPr sz="1200" b="1" i="0">
                <a:solidFill>
                  <a:srgbClr val="0A314D"/>
                </a:solidFill>
                <a:latin typeface="Open Sans"/>
              </a:rPr>
              <a:t>Substitution:  </a:t>
            </a:r>
            <a:r>
              <a:rPr sz="1200" b="0" i="0">
                <a:solidFill>
                  <a:srgbClr val="2C2C2C"/>
                </a:solidFill>
                <a:latin typeface="Open Sans"/>
              </a:rPr>
              <a:t>Poland is covered in place of South Africa — a deliberate substitution, not an omission.</a:t>
            </a:r>
          </a:p>
          <a:p>
            <a:pPr>
              <a:spcAft>
                <a:spcPts val="700"/>
              </a:spcAft>
            </a:pPr>
            <a:r>
              <a:rPr sz="1200" b="1" i="0">
                <a:solidFill>
                  <a:srgbClr val="0A314D"/>
                </a:solidFill>
                <a:latin typeface="Open Sans"/>
              </a:rPr>
              <a:t>Bloc seats excluded:  </a:t>
            </a:r>
            <a:r>
              <a:rPr sz="1200" b="0" i="0">
                <a:solidFill>
                  <a:srgbClr val="2C2C2C"/>
                </a:solidFill>
                <a:latin typeface="Open Sans"/>
              </a:rPr>
              <a:t>The European Union and African Union hold G20 seats but are supranational blocs, not sovereign countries, and are not profiled.</a:t>
            </a:r>
          </a:p>
          <a:p>
            <a:pPr>
              <a:spcAft>
                <a:spcPts val="700"/>
              </a:spcAft>
            </a:pPr>
            <a:r>
              <a:rPr sz="1200" b="1" i="0">
                <a:solidFill>
                  <a:srgbClr val="0A314D"/>
                </a:solidFill>
                <a:latin typeface="Open Sans"/>
              </a:rPr>
              <a:t>GDP:  </a:t>
            </a:r>
            <a:r>
              <a:rPr sz="1200" b="0" i="0">
                <a:solidFill>
                  <a:srgbClr val="2C2C2C"/>
                </a:solidFill>
                <a:latin typeface="Open Sans"/>
              </a:rPr>
              <a:t>Nominal (current USD), IMF World Economic Outlook 2025, single vintage across all 19.</a:t>
            </a:r>
          </a:p>
          <a:p>
            <a:pPr>
              <a:spcAft>
                <a:spcPts val="700"/>
              </a:spcAft>
            </a:pPr>
            <a:r>
              <a:rPr sz="1200" b="1" i="0">
                <a:solidFill>
                  <a:srgbClr val="0A314D"/>
                </a:solidFill>
                <a:latin typeface="Open Sans"/>
              </a:rPr>
              <a:t>U.S. bilateral trade:  </a:t>
            </a:r>
            <a:r>
              <a:rPr sz="1200" b="0" i="0">
                <a:solidFill>
                  <a:srgbClr val="2C2C2C"/>
                </a:solidFill>
                <a:latin typeface="Open Sans"/>
              </a:rPr>
              <a:t>U.S. Census Bureau goods trade, 2025 full year (goods basis), via Census-derived channels (see Sources).</a:t>
            </a:r>
          </a:p>
          <a:p>
            <a:pPr>
              <a:spcAft>
                <a:spcPts val="700"/>
              </a:spcAft>
            </a:pPr>
            <a:r>
              <a:rPr sz="1200" b="1" i="0">
                <a:solidFill>
                  <a:srgbClr val="0A314D"/>
                </a:solidFill>
                <a:latin typeface="Open Sans"/>
              </a:rPr>
              <a:t>Ministers:  </a:t>
            </a:r>
            <a:r>
              <a:rPr sz="1200" b="0" i="0">
                <a:solidFill>
                  <a:srgbClr val="2C2C2C"/>
                </a:solidFill>
                <a:latin typeface="Open Sans"/>
              </a:rPr>
              <a:t>Each officeholder confirmed current on 2026-07-16 by live search plus an independent verification pass. Where a portfolio is split, both responsible officials are profiled.</a:t>
            </a:r>
          </a:p>
        </p:txBody>
      </p:sp>
      <p:sp>
        <p:nvSpPr>
          <p:cNvPr id="7" name="Rectangle 6"/>
          <p:cNvSpPr/>
          <p:nvPr/>
        </p:nvSpPr>
        <p:spPr>
          <a:xfrm>
            <a:off x="7772400" y="1298448"/>
            <a:ext cx="3867912" cy="4663440"/>
          </a:xfrm>
          <a:prstGeom prst="rect">
            <a:avLst/>
          </a:prstGeom>
          <a:solidFill>
            <a:srgbClr val="E1DA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0" y="1298448"/>
            <a:ext cx="3867912"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36192"/>
            <a:ext cx="3383280" cy="4297680"/>
          </a:xfrm>
          <a:prstGeom prst="rect">
            <a:avLst/>
          </a:prstGeom>
          <a:noFill/>
        </p:spPr>
        <p:txBody>
          <a:bodyPr wrap="square" anchor="t" lIns="0" rIns="0" tIns="0" bIns="0">
            <a:spAutoFit/>
          </a:bodyPr>
          <a:lstStyle/>
          <a:p>
            <a:r>
              <a:rPr sz="1100" b="1" i="0" spc="100">
                <a:solidFill>
                  <a:srgbClr val="0A314D"/>
                </a:solidFill>
                <a:latin typeface="Open Sans"/>
              </a:rPr>
              <a:t>ABOUT THIS DOCUMENT</a:t>
            </a:r>
          </a:p>
          <a:p>
            <a:pPr>
              <a:spcBef>
                <a:spcPts val="900"/>
              </a:spcBef>
            </a:pPr>
            <a:r>
              <a:rPr sz="1050" b="0" i="0">
                <a:solidFill>
                  <a:srgbClr val="54606C"/>
                </a:solidFill>
                <a:latin typeface="Open Sans"/>
              </a:rPr>
              <a:t>Prepared within the International Trade Administration, U.S. Department of Commerce, as an internal reference.</a:t>
            </a:r>
          </a:p>
          <a:p>
            <a:pPr>
              <a:spcBef>
                <a:spcPts val="900"/>
              </a:spcBef>
            </a:pPr>
            <a:r>
              <a:rPr sz="1050" b="0" i="0">
                <a:solidFill>
                  <a:srgbClr val="54606C"/>
                </a:solidFill>
                <a:latin typeface="Open Sans"/>
              </a:rPr>
              <a:t>Formatted to the ITA Visual Style Guide (January 2026 edition): Trade Navy/Trade Blue palette, Open Sans typography, official document signatures.</a:t>
            </a:r>
          </a:p>
          <a:p>
            <a:pPr>
              <a:spcBef>
                <a:spcPts val="900"/>
              </a:spcBef>
            </a:pPr>
            <a:r>
              <a:rPr sz="1050" b="0" i="0">
                <a:solidFill>
                  <a:srgbClr val="54606C"/>
                </a:solidFill>
                <a:latin typeface="Open Sans"/>
              </a:rPr>
              <a:t>One structured dataset generates this deck, the companion workbook, and the PDF, so figures cannot drift between formats.</a:t>
            </a:r>
          </a:p>
          <a:p>
            <a:pPr>
              <a:spcBef>
                <a:spcPts val="900"/>
              </a:spcBef>
            </a:pPr>
            <a:r>
              <a:rPr sz="1050" b="0" i="0">
                <a:solidFill>
                  <a:srgbClr val="54606C"/>
                </a:solidFill>
                <a:latin typeface="Open Sans"/>
              </a:rPr>
              <a:t>Data caveats, acting officials, and items pending confirmation are tracked in a separate gaps register (GAPS.md) rather than flagged on slides.</a:t>
            </a:r>
          </a:p>
        </p:txBody>
      </p:sp>
      <p:cxnSp>
        <p:nvCxnSpPr>
          <p:cNvPr id="10" name="Connector 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2" name="TextBox 1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3" name="TextBox 1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875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875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875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875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8756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4934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434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2900"/>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2900"/>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2900"/>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2900"/>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2900"/>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278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850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77850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77850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77850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77850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1284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1284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1284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1284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12848"/>
            <a:ext cx="1920240" cy="361187"/>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60146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718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64718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64718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64718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64718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08152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08152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08152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08152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08152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47014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1586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51586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51586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51586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51586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395020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395020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395020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395020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3950207"/>
            <a:ext cx="1920240" cy="361187"/>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338827"/>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84547"/>
            <a:ext cx="3108960" cy="361187"/>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384547"/>
            <a:ext cx="1828800" cy="361187"/>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384547"/>
            <a:ext cx="2011680" cy="361187"/>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384547"/>
            <a:ext cx="2103120" cy="361187"/>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384547"/>
            <a:ext cx="1920240" cy="361187"/>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481888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481888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481888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481888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4818888"/>
            <a:ext cx="1920240" cy="361187"/>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207508"/>
            <a:ext cx="11274552" cy="4343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53228"/>
            <a:ext cx="3108960" cy="361187"/>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253228"/>
            <a:ext cx="1828800" cy="361187"/>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253228"/>
            <a:ext cx="201168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253228"/>
            <a:ext cx="2103120" cy="361187"/>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253228"/>
            <a:ext cx="1920240" cy="361187"/>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571500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argentina-genua.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2024-06</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a:t>
            </a:r>
          </a:p>
          <a:p>
            <a:pPr>
              <a:spcBef>
                <a:spcPts val="500"/>
              </a:spcBef>
            </a:pPr>
            <a:r>
              <a:rPr sz="900" b="1" i="1">
                <a:solidFill>
                  <a:srgbClr val="00558C"/>
                </a:solidFill>
                <a:latin typeface="Open Sans"/>
              </a:rPr>
              <a:t>Also: </a:t>
            </a: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argentina-quirno.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2025-10-27</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pic>
        <p:nvPicPr>
          <p:cNvPr id="29" name="Picture 28" descr="argentina-lavigne.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2024-12-11</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australia-charlton.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1408176"/>
            <a:ext cx="3008376" cy="1152144"/>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9" name="TextBox 18"/>
          <p:cNvSpPr txBox="1"/>
          <p:nvPr/>
        </p:nvSpPr>
        <p:spPr>
          <a:xfrm>
            <a:off x="3611880"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2025-05-13</a:t>
            </a:r>
          </a:p>
        </p:txBody>
      </p:sp>
      <p:sp>
        <p:nvSpPr>
          <p:cNvPr id="20" name="TextBox 19"/>
          <p:cNvSpPr txBox="1"/>
          <p:nvPr/>
        </p:nvSpPr>
        <p:spPr>
          <a:xfrm>
            <a:off x="3611880"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Cabinet Secretary and Assistant Minister for Science, Technology and the Digital Economy since 13 May 2025; Labor MP for Parramatta since 2022.</a:t>
            </a:r>
          </a:p>
        </p:txBody>
      </p:sp>
      <p:pic>
        <p:nvPicPr>
          <p:cNvPr id="21" name="Picture 20" descr="australia-ayres.png"/>
          <p:cNvPicPr>
            <a:picLocks noChangeAspect="1"/>
          </p:cNvPicPr>
          <p:nvPr/>
        </p:nvPicPr>
        <p:blipFill>
          <a:blip r:embed="rId4"/>
          <a:stretch>
            <a:fillRect/>
          </a:stretch>
        </p:blipFill>
        <p:spPr>
          <a:xfrm>
            <a:off x="7790688" y="1408176"/>
            <a:ext cx="731520" cy="914400"/>
          </a:xfrm>
          <a:prstGeom prst="rect">
            <a:avLst/>
          </a:prstGeom>
        </p:spPr>
      </p:pic>
      <p:sp>
        <p:nvSpPr>
          <p:cNvPr id="22" name="Rectangle 21"/>
          <p:cNvSpPr/>
          <p:nvPr/>
        </p:nvSpPr>
        <p:spPr>
          <a:xfrm>
            <a:off x="7790688"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31936" y="1408176"/>
            <a:ext cx="3008376" cy="1152144"/>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4" name="TextBox 23"/>
          <p:cNvSpPr txBox="1"/>
          <p:nvPr/>
        </p:nvSpPr>
        <p:spPr>
          <a:xfrm>
            <a:off x="7790688"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2025-05-13</a:t>
            </a:r>
          </a:p>
        </p:txBody>
      </p:sp>
      <p:sp>
        <p:nvSpPr>
          <p:cNvPr id="25" name="TextBox 24"/>
          <p:cNvSpPr txBox="1"/>
          <p:nvPr/>
        </p:nvSpPr>
        <p:spPr>
          <a:xfrm>
            <a:off x="7790688"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for Industry and Innovation and Minister for Science since 13 May 2025; Labor Senator for New South Wales since 2019.</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australia-farrell.png"/>
          <p:cNvPicPr>
            <a:picLocks noChangeAspect="1"/>
          </p:cNvPicPr>
          <p:nvPr/>
        </p:nvPicPr>
        <p:blipFill>
          <a:blip r:embed="rId5"/>
          <a:stretch>
            <a:fillRect/>
          </a:stretch>
        </p:blipFill>
        <p:spPr>
          <a:xfrm>
            <a:off x="3611880" y="4059935"/>
            <a:ext cx="870509" cy="1088136"/>
          </a:xfrm>
          <a:prstGeom prst="rect">
            <a:avLst/>
          </a:prstGeom>
        </p:spPr>
      </p:pic>
      <p:sp>
        <p:nvSpPr>
          <p:cNvPr id="29" name="Rectangle 28"/>
          <p:cNvSpPr/>
          <p:nvPr/>
        </p:nvSpPr>
        <p:spPr>
          <a:xfrm>
            <a:off x="3611880" y="4059935"/>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4059935"/>
            <a:ext cx="7004303" cy="274320"/>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31" name="TextBox 30"/>
          <p:cNvSpPr txBox="1"/>
          <p:nvPr/>
        </p:nvSpPr>
        <p:spPr>
          <a:xfrm>
            <a:off x="4636008" y="4352544"/>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32" name="TextBox 31"/>
          <p:cNvSpPr txBox="1"/>
          <p:nvPr/>
        </p:nvSpPr>
        <p:spPr>
          <a:xfrm>
            <a:off x="4636008" y="4791456"/>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2022-06-01</a:t>
            </a:r>
          </a:p>
        </p:txBody>
      </p:sp>
      <p:sp>
        <p:nvSpPr>
          <p:cNvPr id="33" name="TextBox 32"/>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Senator Donald Edward Farrell (born 1954) is a Labor Senator for South Australia and a former trade unionist who was state secretary of the Shop, Distributive and Allied Employees Association (SDA) from 1993 to 2008. A University of Adelaide law graduate, he served in the Senate from 2008-2014 and again from 2016, holding ministries under the Rudd and Gillard governments.</a:t>
            </a:r>
          </a:p>
          <a:p>
            <a:pPr>
              <a:spcBef>
                <a:spcPts val="500"/>
              </a:spcBef>
            </a:pPr>
            <a:r>
              <a:rPr sz="900" b="1" i="1">
                <a:solidFill>
                  <a:srgbClr val="00558C"/>
                </a:solidFill>
                <a:latin typeface="Open Sans"/>
              </a:rPr>
              <a:t>Also: </a:t>
            </a: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brazil-siqueir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1408176"/>
            <a:ext cx="3008376" cy="1152144"/>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9" name="TextBox 18"/>
          <p:cNvSpPr txBox="1"/>
          <p:nvPr/>
        </p:nvSpPr>
        <p:spPr>
          <a:xfrm>
            <a:off x="3611880"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2025-05</a:t>
            </a:r>
          </a:p>
        </p:txBody>
      </p:sp>
      <p:sp>
        <p:nvSpPr>
          <p:cNvPr id="20" name="TextBox 19"/>
          <p:cNvSpPr txBox="1"/>
          <p:nvPr/>
        </p:nvSpPr>
        <p:spPr>
          <a:xfrm>
            <a:off x="3611880"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pic>
        <p:nvPicPr>
          <p:cNvPr id="21" name="Picture 20" descr="brazil-santos.png"/>
          <p:cNvPicPr>
            <a:picLocks noChangeAspect="1"/>
          </p:cNvPicPr>
          <p:nvPr/>
        </p:nvPicPr>
        <p:blipFill>
          <a:blip r:embed="rId4"/>
          <a:stretch>
            <a:fillRect/>
          </a:stretch>
        </p:blipFill>
        <p:spPr>
          <a:xfrm>
            <a:off x="7790688" y="1408176"/>
            <a:ext cx="731520" cy="914400"/>
          </a:xfrm>
          <a:prstGeom prst="rect">
            <a:avLst/>
          </a:prstGeom>
        </p:spPr>
      </p:pic>
      <p:sp>
        <p:nvSpPr>
          <p:cNvPr id="22" name="Rectangle 21"/>
          <p:cNvSpPr/>
          <p:nvPr/>
        </p:nvSpPr>
        <p:spPr>
          <a:xfrm>
            <a:off x="7790688"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31936" y="1408176"/>
            <a:ext cx="3008376" cy="1152144"/>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4" name="TextBox 23"/>
          <p:cNvSpPr txBox="1"/>
          <p:nvPr/>
        </p:nvSpPr>
        <p:spPr>
          <a:xfrm>
            <a:off x="7790688"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2023-01-01</a:t>
            </a:r>
          </a:p>
        </p:txBody>
      </p:sp>
      <p:sp>
        <p:nvSpPr>
          <p:cNvPr id="25" name="TextBox 24"/>
          <p:cNvSpPr txBox="1"/>
          <p:nvPr/>
        </p:nvSpPr>
        <p:spPr>
          <a:xfrm>
            <a:off x="7790688"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brazil-rosa.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MDIC MINISTER</a:t>
            </a:r>
          </a:p>
          <a:p>
            <a:pPr>
              <a:spcBef>
                <a:spcPts val="200"/>
              </a:spcBef>
            </a:pPr>
            <a:r>
              <a:rPr sz="1200" b="1" i="0">
                <a:solidFill>
                  <a:srgbClr val="0A314D"/>
                </a:solidFill>
                <a:latin typeface="Open Sans"/>
              </a:rPr>
              <a:t>Márcio Fernando Elias Rosa</a:t>
            </a:r>
          </a:p>
          <a:p>
            <a:pPr>
              <a:lnSpc>
                <a:spcPct val="104000"/>
              </a:lnSpc>
              <a:spcBef>
                <a:spcPts val="200"/>
              </a:spcBef>
            </a:pPr>
            <a:r>
              <a:rPr sz="900" b="0" i="1">
                <a:solidFill>
                  <a:srgbClr val="54606C"/>
                </a:solidFill>
                <a:latin typeface="Open Sans"/>
              </a:rPr>
              <a:t>Minister of Development, Industry, Trade and Services</a:t>
            </a:r>
          </a:p>
        </p:txBody>
      </p:sp>
      <p:sp>
        <p:nvSpPr>
          <p:cNvPr id="31" name="TextBox 30"/>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Development, Industry, Trade and Services (Ministério do Desenvolvimento, Indústria, Comércio e Serviços, MDIC)</a:t>
            </a:r>
            <a:r>
              <a:rPr sz="850" b="0" i="0">
                <a:solidFill>
                  <a:srgbClr val="757D87"/>
                </a:solidFill>
                <a:latin typeface="Open Sans"/>
              </a:rPr>
              <a:t>  ·  2026-04-06</a:t>
            </a:r>
          </a:p>
        </p:txBody>
      </p:sp>
      <p:sp>
        <p:nvSpPr>
          <p:cNvPr id="32" name="TextBox 31"/>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Márcio Fernando Elias Rosa, a retired public prosecutor who twice served as São Paulo Attorney General of Justice (2012-2016), joined MDIC as Executive Secretary in January 2023 and was sworn in as Minister on 6 April 2026, succeeding Geraldo Alckmin.</a:t>
            </a:r>
          </a:p>
        </p:txBody>
      </p:sp>
      <p:pic>
        <p:nvPicPr>
          <p:cNvPr id="33" name="Picture 32" descr="brazil-ferraz.png"/>
          <p:cNvPicPr>
            <a:picLocks noChangeAspect="1"/>
          </p:cNvPicPr>
          <p:nvPr/>
        </p:nvPicPr>
        <p:blipFill>
          <a:blip r:embed="rId6"/>
          <a:stretch>
            <a:fillRect/>
          </a:stretch>
        </p:blipFill>
        <p:spPr>
          <a:xfrm>
            <a:off x="7790688" y="4041648"/>
            <a:ext cx="731520" cy="914400"/>
          </a:xfrm>
          <a:prstGeom prst="rect">
            <a:avLst/>
          </a:prstGeom>
        </p:spPr>
      </p:pic>
      <p:sp>
        <p:nvSpPr>
          <p:cNvPr id="34" name="Rectangle 33"/>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FOREIGN TRADE (SECEX)</a:t>
            </a:r>
          </a:p>
          <a:p>
            <a:pPr>
              <a:spcBef>
                <a:spcPts val="200"/>
              </a:spcBef>
            </a:pPr>
            <a:r>
              <a:rPr sz="1200" b="1" i="0">
                <a:solidFill>
                  <a:srgbClr val="0A314D"/>
                </a:solidFill>
                <a:latin typeface="Open Sans"/>
              </a:rPr>
              <a:t>Lucas Pedreira do Couto Ferraz</a:t>
            </a:r>
          </a:p>
          <a:p>
            <a:pPr>
              <a:lnSpc>
                <a:spcPct val="104000"/>
              </a:lnSpc>
              <a:spcBef>
                <a:spcPts val="200"/>
              </a:spcBef>
            </a:pPr>
            <a:r>
              <a:rPr sz="900" b="0" i="1">
                <a:solidFill>
                  <a:srgbClr val="54606C"/>
                </a:solidFill>
                <a:latin typeface="Open Sans"/>
              </a:rPr>
              <a:t>Secretary of Foreign Trade (SECEX)</a:t>
            </a:r>
          </a:p>
        </p:txBody>
      </p:sp>
      <p:sp>
        <p:nvSpPr>
          <p:cNvPr id="36" name="TextBox 3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Development, Industry, Trade and Services (MDIC) - Secretariat of Foreign Trade (SECEX)</a:t>
            </a:r>
            <a:r>
              <a:rPr sz="850" b="0" i="0">
                <a:solidFill>
                  <a:srgbClr val="757D87"/>
                </a:solidFill>
                <a:latin typeface="Open Sans"/>
              </a:rPr>
              <a:t>  ·  2023-01-01</a:t>
            </a:r>
          </a:p>
        </p:txBody>
      </p:sp>
      <p:sp>
        <p:nvSpPr>
          <p:cNvPr id="37" name="TextBox 3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Lucas Pedreira do Couto Ferraz, an economist with a PhD from FGV's EPGE, where he is a professor, has served as MDIC Secretary of Foreign Trade (SECEX) since January 2023, leading trade negotiations including the Mercosur-EU and OECD agendas.</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canada-solomon.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2025-05-13</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canada-sidhu.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2025-05-13</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pic>
        <p:nvPicPr>
          <p:cNvPr id="29" name="Picture 28" descr="argentina-genua.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2025-05-13</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china-lilecheng.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1408176"/>
            <a:ext cx="3008376" cy="1152144"/>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9" name="TextBox 18"/>
          <p:cNvSpPr txBox="1"/>
          <p:nvPr/>
        </p:nvSpPr>
        <p:spPr>
          <a:xfrm>
            <a:off x="3611880"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2025-04-30</a:t>
            </a:r>
          </a:p>
        </p:txBody>
      </p:sp>
      <p:sp>
        <p:nvSpPr>
          <p:cNvPr id="20" name="TextBox 19"/>
          <p:cNvSpPr txBox="1"/>
          <p:nvPr/>
        </p:nvSpPr>
        <p:spPr>
          <a:xfrm>
            <a:off x="3611880"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pic>
        <p:nvPicPr>
          <p:cNvPr id="21" name="Picture 20" descr="china-hejun.png"/>
          <p:cNvPicPr>
            <a:picLocks noChangeAspect="1"/>
          </p:cNvPicPr>
          <p:nvPr/>
        </p:nvPicPr>
        <p:blipFill>
          <a:blip r:embed="rId4"/>
          <a:stretch>
            <a:fillRect/>
          </a:stretch>
        </p:blipFill>
        <p:spPr>
          <a:xfrm>
            <a:off x="7790688" y="1408176"/>
            <a:ext cx="731520" cy="914400"/>
          </a:xfrm>
          <a:prstGeom prst="rect">
            <a:avLst/>
          </a:prstGeom>
        </p:spPr>
      </p:pic>
      <p:sp>
        <p:nvSpPr>
          <p:cNvPr id="22" name="Rectangle 21"/>
          <p:cNvSpPr/>
          <p:nvPr/>
        </p:nvSpPr>
        <p:spPr>
          <a:xfrm>
            <a:off x="7790688"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31936" y="1408176"/>
            <a:ext cx="3008376" cy="1152144"/>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4" name="TextBox 23"/>
          <p:cNvSpPr txBox="1"/>
          <p:nvPr/>
        </p:nvSpPr>
        <p:spPr>
          <a:xfrm>
            <a:off x="7790688"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2023-10-24</a:t>
            </a:r>
          </a:p>
        </p:txBody>
      </p:sp>
      <p:sp>
        <p:nvSpPr>
          <p:cNvPr id="25" name="TextBox 24"/>
          <p:cNvSpPr txBox="1"/>
          <p:nvPr/>
        </p:nvSpPr>
        <p:spPr>
          <a:xfrm>
            <a:off x="7790688"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Minister of Science and Technology since October 24, 2023, and MOST Party Secretary since October 7, 2023.</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china-wangwentao.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31" name="TextBox 30"/>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2020-12</a:t>
            </a:r>
          </a:p>
        </p:txBody>
      </p:sp>
      <p:sp>
        <p:nvSpPr>
          <p:cNvPr id="32" name="TextBox 31"/>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pic>
        <p:nvPicPr>
          <p:cNvPr id="33" name="Picture 32" descr="china-lichenggang.png"/>
          <p:cNvPicPr>
            <a:picLocks noChangeAspect="1"/>
          </p:cNvPicPr>
          <p:nvPr/>
        </p:nvPicPr>
        <p:blipFill>
          <a:blip r:embed="rId6"/>
          <a:stretch>
            <a:fillRect/>
          </a:stretch>
        </p:blipFill>
        <p:spPr>
          <a:xfrm>
            <a:off x="7790688" y="4041648"/>
            <a:ext cx="731520" cy="914400"/>
          </a:xfrm>
          <a:prstGeom prst="rect">
            <a:avLst/>
          </a:prstGeom>
        </p:spPr>
      </p:pic>
      <p:sp>
        <p:nvSpPr>
          <p:cNvPr id="34" name="Rectangle 33"/>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36" name="TextBox 3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2025-04-16</a:t>
            </a:r>
          </a:p>
        </p:txBody>
      </p:sp>
      <p:sp>
        <p:nvSpPr>
          <p:cNvPr id="37" name="TextBox 3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france-lehenanff.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2026-02-26</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 She succeeded Clara Chappaz in the digital portfolio.</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france-forissier.png"/>
          <p:cNvPicPr>
            <a:picLocks noChangeAspect="1"/>
          </p:cNvPicPr>
          <p:nvPr/>
        </p:nvPicPr>
        <p:blipFill>
          <a:blip r:embed="rId4"/>
          <a:stretch>
            <a:fillRect/>
          </a:stretch>
        </p:blipFill>
        <p:spPr>
          <a:xfrm>
            <a:off x="3611880" y="4059935"/>
            <a:ext cx="870509" cy="1088136"/>
          </a:xfrm>
          <a:prstGeom prst="rect">
            <a:avLst/>
          </a:prstGeom>
        </p:spPr>
      </p:pic>
      <p:sp>
        <p:nvSpPr>
          <p:cNvPr id="25" name="Rectangle 24"/>
          <p:cNvSpPr/>
          <p:nvPr/>
        </p:nvSpPr>
        <p:spPr>
          <a:xfrm>
            <a:off x="3611880" y="4059935"/>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6008" y="4059935"/>
            <a:ext cx="7004303" cy="274320"/>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7" name="TextBox 26"/>
          <p:cNvSpPr txBox="1"/>
          <p:nvPr/>
        </p:nvSpPr>
        <p:spPr>
          <a:xfrm>
            <a:off x="4636008" y="4352544"/>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8" name="TextBox 27"/>
          <p:cNvSpPr txBox="1"/>
          <p:nvPr/>
        </p:nvSpPr>
        <p:spPr>
          <a:xfrm>
            <a:off x="4636008" y="4791456"/>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2025-10-12</a:t>
            </a:r>
          </a:p>
        </p:txBody>
      </p:sp>
      <p:sp>
        <p:nvSpPr>
          <p:cNvPr id="29" name="TextBox 28"/>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germany-wildberger.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2025-05-06</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germany-reiche.png"/>
          <p:cNvPicPr>
            <a:picLocks noChangeAspect="1"/>
          </p:cNvPicPr>
          <p:nvPr/>
        </p:nvPicPr>
        <p:blipFill>
          <a:blip r:embed="rId4"/>
          <a:stretch>
            <a:fillRect/>
          </a:stretch>
        </p:blipFill>
        <p:spPr>
          <a:xfrm>
            <a:off x="3611880" y="4059935"/>
            <a:ext cx="870509" cy="1088136"/>
          </a:xfrm>
          <a:prstGeom prst="rect">
            <a:avLst/>
          </a:prstGeom>
        </p:spPr>
      </p:pic>
      <p:sp>
        <p:nvSpPr>
          <p:cNvPr id="25" name="Rectangle 24"/>
          <p:cNvSpPr/>
          <p:nvPr/>
        </p:nvSpPr>
        <p:spPr>
          <a:xfrm>
            <a:off x="3611880" y="4059935"/>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6008" y="4059935"/>
            <a:ext cx="7004303" cy="274320"/>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7" name="TextBox 26"/>
          <p:cNvSpPr txBox="1"/>
          <p:nvPr/>
        </p:nvSpPr>
        <p:spPr>
          <a:xfrm>
            <a:off x="4636008" y="4352544"/>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8" name="TextBox 27"/>
          <p:cNvSpPr txBox="1"/>
          <p:nvPr/>
        </p:nvSpPr>
        <p:spPr>
          <a:xfrm>
            <a:off x="4636008" y="4791456"/>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2025-05-06</a:t>
            </a:r>
          </a:p>
        </p:txBody>
      </p:sp>
      <p:sp>
        <p:nvSpPr>
          <p:cNvPr id="29" name="TextBox 28"/>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1" i="1">
                <a:solidFill>
                  <a:srgbClr val="00558C"/>
                </a:solidFill>
                <a:latin typeface="Open Sans"/>
              </a:rPr>
              <a:t>Also: </a:t>
            </a:r>
            <a:r>
              <a:rPr sz="900" b="0" i="1">
                <a:solidFill>
                  <a:srgbClr val="54606C"/>
                </a:solidFill>
                <a:latin typeface="Open Sans"/>
              </a:rPr>
              <a:t>Also: Maroš Šefčovič (European Commissioner for Trade and Economic Security)</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ndia-vaishnaw.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2024-06-10</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1" i="1">
                <a:solidFill>
                  <a:srgbClr val="00558C"/>
                </a:solidFill>
                <a:latin typeface="Open Sans"/>
              </a:rPr>
              <a:t>Also: </a:t>
            </a:r>
            <a:r>
              <a:rPr sz="900" b="0" i="1">
                <a:solidFill>
                  <a:srgbClr val="54606C"/>
                </a:solidFill>
                <a:latin typeface="Open Sans"/>
              </a:rPr>
              <a:t>Also: Jitin Prasada (Union Minister of State for Electronics and Information Technology (also Minister of State for Commerce and Industry))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ndia-goyal.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2019-05-31</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pic>
        <p:nvPicPr>
          <p:cNvPr id="29" name="Picture 28" descr="india-agrawal.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2025-10-01</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ndonesia-hafid.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2024-10-21</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 As minister she has prioritized child protection online, combating online gambling and illegal lending, and digital-economy value retention.</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ndonesia-santoso.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2024-10-21</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pic>
        <p:nvPicPr>
          <p:cNvPr id="29" name="Picture 28" descr="indonesia-airlangga.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2019-10-23</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taly-butti.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2022-11-02</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 He oversees the Department for Digital Transformation, PNRR digital targets, digital identity (IT Wallet), cloud, AI and broadband.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taly-tajani.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2022-10-22</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pic>
        <p:nvPicPr>
          <p:cNvPr id="29" name="Picture 28" descr="italy-urso.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2022-10-22</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japan-matsumoto.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2025-10-21</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 He concurrently serves as Minister in charge of Cybersecurity and holds administrative, fiscal and regulatory reform portfolios.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japan-akazawa.png"/>
          <p:cNvPicPr>
            <a:picLocks noChangeAspect="1"/>
          </p:cNvPicPr>
          <p:nvPr/>
        </p:nvPicPr>
        <p:blipFill>
          <a:blip r:embed="rId4"/>
          <a:stretch>
            <a:fillRect/>
          </a:stretch>
        </p:blipFill>
        <p:spPr>
          <a:xfrm>
            <a:off x="3611880" y="4059935"/>
            <a:ext cx="870509" cy="1088136"/>
          </a:xfrm>
          <a:prstGeom prst="rect">
            <a:avLst/>
          </a:prstGeom>
        </p:spPr>
      </p:pic>
      <p:sp>
        <p:nvSpPr>
          <p:cNvPr id="25" name="Rectangle 24"/>
          <p:cNvSpPr/>
          <p:nvPr/>
        </p:nvSpPr>
        <p:spPr>
          <a:xfrm>
            <a:off x="3611880" y="4059935"/>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6008" y="4059935"/>
            <a:ext cx="7004303" cy="274320"/>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7" name="TextBox 26"/>
          <p:cNvSpPr txBox="1"/>
          <p:nvPr/>
        </p:nvSpPr>
        <p:spPr>
          <a:xfrm>
            <a:off x="4636008" y="4352544"/>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8" name="TextBox 27"/>
          <p:cNvSpPr txBox="1"/>
          <p:nvPr/>
        </p:nvSpPr>
        <p:spPr>
          <a:xfrm>
            <a:off x="4636008" y="4791456"/>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2025-10-21</a:t>
            </a:r>
          </a:p>
        </p:txBody>
      </p:sp>
      <p:sp>
        <p:nvSpPr>
          <p:cNvPr id="29" name="TextBox 28"/>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Akazawa Ryosei is a Liberal Democratic Party member of the House of Representatives for Tottori's 2nd district, first elected in 2005. A University of Tokyo Law graduate with a Cornell MBA, he spent about two decades as an MLIT-lineage bureaucrat. Under PM Ishiba he was Minister for Economic Revitalization and Japan's chief negotiator in the 2025 US tariff talks.</a:t>
            </a:r>
          </a:p>
          <a:p>
            <a:pPr>
              <a:spcBef>
                <a:spcPts val="500"/>
              </a:spcBef>
            </a:pPr>
            <a:r>
              <a:rPr sz="900" b="1" i="1">
                <a:solidFill>
                  <a:srgbClr val="00558C"/>
                </a:solidFill>
                <a:latin typeface="Open Sans"/>
              </a:rPr>
              <a:t>Also: </a:t>
            </a:r>
            <a:r>
              <a:rPr sz="900" b="0" i="1">
                <a:solidFill>
                  <a:srgbClr val="54606C"/>
                </a:solidFill>
                <a:latin typeface="Open Sans"/>
              </a:rPr>
              <a:t>Also: Motegi Toshimitsu (Minister for Foreign Affairs)</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mexico-pena.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2024-10-01</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 Named by Sheinbaum to head the newly created cabinet-rank ATDT, which unifies federal digital, technology and telecommunications policy, he took office with her administration in October 2024 and remains in post.</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mexico-ebrard.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pic>
        <p:nvPicPr>
          <p:cNvPr id="29" name="Picture 28" descr="mexico-gutierrez.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2024-10-01</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poland-gawkowski.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2023-12-13</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Krzysztof Gawkowski (b. 1980) is a Polish political scientist and New Left (Nowa Lewica) politician, serving as the party's deputy chairman. A member of the Sejm since 2019 and former leader of the Left parliamentary caucus, he became Deputy Prime Minister and Minister of Digital Affairs in Donald Tusk's cabinet on 13 December 2023 and remains in the role in 2026.</a:t>
            </a:r>
          </a:p>
          <a:p>
            <a:pPr>
              <a:spcBef>
                <a:spcPts val="500"/>
              </a:spcBef>
            </a:pPr>
            <a:r>
              <a:rPr sz="900" b="1" i="1">
                <a:solidFill>
                  <a:srgbClr val="00558C"/>
                </a:solidFill>
                <a:latin typeface="Open Sans"/>
              </a:rPr>
              <a:t>Also: </a:t>
            </a: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poland-domanski.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2025-07-24</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pic>
        <p:nvPicPr>
          <p:cNvPr id="29" name="Picture 28" descr="poland-baranowski.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2024-12-30</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canada-sidhu.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2020-01-21</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1" i="1">
                <a:solidFill>
                  <a:srgbClr val="00558C"/>
                </a:solidFill>
                <a:latin typeface="Open Sans"/>
              </a:rPr>
              <a:t>Also: </a:t>
            </a: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russia-alikhanov.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2024-05-14</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pic>
        <p:nvPicPr>
          <p:cNvPr id="29" name="Picture 28" descr="russia-reshetnikov.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2020-01-21</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russia-alikhanov.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2017-04-24</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 As minister he drives Saudi Arabia's digital transformation and AI agenda under Vision 2030 and chairs related technology and space bodies.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saudi-alqasabi.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2016-05-07</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pic>
        <p:nvPicPr>
          <p:cNvPr id="29" name="Picture 28" descr="saudi-alqasabi.png"/>
          <p:cNvPicPr>
            <a:picLocks noChangeAspect="1"/>
          </p:cNvPicPr>
          <p:nvPr/>
        </p:nvPicPr>
        <p:blipFill>
          <a:blip r:embed="rId4"/>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korea-bae.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2025-07-16</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 He also serves as standing vice chairman of the National AI Strategy Committee and pursues Lee's goal of making Korea a top-three global AI power with record R&amp;D budgets and a large GPU buildout.</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korea-kim.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2025-07</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Kim Jung-kwan, a finance technocrat who served at Korea's Ministry of Economy and Finance, the Bank of Korea and the World Bank and led Doosan Enerbility, was nominated by President Lee and took office in July 2025 heading the renamed MOTIR.</a:t>
            </a:r>
          </a:p>
        </p:txBody>
      </p:sp>
      <p:pic>
        <p:nvPicPr>
          <p:cNvPr id="29" name="Picture 28" descr="china-hejun.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2025-06</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brazil-rosa.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2023-06-03</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1" i="1">
                <a:solidFill>
                  <a:srgbClr val="00558C"/>
                </a:solidFill>
                <a:latin typeface="Open Sans"/>
              </a:rPr>
              <a:t>Also: </a:t>
            </a: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turkiye-bolat.png"/>
          <p:cNvPicPr>
            <a:picLocks noChangeAspect="1"/>
          </p:cNvPicPr>
          <p:nvPr/>
        </p:nvPicPr>
        <p:blipFill>
          <a:blip r:embed="rId4"/>
          <a:stretch>
            <a:fillRect/>
          </a:stretch>
        </p:blipFill>
        <p:spPr>
          <a:xfrm>
            <a:off x="3611880" y="4059935"/>
            <a:ext cx="870509" cy="1088136"/>
          </a:xfrm>
          <a:prstGeom prst="rect">
            <a:avLst/>
          </a:prstGeom>
        </p:spPr>
      </p:pic>
      <p:sp>
        <p:nvSpPr>
          <p:cNvPr id="25" name="Rectangle 24"/>
          <p:cNvSpPr/>
          <p:nvPr/>
        </p:nvSpPr>
        <p:spPr>
          <a:xfrm>
            <a:off x="3611880" y="4059935"/>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6008" y="4059935"/>
            <a:ext cx="7004303" cy="274320"/>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7" name="TextBox 26"/>
          <p:cNvSpPr txBox="1"/>
          <p:nvPr/>
        </p:nvSpPr>
        <p:spPr>
          <a:xfrm>
            <a:off x="4636008" y="4352544"/>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8" name="TextBox 27"/>
          <p:cNvSpPr txBox="1"/>
          <p:nvPr/>
        </p:nvSpPr>
        <p:spPr>
          <a:xfrm>
            <a:off x="4636008" y="4791456"/>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2023-06-03</a:t>
            </a:r>
          </a:p>
        </p:txBody>
      </p:sp>
      <p:sp>
        <p:nvSpPr>
          <p:cNvPr id="29" name="TextBox 28"/>
          <p:cNvSpPr txBox="1"/>
          <p:nvPr/>
        </p:nvSpPr>
        <p:spPr>
          <a:xfrm>
            <a:off x="3611880" y="5212079"/>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 As minister he directs export strategy, customs, FTA negotiations and WTO representation, and has led trade talks with the United States.</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uk-kendall.png"/>
          <p:cNvPicPr>
            <a:picLocks noChangeAspect="1"/>
          </p:cNvPicPr>
          <p:nvPr/>
        </p:nvPicPr>
        <p:blipFill>
          <a:blip r:embed="rId3"/>
          <a:stretch>
            <a:fillRect/>
          </a:stretch>
        </p:blipFill>
        <p:spPr>
          <a:xfrm>
            <a:off x="3611880" y="1426464"/>
            <a:ext cx="870509" cy="1088136"/>
          </a:xfrm>
          <a:prstGeom prst="rect">
            <a:avLst/>
          </a:prstGeom>
        </p:spPr>
      </p:pic>
      <p:sp>
        <p:nvSpPr>
          <p:cNvPr id="17" name="Rectangle 16"/>
          <p:cNvSpPr/>
          <p:nvPr/>
        </p:nvSpPr>
        <p:spPr>
          <a:xfrm>
            <a:off x="3611880" y="1426464"/>
            <a:ext cx="870508" cy="1088136"/>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426464"/>
            <a:ext cx="7004303" cy="274320"/>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9" name="TextBox 18"/>
          <p:cNvSpPr txBox="1"/>
          <p:nvPr/>
        </p:nvSpPr>
        <p:spPr>
          <a:xfrm>
            <a:off x="4636008" y="1719072"/>
            <a:ext cx="7004303" cy="420624"/>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20" name="TextBox 19"/>
          <p:cNvSpPr txBox="1"/>
          <p:nvPr/>
        </p:nvSpPr>
        <p:spPr>
          <a:xfrm>
            <a:off x="4636008" y="2157984"/>
            <a:ext cx="7004303" cy="347472"/>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2025-09-05</a:t>
            </a:r>
          </a:p>
        </p:txBody>
      </p:sp>
      <p:sp>
        <p:nvSpPr>
          <p:cNvPr id="21" name="TextBox 20"/>
          <p:cNvSpPr txBox="1"/>
          <p:nvPr/>
        </p:nvSpPr>
        <p:spPr>
          <a:xfrm>
            <a:off x="3611880" y="2578608"/>
            <a:ext cx="8028431" cy="1152143"/>
          </a:xfrm>
          <a:prstGeom prst="rect">
            <a:avLst/>
          </a:prstGeom>
          <a:noFill/>
        </p:spPr>
        <p:txBody>
          <a:bodyPr wrap="square" anchor="t" lIns="0" rIns="0" tIns="0" bIns="0">
            <a:spAutoFit/>
          </a:bodyPr>
          <a:lstStyle/>
          <a:p>
            <a:pPr>
              <a:lnSpc>
                <a:spcPct val="103000"/>
              </a:lnSpc>
            </a:pPr>
            <a:r>
              <a:rPr sz="1100" b="0" i="0">
                <a:solidFill>
                  <a:srgbClr val="2C2C2C"/>
                </a:solidFill>
                <a:latin typeface="Open Sans"/>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1" i="1">
                <a:solidFill>
                  <a:srgbClr val="00558C"/>
                </a:solidFill>
                <a:latin typeface="Open Sans"/>
              </a:rPr>
              <a:t>Also: </a:t>
            </a: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uk-kyle.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7" name="TextBox 26"/>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2025-09-05</a:t>
            </a:r>
          </a:p>
        </p:txBody>
      </p:sp>
      <p:sp>
        <p:nvSpPr>
          <p:cNvPr id="28" name="TextBox 27"/>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Peter Kyle, Labour MP for Hove and Portslade since 2015, became Secretary of State for Business and Trade and President of the Board of Trade in the September 2025 reshuffle. He was previously Science, Innovation and Technology Secretary (2024-2025).</a:t>
            </a:r>
          </a:p>
        </p:txBody>
      </p:sp>
      <p:pic>
        <p:nvPicPr>
          <p:cNvPr id="29" name="Picture 28" descr="uk-bryant.png"/>
          <p:cNvPicPr>
            <a:picLocks noChangeAspect="1"/>
          </p:cNvPicPr>
          <p:nvPr/>
        </p:nvPicPr>
        <p:blipFill>
          <a:blip r:embed="rId5"/>
          <a:stretch>
            <a:fillRect/>
          </a:stretch>
        </p:blipFill>
        <p:spPr>
          <a:xfrm>
            <a:off x="7790688" y="4041648"/>
            <a:ext cx="731520" cy="914400"/>
          </a:xfrm>
          <a:prstGeom prst="rect">
            <a:avLst/>
          </a:prstGeom>
        </p:spPr>
      </p:pic>
      <p:sp>
        <p:nvSpPr>
          <p:cNvPr id="30" name="Rectangle 29"/>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32" name="TextBox 31"/>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2025-09-06</a:t>
            </a:r>
          </a:p>
        </p:txBody>
      </p:sp>
      <p:sp>
        <p:nvSpPr>
          <p:cNvPr id="33" name="TextBox 32"/>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Sir Chris Bryant, a former Anglican priest and Labour MP since 2001, now for Rhondda and Ogmore, was appointed Minister of State for Trade Policy and Economic Security at DBT on 6 September 2025, succeeding Douglas Alexander.</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98448"/>
            <a:ext cx="2834640" cy="489204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298448"/>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44752"/>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810512"/>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88336"/>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566160"/>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443983"/>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321808"/>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us-kratsios.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1408176"/>
            <a:ext cx="3008376" cy="1152144"/>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9" name="TextBox 18"/>
          <p:cNvSpPr txBox="1"/>
          <p:nvPr/>
        </p:nvSpPr>
        <p:spPr>
          <a:xfrm>
            <a:off x="3611880"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2025-03-25</a:t>
            </a:r>
          </a:p>
        </p:txBody>
      </p:sp>
      <p:sp>
        <p:nvSpPr>
          <p:cNvPr id="20" name="TextBox 19"/>
          <p:cNvSpPr txBox="1"/>
          <p:nvPr/>
        </p:nvSpPr>
        <p:spPr>
          <a:xfrm>
            <a:off x="3611880"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pic>
        <p:nvPicPr>
          <p:cNvPr id="21" name="Picture 20" descr="japan-akazawa.png"/>
          <p:cNvPicPr>
            <a:picLocks noChangeAspect="1"/>
          </p:cNvPicPr>
          <p:nvPr/>
        </p:nvPicPr>
        <p:blipFill>
          <a:blip r:embed="rId4"/>
          <a:stretch>
            <a:fillRect/>
          </a:stretch>
        </p:blipFill>
        <p:spPr>
          <a:xfrm>
            <a:off x="7790688" y="1408176"/>
            <a:ext cx="731520" cy="914400"/>
          </a:xfrm>
          <a:prstGeom prst="rect">
            <a:avLst/>
          </a:prstGeom>
        </p:spPr>
      </p:pic>
      <p:sp>
        <p:nvSpPr>
          <p:cNvPr id="22" name="Rectangle 21"/>
          <p:cNvSpPr/>
          <p:nvPr/>
        </p:nvSpPr>
        <p:spPr>
          <a:xfrm>
            <a:off x="7790688"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31936" y="1408176"/>
            <a:ext cx="3008376" cy="1152144"/>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4" name="TextBox 23"/>
          <p:cNvSpPr txBox="1"/>
          <p:nvPr/>
        </p:nvSpPr>
        <p:spPr>
          <a:xfrm>
            <a:off x="7790688" y="2414015"/>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2025-07-30</a:t>
            </a:r>
          </a:p>
        </p:txBody>
      </p:sp>
      <p:sp>
        <p:nvSpPr>
          <p:cNvPr id="25" name="TextBox 24"/>
          <p:cNvSpPr txBox="1"/>
          <p:nvPr/>
        </p:nvSpPr>
        <p:spPr>
          <a:xfrm>
            <a:off x="7790688" y="2743200"/>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us-lutnick.png"/>
          <p:cNvPicPr>
            <a:picLocks noChangeAspect="1"/>
          </p:cNvPicPr>
          <p:nvPr/>
        </p:nvPicPr>
        <p:blipFill>
          <a:blip r:embed="rId5"/>
          <a:stretch>
            <a:fillRect/>
          </a:stretch>
        </p:blipFill>
        <p:spPr>
          <a:xfrm>
            <a:off x="3611880" y="4041648"/>
            <a:ext cx="731520" cy="914400"/>
          </a:xfrm>
          <a:prstGeom prst="rect">
            <a:avLst/>
          </a:prstGeom>
        </p:spPr>
      </p:pic>
      <p:sp>
        <p:nvSpPr>
          <p:cNvPr id="29" name="Rectangle 28"/>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53128"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31" name="TextBox 30"/>
          <p:cNvSpPr txBox="1"/>
          <p:nvPr/>
        </p:nvSpPr>
        <p:spPr>
          <a:xfrm>
            <a:off x="3611880"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2025-02-21</a:t>
            </a:r>
          </a:p>
        </p:txBody>
      </p:sp>
      <p:sp>
        <p:nvSpPr>
          <p:cNvPr id="32" name="TextBox 31"/>
          <p:cNvSpPr txBox="1"/>
          <p:nvPr/>
        </p:nvSpPr>
        <p:spPr>
          <a:xfrm>
            <a:off x="3611880"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Howard Lutnick, the 41st U.S. Secretary of Commerce, was confirmed February 18, 2025. Longtime chairman and CEO of Cantor Fitzgerald, which he rebuilt after 9/11, he oversees trade policy, tariffs and export controls, and co-chaired Trump's 2024-25 transition.</a:t>
            </a:r>
          </a:p>
        </p:txBody>
      </p:sp>
      <p:pic>
        <p:nvPicPr>
          <p:cNvPr id="33" name="Picture 32" descr="us-greer.png"/>
          <p:cNvPicPr>
            <a:picLocks noChangeAspect="1"/>
          </p:cNvPicPr>
          <p:nvPr/>
        </p:nvPicPr>
        <p:blipFill>
          <a:blip r:embed="rId6"/>
          <a:stretch>
            <a:fillRect/>
          </a:stretch>
        </p:blipFill>
        <p:spPr>
          <a:xfrm>
            <a:off x="7790688" y="4041648"/>
            <a:ext cx="731520" cy="914400"/>
          </a:xfrm>
          <a:prstGeom prst="rect">
            <a:avLst/>
          </a:prstGeom>
        </p:spPr>
      </p:pic>
      <p:sp>
        <p:nvSpPr>
          <p:cNvPr id="34" name="Rectangle 33"/>
          <p:cNvSpPr/>
          <p:nvPr/>
        </p:nvSpPr>
        <p:spPr>
          <a:xfrm>
            <a:off x="7790688"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31936" y="4041648"/>
            <a:ext cx="3008376" cy="1152144"/>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36" name="TextBox 35"/>
          <p:cNvSpPr txBox="1"/>
          <p:nvPr/>
        </p:nvSpPr>
        <p:spPr>
          <a:xfrm>
            <a:off x="7790688" y="5047488"/>
            <a:ext cx="3849624" cy="310896"/>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2025-02-27</a:t>
            </a:r>
          </a:p>
        </p:txBody>
      </p:sp>
      <p:sp>
        <p:nvSpPr>
          <p:cNvPr id="37" name="TextBox 36"/>
          <p:cNvSpPr txBox="1"/>
          <p:nvPr/>
        </p:nvSpPr>
        <p:spPr>
          <a:xfrm>
            <a:off x="7790688" y="5376672"/>
            <a:ext cx="3849624" cy="987551"/>
          </a:xfrm>
          <a:prstGeom prst="rect">
            <a:avLst/>
          </a:prstGeom>
          <a:noFill/>
        </p:spPr>
        <p:txBody>
          <a:bodyPr wrap="square" anchor="t" lIns="0" rIns="0" tIns="0" bIns="0">
            <a:spAutoFit/>
          </a:bodyPr>
          <a:lstStyle/>
          <a:p>
            <a:pPr>
              <a:lnSpc>
                <a:spcPct val="104000"/>
              </a:lnSpc>
            </a:pPr>
            <a:r>
              <a:rPr sz="1050" b="0" i="0">
                <a:solidFill>
                  <a:srgbClr val="2C2C2C"/>
                </a:solidFill>
                <a:latin typeface="Open Sans"/>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Sources &amp; Notes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datasets, vintages, and measurement notes</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98448"/>
            <a:ext cx="5532120" cy="4846320"/>
          </a:xfrm>
          <a:prstGeom prst="rect">
            <a:avLst/>
          </a:prstGeom>
          <a:noFill/>
        </p:spPr>
        <p:txBody>
          <a:bodyPr wrap="square" anchor="t" lIns="0" rIns="0" tIns="0" bIns="0">
            <a:spAutoFit/>
          </a:bodyPr>
          <a:lstStyle/>
          <a:p>
            <a:pPr>
              <a:spcBef>
                <a:spcPts val="0"/>
              </a:spcBef>
              <a:spcAft>
                <a:spcPts val="300"/>
              </a:spcAft>
            </a:pPr>
            <a:r>
              <a:rPr sz="1150" b="1" i="0" spc="60">
                <a:solidFill>
                  <a:srgbClr val="0A314D"/>
                </a:solidFill>
                <a:latin typeface="Open Sans"/>
              </a:rPr>
              <a:t>DATASETS &amp; VINTAGES</a:t>
            </a:r>
          </a:p>
          <a:p>
            <a:pPr>
              <a:spcAft>
                <a:spcPts val="200"/>
              </a:spcAft>
            </a:pPr>
            <a:r>
              <a:rPr sz="1050" b="1" i="0">
                <a:solidFill>
                  <a:srgbClr val="B4862D"/>
                </a:solidFill>
                <a:latin typeface="Open Sans"/>
              </a:rPr>
              <a:t>•  </a:t>
            </a:r>
            <a:r>
              <a:rPr sz="1050" b="0" i="0">
                <a:solidFill>
                  <a:srgbClr val="2C2C2C"/>
                </a:solidFill>
                <a:latin typeface="Open Sans"/>
              </a:rPr>
              <a:t>GDP (nominal, current USD): IMF World Economic Outlook, Oct 2025 (2025 estimates), via StatisticsTimes tabulation.</a:t>
            </a:r>
          </a:p>
          <a:p>
            <a:pPr>
              <a:spcAft>
                <a:spcPts val="200"/>
              </a:spcAft>
            </a:pPr>
            <a:r>
              <a:rPr sz="1050" b="1" i="0">
                <a:solidFill>
                  <a:srgbClr val="B4862D"/>
                </a:solidFill>
                <a:latin typeface="Open Sans"/>
              </a:rPr>
              <a:t>•  </a:t>
            </a:r>
            <a:r>
              <a:rPr sz="1050" b="0" i="0">
                <a:solidFill>
                  <a:srgbClr val="2C2C2C"/>
                </a:solidFill>
                <a:latin typeface="Open Sans"/>
              </a:rPr>
              <a:t>U.S. bilateral goods trade: U.S. Census Bureau, full-year 2025, via USTR country fact sheets and the Census/UN-COMTRADE series (Trading Economics mirror).</a:t>
            </a:r>
          </a:p>
          <a:p>
            <a:pPr>
              <a:spcAft>
                <a:spcPts val="200"/>
              </a:spcAft>
            </a:pPr>
            <a:r>
              <a:rPr sz="1050" b="1" i="0">
                <a:solidFill>
                  <a:srgbClr val="B4862D"/>
                </a:solidFill>
                <a:latin typeface="Open Sans"/>
              </a:rPr>
              <a:t>•  </a:t>
            </a:r>
            <a:r>
              <a:rPr sz="1050" b="0" i="0">
                <a:solidFill>
                  <a:srgbClr val="2C2C2C"/>
                </a:solidFill>
                <a:latin typeface="Open Sans"/>
              </a:rPr>
              <a:t>U.S. world totals: Census/BEA FT-900, December &amp; Annual 2025 release.</a:t>
            </a:r>
          </a:p>
          <a:p>
            <a:pPr>
              <a:spcAft>
                <a:spcPts val="200"/>
              </a:spcAft>
            </a:pPr>
            <a:r>
              <a:rPr sz="1050" b="1" i="0">
                <a:solidFill>
                  <a:srgbClr val="B4862D"/>
                </a:solidFill>
                <a:latin typeface="Open Sans"/>
              </a:rPr>
              <a:t>•  </a:t>
            </a:r>
            <a:r>
              <a:rPr sz="1050" b="0" i="0">
                <a:solidFill>
                  <a:srgbClr val="2C2C2C"/>
                </a:solidFill>
                <a:latin typeface="Open Sans"/>
              </a:rPr>
              <a:t>Overall trade balances: national statistics offices / IMF, latest full year, goods basis unless noted.</a:t>
            </a:r>
          </a:p>
          <a:p>
            <a:pPr>
              <a:spcAft>
                <a:spcPts val="200"/>
              </a:spcAft>
            </a:pPr>
            <a:r>
              <a:rPr sz="1050" b="1" i="0">
                <a:solidFill>
                  <a:srgbClr val="B4862D"/>
                </a:solidFill>
                <a:latin typeface="Open Sans"/>
              </a:rPr>
              <a:t>•  </a:t>
            </a:r>
            <a:r>
              <a:rPr sz="1050" b="0" i="0">
                <a:solidFill>
                  <a:srgbClr val="2C2C2C"/>
                </a:solidFill>
                <a:latin typeface="Open Sans"/>
              </a:rPr>
              <a:t>Officeholders: official government sources and 2026-dated press, verified 2026-07-16 with an independent second pass.</a:t>
            </a:r>
          </a:p>
        </p:txBody>
      </p:sp>
      <p:sp>
        <p:nvSpPr>
          <p:cNvPr id="7" name="TextBox 6"/>
          <p:cNvSpPr txBox="1"/>
          <p:nvPr/>
        </p:nvSpPr>
        <p:spPr>
          <a:xfrm>
            <a:off x="6355080" y="1298448"/>
            <a:ext cx="5303520" cy="4846320"/>
          </a:xfrm>
          <a:prstGeom prst="rect">
            <a:avLst/>
          </a:prstGeom>
          <a:noFill/>
        </p:spPr>
        <p:txBody>
          <a:bodyPr wrap="square" anchor="t" lIns="0" rIns="0" tIns="0" bIns="0">
            <a:spAutoFit/>
          </a:bodyPr>
          <a:lstStyle/>
          <a:p>
            <a:pPr>
              <a:spcBef>
                <a:spcPts val="0"/>
              </a:spcBef>
              <a:spcAft>
                <a:spcPts val="300"/>
              </a:spcAft>
            </a:pPr>
            <a:r>
              <a:rPr sz="1150" b="1" i="0" spc="60">
                <a:solidFill>
                  <a:srgbClr val="0A314D"/>
                </a:solidFill>
                <a:latin typeface="Open Sans"/>
              </a:rPr>
              <a:t>MEASUREMENT NOTES</a:t>
            </a:r>
          </a:p>
          <a:p>
            <a:pPr>
              <a:spcAft>
                <a:spcPts val="200"/>
              </a:spcAft>
            </a:pPr>
            <a:r>
              <a:rPr sz="1050" b="1" i="0">
                <a:solidFill>
                  <a:srgbClr val="B4862D"/>
                </a:solidFill>
                <a:latin typeface="Open Sans"/>
              </a:rPr>
              <a:t>•  </a:t>
            </a:r>
            <a:r>
              <a:rPr sz="1050" b="0" i="0">
                <a:solidFill>
                  <a:srgbClr val="2C2C2C"/>
                </a:solidFill>
                <a:latin typeface="Open Sans"/>
              </a:rPr>
              <a:t>Australia's overall balance is goods+services; India's is fiscal year 2025-26. All others goods-only, calendar 2025.</a:t>
            </a:r>
          </a:p>
          <a:p>
            <a:pPr>
              <a:spcAft>
                <a:spcPts val="200"/>
              </a:spcAft>
            </a:pPr>
            <a:r>
              <a:rPr sz="1050" b="1" i="0">
                <a:solidFill>
                  <a:srgbClr val="B4862D"/>
                </a:solidFill>
                <a:latin typeface="Open Sans"/>
              </a:rPr>
              <a:t>•  </a:t>
            </a:r>
            <a:r>
              <a:rPr sz="1050" b="0" i="0">
                <a:solidFill>
                  <a:srgbClr val="2C2C2C"/>
                </a:solidFill>
                <a:latin typeface="Open Sans"/>
              </a:rPr>
              <a:t>Several overall balances are converted from local currency (EUR/GBP/CAD/AUD/JPY/SAR) at ~2025 average rates; USD values carry exchange-rate uncertainty.</a:t>
            </a:r>
          </a:p>
          <a:p>
            <a:pPr>
              <a:spcAft>
                <a:spcPts val="200"/>
              </a:spcAft>
            </a:pPr>
            <a:r>
              <a:rPr sz="1050" b="1" i="0">
                <a:solidFill>
                  <a:srgbClr val="B4862D"/>
                </a:solidFill>
                <a:latin typeface="Open Sans"/>
              </a:rPr>
              <a:t>•  </a:t>
            </a:r>
            <a:r>
              <a:rPr sz="1050" b="0" i="0">
                <a:solidFill>
                  <a:srgbClr val="2C2C2C"/>
                </a:solidFill>
                <a:latin typeface="Open Sans"/>
              </a:rPr>
              <a:t>census.gov and imf.org were not directly reachable from the build environment; figures come from official-data-derived channels.</a:t>
            </a:r>
          </a:p>
          <a:p>
            <a:pPr>
              <a:spcBef>
                <a:spcPts val="1000"/>
              </a:spcBef>
              <a:spcAft>
                <a:spcPts val="300"/>
              </a:spcAft>
            </a:pPr>
            <a:r>
              <a:rPr sz="1150" b="1" i="0" spc="60">
                <a:solidFill>
                  <a:srgbClr val="0A314D"/>
                </a:solidFill>
                <a:latin typeface="Open Sans"/>
              </a:rPr>
              <a:t>IMAGERY &amp; FORMAT</a:t>
            </a:r>
          </a:p>
          <a:p>
            <a:pPr>
              <a:spcAft>
                <a:spcPts val="200"/>
              </a:spcAft>
            </a:pPr>
            <a:r>
              <a:rPr sz="1050" b="1" i="0">
                <a:solidFill>
                  <a:srgbClr val="B4862D"/>
                </a:solidFill>
                <a:latin typeface="Open Sans"/>
              </a:rPr>
              <a:t>•  </a:t>
            </a:r>
            <a:r>
              <a:rPr sz="1050" b="0" i="0">
                <a:solidFill>
                  <a:srgbClr val="2C2C2C"/>
                </a:solidFill>
                <a:latin typeface="Open Sans"/>
              </a:rPr>
              <a:t>Flags: public-domain renderings, uniform height, true aspect ratios.</a:t>
            </a:r>
          </a:p>
          <a:p>
            <a:pPr>
              <a:spcAft>
                <a:spcPts val="200"/>
              </a:spcAft>
            </a:pPr>
            <a:r>
              <a:rPr sz="1050" b="1" i="0">
                <a:solidFill>
                  <a:srgbClr val="B4862D"/>
                </a:solidFill>
                <a:latin typeface="Open Sans"/>
              </a:rPr>
              <a:t>•  </a:t>
            </a:r>
            <a:r>
              <a:rPr sz="1050" b="0" i="0">
                <a:solidFill>
                  <a:srgbClr val="2C2C2C"/>
                </a:solidFill>
                <a:latin typeface="Open Sans"/>
              </a:rPr>
              <a:t>Portraits: official government portraits; monogram placeholders mark any still to be supplied.</a:t>
            </a:r>
          </a:p>
          <a:p>
            <a:pPr>
              <a:spcAft>
                <a:spcPts val="200"/>
              </a:spcAft>
            </a:pPr>
            <a:r>
              <a:rPr sz="1050" b="1" i="0">
                <a:solidFill>
                  <a:srgbClr val="B4862D"/>
                </a:solidFill>
                <a:latin typeface="Open Sans"/>
              </a:rPr>
              <a:t>•  </a:t>
            </a:r>
            <a:r>
              <a:rPr sz="1050" b="0" i="0">
                <a:solidFill>
                  <a:srgbClr val="2C2C2C"/>
                </a:solidFill>
                <a:latin typeface="Open Sans"/>
              </a:rPr>
              <a:t>Design per the ITA Visual Style Guide (Jan 2026): Trade Navy/Blue palette, Open Sans, official signatures.</a:t>
            </a:r>
          </a:p>
          <a:p>
            <a:pPr>
              <a:spcBef>
                <a:spcPts val="1000"/>
              </a:spcBef>
              <a:spcAft>
                <a:spcPts val="300"/>
              </a:spcAft>
            </a:pPr>
            <a:r>
              <a:rPr sz="1150" b="1" i="0" spc="60">
                <a:solidFill>
                  <a:srgbClr val="0A314D"/>
                </a:solidFill>
                <a:latin typeface="Open Sans"/>
              </a:rPr>
              <a:t>SCOPE</a:t>
            </a:r>
          </a:p>
          <a:p>
            <a:pPr>
              <a:spcAft>
                <a:spcPts val="200"/>
              </a:spcAft>
            </a:pPr>
            <a:r>
              <a:rPr sz="1050" b="1" i="0">
                <a:solidFill>
                  <a:srgbClr val="B4862D"/>
                </a:solidFill>
                <a:latin typeface="Open Sans"/>
              </a:rPr>
              <a:t>•  </a:t>
            </a:r>
            <a:r>
              <a:rPr sz="1050" b="0" i="0">
                <a:solidFill>
                  <a:srgbClr val="2C2C2C"/>
                </a:solidFill>
                <a:latin typeface="Open Sans"/>
              </a:rPr>
              <a:t>Poland substituted for South Africa. EU and AU are G20 members but hold bloc seats and are not covered.</a:t>
            </a:r>
          </a:p>
          <a:p>
            <a:pPr>
              <a:spcAft>
                <a:spcPts val="200"/>
              </a:spcAft>
            </a:pPr>
            <a:r>
              <a:rPr sz="1050" b="1" i="0">
                <a:solidFill>
                  <a:srgbClr val="B4862D"/>
                </a:solidFill>
                <a:latin typeface="Open Sans"/>
              </a:rPr>
              <a:t>•  </a:t>
            </a:r>
            <a:r>
              <a:rPr sz="1050" b="0" i="0">
                <a:solidFill>
                  <a:srgbClr val="2C2C2C"/>
                </a:solidFill>
                <a:latin typeface="Open Sans"/>
              </a:rPr>
              <a:t>A detailed uncertainty register (acting officials, figures pending confirmation) accompanies this deck: output/GAPS.md.</a:t>
            </a:r>
          </a:p>
        </p:txBody>
      </p:sp>
      <p:cxnSp>
        <p:nvCxnSpPr>
          <p:cNvPr id="8" name="Connector 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10" name="TextBox 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11" name="TextBox 1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